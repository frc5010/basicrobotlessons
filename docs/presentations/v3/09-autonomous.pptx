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back and look at the whole spine built so far: mechanisms own hardware, commands describe work, the scheduler runs it, telemetry records it, and simulation proves it before the robot exists. This lesson is where all of that finally gets composed into something that runs itself, with nobody's hands on the sticks — which is a genuinely satisfying moment to let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15 seconds of an FRC match, the robot runs with no driver. In this framework that's not a special mode with its own API — it's just another opmode, annotated @Autonomous instead of @Teleop, selected on the Driver Station exactly the way RobotTeleop has been all along. Nothing new to learn about how it runs; the only new part is what it does once it's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also a good moment for the rename this course has been quietly setting up since Lesson 1: MyTeleop and MyAuto were fine names for template example code, but they're not example code anymore — they're the permanent home for how this robot drives and how it runs itself. Time they sounded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VS Code refactor-rename move as DriveModule → SwerveModule back in Lesson 7 — it keeps @Teleop, keeps the Robot robot constructor parameter, and every binding inside RobotTeleop stays exactly as it was; only the file and class name change. RobotAuto is the one that's about to look very different inside — the rest of this lesson is what goes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top to bottom as the same shape as Lesson 6's driveDistance, applied one level up. Every module is asked to point forward and roll, and only one wheel is watched to know when we've gone far enough. Watching one wheel works for straight-ahead driving because, with all four wheels aimed the same direction at the same speed, they all cover the same distance. Two endings, same as every finishing command since Lesson 6 — the loop's own stop-order for finishing on its own, .whenCanceled(...) for being interrupted, with the identical stop written out both places. If that split is starting to feel routine,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called setPosition(0) directly on the TalonFX — but that was inside DriveModule, where the motor is visible. The Drivetrain can't do that: m_driveMotor is private to the module, and that's encapsulation doing its job — outsiders don't get to poke a module's hardware. What the module can do is offer a named, intention-revealing method instead. This is a nice small callback to Lesson 1's original encapsulation pitch, now paying rent four lessons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commands/Autos.java is a new file — the home for auto factories, a cookbook for the robot rather than a subsystem. driveTurnDrive is static — called on the class itself, Autos.driveTurnDrive(...), no object needed, the same way you call Math.abs(...). That fits, because Autos has no data of its own; it's a cookbook, not a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Command.sequence(...) runs the commands you give it one at a time, in order. Step 2 doesn't start until step 1 reports finished; step 3 waits for step 2. Because each step finishes itself, the sequence flows step to step and then ends — at which point auto is over. Command.sequence(...) is a static method — same family as Command.noRequirements(...) and Command.requiring(...) already used — and, like every builder in this API, it needs .named(...) before it's a real, runnable Command. (Command.andThen(Command) does the same job for exactly two commands — Lesson 7's turn-in-place hint already used it — sequence is the clean way to chain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worth slowing down for, because it changes how every routine gets written from here on. Command.sequence(...) takes three already-built commands and glues them together from the outside. coroutine.await(command) schedules command and suspends this coroutine right there until it finishes — then the next line runs. Read the method top to bottom and it IS the plan you'd say out loud: drive a meter, await it; turn to ninety, await it; drive a meter, await it. No decorators gluing pieces together from outside — the sequencing IS the code's own control flow, the same "just write it as a loop" idea Lesson 8 used for turnToHeading. Here's the part that matters beyond looking nicer: Command.sequence(...) builds one command that requires the Drivetrain for the group's ENTIRE duration, start to finish. The await version is different — driveTurnDrive itself requires nothing, and each step claims the Drivetrain only while that step is actually running, then lets go the instant it finishes. With only a Drivetrain in this robot that distinction has nowhere to show off yet, but it matters the moment a routine mixes mechanisms — drive somewhere, then run an arm, then drive again — where a sequence(...) group would hold the drivetrain reserved even during the arm step it doesn't need. Get comfortable with the shape now; it pays off the moment this robot has more than one mechanism to coordinate.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 doesn't need a getAutonomousCommand() hook to fill in — there's no framework method waiting for a return value. RobotAuto just has to schedule its own plan the moment auto actually starts, the same way every other binding in this course has lived in a constructor since Lesson 1. Why the constructor and not start()? The constructor runs exactly once, when RobotAuto is selected, and that's what makes this binding scoped to RobotAuto specifically — it's automatically torn down the moment the Driver Station selects a different opmode, the same scoping that already protects every button binding written so far. Put this logic in start() instead and you'd re-register a fresh trigger on every re-enable, stacking duplicates — Lesson 1's exact warning, still true here. Once running: Drivetrain/Module0/SteerAngleDegrees holds 0 while distance climbs to 1.0, the heading sweeps to 90° and settles, distance climbs again from a new zero — the robot ran the plan untouched, nobody's hands on the controller. That's worth savoring for a second before moving to the polish in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Swerve tab closely at the moment each step changes — right when the turn begins, and right when step 3 starts — and there's a little ugliness hiding in those transitions. When step 2 begins, every wheel's steering target snaps from 0° to its pinwheel angle, but steering takes real time (that 25:1 gearbox from Lesson 7 doesn't teleport). For a fraction of a second the drive motors push at full command through wheels pointed somewhere between the old direction and the new one — the chassis scrubs sideways, the tires drag, and the odometer counts distance the robot didn't cleanly travel. In teleop you'd never notice; in an auto that's supposed to end in a precise spot, these little smears add up. The fix is one line of trigonometry, and it's a trick every good swerve robot uses: ask how much of this wheel's rolling actually points where we want to go — that's exactly what cosine measures. Pointed perfectly, cos = 1, drive full speed; pointed 60° off, cos = 0.5, drive at half; pointed sideways at 90°, cos = 0, don't drive at all. One subtlety worth naming: past 90° of error, cosine goes negative, so the wheel briefly drives backward — that's not a bug, it's the honest answer to "how much of my rolling points the right way," since at 180° off, rolling backward IS rolling the right way. WPILib ships this exact idea as SwerveModuleVelocity.cosineScale, swappable in once Lesson 10 has the module speaking in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Sequences do one thing at a time; sometimes you want simultaneous actions — running a mechanism alongside a drive step, say. The .optional(...) shape chained onto Command.parallel(...) is worth naming because it's more flexible than the two static methods alone. Command.parallel(a, b) treats every command you hand it as required — the group waits for all of them. Chain .optional(...) instead of listing a command as required, and it rides along without being able to keep the group alive — the group finishes based on its required commands alone, and optional ones just get cancelled when that happens. That's exactly "run this, and something else alongside it for as long as it takes" — one designated command sets the pace, everything else just comes along for the ride. On the hard rule: this framework tells you about the violation immediately — IllegalArgumentException: Commands running in parallel cannot share requirements — not a mysterious runtime hang, a clear error the moment you build the group. The way to actually combine translation and rotation on one mechanism is Lesson 10's SwerveDriveKinematics.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robots pick from several autos before a match. In this framework that's not a dashboard widget you build — it's the Driver Station's own opmode selector, the exact same list RobotTeleop and RobotAuto already show up in. Every @Autonomous class is its own selectable entry. After rebuilding, open the opmode selector in SimGUI and "Do Nothing" sits right next to "Drive Turn Drive" — two real, independent choices, zero chooser code written. This is the pattern to reach for every time this robot needs another auto: one more small @Autonomous class, not a dropdown living inside a bigger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pattern is the meaty exercise here — worth having students actually predict the final heading before running it, since a wrong prediction (and it should end at the start heading, 0°, having turned 90° four times) is a great teaching moment about accumulating turns. The parameterize-the-distance exercise is a light reprise of dependency injection applied to a second axis (distance instead of just the drivetrain). The deliberate-wait exercise previews a real pattern: letting a mechanism settle before moving on is exactly the kind of thing coroutine.wait(...) is for once this robot has more than a drivetrain.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Autonomous turned out to be the least mysterious thing in robot programming: just another opmode, whose whole job is scheduling one plan the moment RobotModeTriggers.autonomous() fires — built by composing the small finishing commands already in hand. An auto factory that takes the drivetrain as a parameter is dependency injection, keeping every command pointed at the one real robot. Running a plan with nobody's hands on the sticks also exposed a flaw teleop had been hiding, and cosine compensation fixed it with one line. And the MyTeleop/MyAuto names finally became RobotTeleop/RobotAuto — not because anything technical demanded it today, but because template example code doesn't drive a match, and now neither of these files is that anymore. Everything from here on is refinement — starting with Lesson 10, where the chassis finally learns to drive and spin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9</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Autonomous</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Combine everything into a routine that runs itself</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Drive, turn, drive — with nobody's hands on the sticks</a:t>
            </a:r>
            <a:endParaRPr lang="en-US" sz="3000" dirty="0"/>
          </a:p>
        </p:txBody>
      </p:sp>
      <p:sp>
        <p:nvSpPr>
          <p:cNvPr id="6" name="Shape 3"/>
          <p:cNvSpPr/>
          <p:nvPr/>
        </p:nvSpPr>
        <p:spPr>
          <a:xfrm>
            <a:off x="640080" y="1600200"/>
            <a:ext cx="10881360" cy="1280160"/>
          </a:xfrm>
          <a:prstGeom prst="roundRect">
            <a:avLst>
              <a:gd name="adj" fmla="val 7143"/>
            </a:avLst>
          </a:prstGeom>
          <a:solidFill>
            <a:srgbClr val="F3F6FA"/>
          </a:solidFill>
          <a:ln/>
        </p:spPr>
      </p:sp>
      <p:sp>
        <p:nvSpPr>
          <p:cNvPr id="7" name="Text 4"/>
          <p:cNvSpPr/>
          <p:nvPr/>
        </p:nvSpPr>
        <p:spPr>
          <a:xfrm>
            <a:off x="960120" y="1737360"/>
            <a:ext cx="10241280" cy="1005840"/>
          </a:xfrm>
          <a:prstGeom prst="rect">
            <a:avLst/>
          </a:prstGeom>
          <a:noFill/>
          <a:ln/>
        </p:spPr>
        <p:txBody>
          <a:bodyPr wrap="square" lIns="0" tIns="0" rIns="0" bIns="0" rtlCol="0" anchor="ctr"/>
          <a:lstStyle/>
          <a:p>
            <a:pPr indent="0" marL="0">
              <a:lnSpc>
                <a:spcPct val="125000"/>
              </a:lnSpc>
              <a:buNone/>
            </a:pPr>
            <a:r>
              <a:rPr lang="en-US" sz="2200" i="1" dirty="0">
                <a:solidFill>
                  <a:srgbClr val="13294B"/>
                </a:solidFill>
                <a:latin typeface="Cambria" pitchFamily="34" charset="0"/>
                <a:ea typeface="Cambria" pitchFamily="34" charset="-122"/>
                <a:cs typeface="Cambria" pitchFamily="34" charset="-120"/>
              </a:rPr>
              <a:t>Snap your building blocks together into an autonomous routine that runs by itself — then explore running steps in parallel.</a:t>
            </a:r>
            <a:endParaRPr lang="en-US" sz="2200" dirty="0"/>
          </a:p>
        </p:txBody>
      </p:sp>
      <p:sp>
        <p:nvSpPr>
          <p:cNvPr id="8" name="Shape 5"/>
          <p:cNvSpPr/>
          <p:nvPr/>
        </p:nvSpPr>
        <p:spPr>
          <a:xfrm>
            <a:off x="640080" y="310896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218688"/>
            <a:ext cx="237744" cy="237744"/>
          </a:xfrm>
          <a:prstGeom prst="rect">
            <a:avLst/>
          </a:prstGeom>
        </p:spPr>
      </p:pic>
      <p:sp>
        <p:nvSpPr>
          <p:cNvPr id="10" name="Text 6"/>
          <p:cNvSpPr/>
          <p:nvPr/>
        </p:nvSpPr>
        <p:spPr>
          <a:xfrm>
            <a:off x="123444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Command composition into named routines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Sequential vs. parallel execution</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coroutine.await(...) — sequencing as plain code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Passing subsystems into a factory method</a:t>
            </a:r>
            <a:endParaRPr lang="en-US" sz="2000" dirty="0"/>
          </a:p>
        </p:txBody>
      </p:sp>
      <p:sp>
        <p:nvSpPr>
          <p:cNvPr id="12" name="Shape 8"/>
          <p:cNvSpPr/>
          <p:nvPr/>
        </p:nvSpPr>
        <p:spPr>
          <a:xfrm>
            <a:off x="6309360" y="3108960"/>
            <a:ext cx="457200" cy="457200"/>
          </a:xfrm>
          <a:prstGeom prst="ellipse">
            <a:avLst/>
          </a:prstGeom>
          <a:solidFill>
            <a:srgbClr val="FF5010"/>
          </a:solidFill>
          <a:ln/>
        </p:spPr>
      </p:sp>
      <p:pic>
        <p:nvPicPr>
          <p:cNvPr id="13" name="Image 2" descr="/home/user/BasicRobotLessons/docs/presentations/v3/template/assets/icons/shoeprints_white.png">    </p:cNvPr>
          <p:cNvPicPr>
            <a:picLocks noChangeAspect="1"/>
          </p:cNvPicPr>
          <p:nvPr/>
        </p:nvPicPr>
        <p:blipFill>
          <a:blip r:embed="rId3"/>
          <a:stretch>
            <a:fillRect/>
          </a:stretch>
        </p:blipFill>
        <p:spPr>
          <a:xfrm>
            <a:off x="6419088" y="3218688"/>
            <a:ext cx="237744" cy="237744"/>
          </a:xfrm>
          <a:prstGeom prst="rect">
            <a:avLst/>
          </a:prstGeom>
        </p:spPr>
      </p:pic>
      <p:sp>
        <p:nvSpPr>
          <p:cNvPr id="14" name="Text 9"/>
          <p:cNvSpPr/>
          <p:nvPr/>
        </p:nvSpPr>
        <p:spPr>
          <a:xfrm>
            <a:off x="690372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How @Autonomous opmodes actually run</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Command.sequence, .parallel, .race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whole-chassis driveDistance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Cosine compensation</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robo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WHAT AUTONOMOUS ACTUALLY IS</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Just another opmode</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548640"/>
          </a:xfrm>
          <a:prstGeom prst="rect">
            <a:avLst/>
          </a:prstGeom>
          <a:noFill/>
          <a:ln/>
        </p:spPr>
        <p:txBody>
          <a:bodyPr wrap="square" lIns="0" tIns="0" rIns="0" bIns="0" rtlCol="0" anchor="ctr"/>
          <a:lstStyle/>
          <a:p>
            <a:pPr indent="0" marL="0">
              <a:buNone/>
            </a:pPr>
            <a:r>
              <a:rPr lang="en-US" sz="2400" b="1" dirty="0">
                <a:solidFill>
                  <a:srgbClr val="FF5010"/>
                </a:solidFill>
                <a:latin typeface="Cambria" pitchFamily="34" charset="0"/>
                <a:ea typeface="Cambria" pitchFamily="34" charset="-122"/>
                <a:cs typeface="Cambria" pitchFamily="34" charset="-120"/>
              </a:rPr>
              <a:t>Not a special mode with its own API.</a:t>
            </a:r>
            <a:endParaRPr lang="en-US" sz="2400" dirty="0"/>
          </a:p>
        </p:txBody>
      </p:sp>
      <p:sp>
        <p:nvSpPr>
          <p:cNvPr id="8" name="Text 5"/>
          <p:cNvSpPr/>
          <p:nvPr/>
        </p:nvSpPr>
        <p:spPr>
          <a:xfrm>
            <a:off x="914400" y="2560320"/>
            <a:ext cx="10332720" cy="1737360"/>
          </a:xfrm>
          <a:prstGeom prst="rect">
            <a:avLst/>
          </a:prstGeom>
          <a:noFill/>
          <a:ln/>
        </p:spPr>
        <p:txBody>
          <a:bodyPr wrap="square" lIns="0" tIns="0" rIns="0" bIns="0" rtlCol="0" anchor="t"/>
          <a:lstStyle/>
          <a:p>
            <a:pPr indent="0" marL="0">
              <a:lnSpc>
                <a:spcPct val="130000"/>
              </a:lnSpc>
              <a:buNone/>
            </a:pPr>
            <a:r>
              <a:rPr lang="en-US" sz="2100" dirty="0">
                <a:solidFill>
                  <a:srgbClr val="D7E3F4"/>
                </a:solidFill>
                <a:latin typeface="Calibri" pitchFamily="34" charset="0"/>
                <a:ea typeface="Calibri" pitchFamily="34" charset="-122"/>
                <a:cs typeface="Calibri" pitchFamily="34" charset="-120"/>
              </a:rPr>
              <a:t>For the first 15 seconds of a match, the robot runs with no driver — in this framework that's just another opmode, annotated @Autonomous instead of @Teleop, selected on the Driver Station exactly the way MyTeleop always has been. Nothing new about how it runs — the only new part is what it does once it's running.</a:t>
            </a:r>
            <a:endParaRPr lang="en-US" sz="2100" dirty="0"/>
          </a:p>
        </p:txBody>
      </p:sp>
      <p:sp>
        <p:nvSpPr>
          <p:cNvPr id="9" name="Text 6"/>
          <p:cNvSpPr/>
          <p:nvPr/>
        </p:nvSpPr>
        <p:spPr>
          <a:xfrm>
            <a:off x="640080" y="4709160"/>
            <a:ext cx="10881360" cy="1097280"/>
          </a:xfrm>
          <a:prstGeom prst="rect">
            <a:avLst/>
          </a:prstGeom>
          <a:noFill/>
          <a:ln/>
        </p:spPr>
        <p:txBody>
          <a:bodyPr wrap="square" lIns="0" tIns="0" rIns="0" bIns="0" rtlCol="0" anchor="t"/>
          <a:lstStyle/>
          <a:p>
            <a:pPr indent="0" marL="0">
              <a:lnSpc>
                <a:spcPct val="125000"/>
              </a:lnSpc>
              <a:buNone/>
            </a:pPr>
            <a:r>
              <a:rPr lang="en-US" sz="2100" i="1" dirty="0">
                <a:solidFill>
                  <a:srgbClr val="CADCE8"/>
                </a:solidFill>
                <a:latin typeface="Cambria" pitchFamily="34" charset="0"/>
                <a:ea typeface="Cambria" pitchFamily="34" charset="-122"/>
                <a:cs typeface="Cambria" pitchFamily="34" charset="-120"/>
              </a:rPr>
              <a:t>MyAuto has been printing a message and doing nothing else since Lesson 0. Today it earns real work.</a:t>
            </a:r>
            <a:endParaRPr lang="en-US" sz="21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AUTONOMOUS</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andom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A NAME CHANGE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Template names become permanent ones</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MyTeleop.java's class name → Refactor → Rename</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Same move as DriveModule → SwerveModule in Lesson 7.</a:t>
            </a:r>
            <a:endParaRPr lang="en-US" sz="2000" dirty="0"/>
          </a:p>
        </p:txBody>
      </p:sp>
      <p:sp>
        <p:nvSpPr>
          <p:cNvPr id="10" name="Shape 7"/>
          <p:cNvSpPr/>
          <p:nvPr/>
        </p:nvSpPr>
        <p:spPr>
          <a:xfrm>
            <a:off x="640080" y="2624328"/>
            <a:ext cx="502920" cy="502920"/>
          </a:xfrm>
          <a:prstGeom prst="ellipse">
            <a:avLst/>
          </a:prstGeom>
          <a:solidFill>
            <a:srgbClr val="1B9AAA"/>
          </a:solidFill>
          <a:ln/>
        </p:spPr>
      </p:sp>
      <p:sp>
        <p:nvSpPr>
          <p:cNvPr id="11" name="Text 8"/>
          <p:cNvSpPr/>
          <p:nvPr/>
        </p:nvSpPr>
        <p:spPr>
          <a:xfrm>
            <a:off x="640080" y="26243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511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Type RobotTeleop, confirm</a:t>
            </a:r>
            <a:endParaRPr lang="en-US" sz="2000" dirty="0"/>
          </a:p>
        </p:txBody>
      </p:sp>
      <p:sp>
        <p:nvSpPr>
          <p:cNvPr id="13" name="Text 10"/>
          <p:cNvSpPr/>
          <p:nvPr/>
        </p:nvSpPr>
        <p:spPr>
          <a:xfrm>
            <a:off x="1371600" y="29352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Keeps @Teleop, the Robot robot parameter, and every binding inside.</a:t>
            </a:r>
            <a:endParaRPr lang="en-US" sz="2000" dirty="0"/>
          </a:p>
        </p:txBody>
      </p:sp>
      <p:sp>
        <p:nvSpPr>
          <p:cNvPr id="14" name="Shape 11"/>
          <p:cNvSpPr/>
          <p:nvPr/>
        </p:nvSpPr>
        <p:spPr>
          <a:xfrm>
            <a:off x="640080" y="3630168"/>
            <a:ext cx="502920" cy="502920"/>
          </a:xfrm>
          <a:prstGeom prst="ellipse">
            <a:avLst/>
          </a:prstGeom>
          <a:solidFill>
            <a:srgbClr val="1B9AAA"/>
          </a:solidFill>
          <a:ln/>
        </p:spPr>
      </p:sp>
      <p:sp>
        <p:nvSpPr>
          <p:cNvPr id="15" name="Text 12"/>
          <p:cNvSpPr/>
          <p:nvPr/>
        </p:nvSpPr>
        <p:spPr>
          <a:xfrm>
            <a:off x="640080" y="36301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55701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Do the same for MyAuto.java → RobotAuto</a:t>
            </a:r>
            <a:endParaRPr lang="en-US" sz="2000" dirty="0"/>
          </a:p>
        </p:txBody>
      </p:sp>
      <p:sp>
        <p:nvSpPr>
          <p:cNvPr id="17" name="Text 14"/>
          <p:cNvSpPr/>
          <p:nvPr/>
        </p:nvSpPr>
        <p:spPr>
          <a:xfrm>
            <a:off x="1371600" y="394106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This one's about to look very different inside.</a:t>
            </a:r>
            <a:endParaRPr lang="en-US" sz="2000" dirty="0"/>
          </a:p>
        </p:txBody>
      </p:sp>
      <p:sp>
        <p:nvSpPr>
          <p:cNvPr id="18" name="Shape 15"/>
          <p:cNvSpPr/>
          <p:nvPr/>
        </p:nvSpPr>
        <p:spPr>
          <a:xfrm>
            <a:off x="640080" y="4709160"/>
            <a:ext cx="10881360" cy="1554480"/>
          </a:xfrm>
          <a:prstGeom prst="roundRect">
            <a:avLst>
              <a:gd name="adj" fmla="val 5882"/>
            </a:avLst>
          </a:prstGeom>
          <a:solidFill>
            <a:srgbClr val="F3F6FA"/>
          </a:solidFill>
          <a:ln/>
        </p:spPr>
      </p:sp>
      <p:sp>
        <p:nvSpPr>
          <p:cNvPr id="19" name="Text 16"/>
          <p:cNvSpPr/>
          <p:nvPr/>
        </p:nvSpPr>
        <p:spPr>
          <a:xfrm>
            <a:off x="822960" y="4892040"/>
            <a:ext cx="10515600" cy="11887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MyTeleop and MyAuto were fine names for template example code — but they're not example code anymore. They're the permanent home for how this robot drives and runs itself.</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DRIVETRAIN.JAVA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Watch one wheel to know when all four have arrived</a:t>
            </a:r>
            <a:endParaRPr lang="en-US" sz="3000" dirty="0"/>
          </a:p>
        </p:txBody>
      </p:sp>
      <p:sp>
        <p:nvSpPr>
          <p:cNvPr id="6" name="Shape 3"/>
          <p:cNvSpPr/>
          <p:nvPr/>
        </p:nvSpPr>
        <p:spPr>
          <a:xfrm>
            <a:off x="640080" y="1097280"/>
            <a:ext cx="10881360" cy="4709160"/>
          </a:xfrm>
          <a:prstGeom prst="roundRect">
            <a:avLst>
              <a:gd name="adj" fmla="val 233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243584"/>
            <a:ext cx="128016" cy="128016"/>
          </a:xfrm>
          <a:prstGeom prst="ellipse">
            <a:avLst/>
          </a:prstGeom>
          <a:solidFill>
            <a:srgbClr val="FF6B6B"/>
          </a:solidFill>
          <a:ln/>
        </p:spPr>
      </p:sp>
      <p:sp>
        <p:nvSpPr>
          <p:cNvPr id="8" name="Shape 5"/>
          <p:cNvSpPr/>
          <p:nvPr/>
        </p:nvSpPr>
        <p:spPr>
          <a:xfrm>
            <a:off x="11210544" y="1444752"/>
            <a:ext cx="128016" cy="128016"/>
          </a:xfrm>
          <a:prstGeom prst="ellipse">
            <a:avLst/>
          </a:prstGeom>
          <a:solidFill>
            <a:srgbClr val="FFD166"/>
          </a:solidFill>
          <a:ln/>
        </p:spPr>
      </p:sp>
      <p:sp>
        <p:nvSpPr>
          <p:cNvPr id="9" name="Shape 6"/>
          <p:cNvSpPr/>
          <p:nvPr/>
        </p:nvSpPr>
        <p:spPr>
          <a:xfrm>
            <a:off x="11210544" y="1645920"/>
            <a:ext cx="128016" cy="128016"/>
          </a:xfrm>
          <a:prstGeom prst="ellipse">
            <a:avLst/>
          </a:prstGeom>
          <a:solidFill>
            <a:srgbClr val="2EC4B6"/>
          </a:solidFill>
          <a:ln/>
        </p:spPr>
      </p:sp>
      <p:sp>
        <p:nvSpPr>
          <p:cNvPr id="10" name="Text 7"/>
          <p:cNvSpPr/>
          <p:nvPr/>
        </p:nvSpPr>
        <p:spPr>
          <a:xfrm>
            <a:off x="914400" y="12252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with the other command factories</a:t>
            </a:r>
            <a:endParaRPr lang="en-US" sz="1500" dirty="0"/>
          </a:p>
        </p:txBody>
      </p:sp>
      <p:sp>
        <p:nvSpPr>
          <p:cNvPr id="11" name="Text 8"/>
          <p:cNvSpPr/>
          <p:nvPr/>
        </p:nvSpPr>
        <p:spPr>
          <a:xfrm>
            <a:off x="914400" y="1554480"/>
            <a:ext cx="10195560" cy="405079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Drive straight forward 'meters' at 40% power. Finishes on its own.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Command driveDistance(double meters)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return run(coroutine -&gt;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m_modules[0].resetDrivePosition(); // zero one wheel's odometer</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while (Math.abs(m_modules[0].getDistanceMeters()) &lt; Math.abs(meters))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for (SwerveModule module : m_modules)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module.setDesiredState(0.0, 0.4); // point forward, 40% throttle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m_lastCommandedOmega = 0.0;</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coroutine.yield();</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for (SwerveModule module : m_modules)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module.setDesiredState(0.0, 0.0); // reached it — stop</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.whenCanceled(() -&gt;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for (SwerveModule module : m_modules)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module.setDesiredState(0.0, 0.0); // interrupted — stop</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.named("Drive Distance");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SWERVEMODULE.JAVA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named method, because m_driveMotor is private</a:t>
            </a:r>
            <a:endParaRPr lang="en-US" sz="3000" dirty="0"/>
          </a:p>
        </p:txBody>
      </p:sp>
      <p:sp>
        <p:nvSpPr>
          <p:cNvPr id="6" name="Shape 3"/>
          <p:cNvSpPr/>
          <p:nvPr/>
        </p:nvSpPr>
        <p:spPr>
          <a:xfrm>
            <a:off x="640080" y="1600200"/>
            <a:ext cx="10881360" cy="1965960"/>
          </a:xfrm>
          <a:prstGeom prst="roundRect">
            <a:avLst>
              <a:gd name="adj" fmla="val 558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SwerveModule, with its other public methods</a:t>
            </a:r>
            <a:endParaRPr lang="en-US" sz="1500" dirty="0"/>
          </a:p>
        </p:txBody>
      </p:sp>
      <p:sp>
        <p:nvSpPr>
          <p:cNvPr id="11" name="Text 8"/>
          <p:cNvSpPr/>
          <p:nvPr/>
        </p:nvSpPr>
        <p:spPr>
          <a:xfrm>
            <a:off x="914400" y="2057400"/>
            <a:ext cx="10195560" cy="1307592"/>
          </a:xfrm>
          <a:prstGeom prst="rect">
            <a:avLst/>
          </a:prstGeom>
          <a:noFill/>
          <a:ln/>
        </p:spPr>
        <p:txBody>
          <a:bodyPr wrap="square" lIns="0" tIns="0" rIns="0" bIns="0" rtlCol="0" anchor="t"/>
          <a:lstStyle/>
          <a:p>
            <a:pPr indent="0" marL="0">
              <a:lnSpc>
                <a:spcPct val="120000"/>
              </a:lnSpc>
              <a:buNone/>
            </a:pPr>
            <a:r>
              <a:rPr lang="en-US" sz="1600" dirty="0">
                <a:solidFill>
                  <a:srgbClr val="7FA8C9"/>
                </a:solidFill>
                <a:latin typeface="Courier New" pitchFamily="34" charset="0"/>
                <a:ea typeface="Courier New" pitchFamily="34" charset="-122"/>
                <a:cs typeface="Courier New" pitchFamily="34" charset="-120"/>
              </a:rPr>
              <a:t>/** Zero the drive encoder — start measuring distance from *here*. */</a:t>
            </a:r>
            <a:endParaRPr lang="en-US" sz="1600" dirty="0"/>
          </a:p>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public void resetDrivePosition() {</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m_driveMotor.setPosition(0);</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2" name="Shape 9"/>
          <p:cNvSpPr/>
          <p:nvPr/>
        </p:nvSpPr>
        <p:spPr>
          <a:xfrm>
            <a:off x="640080" y="3749040"/>
            <a:ext cx="10881360" cy="2560320"/>
          </a:xfrm>
          <a:prstGeom prst="roundRect">
            <a:avLst>
              <a:gd name="adj" fmla="val 3571"/>
            </a:avLst>
          </a:prstGeom>
          <a:solidFill>
            <a:srgbClr val="F3F6FA"/>
          </a:solidFill>
          <a:ln/>
        </p:spPr>
      </p:sp>
      <p:sp>
        <p:nvSpPr>
          <p:cNvPr id="13" name="Text 10"/>
          <p:cNvSpPr/>
          <p:nvPr/>
        </p:nvSpPr>
        <p:spPr>
          <a:xfrm>
            <a:off x="914400" y="40233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The Drivetrain can't reach a module's hardware directly.</a:t>
            </a:r>
            <a:endParaRPr lang="en-US" sz="2200" dirty="0"/>
          </a:p>
        </p:txBody>
      </p:sp>
      <p:sp>
        <p:nvSpPr>
          <p:cNvPr id="14" name="Text 11"/>
          <p:cNvSpPr/>
          <p:nvPr/>
        </p:nvSpPr>
        <p:spPr>
          <a:xfrm>
            <a:off x="914400" y="4601210"/>
            <a:ext cx="10332720" cy="14338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That's encapsulation doing its job — outsiders don't get to poke a module's motor. What the module can do is offer a named, intention-revealing method instead.</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cookbook for the robot, not a subsystem</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commands, under src/main/java/first/robot/</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 new sibling folder to subsystems and opmode.</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Add a new file: Autos.java</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Right-click commands → New File.</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This one holds auto factories</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Static methods only — Autos itself is never instantiated.</a:t>
            </a:r>
            <a:endParaRPr lang="en-US" sz="2000" dirty="0"/>
          </a:p>
        </p:txBody>
      </p:sp>
      <p:sp>
        <p:nvSpPr>
          <p:cNvPr id="18" name="Shape 15"/>
          <p:cNvSpPr/>
          <p:nvPr/>
        </p:nvSpPr>
        <p:spPr>
          <a:xfrm>
            <a:off x="640080" y="4892040"/>
            <a:ext cx="10881360" cy="1508760"/>
          </a:xfrm>
          <a:prstGeom prst="roundRect">
            <a:avLst>
              <a:gd name="adj" fmla="val 6061"/>
            </a:avLst>
          </a:prstGeom>
          <a:solidFill>
            <a:srgbClr val="F3F6FA"/>
          </a:solidFill>
          <a:ln/>
        </p:spPr>
      </p:sp>
      <p:sp>
        <p:nvSpPr>
          <p:cNvPr id="19" name="Text 16"/>
          <p:cNvSpPr/>
          <p:nvPr/>
        </p:nvSpPr>
        <p:spPr>
          <a:xfrm>
            <a:off x="822960" y="5074920"/>
            <a:ext cx="10515600" cy="1143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private Autos() {} is a constructor nobody can call — the idiom for "don't bother making instances of this class; just use its static methods."</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AUTOS.JAVA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One step at a time, in order</a:t>
            </a:r>
            <a:endParaRPr lang="en-US" sz="3000" dirty="0"/>
          </a:p>
        </p:txBody>
      </p:sp>
      <p:sp>
        <p:nvSpPr>
          <p:cNvPr id="6" name="Shape 3"/>
          <p:cNvSpPr/>
          <p:nvPr/>
        </p:nvSpPr>
        <p:spPr>
          <a:xfrm>
            <a:off x="640080" y="1463040"/>
            <a:ext cx="10881360" cy="3566160"/>
          </a:xfrm>
          <a:prstGeom prst="roundRect">
            <a:avLst>
              <a:gd name="adj" fmla="val 307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Autos.java — the whole file, to start</a:t>
            </a:r>
            <a:endParaRPr lang="en-US" sz="1500" dirty="0"/>
          </a:p>
        </p:txBody>
      </p:sp>
      <p:sp>
        <p:nvSpPr>
          <p:cNvPr id="11" name="Text 8"/>
          <p:cNvSpPr/>
          <p:nvPr/>
        </p:nvSpPr>
        <p:spPr>
          <a:xfrm>
            <a:off x="914400" y="1920240"/>
            <a:ext cx="10195560" cy="290779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final class Autos {</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private Autos() {} // utility class — never instantiated</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Drive 1 m, turn to 90°, drive 1 m more.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static Command driveTurnDrive(Drivetrain drivetrain)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Command.sequence(</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drivetrain.driveDistance(1.0),</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drivetrain.turnToHeading(90),</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drivetrain.driveDistance(1.0))</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.named("Drive Turn Drive");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5212080"/>
            <a:ext cx="10881360" cy="1097280"/>
          </a:xfrm>
          <a:prstGeom prst="roundRect">
            <a:avLst>
              <a:gd name="adj" fmla="val 8333"/>
            </a:avLst>
          </a:prstGeom>
          <a:solidFill>
            <a:srgbClr val="F3F6FA"/>
          </a:solidFill>
          <a:ln/>
        </p:spPr>
      </p:sp>
      <p:sp>
        <p:nvSpPr>
          <p:cNvPr id="13" name="Text 10"/>
          <p:cNvSpPr/>
          <p:nvPr/>
        </p:nvSpPr>
        <p:spPr>
          <a:xfrm>
            <a:off x="822960" y="5394960"/>
            <a:ext cx="10515600" cy="7315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Command.sequence(...) runs steps one at a time — step 2 waits for step 1. Static, needs .named(...) like every builder.</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hoeprint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BETTER WAY TO WRITE THE SAME PLAN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sequencing is the code's own control flow</a:t>
            </a:r>
            <a:endParaRPr lang="en-US" sz="3000" dirty="0"/>
          </a:p>
        </p:txBody>
      </p:sp>
      <p:sp>
        <p:nvSpPr>
          <p:cNvPr id="6" name="Shape 3"/>
          <p:cNvSpPr/>
          <p:nvPr/>
        </p:nvSpPr>
        <p:spPr>
          <a:xfrm>
            <a:off x="640080" y="1371600"/>
            <a:ext cx="10881360" cy="2743200"/>
          </a:xfrm>
          <a:prstGeom prst="roundRect">
            <a:avLst>
              <a:gd name="adj" fmla="val 4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driveTurnDrive with</a:t>
            </a:r>
            <a:endParaRPr lang="en-US" sz="1500" dirty="0"/>
          </a:p>
        </p:txBody>
      </p:sp>
      <p:sp>
        <p:nvSpPr>
          <p:cNvPr id="11" name="Text 8"/>
          <p:cNvSpPr/>
          <p:nvPr/>
        </p:nvSpPr>
        <p:spPr>
          <a:xfrm>
            <a:off x="914400" y="1828800"/>
            <a:ext cx="10195560" cy="208483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static Command driveTurnDrive(Drivetrain drivetrain)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return Command.noRequirements(coroutine -&gt;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coroutine.await(drivetrain.driveDistance(1.0));  // step 1</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coroutine.await(drivetrain.turnToHeading(90));   // step 2</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coroutine.await(drivetrain.driveDistance(1.0));  // step 3</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.named("Drive Turn Drive");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4343400"/>
            <a:ext cx="10881360" cy="1920240"/>
          </a:xfrm>
          <a:prstGeom prst="roundRect">
            <a:avLst>
              <a:gd name="adj" fmla="val 4762"/>
            </a:avLst>
          </a:prstGeom>
          <a:solidFill>
            <a:srgbClr val="F3F6FA"/>
          </a:solidFill>
          <a:ln/>
        </p:spPr>
      </p:sp>
      <p:sp>
        <p:nvSpPr>
          <p:cNvPr id="13" name="Text 10"/>
          <p:cNvSpPr/>
          <p:nvPr/>
        </p:nvSpPr>
        <p:spPr>
          <a:xfrm>
            <a:off x="822960" y="4526280"/>
            <a:ext cx="10515600" cy="155448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coroutine.await(command) schedules it and suspends right there until it finishes. driveTurnDrive itself requires nothing — each step claims the Drivetrain only while it's running.</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ROBOTAUTO.JAVA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Fires the instant Autonomous begins</a:t>
            </a:r>
            <a:endParaRPr lang="en-US" sz="3000" dirty="0"/>
          </a:p>
        </p:txBody>
      </p:sp>
      <p:sp>
        <p:nvSpPr>
          <p:cNvPr id="6" name="Shape 3"/>
          <p:cNvSpPr/>
          <p:nvPr/>
        </p:nvSpPr>
        <p:spPr>
          <a:xfrm>
            <a:off x="640080" y="1600200"/>
            <a:ext cx="10881360" cy="2468880"/>
          </a:xfrm>
          <a:prstGeom prst="roundRect">
            <a:avLst>
              <a:gd name="adj" fmla="val 444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the contents of RobotAuto's constructor</a:t>
            </a:r>
            <a:endParaRPr lang="en-US" sz="1500" dirty="0"/>
          </a:p>
        </p:txBody>
      </p:sp>
      <p:sp>
        <p:nvSpPr>
          <p:cNvPr id="11" name="Text 8"/>
          <p:cNvSpPr/>
          <p:nvPr/>
        </p:nvSpPr>
        <p:spPr>
          <a:xfrm>
            <a:off x="914400" y="2057400"/>
            <a:ext cx="10195560" cy="181051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RobotAuto(Robot robot)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this.robot = robot;</a:t>
            </a:r>
            <a:endParaRPr lang="en-US" sz="1400" dirty="0"/>
          </a:p>
          <a:p>
            <a:pPr indent="0" marL="0">
              <a:lnSpc>
                <a:spcPct val="120000"/>
              </a:lnSpc>
              <a:buNone/>
            </a:pP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Fires once, the moment this opmode goes from disabled to enabled.</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RobotModeTriggers.autonomous().onTrue(Autos.driveTurnDrive(robot.drivetrain));</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4251960"/>
            <a:ext cx="10881360" cy="2103120"/>
          </a:xfrm>
          <a:prstGeom prst="roundRect">
            <a:avLst>
              <a:gd name="adj" fmla="val 4348"/>
            </a:avLst>
          </a:prstGeom>
          <a:solidFill>
            <a:srgbClr val="F3F6FA"/>
          </a:solidFill>
          <a:ln/>
        </p:spPr>
      </p:sp>
      <p:sp>
        <p:nvSpPr>
          <p:cNvPr id="13" name="Text 10"/>
          <p:cNvSpPr/>
          <p:nvPr/>
        </p:nvSpPr>
        <p:spPr>
          <a:xfrm>
            <a:off x="914400" y="45262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No getAutonomousCommand() hook to fill in.</a:t>
            </a:r>
            <a:endParaRPr lang="en-US" sz="2200" dirty="0"/>
          </a:p>
        </p:txBody>
      </p:sp>
      <p:sp>
        <p:nvSpPr>
          <p:cNvPr id="14" name="Text 11"/>
          <p:cNvSpPr/>
          <p:nvPr/>
        </p:nvSpPr>
        <p:spPr>
          <a:xfrm>
            <a:off x="914400" y="5104130"/>
            <a:ext cx="10332720" cy="9766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RobotModeTriggers.autonomous() is a Trigger, like a button, except its condition is Autonomous and enabled. .onTrue schedules the plan once per enable.</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SWERVEMODULE.JAVA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Don't drive hard until the wheel points right</a:t>
            </a:r>
            <a:endParaRPr lang="en-US" sz="3000" dirty="0"/>
          </a:p>
        </p:txBody>
      </p:sp>
      <p:sp>
        <p:nvSpPr>
          <p:cNvPr id="6" name="Shape 3"/>
          <p:cNvSpPr/>
          <p:nvPr/>
        </p:nvSpPr>
        <p:spPr>
          <a:xfrm>
            <a:off x="640080" y="1371600"/>
            <a:ext cx="10881360" cy="2834640"/>
          </a:xfrm>
          <a:prstGeom prst="roundRect">
            <a:avLst>
              <a:gd name="adj" fmla="val 387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setDesiredState in SwerveModule</a:t>
            </a:r>
            <a:endParaRPr lang="en-US" sz="1500" dirty="0"/>
          </a:p>
        </p:txBody>
      </p:sp>
      <p:sp>
        <p:nvSpPr>
          <p:cNvPr id="11" name="Text 8"/>
          <p:cNvSpPr/>
          <p:nvPr/>
        </p:nvSpPr>
        <p:spPr>
          <a:xfrm>
            <a:off x="914400" y="1828800"/>
            <a:ext cx="10195560" cy="217627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void setDesiredState(double angleDegrees, double speedFraction) {</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...steering P control (same math as Lesson 5, with the wrap trick) stays...</a:t>
            </a:r>
            <a:endParaRPr lang="en-US" sz="1400" dirty="0"/>
          </a:p>
          <a:p>
            <a:pPr indent="0" marL="0">
              <a:lnSpc>
                <a:spcPct val="120000"/>
              </a:lnSpc>
              <a:buNone/>
            </a:pP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Drive only as much as the wheel is pointed the right way:</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cos(0°) = 1 → full speed; cos(90°) = 0 → don't drive while sideways.</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double alignment = Math.cos(Math.toRadians(error));</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m_driveMotor.setThrottle(speedFraction * alignment);</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4343400"/>
            <a:ext cx="10881360" cy="1920240"/>
          </a:xfrm>
          <a:prstGeom prst="roundRect">
            <a:avLst>
              <a:gd name="adj" fmla="val 4762"/>
            </a:avLst>
          </a:prstGeom>
          <a:solidFill>
            <a:srgbClr val="F3F6FA"/>
          </a:solidFill>
          <a:ln/>
        </p:spPr>
      </p:sp>
      <p:sp>
        <p:nvSpPr>
          <p:cNvPr id="13" name="Text 10"/>
          <p:cNvSpPr/>
          <p:nvPr/>
        </p:nvSpPr>
        <p:spPr>
          <a:xfrm>
            <a:off x="822960" y="4526280"/>
            <a:ext cx="10515600" cy="155448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Steering takes real time — for a fraction of a second the drive motor pushes through a wheel pointed the wrong way. Scaling by cosine means don't drive hard until you're pointed right.</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object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DOING THINGS AT ONCE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Two tools for simultaneous work</a:t>
            </a:r>
            <a:endParaRPr lang="en-US" sz="3000" dirty="0"/>
          </a:p>
        </p:txBody>
      </p:sp>
      <p:sp>
        <p:nvSpPr>
          <p:cNvPr id="6" name="Shape 3"/>
          <p:cNvSpPr/>
          <p:nvPr/>
        </p:nvSpPr>
        <p:spPr>
          <a:xfrm>
            <a:off x="640080" y="1600200"/>
            <a:ext cx="10881360" cy="1600200"/>
          </a:xfrm>
          <a:prstGeom prst="roundRect">
            <a:avLst>
              <a:gd name="adj" fmla="val 685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just an example, not code for any file</a:t>
            </a:r>
            <a:endParaRPr lang="en-US" sz="1500" dirty="0"/>
          </a:p>
        </p:txBody>
      </p:sp>
      <p:sp>
        <p:nvSpPr>
          <p:cNvPr id="11" name="Text 8"/>
          <p:cNvSpPr/>
          <p:nvPr/>
        </p:nvSpPr>
        <p:spPr>
          <a:xfrm>
            <a:off x="914400" y="2057400"/>
            <a:ext cx="10195560" cy="941832"/>
          </a:xfrm>
          <a:prstGeom prst="rect">
            <a:avLst/>
          </a:prstGeom>
          <a:noFill/>
          <a:ln/>
        </p:spPr>
        <p:txBody>
          <a:bodyPr wrap="square" lIns="0" tIns="0" rIns="0" bIns="0" rtlCol="0" anchor="t"/>
          <a:lstStyle/>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Command.parallel(drivetrain.turnToHeading(90))</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.optional(reportCommand)</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    .named("Turn And Report");</a:t>
            </a:r>
            <a:endParaRPr lang="en-US" sz="1600" dirty="0"/>
          </a:p>
        </p:txBody>
      </p:sp>
      <p:sp>
        <p:nvSpPr>
          <p:cNvPr id="12" name="Shape 9"/>
          <p:cNvSpPr/>
          <p:nvPr/>
        </p:nvSpPr>
        <p:spPr>
          <a:xfrm>
            <a:off x="640080" y="3291840"/>
            <a:ext cx="5349240" cy="1691640"/>
          </a:xfrm>
          <a:prstGeom prst="roundRect">
            <a:avLst>
              <a:gd name="adj" fmla="val 6486"/>
            </a:avLst>
          </a:prstGeom>
          <a:solidFill>
            <a:srgbClr val="132A4C"/>
          </a:solidFill>
          <a:ln/>
        </p:spPr>
      </p:sp>
      <p:sp>
        <p:nvSpPr>
          <p:cNvPr id="13" name="Text 10"/>
          <p:cNvSpPr/>
          <p:nvPr/>
        </p:nvSpPr>
        <p:spPr>
          <a:xfrm>
            <a:off x="914400" y="3474720"/>
            <a:ext cx="4800600" cy="411480"/>
          </a:xfrm>
          <a:prstGeom prst="rect">
            <a:avLst/>
          </a:prstGeom>
          <a:noFill/>
          <a:ln/>
        </p:spPr>
        <p:txBody>
          <a:bodyPr wrap="square" lIns="0" tIns="0" rIns="0" bIns="0" rtlCol="0" anchor="ctr"/>
          <a:lstStyle/>
          <a:p>
            <a:pPr indent="0" marL="0">
              <a:buNone/>
            </a:pPr>
            <a:r>
              <a:rPr lang="en-US" sz="1900" b="1" dirty="0">
                <a:solidFill>
                  <a:srgbClr val="FF5010"/>
                </a:solidFill>
                <a:latin typeface="Courier New" pitchFamily="34" charset="0"/>
                <a:ea typeface="Courier New" pitchFamily="34" charset="-122"/>
                <a:cs typeface="Courier New" pitchFamily="34" charset="-120"/>
              </a:rPr>
              <a:t>Command.parallel(a, b)</a:t>
            </a:r>
            <a:endParaRPr lang="en-US" sz="1900" dirty="0"/>
          </a:p>
        </p:txBody>
      </p:sp>
      <p:sp>
        <p:nvSpPr>
          <p:cNvPr id="14" name="Text 11"/>
          <p:cNvSpPr/>
          <p:nvPr/>
        </p:nvSpPr>
        <p:spPr>
          <a:xfrm>
            <a:off x="914400" y="3886200"/>
            <a:ext cx="4800600" cy="1005840"/>
          </a:xfrm>
          <a:prstGeom prst="rect">
            <a:avLst/>
          </a:prstGeom>
          <a:noFill/>
          <a:ln/>
        </p:spPr>
        <p:txBody>
          <a:bodyPr wrap="square" lIns="0" tIns="0" rIns="0" bIns="0" rtlCol="0" anchor="t"/>
          <a:lstStyle/>
          <a:p>
            <a:pPr indent="0" marL="0">
              <a:lnSpc>
                <a:spcPct val="120000"/>
              </a:lnSpc>
              <a:buNone/>
            </a:pPr>
            <a:r>
              <a:rPr lang="en-US" sz="2000" dirty="0">
                <a:solidFill>
                  <a:srgbClr val="D7E3F4"/>
                </a:solidFill>
                <a:latin typeface="Calibri" pitchFamily="34" charset="0"/>
                <a:ea typeface="Calibri" pitchFamily="34" charset="-122"/>
                <a:cs typeface="Calibri" pitchFamily="34" charset="-120"/>
              </a:rPr>
              <a:t>Runs both, finishes when ALL are done.</a:t>
            </a:r>
            <a:endParaRPr lang="en-US" sz="2000" dirty="0"/>
          </a:p>
        </p:txBody>
      </p:sp>
      <p:sp>
        <p:nvSpPr>
          <p:cNvPr id="15" name="Shape 12"/>
          <p:cNvSpPr/>
          <p:nvPr/>
        </p:nvSpPr>
        <p:spPr>
          <a:xfrm>
            <a:off x="6172200" y="3291840"/>
            <a:ext cx="5349240" cy="1691640"/>
          </a:xfrm>
          <a:prstGeom prst="roundRect">
            <a:avLst>
              <a:gd name="adj" fmla="val 6486"/>
            </a:avLst>
          </a:prstGeom>
          <a:solidFill>
            <a:srgbClr val="132A4C"/>
          </a:solidFill>
          <a:ln/>
        </p:spPr>
      </p:sp>
      <p:sp>
        <p:nvSpPr>
          <p:cNvPr id="16" name="Text 13"/>
          <p:cNvSpPr/>
          <p:nvPr/>
        </p:nvSpPr>
        <p:spPr>
          <a:xfrm>
            <a:off x="6446520" y="3474720"/>
            <a:ext cx="4800600" cy="411480"/>
          </a:xfrm>
          <a:prstGeom prst="rect">
            <a:avLst/>
          </a:prstGeom>
          <a:noFill/>
          <a:ln/>
        </p:spPr>
        <p:txBody>
          <a:bodyPr wrap="square" lIns="0" tIns="0" rIns="0" bIns="0" rtlCol="0" anchor="ctr"/>
          <a:lstStyle/>
          <a:p>
            <a:pPr indent="0" marL="0">
              <a:buNone/>
            </a:pPr>
            <a:r>
              <a:rPr lang="en-US" sz="1900" b="1" dirty="0">
                <a:solidFill>
                  <a:srgbClr val="FF5010"/>
                </a:solidFill>
                <a:latin typeface="Courier New" pitchFamily="34" charset="0"/>
                <a:ea typeface="Courier New" pitchFamily="34" charset="-122"/>
                <a:cs typeface="Courier New" pitchFamily="34" charset="-120"/>
              </a:rPr>
              <a:t>Command.race(a, b)</a:t>
            </a:r>
            <a:endParaRPr lang="en-US" sz="1900" dirty="0"/>
          </a:p>
        </p:txBody>
      </p:sp>
      <p:sp>
        <p:nvSpPr>
          <p:cNvPr id="17" name="Text 14"/>
          <p:cNvSpPr/>
          <p:nvPr/>
        </p:nvSpPr>
        <p:spPr>
          <a:xfrm>
            <a:off x="6446520" y="3886200"/>
            <a:ext cx="4800600" cy="1005840"/>
          </a:xfrm>
          <a:prstGeom prst="rect">
            <a:avLst/>
          </a:prstGeom>
          <a:noFill/>
          <a:ln/>
        </p:spPr>
        <p:txBody>
          <a:bodyPr wrap="square" lIns="0" tIns="0" rIns="0" bIns="0" rtlCol="0" anchor="t"/>
          <a:lstStyle/>
          <a:p>
            <a:pPr indent="0" marL="0">
              <a:lnSpc>
                <a:spcPct val="120000"/>
              </a:lnSpc>
              <a:buNone/>
            </a:pPr>
            <a:r>
              <a:rPr lang="en-US" sz="2000" dirty="0">
                <a:solidFill>
                  <a:srgbClr val="D7E3F4"/>
                </a:solidFill>
                <a:latin typeface="Calibri" pitchFamily="34" charset="0"/>
                <a:ea typeface="Calibri" pitchFamily="34" charset="-122"/>
                <a:cs typeface="Calibri" pitchFamily="34" charset="-120"/>
              </a:rPr>
              <a:t>Runs both, finishes the instant ANY ONE finishes, canceling the rest.</a:t>
            </a:r>
            <a:endParaRPr lang="en-US" sz="2000" dirty="0"/>
          </a:p>
        </p:txBody>
      </p:sp>
      <p:sp>
        <p:nvSpPr>
          <p:cNvPr id="18" name="Text 15"/>
          <p:cNvSpPr/>
          <p:nvPr/>
        </p:nvSpPr>
        <p:spPr>
          <a:xfrm>
            <a:off x="640080" y="5212080"/>
            <a:ext cx="10881360" cy="100584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One hard rule: two required commands in a parallel group must not share a mechanism — building one throws IllegalArgumentException immediately, not a mysterious hang.</a:t>
            </a:r>
            <a:endParaRPr lang="en-US" sz="2000" dirty="0"/>
          </a:p>
        </p:txBody>
      </p:sp>
      <p:sp>
        <p:nvSpPr>
          <p:cNvPr id="19" name="Text 16"/>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AUTONOMOUS</a:t>
            </a:r>
            <a:endParaRPr lang="en-US" sz="2000" dirty="0"/>
          </a:p>
        </p:txBody>
      </p:sp>
      <p:sp>
        <p:nvSpPr>
          <p:cNvPr id="20" name="Text 17"/>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12</a:t>
            </a:r>
            <a:endParaRPr lang="en-US" sz="2000" dirty="0"/>
          </a:p>
        </p:txBody>
      </p:sp>
      <p:pic>
        <p:nvPicPr>
          <p:cNvPr id="21"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SECOND AUTO, NO CHOOSER NEEDED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Every @Autonomous class is its own selectable entry</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opmode, under src/main/java/first/robot/</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same folder RobotTeleop and RobotAuto already live in.</a:t>
            </a:r>
            <a:endParaRPr lang="en-US" sz="2000" dirty="0"/>
          </a:p>
        </p:txBody>
      </p:sp>
      <p:sp>
        <p:nvSpPr>
          <p:cNvPr id="10" name="Shape 7"/>
          <p:cNvSpPr/>
          <p:nvPr/>
        </p:nvSpPr>
        <p:spPr>
          <a:xfrm>
            <a:off x="640080" y="2532888"/>
            <a:ext cx="502920" cy="502920"/>
          </a:xfrm>
          <a:prstGeom prst="ellipse">
            <a:avLst/>
          </a:prstGeom>
          <a:solidFill>
            <a:srgbClr val="1B9AAA"/>
          </a:solidFill>
          <a:ln/>
        </p:spPr>
      </p:sp>
      <p:sp>
        <p:nvSpPr>
          <p:cNvPr id="11" name="Text 8"/>
          <p:cNvSpPr/>
          <p:nvPr/>
        </p:nvSpPr>
        <p:spPr>
          <a:xfrm>
            <a:off x="640080" y="25328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4597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Add a new file: RobotAutoBox.java</a:t>
            </a:r>
            <a:endParaRPr lang="en-US" sz="2000" dirty="0"/>
          </a:p>
        </p:txBody>
      </p:sp>
      <p:sp>
        <p:nvSpPr>
          <p:cNvPr id="13" name="Text 10"/>
          <p:cNvSpPr/>
          <p:nvPr/>
        </p:nvSpPr>
        <p:spPr>
          <a:xfrm>
            <a:off x="1371600" y="28437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Right-click opmode → New File.</a:t>
            </a:r>
            <a:endParaRPr lang="en-US" sz="2000" dirty="0"/>
          </a:p>
        </p:txBody>
      </p:sp>
      <p:sp>
        <p:nvSpPr>
          <p:cNvPr id="14" name="Shape 11"/>
          <p:cNvSpPr/>
          <p:nvPr/>
        </p:nvSpPr>
        <p:spPr>
          <a:xfrm>
            <a:off x="640080" y="3429000"/>
            <a:ext cx="10881360" cy="2103120"/>
          </a:xfrm>
          <a:prstGeom prst="roundRect">
            <a:avLst>
              <a:gd name="adj" fmla="val 5217"/>
            </a:avLst>
          </a:prstGeom>
          <a:solidFill>
            <a:srgbClr val="0B1F3A"/>
          </a:solidFill>
          <a:ln/>
          <a:effectLst>
            <a:outerShdw sx="100000" sy="100000" kx="0" ky="0" algn="bl" rotWithShape="0" blurRad="101600" dist="38100" dir="5400000">
              <a:srgbClr val="0B1F3A">
                <a:alpha val="35000"/>
              </a:srgbClr>
            </a:outerShdw>
          </a:effectLst>
        </p:spPr>
      </p:sp>
      <p:sp>
        <p:nvSpPr>
          <p:cNvPr id="15" name="Shape 12"/>
          <p:cNvSpPr/>
          <p:nvPr/>
        </p:nvSpPr>
        <p:spPr>
          <a:xfrm>
            <a:off x="11210544" y="3575304"/>
            <a:ext cx="128016" cy="128016"/>
          </a:xfrm>
          <a:prstGeom prst="ellipse">
            <a:avLst/>
          </a:prstGeom>
          <a:solidFill>
            <a:srgbClr val="FF6B6B"/>
          </a:solidFill>
          <a:ln/>
        </p:spPr>
      </p:sp>
      <p:sp>
        <p:nvSpPr>
          <p:cNvPr id="16" name="Shape 13"/>
          <p:cNvSpPr/>
          <p:nvPr/>
        </p:nvSpPr>
        <p:spPr>
          <a:xfrm>
            <a:off x="11210544" y="3776472"/>
            <a:ext cx="128016" cy="128016"/>
          </a:xfrm>
          <a:prstGeom prst="ellipse">
            <a:avLst/>
          </a:prstGeom>
          <a:solidFill>
            <a:srgbClr val="FFD166"/>
          </a:solidFill>
          <a:ln/>
        </p:spPr>
      </p:sp>
      <p:sp>
        <p:nvSpPr>
          <p:cNvPr id="17" name="Shape 14"/>
          <p:cNvSpPr/>
          <p:nvPr/>
        </p:nvSpPr>
        <p:spPr>
          <a:xfrm>
            <a:off x="11210544" y="3977640"/>
            <a:ext cx="128016" cy="128016"/>
          </a:xfrm>
          <a:prstGeom prst="ellipse">
            <a:avLst/>
          </a:prstGeom>
          <a:solidFill>
            <a:srgbClr val="2EC4B6"/>
          </a:solidFill>
          <a:ln/>
        </p:spPr>
      </p:sp>
      <p:sp>
        <p:nvSpPr>
          <p:cNvPr id="18" name="Text 15"/>
          <p:cNvSpPr/>
          <p:nvPr/>
        </p:nvSpPr>
        <p:spPr>
          <a:xfrm>
            <a:off x="914400" y="35570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RobotAutoBox.java — the whole file</a:t>
            </a:r>
            <a:endParaRPr lang="en-US" sz="1500" dirty="0"/>
          </a:p>
        </p:txBody>
      </p:sp>
      <p:sp>
        <p:nvSpPr>
          <p:cNvPr id="19" name="Text 16"/>
          <p:cNvSpPr/>
          <p:nvPr/>
        </p:nvSpPr>
        <p:spPr>
          <a:xfrm>
            <a:off x="914400" y="3886200"/>
            <a:ext cx="10195560" cy="144475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@Autonomous(name = "Do Nothing", group = "Group 1")</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class RobotAutoBox extends PeriodicOpMode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public RobotAutoBox(Robot robot) { /* an empty auto — nothing scheduled */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  @Override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void periodic()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Design a box pattern</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Drive 1 m, turn 90°, four times, ending where it started. Predict the final heading first.</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Parameterize the distance</a:t>
            </a:r>
            <a:endParaRPr lang="en-US" sz="2000" dirty="0"/>
          </a:p>
        </p:txBody>
      </p:sp>
      <p:sp>
        <p:nvSpPr>
          <p:cNvPr id="17" name="Shape 14"/>
          <p:cNvSpPr/>
          <p:nvPr/>
        </p:nvSpPr>
        <p:spPr>
          <a:xfrm>
            <a:off x="9784080" y="1773936"/>
            <a:ext cx="1417320" cy="292608"/>
          </a:xfrm>
          <a:prstGeom prst="roundRect">
            <a:avLst>
              <a:gd name="adj" fmla="val 18750"/>
            </a:avLst>
          </a:prstGeom>
          <a:solidFill>
            <a:srgbClr val="FF5010"/>
          </a:solidFill>
          <a:ln/>
        </p:spPr>
      </p:sp>
      <p:sp>
        <p:nvSpPr>
          <p:cNvPr id="18" name="Text 15"/>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Give driveTurnDrive a double distance, and a third @Autonomous opmode that calls it differently.</a:t>
            </a:r>
            <a:endParaRPr lang="en-US" sz="2000" dirty="0"/>
          </a:p>
        </p:txBody>
      </p:sp>
      <p:sp>
        <p:nvSpPr>
          <p:cNvPr id="20" name="Shape 17"/>
          <p:cNvSpPr/>
          <p:nvPr/>
        </p:nvSpPr>
        <p:spPr>
          <a:xfrm>
            <a:off x="640080" y="4023360"/>
            <a:ext cx="5303520" cy="2286000"/>
          </a:xfrm>
          <a:prstGeom prst="roundRect">
            <a:avLst>
              <a:gd name="adj" fmla="val 4800"/>
            </a:avLst>
          </a:prstGeom>
          <a:solidFill>
            <a:srgbClr val="132A4C"/>
          </a:solidFill>
          <a:ln/>
        </p:spPr>
      </p:sp>
      <p:sp>
        <p:nvSpPr>
          <p:cNvPr id="21" name="Shape 18"/>
          <p:cNvSpPr/>
          <p:nvPr/>
        </p:nvSpPr>
        <p:spPr>
          <a:xfrm>
            <a:off x="960120" y="4251960"/>
            <a:ext cx="457200" cy="457200"/>
          </a:xfrm>
          <a:prstGeom prst="ellipse">
            <a:avLst/>
          </a:prstGeom>
          <a:solidFill>
            <a:srgbClr val="1B9AAA"/>
          </a:solidFill>
          <a:ln/>
        </p:spPr>
      </p:sp>
      <p:sp>
        <p:nvSpPr>
          <p:cNvPr id="22" name="Text 19"/>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Add a deliberate wait</a:t>
            </a:r>
            <a:endParaRPr lang="en-US" sz="2000" dirty="0"/>
          </a:p>
        </p:txBody>
      </p:sp>
      <p:sp>
        <p:nvSpPr>
          <p:cNvPr id="24" name="Shape 21"/>
          <p:cNvSpPr/>
          <p:nvPr/>
        </p:nvSpPr>
        <p:spPr>
          <a:xfrm>
            <a:off x="4206240" y="4334256"/>
            <a:ext cx="1417320" cy="292608"/>
          </a:xfrm>
          <a:prstGeom prst="roundRect">
            <a:avLst>
              <a:gd name="adj" fmla="val 18750"/>
            </a:avLst>
          </a:prstGeom>
          <a:solidFill>
            <a:srgbClr val="FF5010"/>
          </a:solidFill>
          <a:ln/>
        </p:spPr>
      </p:sp>
      <p:sp>
        <p:nvSpPr>
          <p:cNvPr id="25" name="Text 22"/>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coroutine.wait(Seconds.of(1.0)) between two awaits. When might that help a real auto?</a:t>
            </a:r>
            <a:endParaRPr lang="en-US" sz="2000" dirty="0"/>
          </a:p>
        </p:txBody>
      </p:sp>
      <p:sp>
        <p:nvSpPr>
          <p:cNvPr id="27" name="Text 2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AUTONOMOUS</a:t>
            </a:r>
            <a:endParaRPr lang="en-US" sz="2000" dirty="0"/>
          </a:p>
        </p:txBody>
      </p:sp>
      <p:sp>
        <p:nvSpPr>
          <p:cNvPr id="28" name="Text 2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14</a:t>
            </a:r>
            <a:endParaRPr lang="en-US" sz="2000" dirty="0"/>
          </a:p>
        </p:txBody>
      </p:sp>
      <p:pic>
        <p:nvPicPr>
          <p:cNvPr id="2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least mysterious thing in robot programming</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Autonomous is just another opmode, scheduling one plan the moment RobotModeTriggers.autonomous() fires.</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coroutine.await(...) turns a sequence into something you write, one line per step, each mechanism held only as long as it's needed.</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Cosine compensation fixed a real flaw: scale the drive by cos(steer error), so a wheel doesn't push until it's pointed right.</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10</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Full Swerve</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Translate and rotate at the same time, with kinematics.</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AUTONOMOUS</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 — Autonomous</dc:title>
  <dc:subject>PptxGenJS Presentation</dc:subject>
  <dc:creator>Learn Java + Robot Programming</dc:creator>
  <cp:lastModifiedBy>Learn Java + Robot Programming</cp:lastModifiedBy>
  <cp:revision>1</cp:revision>
  <dcterms:created xsi:type="dcterms:W3CDTF">2026-09-17T14:07:27Z</dcterms:created>
  <dcterms:modified xsi:type="dcterms:W3CDTF">2026-09-17T14:07:27Z</dcterms:modified>
</cp:coreProperties>
</file>