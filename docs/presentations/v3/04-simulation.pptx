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plots from Lesson 3 sat flat because nothing connects "I commanded 30% power" to "the rotor spins up" in sim — this lesson fixes that by giving the simulated motor a physics model, so from here on you can develop and debug most of your logic on a laptop and save the real robot for fine-tuning.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mental model to correct up front: simulation is not a video game that comes with physics built in. On a real robot, the universe handles physics for free; in sim, nothing has mass or inertia unless you tell it to. That reframes what today's work is — not fixing a bug, but adding the physics that was never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sim motor isn't broken — it's just sitting in a world with no physics yet. You fix that by adding a physics model: an object that takes the voltage your code applies and computes how fast a real motor with a real load would spin. Feed that motion back into the TalonFX and suddenly getVelocity() and getPosition() report believable numbers. This is how good teams write most of their code: develop and debug logic on a laptop, and save the real robot for fine-tuning.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objects do the work. Phoenix 6 gives every TalonFX a sim state — the hook for injecting fake sensor readings into the motor. WPILib gives you DCMotorSim — the physics. Both are data the module keeps for life, so they're fields, up top with the motor. Don't sweat the exact numbers yet: 0.001 for inertia just makes the motor feel snappy; tuning for realism comes later, right now the goal is any believable motion.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Fields initialize top to bottom, and m_driveSim is built by asking the motor for its sim state — so the motor has to exist first. Put m_driveSim above m_driveMotor and the compiler refuses outright with "illegal forward reference" — worth having students actually try that once to see the error. The rule to state plainly: when one field is built from another, the one it depends on goes first. For the composition side, read m_driveModel inside-out: DCMotor.getKrakenX60(1) describes the motor itself, that description gets handed to Models.singleJointedArmFromPhysicalConstants(motor, inertia, gearing), which builds the math model, and the math model gets handed to new DCMotorSim(...), which wraps it into something you can step forward in time. Three objects, each passed into the next — this shape shows up constantly from here on. Worth naming: the method mentions an "arm" because a motor turning a shaft against a load is the same equation whether the shaft is an arm joint or a wheel axle, so WPILib doesn't duplicate the math under a second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WPILib steps simulated physics on its own schedule, separate from the scheduler tick wired up in Lesson 1 — but that schedule lives on Robot, not on Mechanism. A mechanism doesn't get a "run my physics" hook of its own; the only thing that does is a plain method you write yourself, for Robot to call — a smaller idea than it sounds, just another method the same way getPositionRotations() was in Lesson 3. Walk the four steps as a loop: tell the sim the battery voltage, read the voltage the TalonFX is applying, feed that into the physics model and advance time by one tick, then push the resulting motion back into the fake encoder. That loop is the whole idea of simulation — if there's one picture to take from this lesson, it's this one, and the next slide draws it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command flows out as voltage; the model turns voltage into motion; the motion flows back in as fake sensor readings. Once this runs, getPosition() and getVelocity() — the values you've been logging since Lesson 3 — reflect real-feeling physics, and nothing downstream of the encoder can tell the difference. Your telemetry, your plots, and every controller you write later work identically in sim and on the real robot — that's the payoff. On the unit note: DCMotorSim reports position and velocity in radians and radians per second, but setRawRotorPosition and setRotorVelocity want rotations and rotations per second — one full turn is 2π radians, so dividing by it converts either quantity. Skip that division and the plots would be lying by a factor of about 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You've already met one method WPILib calls every tick no matter what: robotPeriodic(), which got the scheduler tick back in Lesson 1. simulationPeriodic() is that method's sim-only sibling — same idea, called on the same schedule, except WPILib only calls it when you're actually running in simulation. On a real robot it never runs, so nothing inside it can ever leak onto the field. That's the whole wire-up: Robot already holds module, so it just calls the method you wrote in section 3. As more mechanisms arrive in later lessons, this is where each one's simulatePeriodic() gets called from — one line per mechanism, all in one obvious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Lesson 3 promised: push the stick and watch the same plots that sat flat before now actually respond. Velocity ramps up to a steady value and back to zero, like a real motor accelerating; position climbs while driving and holds when stopped. There's now a robot you can develop against with no hardware on the bench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inertia change is a genuine predict-then-check exercise: a bigger inertia means the motor is harder to spin up, so the velocity plot should reach full speed more slowly — have students commit to a prediction before rebuilding. The step-input exercise surfaces the S-shaped ramp as the motor's natural response to a sudden voltage change; that same curve comes back when tuning control in Lesson 5, so it's worth pointing out this is the first time they're seeing it, not the last. Logging applied volts is explicitly framed as simulatePeriodic()'s version of logTelemetry() — a value that only exists in sim gets logged from the sim-only tick.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Simulation isn't magic — that's the lesson under the lesson. Nothing in sim moves until you model it: the Phoenix sim state is the bridge for injecting fake sensor readings, DCMotorSim is the physics that turns applied voltage into motion, and simulationPeriodic() is where you step it, one 20 ms tick at a time — the sim-only sibling of the robotPeriodic() scheduler tick from Lesson 1. Along the way you met composition — objects built from objects, handed one into the next — and a rule about field order: when one field is built from another, the dependency comes first. The picture to keep is the loop: command → voltage → model → fake encoder → your reads. Everything downstream of the encoder can't tell sim from reality, which means from here on you can build and debug on your laptop and bring the real robot in at the end. Lesson 5 cashes that in immediately with the first feedback controller.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pic>
        <p:nvPicPr>
          <p:cNvPr id="2" name="Image 0" descr="/home/user/BasicRobotLessons/docs/presentations/v3/template/assets/logo/team5010-logo-onnavy.png">    </p:cNvPr>
          <p:cNvPicPr>
            <a:picLocks noChangeAspect="1"/>
          </p:cNvPicPr>
          <p:nvPr/>
        </p:nvPicPr>
        <p:blipFill>
          <a:blip r:embed="rId1"/>
          <a:stretch>
            <a:fillRect/>
          </a:stretch>
        </p:blipFill>
        <p:spPr>
          <a:xfrm>
            <a:off x="8351215" y="3834811"/>
            <a:ext cx="3291840" cy="2565989"/>
          </a:xfrm>
          <a:prstGeom prst="rect">
            <a:avLst/>
          </a:prstGeom>
        </p:spPr>
      </p:pic>
      <p:sp>
        <p:nvSpPr>
          <p:cNvPr id="3" name="Text 0"/>
          <p:cNvSpPr/>
          <p:nvPr/>
        </p:nvSpPr>
        <p:spPr>
          <a:xfrm>
            <a:off x="822960" y="1371600"/>
            <a:ext cx="9144000" cy="365760"/>
          </a:xfrm>
          <a:prstGeom prst="rect">
            <a:avLst/>
          </a:prstGeom>
          <a:noFill/>
          <a:ln/>
        </p:spPr>
        <p:txBody>
          <a:bodyPr wrap="square" lIns="0" tIns="0" rIns="0" bIns="0" rtlCol="0" anchor="ctr"/>
          <a:lstStyle/>
          <a:p>
            <a:pPr indent="0" marL="0">
              <a:buNone/>
            </a:pPr>
            <a:r>
              <a:rPr lang="en-US" sz="2000" b="1" spc="300" kern="0" dirty="0">
                <a:solidFill>
                  <a:srgbClr val="1B9AAA"/>
                </a:solidFill>
                <a:latin typeface="Calibri" pitchFamily="34" charset="0"/>
                <a:ea typeface="Calibri" pitchFamily="34" charset="-122"/>
                <a:cs typeface="Calibri" pitchFamily="34" charset="-120"/>
              </a:rPr>
              <a:t>LEARN JAVA + ROBOT PROGRAMMING</a:t>
            </a:r>
            <a:endParaRPr lang="en-US" sz="2000" dirty="0"/>
          </a:p>
        </p:txBody>
      </p:sp>
      <p:sp>
        <p:nvSpPr>
          <p:cNvPr id="4" name="Text 1"/>
          <p:cNvSpPr/>
          <p:nvPr/>
        </p:nvSpPr>
        <p:spPr>
          <a:xfrm>
            <a:off x="777240" y="1874520"/>
            <a:ext cx="7315200" cy="502920"/>
          </a:xfrm>
          <a:prstGeom prst="rect">
            <a:avLst/>
          </a:prstGeom>
          <a:noFill/>
          <a:ln/>
        </p:spPr>
        <p:txBody>
          <a:bodyPr wrap="square" lIns="0" tIns="0" rIns="0" bIns="0" rtlCol="0" anchor="ctr"/>
          <a:lstStyle/>
          <a:p>
            <a:pPr indent="0" marL="0">
              <a:buNone/>
            </a:pPr>
            <a:r>
              <a:rPr lang="en-US" sz="2200" b="1" spc="200" kern="0" dirty="0">
                <a:solidFill>
                  <a:srgbClr val="FF5010"/>
                </a:solidFill>
                <a:latin typeface="Calibri" pitchFamily="34" charset="0"/>
                <a:ea typeface="Calibri" pitchFamily="34" charset="-122"/>
                <a:cs typeface="Calibri" pitchFamily="34" charset="-120"/>
              </a:rPr>
              <a:t>LESSON 4</a:t>
            </a:r>
            <a:endParaRPr lang="en-US" sz="2200" dirty="0"/>
          </a:p>
        </p:txBody>
      </p:sp>
      <p:sp>
        <p:nvSpPr>
          <p:cNvPr id="5" name="Text 2"/>
          <p:cNvSpPr/>
          <p:nvPr/>
        </p:nvSpPr>
        <p:spPr>
          <a:xfrm>
            <a:off x="731520" y="2331720"/>
            <a:ext cx="10515600" cy="137160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Simulation</a:t>
            </a:r>
            <a:endParaRPr lang="en-US" sz="6000" dirty="0"/>
          </a:p>
        </p:txBody>
      </p:sp>
      <p:sp>
        <p:nvSpPr>
          <p:cNvPr id="6" name="Text 3"/>
          <p:cNvSpPr/>
          <p:nvPr/>
        </p:nvSpPr>
        <p:spPr>
          <a:xfrm>
            <a:off x="777240" y="3611880"/>
            <a:ext cx="8686800" cy="640080"/>
          </a:xfrm>
          <a:prstGeom prst="rect">
            <a:avLst/>
          </a:prstGeom>
          <a:noFill/>
          <a:ln/>
        </p:spPr>
        <p:txBody>
          <a:bodyPr wrap="square" lIns="0" tIns="0" rIns="0" bIns="0" rtlCol="0" anchor="ctr"/>
          <a:lstStyle/>
          <a:p>
            <a:pPr indent="0" marL="0">
              <a:buNone/>
            </a:pPr>
            <a:r>
              <a:rPr lang="en-US" sz="2600" i="1" dirty="0">
                <a:solidFill>
                  <a:srgbClr val="CADCE8"/>
                </a:solidFill>
                <a:latin typeface="Cambria" pitchFamily="34" charset="0"/>
                <a:ea typeface="Cambria" pitchFamily="34" charset="-122"/>
                <a:cs typeface="Cambria" pitchFamily="34" charset="-120"/>
              </a:rPr>
              <a:t>Make the motor move on your laptop</a:t>
            </a:r>
            <a:endParaRPr lang="en-US" sz="2600" dirty="0"/>
          </a:p>
        </p:txBody>
      </p:sp>
      <p:sp>
        <p:nvSpPr>
          <p:cNvPr id="7" name="Text 4"/>
          <p:cNvSpPr/>
          <p:nvPr/>
        </p:nvSpPr>
        <p:spPr>
          <a:xfrm>
            <a:off x="777240" y="6126480"/>
            <a:ext cx="9144000" cy="365760"/>
          </a:xfrm>
          <a:prstGeom prst="rect">
            <a:avLst/>
          </a:prstGeom>
          <a:noFill/>
          <a:ln/>
        </p:spPr>
        <p:txBody>
          <a:bodyPr wrap="square" lIns="0" tIns="0" rIns="0" bIns="0" rtlCol="0" anchor="ctr"/>
          <a:lstStyle/>
          <a:p>
            <a:pPr indent="0" marL="0">
              <a:buNone/>
            </a:pPr>
            <a:r>
              <a:rPr lang="en-US" sz="2000" spc="100" kern="0" dirty="0">
                <a:solidFill>
                  <a:srgbClr val="89A0BE"/>
                </a:solidFill>
                <a:latin typeface="Calibri" pitchFamily="34" charset="0"/>
                <a:ea typeface="Calibri" pitchFamily="34" charset="-122"/>
                <a:cs typeface="Calibri" pitchFamily="34" charset="-120"/>
              </a:rPr>
              <a:t>WPILib 2027 Alpha  ·  Commands V3</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bullsey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THE GOAL</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Give the sim motor a physics model</a:t>
            </a:r>
            <a:endParaRPr lang="en-US" sz="3000" dirty="0"/>
          </a:p>
        </p:txBody>
      </p:sp>
      <p:sp>
        <p:nvSpPr>
          <p:cNvPr id="6" name="Shape 3"/>
          <p:cNvSpPr/>
          <p:nvPr/>
        </p:nvSpPr>
        <p:spPr>
          <a:xfrm>
            <a:off x="640080" y="1600200"/>
            <a:ext cx="10881360" cy="1280160"/>
          </a:xfrm>
          <a:prstGeom prst="roundRect">
            <a:avLst>
              <a:gd name="adj" fmla="val 7143"/>
            </a:avLst>
          </a:prstGeom>
          <a:solidFill>
            <a:srgbClr val="F3F6FA"/>
          </a:solidFill>
          <a:ln/>
        </p:spPr>
      </p:sp>
      <p:sp>
        <p:nvSpPr>
          <p:cNvPr id="7" name="Text 4"/>
          <p:cNvSpPr/>
          <p:nvPr/>
        </p:nvSpPr>
        <p:spPr>
          <a:xfrm>
            <a:off x="960120" y="1737360"/>
            <a:ext cx="10241280" cy="1005840"/>
          </a:xfrm>
          <a:prstGeom prst="rect">
            <a:avLst/>
          </a:prstGeom>
          <a:noFill/>
          <a:ln/>
        </p:spPr>
        <p:txBody>
          <a:bodyPr wrap="square" lIns="0" tIns="0" rIns="0" bIns="0" rtlCol="0" anchor="ctr"/>
          <a:lstStyle/>
          <a:p>
            <a:pPr indent="0" marL="0">
              <a:lnSpc>
                <a:spcPct val="125000"/>
              </a:lnSpc>
              <a:buNone/>
            </a:pPr>
            <a:r>
              <a:rPr lang="en-US" sz="2200" i="1" dirty="0">
                <a:solidFill>
                  <a:srgbClr val="13294B"/>
                </a:solidFill>
                <a:latin typeface="Cambria" pitchFamily="34" charset="0"/>
                <a:ea typeface="Cambria" pitchFamily="34" charset="-122"/>
                <a:cs typeface="Cambria" pitchFamily="34" charset="-120"/>
              </a:rPr>
              <a:t>So the position and velocity plots from Lesson 3 actually respond to what you command — no real robot required.</a:t>
            </a:r>
            <a:endParaRPr lang="en-US" sz="2200" dirty="0"/>
          </a:p>
        </p:txBody>
      </p:sp>
      <p:sp>
        <p:nvSpPr>
          <p:cNvPr id="8" name="Shape 5"/>
          <p:cNvSpPr/>
          <p:nvPr/>
        </p:nvSpPr>
        <p:spPr>
          <a:xfrm>
            <a:off x="640080" y="3108960"/>
            <a:ext cx="457200" cy="457200"/>
          </a:xfrm>
          <a:prstGeom prst="ellipse">
            <a:avLst/>
          </a:prstGeom>
          <a:solidFill>
            <a:srgbClr val="1B9AAA"/>
          </a:solidFill>
          <a:ln/>
        </p:spPr>
      </p:sp>
      <p:pic>
        <p:nvPicPr>
          <p:cNvPr id="9" name="Image 1" descr="/home/user/BasicRobotLessons/docs/presentations/v3/template/assets/icons/code_white.png">    </p:cNvPr>
          <p:cNvPicPr>
            <a:picLocks noChangeAspect="1"/>
          </p:cNvPicPr>
          <p:nvPr/>
        </p:nvPicPr>
        <p:blipFill>
          <a:blip r:embed="rId2"/>
          <a:stretch>
            <a:fillRect/>
          </a:stretch>
        </p:blipFill>
        <p:spPr>
          <a:xfrm>
            <a:off x="749808" y="3218688"/>
            <a:ext cx="237744" cy="237744"/>
          </a:xfrm>
          <a:prstGeom prst="rect">
            <a:avLst/>
          </a:prstGeom>
        </p:spPr>
      </p:pic>
      <p:sp>
        <p:nvSpPr>
          <p:cNvPr id="10" name="Text 6"/>
          <p:cNvSpPr/>
          <p:nvPr/>
        </p:nvSpPr>
        <p:spPr>
          <a:xfrm>
            <a:off x="1234440" y="3136392"/>
            <a:ext cx="4572000" cy="365760"/>
          </a:xfrm>
          <a:prstGeom prst="rect">
            <a:avLst/>
          </a:prstGeom>
          <a:noFill/>
          <a:ln/>
        </p:spPr>
        <p:txBody>
          <a:bodyPr wrap="square" lIns="0" tIns="0" rIns="0" bIns="0" rtlCol="0" anchor="ctr"/>
          <a:lstStyle/>
          <a:p>
            <a:pPr indent="0" marL="0">
              <a:buNone/>
            </a:pPr>
            <a:r>
              <a:rPr lang="en-US" sz="2000" b="1" spc="50" kern="0" dirty="0">
                <a:solidFill>
                  <a:srgbClr val="13294B"/>
                </a:solidFill>
                <a:latin typeface="Calibri" pitchFamily="34" charset="0"/>
                <a:ea typeface="Calibri" pitchFamily="34" charset="-122"/>
                <a:cs typeface="Calibri" pitchFamily="34" charset="-120"/>
              </a:rPr>
              <a:t>NEW JAVA CONCEPTS</a:t>
            </a:r>
            <a:endParaRPr lang="en-US" sz="2000" dirty="0"/>
          </a:p>
        </p:txBody>
      </p:sp>
      <p:sp>
        <p:nvSpPr>
          <p:cNvPr id="11" name="Text 7"/>
          <p:cNvSpPr/>
          <p:nvPr/>
        </p:nvSpPr>
        <p:spPr>
          <a:xfrm>
            <a:off x="685800" y="3675888"/>
            <a:ext cx="5257800" cy="2834640"/>
          </a:xfrm>
          <a:prstGeom prst="rect">
            <a:avLst/>
          </a:prstGeom>
          <a:noFill/>
          <a:ln/>
        </p:spPr>
        <p:txBody>
          <a:bodyPr wrap="square" lIns="0" tIns="0" rIns="0" bIns="0" rtlCol="0" anchor="t"/>
          <a:lstStyle/>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Objects that model the real world</a:t>
            </a:r>
            <a:endParaRPr lang="en-US" sz="2000" dirty="0"/>
          </a:p>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simulationPeriodic() — a sim-only tick</a:t>
            </a:r>
            <a:endParaRPr lang="en-US" sz="2000" dirty="0"/>
          </a:p>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Composition — objects passed into objects</a:t>
            </a:r>
            <a:endParaRPr lang="en-US" sz="2000" dirty="0"/>
          </a:p>
        </p:txBody>
      </p:sp>
      <p:sp>
        <p:nvSpPr>
          <p:cNvPr id="12" name="Shape 8"/>
          <p:cNvSpPr/>
          <p:nvPr/>
        </p:nvSpPr>
        <p:spPr>
          <a:xfrm>
            <a:off x="6309360" y="3108960"/>
            <a:ext cx="457200" cy="457200"/>
          </a:xfrm>
          <a:prstGeom prst="ellipse">
            <a:avLst/>
          </a:prstGeom>
          <a:solidFill>
            <a:srgbClr val="FF5010"/>
          </a:solidFill>
          <a:ln/>
        </p:spPr>
      </p:sp>
      <p:pic>
        <p:nvPicPr>
          <p:cNvPr id="13" name="Image 2" descr="/home/user/BasicRobotLessons/docs/presentations/v3/template/assets/icons/flask_white.png">    </p:cNvPr>
          <p:cNvPicPr>
            <a:picLocks noChangeAspect="1"/>
          </p:cNvPicPr>
          <p:nvPr/>
        </p:nvPicPr>
        <p:blipFill>
          <a:blip r:embed="rId3"/>
          <a:stretch>
            <a:fillRect/>
          </a:stretch>
        </p:blipFill>
        <p:spPr>
          <a:xfrm>
            <a:off x="6419088" y="3218688"/>
            <a:ext cx="237744" cy="237744"/>
          </a:xfrm>
          <a:prstGeom prst="rect">
            <a:avLst/>
          </a:prstGeom>
        </p:spPr>
      </p:pic>
      <p:sp>
        <p:nvSpPr>
          <p:cNvPr id="14" name="Text 9"/>
          <p:cNvSpPr/>
          <p:nvPr/>
        </p:nvSpPr>
        <p:spPr>
          <a:xfrm>
            <a:off x="6903720" y="3136392"/>
            <a:ext cx="4572000" cy="365760"/>
          </a:xfrm>
          <a:prstGeom prst="rect">
            <a:avLst/>
          </a:prstGeom>
          <a:noFill/>
          <a:ln/>
        </p:spPr>
        <p:txBody>
          <a:bodyPr wrap="square" lIns="0" tIns="0" rIns="0" bIns="0" rtlCol="0" anchor="ctr"/>
          <a:lstStyle/>
          <a:p>
            <a:pPr indent="0" marL="0">
              <a:buNone/>
            </a:pPr>
            <a:r>
              <a:rPr lang="en-US" sz="2000" b="1" spc="50" kern="0" dirty="0">
                <a:solidFill>
                  <a:srgbClr val="13294B"/>
                </a:solidFill>
                <a:latin typeface="Calibri" pitchFamily="34" charset="0"/>
                <a:ea typeface="Calibri" pitchFamily="34" charset="-122"/>
                <a:cs typeface="Calibri" pitchFamily="34" charset="-120"/>
              </a:rPr>
              <a:t>NEW ROBOT CONCEPTS</a:t>
            </a:r>
            <a:endParaRPr lang="en-US" sz="2000" dirty="0"/>
          </a:p>
        </p:txBody>
      </p:sp>
      <p:sp>
        <p:nvSpPr>
          <p:cNvPr id="15" name="Text 10"/>
          <p:cNvSpPr/>
          <p:nvPr/>
        </p:nvSpPr>
        <p:spPr>
          <a:xfrm>
            <a:off x="6355080" y="3675888"/>
            <a:ext cx="5257800" cy="2834640"/>
          </a:xfrm>
          <a:prstGeom prst="rect">
            <a:avLst/>
          </a:prstGeom>
          <a:noFill/>
          <a:ln/>
        </p:spPr>
        <p:txBody>
          <a:bodyPr wrap="square" lIns="0" tIns="0" rIns="0" bIns="0" rtlCol="0" anchor="t"/>
          <a:lstStyle/>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Why simulation matters</a:t>
            </a:r>
            <a:endParaRPr lang="en-US" sz="2000" dirty="0"/>
          </a:p>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Phoenix 6 sim state — the bridge</a:t>
            </a:r>
            <a:endParaRPr lang="en-US" sz="2000" dirty="0"/>
          </a:p>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DCMotorSim — a motor + load model</a:t>
            </a:r>
            <a:endParaRPr lang="en-US" sz="2000" dirty="0"/>
          </a:p>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Why sim code lives on Robot</a:t>
            </a:r>
            <a:endParaRPr lang="en-US" sz="2000" dirty="0"/>
          </a:p>
        </p:txBody>
      </p:sp>
      <p:sp>
        <p:nvSpPr>
          <p:cNvPr id="16"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SIMULATION</a:t>
            </a:r>
            <a:endParaRPr lang="en-US" sz="2000" dirty="0"/>
          </a:p>
        </p:txBody>
      </p:sp>
      <p:sp>
        <p:nvSpPr>
          <p:cNvPr id="17"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2</a:t>
            </a:r>
            <a:endParaRPr lang="en-US" sz="2000" dirty="0"/>
          </a:p>
        </p:txBody>
      </p:sp>
      <p:pic>
        <p:nvPicPr>
          <p:cNvPr id="18" name="Image 3" descr="/home/user/BasicRobotLessons/docs/presentations/v3/template/assets/logo/team5010-logo-onwhite.png">    </p:cNvPr>
          <p:cNvPicPr>
            <a:picLocks noChangeAspect="1"/>
          </p:cNvPicPr>
          <p:nvPr/>
        </p:nvPicPr>
        <p:blipFill>
          <a:blip r:embed="rId4"/>
          <a:stretch>
            <a:fillRect/>
          </a:stretch>
        </p:blipFill>
        <p:spPr>
          <a:xfrm>
            <a:off x="10957255" y="164592"/>
            <a:ext cx="777240" cy="60585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flask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1 · WHY SIMULATE?</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Nothing has mass until you tell it to</a:t>
            </a:r>
            <a:endParaRPr lang="en-US" sz="3000" dirty="0"/>
          </a:p>
        </p:txBody>
      </p:sp>
      <p:sp>
        <p:nvSpPr>
          <p:cNvPr id="6" name="Shape 3"/>
          <p:cNvSpPr/>
          <p:nvPr/>
        </p:nvSpPr>
        <p:spPr>
          <a:xfrm>
            <a:off x="640080" y="1600200"/>
            <a:ext cx="10881360" cy="4434840"/>
          </a:xfrm>
          <a:prstGeom prst="roundRect">
            <a:avLst>
              <a:gd name="adj" fmla="val 2474"/>
            </a:avLst>
          </a:prstGeom>
          <a:solidFill>
            <a:srgbClr val="132A4C"/>
          </a:solidFill>
          <a:ln/>
        </p:spPr>
      </p:sp>
      <p:sp>
        <p:nvSpPr>
          <p:cNvPr id="7" name="Text 4"/>
          <p:cNvSpPr/>
          <p:nvPr/>
        </p:nvSpPr>
        <p:spPr>
          <a:xfrm>
            <a:off x="914400" y="1828800"/>
            <a:ext cx="10332720" cy="822960"/>
          </a:xfrm>
          <a:prstGeom prst="rect">
            <a:avLst/>
          </a:prstGeom>
          <a:noFill/>
          <a:ln/>
        </p:spPr>
        <p:txBody>
          <a:bodyPr wrap="square" lIns="0" tIns="0" rIns="0" bIns="0" rtlCol="0" anchor="t"/>
          <a:lstStyle/>
          <a:p>
            <a:pPr indent="0" marL="0">
              <a:lnSpc>
                <a:spcPct val="120000"/>
              </a:lnSpc>
              <a:buNone/>
            </a:pPr>
            <a:r>
              <a:rPr lang="en-US" sz="2400" b="1" dirty="0">
                <a:solidFill>
                  <a:srgbClr val="FF5010"/>
                </a:solidFill>
                <a:latin typeface="Cambria" pitchFamily="34" charset="0"/>
                <a:ea typeface="Cambria" pitchFamily="34" charset="-122"/>
                <a:cs typeface="Cambria" pitchFamily="34" charset="-120"/>
              </a:rPr>
              <a:t>Simulation is not a video game that comes with physics built in.</a:t>
            </a:r>
            <a:endParaRPr lang="en-US" sz="2400" dirty="0"/>
          </a:p>
        </p:txBody>
      </p:sp>
      <p:sp>
        <p:nvSpPr>
          <p:cNvPr id="8" name="Text 5"/>
          <p:cNvSpPr/>
          <p:nvPr/>
        </p:nvSpPr>
        <p:spPr>
          <a:xfrm>
            <a:off x="914400" y="2743200"/>
            <a:ext cx="10332720" cy="3200400"/>
          </a:xfrm>
          <a:prstGeom prst="rect">
            <a:avLst/>
          </a:prstGeom>
          <a:noFill/>
          <a:ln/>
        </p:spPr>
        <p:txBody>
          <a:bodyPr wrap="square" lIns="0" tIns="0" rIns="0" bIns="0" rtlCol="0" anchor="t"/>
          <a:lstStyle/>
          <a:p>
            <a:pPr indent="0" marL="0">
              <a:lnSpc>
                <a:spcPct val="130000"/>
              </a:lnSpc>
              <a:buNone/>
            </a:pPr>
            <a:r>
              <a:rPr lang="en-US" sz="2100" dirty="0">
                <a:solidFill>
                  <a:srgbClr val="D7E3F4"/>
                </a:solidFill>
                <a:latin typeface="Calibri" pitchFamily="34" charset="0"/>
                <a:ea typeface="Calibri" pitchFamily="34" charset="-122"/>
                <a:cs typeface="Calibri" pitchFamily="34" charset="-120"/>
              </a:rPr>
              <a:t>On a real robot, code that spins a motor produces motion because the universe handles the physics for free. In sim, nothing has mass or inertia unless you tell it to — that's why the plots sat flat at the end of Lesson 3. The sim motor isn't broken; it's sitting in a world with no physics yet.</a:t>
            </a:r>
            <a:endParaRPr lang="en-US" sz="2100" dirty="0"/>
          </a:p>
          <a:p>
            <a:pPr indent="0" marL="0">
              <a:lnSpc>
                <a:spcPct val="130000"/>
              </a:lnSpc>
              <a:buNone/>
            </a:pPr>
            <a:endParaRPr lang="en-US" sz="2100" dirty="0"/>
          </a:p>
          <a:p>
            <a:pPr indent="0" marL="0">
              <a:lnSpc>
                <a:spcPct val="130000"/>
              </a:lnSpc>
              <a:buNone/>
            </a:pPr>
            <a:r>
              <a:rPr lang="en-US" sz="2100" dirty="0">
                <a:solidFill>
                  <a:srgbClr val="D7E3F4"/>
                </a:solidFill>
                <a:latin typeface="Calibri" pitchFamily="34" charset="0"/>
                <a:ea typeface="Calibri" pitchFamily="34" charset="-122"/>
                <a:cs typeface="Calibri" pitchFamily="34" charset="-120"/>
              </a:rPr>
              <a:t>An object that takes the voltage your code applies and computes how fast a real motor would spin fixes that — feed the motion back into the TalonFX, and getVelocity()/getPosition() report believable numbers.</a:t>
            </a:r>
            <a:endParaRPr lang="en-US" sz="2100" dirty="0"/>
          </a:p>
        </p:txBody>
      </p:sp>
      <p:sp>
        <p:nvSpPr>
          <p:cNvPr id="9" name="Text 6"/>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SIMULATION</a:t>
            </a:r>
            <a:endParaRPr lang="en-US" sz="2000" dirty="0"/>
          </a:p>
        </p:txBody>
      </p:sp>
      <p:sp>
        <p:nvSpPr>
          <p:cNvPr id="10" name="Text 7"/>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3</a:t>
            </a:r>
            <a:endParaRPr lang="en-US" sz="2000" dirty="0"/>
          </a:p>
        </p:txBody>
      </p:sp>
      <p:pic>
        <p:nvPicPr>
          <p:cNvPr id="11"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og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2 · DRIVEMODULE.JAVA</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Two objects do the work</a:t>
            </a:r>
            <a:endParaRPr lang="en-US" sz="3000" dirty="0"/>
          </a:p>
        </p:txBody>
      </p:sp>
      <p:sp>
        <p:nvSpPr>
          <p:cNvPr id="6" name="Shape 3"/>
          <p:cNvSpPr/>
          <p:nvPr/>
        </p:nvSpPr>
        <p:spPr>
          <a:xfrm>
            <a:off x="640080" y="1600200"/>
            <a:ext cx="10881360" cy="3200400"/>
          </a:xfrm>
          <a:prstGeom prst="roundRect">
            <a:avLst>
              <a:gd name="adj" fmla="val 3429"/>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746504"/>
            <a:ext cx="128016" cy="128016"/>
          </a:xfrm>
          <a:prstGeom prst="ellipse">
            <a:avLst/>
          </a:prstGeom>
          <a:solidFill>
            <a:srgbClr val="FF6B6B"/>
          </a:solidFill>
          <a:ln/>
        </p:spPr>
      </p:sp>
      <p:sp>
        <p:nvSpPr>
          <p:cNvPr id="8" name="Shape 5"/>
          <p:cNvSpPr/>
          <p:nvPr/>
        </p:nvSpPr>
        <p:spPr>
          <a:xfrm>
            <a:off x="11210544" y="1947672"/>
            <a:ext cx="128016" cy="128016"/>
          </a:xfrm>
          <a:prstGeom prst="ellipse">
            <a:avLst/>
          </a:prstGeom>
          <a:solidFill>
            <a:srgbClr val="FFD166"/>
          </a:solidFill>
          <a:ln/>
        </p:spPr>
      </p:sp>
      <p:sp>
        <p:nvSpPr>
          <p:cNvPr id="9" name="Shape 6"/>
          <p:cNvSpPr/>
          <p:nvPr/>
        </p:nvSpPr>
        <p:spPr>
          <a:xfrm>
            <a:off x="11210544" y="2148840"/>
            <a:ext cx="128016" cy="128016"/>
          </a:xfrm>
          <a:prstGeom prst="ellipse">
            <a:avLst/>
          </a:prstGeom>
          <a:solidFill>
            <a:srgbClr val="2EC4B6"/>
          </a:solidFill>
          <a:ln/>
        </p:spPr>
      </p:sp>
      <p:sp>
        <p:nvSpPr>
          <p:cNvPr id="10" name="Text 7"/>
          <p:cNvSpPr/>
          <p:nvPr/>
        </p:nvSpPr>
        <p:spPr>
          <a:xfrm>
            <a:off x="914400" y="17282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DriveModule, directly below m_driveMotor</a:t>
            </a:r>
            <a:endParaRPr lang="en-US" sz="1500" dirty="0"/>
          </a:p>
        </p:txBody>
      </p:sp>
      <p:sp>
        <p:nvSpPr>
          <p:cNvPr id="11" name="Text 8"/>
          <p:cNvSpPr/>
          <p:nvPr/>
        </p:nvSpPr>
        <p:spPr>
          <a:xfrm>
            <a:off x="914400" y="2057400"/>
            <a:ext cx="10195560" cy="2542032"/>
          </a:xfrm>
          <a:prstGeom prst="rect">
            <a:avLst/>
          </a:prstGeom>
          <a:noFill/>
          <a:ln/>
        </p:spPr>
        <p:txBody>
          <a:bodyPr wrap="square" lIns="0" tIns="0" rIns="0" bIns="0" rtlCol="0" anchor="t"/>
          <a:lstStyle/>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private final TalonFX m_driveMotor =</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new TalonFX(Constants.DriveConstants.kDriveMotorPort, CANBus.systemcore(0));</a:t>
            </a:r>
            <a:endParaRPr lang="en-US" sz="1100" dirty="0"/>
          </a:p>
          <a:p>
            <a:pPr indent="0" marL="0">
              <a:lnSpc>
                <a:spcPct val="120000"/>
              </a:lnSpc>
              <a:buNone/>
            </a:pPr>
            <a:endParaRPr lang="en-US" sz="1100" dirty="0"/>
          </a:p>
          <a:p>
            <a:pPr indent="0" marL="0">
              <a:lnSpc>
                <a:spcPct val="120000"/>
              </a:lnSpc>
              <a:buNone/>
            </a:pPr>
            <a:r>
              <a:rPr lang="en-US" sz="1100" dirty="0">
                <a:solidFill>
                  <a:srgbClr val="7FA8C9"/>
                </a:solidFill>
                <a:latin typeface="Courier New" pitchFamily="34" charset="0"/>
                <a:ea typeface="Courier New" pitchFamily="34" charset="-122"/>
                <a:cs typeface="Courier New" pitchFamily="34" charset="-120"/>
              </a:rPr>
              <a:t>// The bridge: lets us push fake sensor values into the TalonFX during sim.</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private final TalonFXSimState m_driveSim = m_driveMotor.getSimState();</a:t>
            </a:r>
            <a:endParaRPr lang="en-US" sz="1100" dirty="0"/>
          </a:p>
          <a:p>
            <a:pPr indent="0" marL="0">
              <a:lnSpc>
                <a:spcPct val="120000"/>
              </a:lnSpc>
              <a:buNone/>
            </a:pPr>
            <a:endParaRPr lang="en-US" sz="1100" dirty="0"/>
          </a:p>
          <a:p>
            <a:pPr indent="0" marL="0">
              <a:lnSpc>
                <a:spcPct val="120000"/>
              </a:lnSpc>
              <a:buNone/>
            </a:pPr>
            <a:r>
              <a:rPr lang="en-US" sz="1100" dirty="0">
                <a:solidFill>
                  <a:srgbClr val="7FA8C9"/>
                </a:solidFill>
                <a:latin typeface="Courier New" pitchFamily="34" charset="0"/>
                <a:ea typeface="Courier New" pitchFamily="34" charset="-122"/>
                <a:cs typeface="Courier New" pitchFamily="34" charset="-120"/>
              </a:rPr>
              <a:t>// The physics: one Kraken X60 motor spinning a small inertia.</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private final DCMotorSim m_driveModel =</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new DCMotorSim(</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Models.singleJointedArmFromPhysicalConstants(DCMotor.getKrakenX60(1), 0.001, 1.0),</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DCMotor.getKrakenX60(1));</a:t>
            </a:r>
            <a:endParaRPr lang="en-US" sz="11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SIMULATION</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4</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ub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2 · COMPOSITION</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Objects built from objects, handed one into the next</a:t>
            </a:r>
            <a:endParaRPr lang="en-US" sz="3000" dirty="0"/>
          </a:p>
        </p:txBody>
      </p:sp>
      <p:sp>
        <p:nvSpPr>
          <p:cNvPr id="6" name="Shape 3"/>
          <p:cNvSpPr/>
          <p:nvPr/>
        </p:nvSpPr>
        <p:spPr>
          <a:xfrm>
            <a:off x="640080" y="1600200"/>
            <a:ext cx="5349240" cy="4251960"/>
          </a:xfrm>
          <a:prstGeom prst="roundRect">
            <a:avLst>
              <a:gd name="adj" fmla="val 2151"/>
            </a:avLst>
          </a:prstGeom>
          <a:solidFill>
            <a:srgbClr val="F3F6FA"/>
          </a:solidFill>
          <a:ln/>
        </p:spPr>
      </p:sp>
      <p:sp>
        <p:nvSpPr>
          <p:cNvPr id="7" name="Text 4"/>
          <p:cNvSpPr/>
          <p:nvPr/>
        </p:nvSpPr>
        <p:spPr>
          <a:xfrm>
            <a:off x="914400" y="1874520"/>
            <a:ext cx="4800600" cy="577850"/>
          </a:xfrm>
          <a:prstGeom prst="rect">
            <a:avLst/>
          </a:prstGeom>
          <a:noFill/>
          <a:ln/>
        </p:spPr>
        <p:txBody>
          <a:bodyPr wrap="square" lIns="0" tIns="0" rIns="0" bIns="0" rtlCol="0" anchor="t"/>
          <a:lstStyle/>
          <a:p>
            <a:pPr indent="0" marL="0">
              <a:lnSpc>
                <a:spcPct val="120000"/>
              </a:lnSpc>
              <a:buNone/>
            </a:pPr>
            <a:r>
              <a:rPr lang="en-US" sz="2200" b="1" dirty="0">
                <a:solidFill>
                  <a:srgbClr val="13294B"/>
                </a:solidFill>
                <a:latin typeface="Cambria" pitchFamily="34" charset="0"/>
                <a:ea typeface="Cambria" pitchFamily="34" charset="-122"/>
                <a:cs typeface="Cambria" pitchFamily="34" charset="-120"/>
              </a:rPr>
              <a:t>Field order is not cosmetic.</a:t>
            </a:r>
            <a:endParaRPr lang="en-US" sz="2200" dirty="0"/>
          </a:p>
        </p:txBody>
      </p:sp>
      <p:sp>
        <p:nvSpPr>
          <p:cNvPr id="8" name="Text 5"/>
          <p:cNvSpPr/>
          <p:nvPr/>
        </p:nvSpPr>
        <p:spPr>
          <a:xfrm>
            <a:off x="914400" y="2452370"/>
            <a:ext cx="4800600" cy="312547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Fields initialize top to bottom. m_driveSim is built by asking the motor for its sim state, so the motor has to exist first — put it above and the compiler refuses outright.</a:t>
            </a:r>
            <a:endParaRPr lang="en-US" sz="2000" dirty="0"/>
          </a:p>
        </p:txBody>
      </p:sp>
      <p:sp>
        <p:nvSpPr>
          <p:cNvPr id="9" name="Shape 6"/>
          <p:cNvSpPr/>
          <p:nvPr/>
        </p:nvSpPr>
        <p:spPr>
          <a:xfrm>
            <a:off x="6172200" y="1600200"/>
            <a:ext cx="5349240" cy="4251960"/>
          </a:xfrm>
          <a:prstGeom prst="roundRect">
            <a:avLst>
              <a:gd name="adj" fmla="val 2151"/>
            </a:avLst>
          </a:prstGeom>
          <a:solidFill>
            <a:srgbClr val="0B1F3A"/>
          </a:solidFill>
          <a:ln/>
        </p:spPr>
      </p:sp>
      <p:sp>
        <p:nvSpPr>
          <p:cNvPr id="10" name="Text 7"/>
          <p:cNvSpPr/>
          <p:nvPr/>
        </p:nvSpPr>
        <p:spPr>
          <a:xfrm>
            <a:off x="6446520" y="1874520"/>
            <a:ext cx="4800600" cy="577850"/>
          </a:xfrm>
          <a:prstGeom prst="rect">
            <a:avLst/>
          </a:prstGeom>
          <a:noFill/>
          <a:ln/>
        </p:spPr>
        <p:txBody>
          <a:bodyPr wrap="square" lIns="0" tIns="0" rIns="0" bIns="0" rtlCol="0" anchor="t"/>
          <a:lstStyle/>
          <a:p>
            <a:pPr indent="0" marL="0">
              <a:lnSpc>
                <a:spcPct val="120000"/>
              </a:lnSpc>
              <a:buNone/>
            </a:pPr>
            <a:r>
              <a:rPr lang="en-US" sz="2200" b="1" dirty="0">
                <a:solidFill>
                  <a:srgbClr val="FFFFFF"/>
                </a:solidFill>
                <a:latin typeface="Cambria" pitchFamily="34" charset="0"/>
                <a:ea typeface="Cambria" pitchFamily="34" charset="-122"/>
                <a:cs typeface="Cambria" pitchFamily="34" charset="-120"/>
              </a:rPr>
              <a:t>Read it inside-out.</a:t>
            </a:r>
            <a:endParaRPr lang="en-US" sz="2200" dirty="0"/>
          </a:p>
        </p:txBody>
      </p:sp>
      <p:sp>
        <p:nvSpPr>
          <p:cNvPr id="11" name="Text 8"/>
          <p:cNvSpPr/>
          <p:nvPr/>
        </p:nvSpPr>
        <p:spPr>
          <a:xfrm>
            <a:off x="6446520" y="2452370"/>
            <a:ext cx="4800600" cy="312547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DCMotor describes the motor. Models.singleJointedArmFromPhysicalConstants(motor, inertia, gearing) builds the math. new DCMotorSim(...) wraps it into something you can step forward in time.</a:t>
            </a:r>
            <a:endParaRPr lang="en-US" sz="20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SIMULATION</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5</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syncalt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3 · DRIVEMODULE.JAVA</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Four steps, once per tick, sim only</a:t>
            </a:r>
            <a:endParaRPr lang="en-US" sz="3000" dirty="0"/>
          </a:p>
        </p:txBody>
      </p:sp>
      <p:sp>
        <p:nvSpPr>
          <p:cNvPr id="6" name="Shape 3"/>
          <p:cNvSpPr/>
          <p:nvPr/>
        </p:nvSpPr>
        <p:spPr>
          <a:xfrm>
            <a:off x="640080" y="1463040"/>
            <a:ext cx="10881360" cy="4480560"/>
          </a:xfrm>
          <a:prstGeom prst="roundRect">
            <a:avLst>
              <a:gd name="adj" fmla="val 2449"/>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609344"/>
            <a:ext cx="128016" cy="128016"/>
          </a:xfrm>
          <a:prstGeom prst="ellipse">
            <a:avLst/>
          </a:prstGeom>
          <a:solidFill>
            <a:srgbClr val="FF6B6B"/>
          </a:solidFill>
          <a:ln/>
        </p:spPr>
      </p:sp>
      <p:sp>
        <p:nvSpPr>
          <p:cNvPr id="8" name="Shape 5"/>
          <p:cNvSpPr/>
          <p:nvPr/>
        </p:nvSpPr>
        <p:spPr>
          <a:xfrm>
            <a:off x="11210544" y="1810512"/>
            <a:ext cx="128016" cy="128016"/>
          </a:xfrm>
          <a:prstGeom prst="ellipse">
            <a:avLst/>
          </a:prstGeom>
          <a:solidFill>
            <a:srgbClr val="FFD166"/>
          </a:solidFill>
          <a:ln/>
        </p:spPr>
      </p:sp>
      <p:sp>
        <p:nvSpPr>
          <p:cNvPr id="9" name="Shape 6"/>
          <p:cNvSpPr/>
          <p:nvPr/>
        </p:nvSpPr>
        <p:spPr>
          <a:xfrm>
            <a:off x="11210544" y="2011680"/>
            <a:ext cx="128016" cy="128016"/>
          </a:xfrm>
          <a:prstGeom prst="ellipse">
            <a:avLst/>
          </a:prstGeom>
          <a:solidFill>
            <a:srgbClr val="2EC4B6"/>
          </a:solidFill>
          <a:ln/>
        </p:spPr>
      </p:sp>
      <p:sp>
        <p:nvSpPr>
          <p:cNvPr id="10" name="Text 7"/>
          <p:cNvSpPr/>
          <p:nvPr/>
        </p:nvSpPr>
        <p:spPr>
          <a:xfrm>
            <a:off x="914400" y="159105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DriveModule, below getPositionRotations()</a:t>
            </a:r>
            <a:endParaRPr lang="en-US" sz="1500" dirty="0"/>
          </a:p>
        </p:txBody>
      </p:sp>
      <p:sp>
        <p:nvSpPr>
          <p:cNvPr id="11" name="Text 8"/>
          <p:cNvSpPr/>
          <p:nvPr/>
        </p:nvSpPr>
        <p:spPr>
          <a:xfrm>
            <a:off x="914400" y="1920240"/>
            <a:ext cx="10195560" cy="3822192"/>
          </a:xfrm>
          <a:prstGeom prst="rect">
            <a:avLst/>
          </a:prstGeom>
          <a:noFill/>
          <a:ln/>
        </p:spPr>
        <p:txBody>
          <a:bodyPr wrap="square" lIns="0" tIns="0" rIns="0" bIns="0" rtlCol="0" anchor="t"/>
          <a:lstStyle/>
          <a:p>
            <a:pPr indent="0" marL="0">
              <a:lnSpc>
                <a:spcPct val="120000"/>
              </a:lnSpc>
              <a:buNone/>
            </a:pPr>
            <a:r>
              <a:rPr lang="en-US" sz="1200" dirty="0">
                <a:solidFill>
                  <a:srgbClr val="FFD166"/>
                </a:solidFill>
                <a:latin typeface="Courier New" pitchFamily="34" charset="0"/>
                <a:ea typeface="Courier New" pitchFamily="34" charset="-122"/>
                <a:cs typeface="Courier New" pitchFamily="34" charset="-120"/>
              </a:rPr>
              <a:t>public void simulatePeriodic() {</a:t>
            </a:r>
            <a:endParaRPr lang="en-US" sz="1200" dirty="0"/>
          </a:p>
          <a:p>
            <a:pPr indent="0" marL="0">
              <a:lnSpc>
                <a:spcPct val="120000"/>
              </a:lnSpc>
              <a:buNone/>
            </a:pPr>
            <a:r>
              <a:rPr lang="en-US" sz="1200" dirty="0">
                <a:solidFill>
                  <a:srgbClr val="7FA8C9"/>
                </a:solidFill>
                <a:latin typeface="Courier New" pitchFamily="34" charset="0"/>
                <a:ea typeface="Courier New" pitchFamily="34" charset="-122"/>
                <a:cs typeface="Courier New" pitchFamily="34" charset="-120"/>
              </a:rPr>
              <a:t>  // 1. Tell the sim the battery voltage available.</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m_driveSim.setSupplyVoltage(RobotController.getBatteryVoltage());</a:t>
            </a:r>
            <a:endParaRPr lang="en-US" sz="1200" dirty="0"/>
          </a:p>
          <a:p>
            <a:pPr indent="0" marL="0">
              <a:lnSpc>
                <a:spcPct val="120000"/>
              </a:lnSpc>
              <a:buNone/>
            </a:pPr>
            <a:endParaRPr lang="en-US" sz="1200" dirty="0"/>
          </a:p>
          <a:p>
            <a:pPr indent="0" marL="0">
              <a:lnSpc>
                <a:spcPct val="120000"/>
              </a:lnSpc>
              <a:buNone/>
            </a:pPr>
            <a:r>
              <a:rPr lang="en-US" sz="1200" dirty="0">
                <a:solidFill>
                  <a:srgbClr val="7FA8C9"/>
                </a:solidFill>
                <a:latin typeface="Courier New" pitchFamily="34" charset="0"/>
                <a:ea typeface="Courier New" pitchFamily="34" charset="-122"/>
                <a:cs typeface="Courier New" pitchFamily="34" charset="-120"/>
              </a:rPr>
              <a:t>  // 2. Read the voltage the TalonFX is applying.</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double appliedVolts = m_driveSim.getMotorVoltage();</a:t>
            </a:r>
            <a:endParaRPr lang="en-US" sz="1200" dirty="0"/>
          </a:p>
          <a:p>
            <a:pPr indent="0" marL="0">
              <a:lnSpc>
                <a:spcPct val="120000"/>
              </a:lnSpc>
              <a:buNone/>
            </a:pPr>
            <a:endParaRPr lang="en-US" sz="1200" dirty="0"/>
          </a:p>
          <a:p>
            <a:pPr indent="0" marL="0">
              <a:lnSpc>
                <a:spcPct val="120000"/>
              </a:lnSpc>
              <a:buNone/>
            </a:pPr>
            <a:r>
              <a:rPr lang="en-US" sz="1200" dirty="0">
                <a:solidFill>
                  <a:srgbClr val="7FA8C9"/>
                </a:solidFill>
                <a:latin typeface="Courier New" pitchFamily="34" charset="0"/>
                <a:ea typeface="Courier New" pitchFamily="34" charset="-122"/>
                <a:cs typeface="Courier New" pitchFamily="34" charset="-120"/>
              </a:rPr>
              <a:t>  // 3. Feed it into the model, advance time by one tick (20 ms).</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m_driveModel.setInputVoltage(appliedVolts);</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m_driveModel.update(0.020);</a:t>
            </a:r>
            <a:endParaRPr lang="en-US" sz="1200" dirty="0"/>
          </a:p>
          <a:p>
            <a:pPr indent="0" marL="0">
              <a:lnSpc>
                <a:spcPct val="120000"/>
              </a:lnSpc>
              <a:buNone/>
            </a:pPr>
            <a:endParaRPr lang="en-US" sz="1200" dirty="0"/>
          </a:p>
          <a:p>
            <a:pPr indent="0" marL="0">
              <a:lnSpc>
                <a:spcPct val="120000"/>
              </a:lnSpc>
              <a:buNone/>
            </a:pPr>
            <a:r>
              <a:rPr lang="en-US" sz="1200" dirty="0">
                <a:solidFill>
                  <a:srgbClr val="7FA8C9"/>
                </a:solidFill>
                <a:latin typeface="Courier New" pitchFamily="34" charset="0"/>
                <a:ea typeface="Courier New" pitchFamily="34" charset="-122"/>
                <a:cs typeface="Courier New" pitchFamily="34" charset="-120"/>
              </a:rPr>
              <a:t>  // 4. Push the resulting motion BACK into the fake encoder.</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m_driveSim.setRawRotorPosition(m_driveModel.getAngularPosition() / (2 * Math.PI));</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m_driveSim.setRotorVelocity(m_driveModel.getAngularVelocity() / (2 * Math.PI));</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a:t>
            </a:r>
            <a:endParaRPr lang="en-US" sz="12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SIMULATION</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6</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syncalt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3 · THE PICTURE TO KEEP</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Command out as voltage, motion back as sensor reads</a:t>
            </a:r>
            <a:endParaRPr lang="en-US" sz="3000" dirty="0"/>
          </a:p>
        </p:txBody>
      </p:sp>
      <p:sp>
        <p:nvSpPr>
          <p:cNvPr id="6" name="Shape 3"/>
          <p:cNvSpPr/>
          <p:nvPr/>
        </p:nvSpPr>
        <p:spPr>
          <a:xfrm>
            <a:off x="640080" y="1737360"/>
            <a:ext cx="10881360" cy="2514600"/>
          </a:xfrm>
          <a:prstGeom prst="roundRect">
            <a:avLst>
              <a:gd name="adj" fmla="val 4364"/>
            </a:avLst>
          </a:prstGeom>
          <a:solidFill>
            <a:srgbClr val="132A4C"/>
          </a:solidFill>
          <a:ln/>
        </p:spPr>
      </p:sp>
      <p:sp>
        <p:nvSpPr>
          <p:cNvPr id="7" name="Text 4"/>
          <p:cNvSpPr/>
          <p:nvPr/>
        </p:nvSpPr>
        <p:spPr>
          <a:xfrm>
            <a:off x="914400" y="1874520"/>
            <a:ext cx="10332720" cy="292608"/>
          </a:xfrm>
          <a:prstGeom prst="rect">
            <a:avLst/>
          </a:prstGeom>
          <a:noFill/>
          <a:ln/>
        </p:spPr>
        <p:txBody>
          <a:bodyPr wrap="square" lIns="0" tIns="0" rIns="0" bIns="0" rtlCol="0" anchor="ctr"/>
          <a:lstStyle/>
          <a:p>
            <a:pPr indent="0" marL="0">
              <a:buNone/>
            </a:pPr>
            <a:r>
              <a:rPr lang="en-US" sz="1500" i="1" dirty="0">
                <a:solidFill>
                  <a:srgbClr val="7FA8C9"/>
                </a:solidFill>
                <a:latin typeface="Calibri" pitchFamily="34" charset="0"/>
                <a:ea typeface="Calibri" pitchFamily="34" charset="-122"/>
                <a:cs typeface="Calibri" pitchFamily="34" charset="-120"/>
              </a:rPr>
              <a:t>Nothing to add — a picture of the loop, not code</a:t>
            </a:r>
            <a:endParaRPr lang="en-US" sz="1500" dirty="0"/>
          </a:p>
        </p:txBody>
      </p:sp>
      <p:sp>
        <p:nvSpPr>
          <p:cNvPr id="8" name="Text 5"/>
          <p:cNvSpPr/>
          <p:nvPr/>
        </p:nvSpPr>
        <p:spPr>
          <a:xfrm>
            <a:off x="914400" y="2286000"/>
            <a:ext cx="10332720" cy="502920"/>
          </a:xfrm>
          <a:prstGeom prst="rect">
            <a:avLst/>
          </a:prstGeom>
          <a:noFill/>
          <a:ln/>
        </p:spPr>
        <p:txBody>
          <a:bodyPr wrap="square" lIns="0" tIns="0" rIns="0" bIns="0" rtlCol="0" anchor="ctr"/>
          <a:lstStyle/>
          <a:p>
            <a:pPr algn="ctr" indent="0" marL="0">
              <a:buNone/>
            </a:pPr>
            <a:r>
              <a:rPr lang="en-US" sz="2000" b="1" dirty="0">
                <a:solidFill>
                  <a:srgbClr val="9EF01A"/>
                </a:solidFill>
                <a:latin typeface="Courier New" pitchFamily="34" charset="0"/>
                <a:ea typeface="Courier New" pitchFamily="34" charset="-122"/>
                <a:cs typeface="Courier New" pitchFamily="34" charset="-120"/>
              </a:rPr>
              <a:t>setThrottle(0.3)  →  TalonFX applies volts  →  getMotorVoltage()</a:t>
            </a:r>
            <a:endParaRPr lang="en-US" sz="2000" dirty="0"/>
          </a:p>
        </p:txBody>
      </p:sp>
      <p:sp>
        <p:nvSpPr>
          <p:cNvPr id="9" name="Text 6"/>
          <p:cNvSpPr/>
          <p:nvPr/>
        </p:nvSpPr>
        <p:spPr>
          <a:xfrm>
            <a:off x="914400" y="2788920"/>
            <a:ext cx="10332720" cy="365760"/>
          </a:xfrm>
          <a:prstGeom prst="rect">
            <a:avLst/>
          </a:prstGeom>
          <a:noFill/>
          <a:ln/>
        </p:spPr>
        <p:txBody>
          <a:bodyPr wrap="square" lIns="0" tIns="0" rIns="0" bIns="0" rtlCol="0" anchor="ctr"/>
          <a:lstStyle/>
          <a:p>
            <a:pPr algn="ctr" indent="0" marL="0">
              <a:buNone/>
            </a:pPr>
            <a:r>
              <a:rPr lang="en-US" sz="2000" dirty="0">
                <a:solidFill>
                  <a:srgbClr val="1B9AAA"/>
                </a:solidFill>
                <a:latin typeface="Courier New" pitchFamily="34" charset="0"/>
                <a:ea typeface="Courier New" pitchFamily="34" charset="-122"/>
                <a:cs typeface="Courier New" pitchFamily="34" charset="-120"/>
              </a:rPr>
              <a:t>↑                                                                    ↓</a:t>
            </a:r>
            <a:endParaRPr lang="en-US" sz="2000" dirty="0"/>
          </a:p>
        </p:txBody>
      </p:sp>
      <p:sp>
        <p:nvSpPr>
          <p:cNvPr id="10" name="Text 7"/>
          <p:cNvSpPr/>
          <p:nvPr/>
        </p:nvSpPr>
        <p:spPr>
          <a:xfrm>
            <a:off x="914400" y="3200400"/>
            <a:ext cx="10332720" cy="502920"/>
          </a:xfrm>
          <a:prstGeom prst="rect">
            <a:avLst/>
          </a:prstGeom>
          <a:noFill/>
          <a:ln/>
        </p:spPr>
        <p:txBody>
          <a:bodyPr wrap="square" lIns="0" tIns="0" rIns="0" bIns="0" rtlCol="0" anchor="ctr"/>
          <a:lstStyle/>
          <a:p>
            <a:pPr algn="ctr" indent="0" marL="0">
              <a:buNone/>
            </a:pPr>
            <a:r>
              <a:rPr lang="en-US" sz="2000" b="1" dirty="0">
                <a:solidFill>
                  <a:srgbClr val="9EF01A"/>
                </a:solidFill>
                <a:latin typeface="Courier New" pitchFamily="34" charset="0"/>
                <a:ea typeface="Courier New" pitchFamily="34" charset="-122"/>
                <a:cs typeface="Courier New" pitchFamily="34" charset="-120"/>
              </a:rPr>
              <a:t>setRawRotorPosition  ←  DCMotorSim computes motion (update)</a:t>
            </a:r>
            <a:endParaRPr lang="en-US" sz="2000" dirty="0"/>
          </a:p>
        </p:txBody>
      </p:sp>
      <p:sp>
        <p:nvSpPr>
          <p:cNvPr id="11" name="Text 8"/>
          <p:cNvSpPr/>
          <p:nvPr/>
        </p:nvSpPr>
        <p:spPr>
          <a:xfrm>
            <a:off x="640080" y="4434840"/>
            <a:ext cx="10881360" cy="1508760"/>
          </a:xfrm>
          <a:prstGeom prst="rect">
            <a:avLst/>
          </a:prstGeom>
          <a:noFill/>
          <a:ln/>
        </p:spPr>
        <p:txBody>
          <a:bodyPr wrap="square" lIns="0" tIns="0" rIns="0" bIns="0" rtlCol="0" anchor="t"/>
          <a:lstStyle/>
          <a:p>
            <a:pPr indent="0" marL="0">
              <a:lnSpc>
                <a:spcPct val="130000"/>
              </a:lnSpc>
              <a:buNone/>
            </a:pPr>
            <a:r>
              <a:rPr lang="en-US" sz="2100" i="1" dirty="0">
                <a:solidFill>
                  <a:srgbClr val="D7E3F4"/>
                </a:solidFill>
                <a:latin typeface="Calibri" pitchFamily="34" charset="0"/>
                <a:ea typeface="Calibri" pitchFamily="34" charset="-122"/>
                <a:cs typeface="Calibri" pitchFamily="34" charset="-120"/>
              </a:rPr>
              <a:t>One unit note: DCMotorSim reports radians and radians/sec, but setRawRotorPosition and setRotorVelocity want rotations. Skip the ÷ 2π and your plots lie by a factor of about 6.3.</a:t>
            </a:r>
            <a:endParaRPr lang="en-US" sz="21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SIMULATION</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7</a:t>
            </a:r>
            <a:endParaRPr lang="en-US" sz="2000" dirty="0"/>
          </a:p>
        </p:txBody>
      </p:sp>
      <p:pic>
        <p:nvPicPr>
          <p:cNvPr id="14"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plug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4 · ROBOT.JAVA</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A sim-only sibling of robotPeriodic()</a:t>
            </a:r>
            <a:endParaRPr lang="en-US" sz="3000" dirty="0"/>
          </a:p>
        </p:txBody>
      </p:sp>
      <p:sp>
        <p:nvSpPr>
          <p:cNvPr id="6" name="Shape 3"/>
          <p:cNvSpPr/>
          <p:nvPr/>
        </p:nvSpPr>
        <p:spPr>
          <a:xfrm>
            <a:off x="640080" y="1600200"/>
            <a:ext cx="10881360" cy="2286000"/>
          </a:xfrm>
          <a:prstGeom prst="roundRect">
            <a:avLst>
              <a:gd name="adj" fmla="val 4800"/>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746504"/>
            <a:ext cx="128016" cy="128016"/>
          </a:xfrm>
          <a:prstGeom prst="ellipse">
            <a:avLst/>
          </a:prstGeom>
          <a:solidFill>
            <a:srgbClr val="FF6B6B"/>
          </a:solidFill>
          <a:ln/>
        </p:spPr>
      </p:sp>
      <p:sp>
        <p:nvSpPr>
          <p:cNvPr id="8" name="Shape 5"/>
          <p:cNvSpPr/>
          <p:nvPr/>
        </p:nvSpPr>
        <p:spPr>
          <a:xfrm>
            <a:off x="11210544" y="1947672"/>
            <a:ext cx="128016" cy="128016"/>
          </a:xfrm>
          <a:prstGeom prst="ellipse">
            <a:avLst/>
          </a:prstGeom>
          <a:solidFill>
            <a:srgbClr val="FFD166"/>
          </a:solidFill>
          <a:ln/>
        </p:spPr>
      </p:sp>
      <p:sp>
        <p:nvSpPr>
          <p:cNvPr id="9" name="Shape 6"/>
          <p:cNvSpPr/>
          <p:nvPr/>
        </p:nvSpPr>
        <p:spPr>
          <a:xfrm>
            <a:off x="11210544" y="2148840"/>
            <a:ext cx="128016" cy="128016"/>
          </a:xfrm>
          <a:prstGeom prst="ellipse">
            <a:avLst/>
          </a:prstGeom>
          <a:solidFill>
            <a:srgbClr val="2EC4B6"/>
          </a:solidFill>
          <a:ln/>
        </p:spPr>
      </p:sp>
      <p:sp>
        <p:nvSpPr>
          <p:cNvPr id="10" name="Text 7"/>
          <p:cNvSpPr/>
          <p:nvPr/>
        </p:nvSpPr>
        <p:spPr>
          <a:xfrm>
            <a:off x="914400" y="17282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Robot, below robotPeriodic()</a:t>
            </a:r>
            <a:endParaRPr lang="en-US" sz="1500" dirty="0"/>
          </a:p>
        </p:txBody>
      </p:sp>
      <p:sp>
        <p:nvSpPr>
          <p:cNvPr id="11" name="Text 8"/>
          <p:cNvSpPr/>
          <p:nvPr/>
        </p:nvSpPr>
        <p:spPr>
          <a:xfrm>
            <a:off x="914400" y="2057400"/>
            <a:ext cx="10195560" cy="1627632"/>
          </a:xfrm>
          <a:prstGeom prst="rect">
            <a:avLst/>
          </a:prstGeom>
          <a:noFill/>
          <a:ln/>
        </p:spPr>
        <p:txBody>
          <a:bodyPr wrap="square" lIns="0" tIns="0" rIns="0" bIns="0" rtlCol="0" anchor="t"/>
          <a:lstStyle/>
          <a:p>
            <a:pPr indent="0" marL="0">
              <a:lnSpc>
                <a:spcPct val="120000"/>
              </a:lnSpc>
              <a:buNone/>
            </a:pPr>
            <a:r>
              <a:rPr lang="en-US" sz="1800" dirty="0">
                <a:solidFill>
                  <a:srgbClr val="FFD166"/>
                </a:solidFill>
                <a:latin typeface="Courier New" pitchFamily="34" charset="0"/>
                <a:ea typeface="Courier New" pitchFamily="34" charset="-122"/>
                <a:cs typeface="Courier New" pitchFamily="34" charset="-120"/>
              </a:rPr>
              <a:t>@Override</a:t>
            </a:r>
            <a:endParaRPr lang="en-US" sz="1800" dirty="0"/>
          </a:p>
          <a:p>
            <a:pPr indent="0" marL="0">
              <a:lnSpc>
                <a:spcPct val="120000"/>
              </a:lnSpc>
              <a:buNone/>
            </a:pPr>
            <a:r>
              <a:rPr lang="en-US" sz="1800" dirty="0">
                <a:solidFill>
                  <a:srgbClr val="D7E3F4"/>
                </a:solidFill>
                <a:latin typeface="Courier New" pitchFamily="34" charset="0"/>
                <a:ea typeface="Courier New" pitchFamily="34" charset="-122"/>
                <a:cs typeface="Courier New" pitchFamily="34" charset="-120"/>
              </a:rPr>
              <a:t>public void simulationPeriodic() {</a:t>
            </a:r>
            <a:endParaRPr lang="en-US" sz="1800" dirty="0"/>
          </a:p>
          <a:p>
            <a:pPr indent="0" marL="0">
              <a:lnSpc>
                <a:spcPct val="120000"/>
              </a:lnSpc>
              <a:buNone/>
            </a:pPr>
            <a:r>
              <a:rPr lang="en-US" sz="1800" dirty="0">
                <a:solidFill>
                  <a:srgbClr val="9EF01A"/>
                </a:solidFill>
                <a:latin typeface="Courier New" pitchFamily="34" charset="0"/>
                <a:ea typeface="Courier New" pitchFamily="34" charset="-122"/>
                <a:cs typeface="Courier New" pitchFamily="34" charset="-120"/>
              </a:rPr>
              <a:t>  module.simulatePeriodic();</a:t>
            </a:r>
            <a:endParaRPr lang="en-US" sz="1800" dirty="0"/>
          </a:p>
          <a:p>
            <a:pPr indent="0" marL="0">
              <a:lnSpc>
                <a:spcPct val="120000"/>
              </a:lnSpc>
              <a:buNone/>
            </a:pPr>
            <a:r>
              <a:rPr lang="en-US" sz="1800" dirty="0">
                <a:solidFill>
                  <a:srgbClr val="D7E3F4"/>
                </a:solidFill>
                <a:latin typeface="Courier New" pitchFamily="34" charset="0"/>
                <a:ea typeface="Courier New" pitchFamily="34" charset="-122"/>
                <a:cs typeface="Courier New" pitchFamily="34" charset="-120"/>
              </a:rPr>
              <a:t>}</a:t>
            </a:r>
            <a:endParaRPr lang="en-US" sz="1800" dirty="0"/>
          </a:p>
        </p:txBody>
      </p:sp>
      <p:sp>
        <p:nvSpPr>
          <p:cNvPr id="12" name="Shape 9"/>
          <p:cNvSpPr/>
          <p:nvPr/>
        </p:nvSpPr>
        <p:spPr>
          <a:xfrm>
            <a:off x="640080" y="3931920"/>
            <a:ext cx="10881360" cy="2468880"/>
          </a:xfrm>
          <a:prstGeom prst="roundRect">
            <a:avLst>
              <a:gd name="adj" fmla="val 3704"/>
            </a:avLst>
          </a:prstGeom>
          <a:solidFill>
            <a:srgbClr val="F3F6FA"/>
          </a:solidFill>
          <a:ln/>
        </p:spPr>
      </p:sp>
      <p:sp>
        <p:nvSpPr>
          <p:cNvPr id="13" name="Text 10"/>
          <p:cNvSpPr/>
          <p:nvPr/>
        </p:nvSpPr>
        <p:spPr>
          <a:xfrm>
            <a:off x="914400" y="4206240"/>
            <a:ext cx="10332720" cy="927100"/>
          </a:xfrm>
          <a:prstGeom prst="rect">
            <a:avLst/>
          </a:prstGeom>
          <a:noFill/>
          <a:ln/>
        </p:spPr>
        <p:txBody>
          <a:bodyPr wrap="square" lIns="0" tIns="0" rIns="0" bIns="0" rtlCol="0" anchor="t"/>
          <a:lstStyle/>
          <a:p>
            <a:pPr indent="0" marL="0">
              <a:lnSpc>
                <a:spcPct val="120000"/>
              </a:lnSpc>
              <a:buNone/>
            </a:pPr>
            <a:r>
              <a:rPr lang="en-US" sz="2200" b="1" dirty="0">
                <a:solidFill>
                  <a:srgbClr val="13294B"/>
                </a:solidFill>
                <a:latin typeface="Cambria" pitchFamily="34" charset="0"/>
                <a:ea typeface="Cambria" pitchFamily="34" charset="-122"/>
                <a:cs typeface="Cambria" pitchFamily="34" charset="-120"/>
              </a:rPr>
              <a:t>Called on the same schedule as robotPeriodic() — except only in simulation.</a:t>
            </a:r>
            <a:endParaRPr lang="en-US" sz="2200" dirty="0"/>
          </a:p>
        </p:txBody>
      </p:sp>
      <p:sp>
        <p:nvSpPr>
          <p:cNvPr id="14" name="Text 11"/>
          <p:cNvSpPr/>
          <p:nvPr/>
        </p:nvSpPr>
        <p:spPr>
          <a:xfrm>
            <a:off x="914400" y="5133340"/>
            <a:ext cx="10332720" cy="99314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On a real robot it never runs, so nothing inside can leak onto the field. As more mechanisms arrive, each one's simulatePeriodic() gets called from here.</a:t>
            </a:r>
            <a:endParaRPr lang="en-US" sz="2000" dirty="0"/>
          </a:p>
        </p:txBody>
      </p:sp>
      <p:sp>
        <p:nvSpPr>
          <p:cNvPr id="15" name="Text 12"/>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SIMULATION</a:t>
            </a:r>
            <a:endParaRPr lang="en-US" sz="2000" dirty="0"/>
          </a:p>
        </p:txBody>
      </p:sp>
      <p:sp>
        <p:nvSpPr>
          <p:cNvPr id="16" name="Text 13"/>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8</a:t>
            </a:r>
            <a:endParaRPr lang="en-US" sz="2000" dirty="0"/>
          </a:p>
        </p:txBody>
      </p:sp>
      <p:pic>
        <p:nvPicPr>
          <p:cNvPr id="17"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play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5 · RUN IT</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The payoff Lesson 3 promised</a:t>
            </a:r>
            <a:endParaRPr lang="en-US" sz="3000" dirty="0"/>
          </a:p>
        </p:txBody>
      </p:sp>
      <p:sp>
        <p:nvSpPr>
          <p:cNvPr id="6" name="Shape 3"/>
          <p:cNvSpPr/>
          <p:nvPr/>
        </p:nvSpPr>
        <p:spPr>
          <a:xfrm>
            <a:off x="640080" y="1709928"/>
            <a:ext cx="502920" cy="502920"/>
          </a:xfrm>
          <a:prstGeom prst="ellipse">
            <a:avLst/>
          </a:prstGeom>
          <a:solidFill>
            <a:srgbClr val="1B9AAA"/>
          </a:solidFill>
          <a:ln/>
        </p:spPr>
      </p:sp>
      <p:sp>
        <p:nvSpPr>
          <p:cNvPr id="7" name="Text 4"/>
          <p:cNvSpPr/>
          <p:nvPr/>
        </p:nvSpPr>
        <p:spPr>
          <a:xfrm>
            <a:off x="640080" y="170992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8" name="Text 5"/>
          <p:cNvSpPr/>
          <p:nvPr/>
        </p:nvSpPr>
        <p:spPr>
          <a:xfrm>
            <a:off x="1371600" y="163677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./gradlew simulateJava → My Teleop → Enabled</a:t>
            </a:r>
            <a:endParaRPr lang="en-US" sz="2000" dirty="0"/>
          </a:p>
        </p:txBody>
      </p:sp>
      <p:sp>
        <p:nvSpPr>
          <p:cNvPr id="9" name="Text 6"/>
          <p:cNvSpPr/>
          <p:nvPr/>
        </p:nvSpPr>
        <p:spPr>
          <a:xfrm>
            <a:off x="1371600" y="202082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Push the stick and watch the Lesson 3 plots.</a:t>
            </a:r>
            <a:endParaRPr lang="en-US" sz="2000" dirty="0"/>
          </a:p>
        </p:txBody>
      </p:sp>
      <p:sp>
        <p:nvSpPr>
          <p:cNvPr id="10" name="Shape 7"/>
          <p:cNvSpPr/>
          <p:nvPr/>
        </p:nvSpPr>
        <p:spPr>
          <a:xfrm>
            <a:off x="640080" y="2898648"/>
            <a:ext cx="502920" cy="502920"/>
          </a:xfrm>
          <a:prstGeom prst="ellipse">
            <a:avLst/>
          </a:prstGeom>
          <a:solidFill>
            <a:srgbClr val="1B9AAA"/>
          </a:solidFill>
          <a:ln/>
        </p:spPr>
      </p:sp>
      <p:sp>
        <p:nvSpPr>
          <p:cNvPr id="11" name="Text 8"/>
          <p:cNvSpPr/>
          <p:nvPr/>
        </p:nvSpPr>
        <p:spPr>
          <a:xfrm>
            <a:off x="640080" y="289864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Text 9"/>
          <p:cNvSpPr/>
          <p:nvPr/>
        </p:nvSpPr>
        <p:spPr>
          <a:xfrm>
            <a:off x="1371600" y="282549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Velocity ramps up, then back to zero</a:t>
            </a:r>
            <a:endParaRPr lang="en-US" sz="2000" dirty="0"/>
          </a:p>
        </p:txBody>
      </p:sp>
      <p:sp>
        <p:nvSpPr>
          <p:cNvPr id="13" name="Text 10"/>
          <p:cNvSpPr/>
          <p:nvPr/>
        </p:nvSpPr>
        <p:spPr>
          <a:xfrm>
            <a:off x="1371600" y="320954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Like a real motor accelerating.</a:t>
            </a:r>
            <a:endParaRPr lang="en-US" sz="2000" dirty="0"/>
          </a:p>
        </p:txBody>
      </p:sp>
      <p:sp>
        <p:nvSpPr>
          <p:cNvPr id="14" name="Shape 11"/>
          <p:cNvSpPr/>
          <p:nvPr/>
        </p:nvSpPr>
        <p:spPr>
          <a:xfrm>
            <a:off x="640080" y="4087368"/>
            <a:ext cx="502920" cy="502920"/>
          </a:xfrm>
          <a:prstGeom prst="ellipse">
            <a:avLst/>
          </a:prstGeom>
          <a:solidFill>
            <a:srgbClr val="1B9AAA"/>
          </a:solidFill>
          <a:ln/>
        </p:spPr>
      </p:sp>
      <p:sp>
        <p:nvSpPr>
          <p:cNvPr id="15" name="Text 12"/>
          <p:cNvSpPr/>
          <p:nvPr/>
        </p:nvSpPr>
        <p:spPr>
          <a:xfrm>
            <a:off x="640080" y="408736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6" name="Text 13"/>
          <p:cNvSpPr/>
          <p:nvPr/>
        </p:nvSpPr>
        <p:spPr>
          <a:xfrm>
            <a:off x="1371600" y="401421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Position climbs while driving, holds when stopped</a:t>
            </a:r>
            <a:endParaRPr lang="en-US" sz="2000" dirty="0"/>
          </a:p>
        </p:txBody>
      </p:sp>
      <p:sp>
        <p:nvSpPr>
          <p:cNvPr id="17" name="Text 14"/>
          <p:cNvSpPr/>
          <p:nvPr/>
        </p:nvSpPr>
        <p:spPr>
          <a:xfrm>
            <a:off x="1371600" y="439826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A robot you can develop against with no hardware on the bench.</a:t>
            </a:r>
            <a:endParaRPr lang="en-US" sz="2000" dirty="0"/>
          </a:p>
        </p:txBody>
      </p:sp>
      <p:sp>
        <p:nvSpPr>
          <p:cNvPr id="18" name="Text 15"/>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SIMULATION</a:t>
            </a:r>
            <a:endParaRPr lang="en-US" sz="2000" dirty="0"/>
          </a:p>
        </p:txBody>
      </p:sp>
      <p:sp>
        <p:nvSpPr>
          <p:cNvPr id="19" name="Text 16"/>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9</a:t>
            </a:r>
            <a:endParaRPr lang="en-US" sz="2000" dirty="0"/>
          </a:p>
        </p:txBody>
      </p:sp>
      <p:pic>
        <p:nvPicPr>
          <p:cNvPr id="20"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clipboardcheck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BEFORE YOU MOVE ON</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Try it</a:t>
            </a:r>
            <a:endParaRPr lang="en-US" sz="3000" dirty="0"/>
          </a:p>
        </p:txBody>
      </p:sp>
      <p:sp>
        <p:nvSpPr>
          <p:cNvPr id="6" name="Shape 3"/>
          <p:cNvSpPr/>
          <p:nvPr/>
        </p:nvSpPr>
        <p:spPr>
          <a:xfrm>
            <a:off x="640080" y="1463040"/>
            <a:ext cx="5303520" cy="2286000"/>
          </a:xfrm>
          <a:prstGeom prst="roundRect">
            <a:avLst>
              <a:gd name="adj" fmla="val 4800"/>
            </a:avLst>
          </a:prstGeom>
          <a:solidFill>
            <a:srgbClr val="132A4C"/>
          </a:solidFill>
          <a:ln/>
        </p:spPr>
      </p:sp>
      <p:sp>
        <p:nvSpPr>
          <p:cNvPr id="7" name="Shape 4"/>
          <p:cNvSpPr/>
          <p:nvPr/>
        </p:nvSpPr>
        <p:spPr>
          <a:xfrm>
            <a:off x="960120" y="1691640"/>
            <a:ext cx="457200" cy="457200"/>
          </a:xfrm>
          <a:prstGeom prst="ellipse">
            <a:avLst/>
          </a:prstGeom>
          <a:solidFill>
            <a:srgbClr val="1B9AAA"/>
          </a:solidFill>
          <a:ln/>
        </p:spPr>
      </p:sp>
      <p:sp>
        <p:nvSpPr>
          <p:cNvPr id="8" name="Text 5"/>
          <p:cNvSpPr/>
          <p:nvPr/>
        </p:nvSpPr>
        <p:spPr>
          <a:xfrm>
            <a:off x="960120" y="169164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9" name="Text 6"/>
          <p:cNvSpPr/>
          <p:nvPr/>
        </p:nvSpPr>
        <p:spPr>
          <a:xfrm>
            <a:off x="1600200" y="1691640"/>
            <a:ext cx="402336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Change the inertia</a:t>
            </a:r>
            <a:endParaRPr lang="en-US" sz="2000" dirty="0"/>
          </a:p>
        </p:txBody>
      </p:sp>
      <p:sp>
        <p:nvSpPr>
          <p:cNvPr id="10" name="Text 7"/>
          <p:cNvSpPr/>
          <p:nvPr/>
        </p:nvSpPr>
        <p:spPr>
          <a:xfrm>
            <a:off x="960120" y="2286000"/>
            <a:ext cx="4663440" cy="118872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From 0.001 to 0.05. Does velocity reach full speed faster or slower? Explain why.</a:t>
            </a:r>
            <a:endParaRPr lang="en-US" sz="2000" dirty="0"/>
          </a:p>
        </p:txBody>
      </p:sp>
      <p:sp>
        <p:nvSpPr>
          <p:cNvPr id="11" name="Shape 8"/>
          <p:cNvSpPr/>
          <p:nvPr/>
        </p:nvSpPr>
        <p:spPr>
          <a:xfrm>
            <a:off x="6217920" y="1463040"/>
            <a:ext cx="5303520" cy="2286000"/>
          </a:xfrm>
          <a:prstGeom prst="roundRect">
            <a:avLst>
              <a:gd name="adj" fmla="val 4800"/>
            </a:avLst>
          </a:prstGeom>
          <a:solidFill>
            <a:srgbClr val="132A4C"/>
          </a:solidFill>
          <a:ln/>
        </p:spPr>
      </p:sp>
      <p:sp>
        <p:nvSpPr>
          <p:cNvPr id="12" name="Shape 9"/>
          <p:cNvSpPr/>
          <p:nvPr/>
        </p:nvSpPr>
        <p:spPr>
          <a:xfrm>
            <a:off x="6537960" y="1691640"/>
            <a:ext cx="457200" cy="457200"/>
          </a:xfrm>
          <a:prstGeom prst="ellipse">
            <a:avLst/>
          </a:prstGeom>
          <a:solidFill>
            <a:srgbClr val="1B9AAA"/>
          </a:solidFill>
          <a:ln/>
        </p:spPr>
      </p:sp>
      <p:sp>
        <p:nvSpPr>
          <p:cNvPr id="13" name="Text 10"/>
          <p:cNvSpPr/>
          <p:nvPr/>
        </p:nvSpPr>
        <p:spPr>
          <a:xfrm>
            <a:off x="6537960" y="169164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4" name="Text 11"/>
          <p:cNvSpPr/>
          <p:nvPr/>
        </p:nvSpPr>
        <p:spPr>
          <a:xfrm>
            <a:off x="7178040" y="1691640"/>
            <a:ext cx="402336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Command a step input</a:t>
            </a:r>
            <a:endParaRPr lang="en-US" sz="2000" dirty="0"/>
          </a:p>
        </p:txBody>
      </p:sp>
      <p:sp>
        <p:nvSpPr>
          <p:cNvPr id="15" name="Text 12"/>
          <p:cNvSpPr/>
          <p:nvPr/>
        </p:nvSpPr>
        <p:spPr>
          <a:xfrm>
            <a:off x="6537960" y="2286000"/>
            <a:ext cx="4663440" cy="118872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Change driveAtSpeed(0.3) to 1.0 and watch the S-shaped velocity ramp.</a:t>
            </a:r>
            <a:endParaRPr lang="en-US" sz="2000" dirty="0"/>
          </a:p>
        </p:txBody>
      </p:sp>
      <p:sp>
        <p:nvSpPr>
          <p:cNvPr id="16" name="Shape 13"/>
          <p:cNvSpPr/>
          <p:nvPr/>
        </p:nvSpPr>
        <p:spPr>
          <a:xfrm>
            <a:off x="640080" y="4023360"/>
            <a:ext cx="5303520" cy="2286000"/>
          </a:xfrm>
          <a:prstGeom prst="roundRect">
            <a:avLst>
              <a:gd name="adj" fmla="val 4800"/>
            </a:avLst>
          </a:prstGeom>
          <a:solidFill>
            <a:srgbClr val="132A4C"/>
          </a:solidFill>
          <a:ln/>
        </p:spPr>
      </p:sp>
      <p:sp>
        <p:nvSpPr>
          <p:cNvPr id="17" name="Shape 14"/>
          <p:cNvSpPr/>
          <p:nvPr/>
        </p:nvSpPr>
        <p:spPr>
          <a:xfrm>
            <a:off x="960120" y="4251960"/>
            <a:ext cx="457200" cy="457200"/>
          </a:xfrm>
          <a:prstGeom prst="ellipse">
            <a:avLst/>
          </a:prstGeom>
          <a:solidFill>
            <a:srgbClr val="1B9AAA"/>
          </a:solidFill>
          <a:ln/>
        </p:spPr>
      </p:sp>
      <p:sp>
        <p:nvSpPr>
          <p:cNvPr id="18" name="Text 15"/>
          <p:cNvSpPr/>
          <p:nvPr/>
        </p:nvSpPr>
        <p:spPr>
          <a:xfrm>
            <a:off x="960120" y="425196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9" name="Text 16"/>
          <p:cNvSpPr/>
          <p:nvPr/>
        </p:nvSpPr>
        <p:spPr>
          <a:xfrm>
            <a:off x="1600200" y="4251960"/>
            <a:ext cx="260604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Log applied volts</a:t>
            </a:r>
            <a:endParaRPr lang="en-US" sz="2000" dirty="0"/>
          </a:p>
        </p:txBody>
      </p:sp>
      <p:sp>
        <p:nvSpPr>
          <p:cNvPr id="20" name="Shape 17"/>
          <p:cNvSpPr/>
          <p:nvPr/>
        </p:nvSpPr>
        <p:spPr>
          <a:xfrm>
            <a:off x="4206240" y="4334256"/>
            <a:ext cx="1417320" cy="292608"/>
          </a:xfrm>
          <a:prstGeom prst="roundRect">
            <a:avLst>
              <a:gd name="adj" fmla="val 18750"/>
            </a:avLst>
          </a:prstGeom>
          <a:solidFill>
            <a:srgbClr val="FF5010"/>
          </a:solidFill>
          <a:ln/>
        </p:spPr>
      </p:sp>
      <p:sp>
        <p:nvSpPr>
          <p:cNvPr id="21" name="Text 18"/>
          <p:cNvSpPr/>
          <p:nvPr/>
        </p:nvSpPr>
        <p:spPr>
          <a:xfrm>
            <a:off x="4206240" y="4334256"/>
            <a:ext cx="1417320" cy="292608"/>
          </a:xfrm>
          <a:prstGeom prst="rect">
            <a:avLst/>
          </a:prstGeom>
          <a:noFill/>
          <a:ln/>
        </p:spPr>
        <p:txBody>
          <a:bodyPr wrap="square" lIns="0" tIns="0" rIns="0" bIns="0" rtlCol="0" anchor="ctr"/>
          <a:lstStyle/>
          <a:p>
            <a:pPr algn="ctr" indent="0" marL="0">
              <a:buNone/>
            </a:pPr>
            <a:r>
              <a:rPr lang="en-US" sz="1200" b="1" spc="50" kern="0" dirty="0">
                <a:solidFill>
                  <a:srgbClr val="0B1F3A"/>
                </a:solidFill>
                <a:latin typeface="Calibri" pitchFamily="34" charset="0"/>
                <a:ea typeface="Calibri" pitchFamily="34" charset="-122"/>
                <a:cs typeface="Calibri" pitchFamily="34" charset="-120"/>
              </a:rPr>
              <a:t>WRITE CODE</a:t>
            </a:r>
            <a:endParaRPr lang="en-US" sz="1200" dirty="0"/>
          </a:p>
        </p:txBody>
      </p:sp>
      <p:sp>
        <p:nvSpPr>
          <p:cNvPr id="22" name="Text 19"/>
          <p:cNvSpPr/>
          <p:nvPr/>
        </p:nvSpPr>
        <p:spPr>
          <a:xfrm>
            <a:off x="960120" y="4846320"/>
            <a:ext cx="4663440" cy="118872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SmartDashboard.putNumber inside simulatePeriodic() — a sim-only logTelemetry().</a:t>
            </a:r>
            <a:endParaRPr lang="en-US" sz="2000" dirty="0"/>
          </a:p>
        </p:txBody>
      </p:sp>
      <p:sp>
        <p:nvSpPr>
          <p:cNvPr id="23" name="Text 20"/>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SIMULATION</a:t>
            </a:r>
            <a:endParaRPr lang="en-US" sz="2000" dirty="0"/>
          </a:p>
        </p:txBody>
      </p:sp>
      <p:sp>
        <p:nvSpPr>
          <p:cNvPr id="24" name="Text 21"/>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10</a:t>
            </a:r>
            <a:endParaRPr lang="en-US" sz="2000" dirty="0"/>
          </a:p>
        </p:txBody>
      </p:sp>
      <p:pic>
        <p:nvPicPr>
          <p:cNvPr id="25"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graduationcap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WHAT YOU LEARNED</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Simulation isn't magic — you model it</a:t>
            </a:r>
            <a:endParaRPr lang="en-US" sz="3000" dirty="0"/>
          </a:p>
        </p:txBody>
      </p:sp>
      <p:sp>
        <p:nvSpPr>
          <p:cNvPr id="6" name="Text 3"/>
          <p:cNvSpPr/>
          <p:nvPr/>
        </p:nvSpPr>
        <p:spPr>
          <a:xfrm>
            <a:off x="640080" y="1600200"/>
            <a:ext cx="6309360" cy="420624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2000" dirty="0">
                <a:solidFill>
                  <a:srgbClr val="13294B"/>
                </a:solidFill>
                <a:latin typeface="Calibri" pitchFamily="34" charset="0"/>
                <a:ea typeface="Calibri" pitchFamily="34" charset="-122"/>
                <a:cs typeface="Calibri" pitchFamily="34" charset="-120"/>
              </a:rPr>
              <a:t>The sim state is the bridge; DCMotorSim is the physics; simulationPeriodic() is where you step it, one 20ms tick at a time.</a:t>
            </a:r>
            <a:endParaRPr lang="en-US" sz="2000" dirty="0"/>
          </a:p>
          <a:p>
            <a:pPr marL="342900" indent="-342900">
              <a:lnSpc>
                <a:spcPct val="120000"/>
              </a:lnSpc>
              <a:spcAft>
                <a:spcPts val="1200"/>
              </a:spcAft>
              <a:buSzPct val="100000"/>
              <a:buChar char="•"/>
            </a:pPr>
            <a:r>
              <a:rPr lang="en-US" sz="2000" dirty="0">
                <a:solidFill>
                  <a:srgbClr val="13294B"/>
                </a:solidFill>
                <a:latin typeface="Calibri" pitchFamily="34" charset="0"/>
                <a:ea typeface="Calibri" pitchFamily="34" charset="-122"/>
                <a:cs typeface="Calibri" pitchFamily="34" charset="-120"/>
              </a:rPr>
              <a:t>Composition: objects built from objects, and a field-order rule — the dependency comes first.</a:t>
            </a:r>
            <a:endParaRPr lang="en-US" sz="2000" dirty="0"/>
          </a:p>
          <a:p>
            <a:pPr marL="342900" indent="-342900">
              <a:lnSpc>
                <a:spcPct val="120000"/>
              </a:lnSpc>
              <a:spcAft>
                <a:spcPts val="1200"/>
              </a:spcAft>
              <a:buSzPct val="100000"/>
              <a:buChar char="•"/>
            </a:pPr>
            <a:r>
              <a:rPr lang="en-US" sz="2000" dirty="0">
                <a:solidFill>
                  <a:srgbClr val="13294B"/>
                </a:solidFill>
                <a:latin typeface="Calibri" pitchFamily="34" charset="0"/>
                <a:ea typeface="Calibri" pitchFamily="34" charset="-122"/>
                <a:cs typeface="Calibri" pitchFamily="34" charset="-120"/>
              </a:rPr>
              <a:t>The loop: command → voltage → model → fake encoder → your reads. Everything downstream can't tell sim from reality.</a:t>
            </a:r>
            <a:endParaRPr lang="en-US" sz="2000" dirty="0"/>
          </a:p>
        </p:txBody>
      </p:sp>
      <p:sp>
        <p:nvSpPr>
          <p:cNvPr id="7" name="Shape 4"/>
          <p:cNvSpPr/>
          <p:nvPr/>
        </p:nvSpPr>
        <p:spPr>
          <a:xfrm>
            <a:off x="7269480" y="1600200"/>
            <a:ext cx="4297680" cy="4434840"/>
          </a:xfrm>
          <a:prstGeom prst="roundRect">
            <a:avLst>
              <a:gd name="adj" fmla="val 2553"/>
            </a:avLst>
          </a:prstGeom>
          <a:solidFill>
            <a:srgbClr val="0B1F3A"/>
          </a:solidFill>
          <a:ln/>
        </p:spPr>
      </p:sp>
      <p:sp>
        <p:nvSpPr>
          <p:cNvPr id="8" name="Text 5"/>
          <p:cNvSpPr/>
          <p:nvPr/>
        </p:nvSpPr>
        <p:spPr>
          <a:xfrm>
            <a:off x="7589520" y="1920240"/>
            <a:ext cx="3657600" cy="365760"/>
          </a:xfrm>
          <a:prstGeom prst="rect">
            <a:avLst/>
          </a:prstGeom>
          <a:noFill/>
          <a:ln/>
        </p:spPr>
        <p:txBody>
          <a:bodyPr wrap="square" lIns="0" tIns="0" rIns="0" bIns="0" rtlCol="0" anchor="ctr"/>
          <a:lstStyle/>
          <a:p>
            <a:pPr indent="0" marL="0">
              <a:buNone/>
            </a:pPr>
            <a:r>
              <a:rPr lang="en-US" sz="2000" b="1" spc="150" kern="0" dirty="0">
                <a:solidFill>
                  <a:srgbClr val="1B9AAA"/>
                </a:solidFill>
                <a:latin typeface="Calibri" pitchFamily="34" charset="0"/>
                <a:ea typeface="Calibri" pitchFamily="34" charset="-122"/>
                <a:cs typeface="Calibri" pitchFamily="34" charset="-120"/>
              </a:rPr>
              <a:t>NEXT</a:t>
            </a:r>
            <a:endParaRPr lang="en-US" sz="2000" dirty="0"/>
          </a:p>
        </p:txBody>
      </p:sp>
      <p:sp>
        <p:nvSpPr>
          <p:cNvPr id="9" name="Text 6"/>
          <p:cNvSpPr/>
          <p:nvPr/>
        </p:nvSpPr>
        <p:spPr>
          <a:xfrm>
            <a:off x="7589520" y="2331720"/>
            <a:ext cx="3657600" cy="502920"/>
          </a:xfrm>
          <a:prstGeom prst="rect">
            <a:avLst/>
          </a:prstGeom>
          <a:noFill/>
          <a:ln/>
        </p:spPr>
        <p:txBody>
          <a:bodyPr wrap="square" lIns="0" tIns="0" rIns="0" bIns="0" rtlCol="0" anchor="ctr"/>
          <a:lstStyle/>
          <a:p>
            <a:pPr indent="0" marL="0">
              <a:buNone/>
            </a:pPr>
            <a:r>
              <a:rPr lang="en-US" sz="2600" b="1" dirty="0">
                <a:solidFill>
                  <a:srgbClr val="FF5010"/>
                </a:solidFill>
                <a:latin typeface="Cambria" pitchFamily="34" charset="0"/>
                <a:ea typeface="Cambria" pitchFamily="34" charset="-122"/>
                <a:cs typeface="Cambria" pitchFamily="34" charset="-120"/>
              </a:rPr>
              <a:t>Lesson 5</a:t>
            </a:r>
            <a:endParaRPr lang="en-US" sz="2600" dirty="0"/>
          </a:p>
        </p:txBody>
      </p:sp>
      <p:sp>
        <p:nvSpPr>
          <p:cNvPr id="10" name="Text 7"/>
          <p:cNvSpPr/>
          <p:nvPr/>
        </p:nvSpPr>
        <p:spPr>
          <a:xfrm>
            <a:off x="7589520" y="2834640"/>
            <a:ext cx="3657600" cy="822960"/>
          </a:xfrm>
          <a:prstGeom prst="rect">
            <a:avLst/>
          </a:prstGeom>
          <a:noFill/>
          <a:ln/>
        </p:spPr>
        <p:txBody>
          <a:bodyPr wrap="square" lIns="0" tIns="0" rIns="0" bIns="0" rtlCol="0" anchor="t"/>
          <a:lstStyle/>
          <a:p>
            <a:pPr indent="0" marL="0">
              <a:lnSpc>
                <a:spcPct val="110000"/>
              </a:lnSpc>
              <a:buNone/>
            </a:pPr>
            <a:r>
              <a:rPr lang="en-US" sz="2200" b="1" dirty="0">
                <a:solidFill>
                  <a:srgbClr val="FFFFFF"/>
                </a:solidFill>
                <a:latin typeface="Cambria" pitchFamily="34" charset="0"/>
                <a:ea typeface="Cambria" pitchFamily="34" charset="-122"/>
                <a:cs typeface="Cambria" pitchFamily="34" charset="-120"/>
              </a:rPr>
              <a:t>Steering with P Control</a:t>
            </a:r>
            <a:endParaRPr lang="en-US" sz="2200" dirty="0"/>
          </a:p>
        </p:txBody>
      </p:sp>
      <p:sp>
        <p:nvSpPr>
          <p:cNvPr id="11" name="Text 8"/>
          <p:cNvSpPr/>
          <p:nvPr/>
        </p:nvSpPr>
        <p:spPr>
          <a:xfrm>
            <a:off x="7589520" y="3749040"/>
            <a:ext cx="3657600" cy="1280160"/>
          </a:xfrm>
          <a:prstGeom prst="rect">
            <a:avLst/>
          </a:prstGeom>
          <a:noFill/>
          <a:ln/>
        </p:spPr>
        <p:txBody>
          <a:bodyPr wrap="square" lIns="0" tIns="0" rIns="0" bIns="0" rtlCol="0" anchor="t"/>
          <a:lstStyle/>
          <a:p>
            <a:pPr indent="0" marL="0">
              <a:lnSpc>
                <a:spcPct val="130000"/>
              </a:lnSpc>
              <a:buNone/>
            </a:pPr>
            <a:r>
              <a:rPr lang="en-US" sz="2000" i="1" dirty="0">
                <a:solidFill>
                  <a:srgbClr val="CADCE8"/>
                </a:solidFill>
                <a:latin typeface="Calibri" pitchFamily="34" charset="0"/>
                <a:ea typeface="Calibri" pitchFamily="34" charset="-122"/>
                <a:cs typeface="Calibri" pitchFamily="34" charset="-120"/>
              </a:rPr>
              <a:t>Your first feedback controller — the single most important idea in robotics.</a:t>
            </a:r>
            <a:endParaRPr lang="en-US" sz="2000" dirty="0"/>
          </a:p>
        </p:txBody>
      </p:sp>
      <p:sp>
        <p:nvSpPr>
          <p:cNvPr id="12" name="Shape 9"/>
          <p:cNvSpPr/>
          <p:nvPr/>
        </p:nvSpPr>
        <p:spPr>
          <a:xfrm>
            <a:off x="7589520" y="5120640"/>
            <a:ext cx="502920" cy="502920"/>
          </a:xfrm>
          <a:prstGeom prst="ellipse">
            <a:avLst/>
          </a:prstGeom>
          <a:solidFill>
            <a:srgbClr val="1B9AAA"/>
          </a:solidFill>
          <a:ln/>
        </p:spPr>
      </p:sp>
      <p:pic>
        <p:nvPicPr>
          <p:cNvPr id="13" name="Image 1" descr="/home/user/BasicRobotLessons/docs/presentations/v3/template/assets/icons/arrowright_white.png">    </p:cNvPr>
          <p:cNvPicPr>
            <a:picLocks noChangeAspect="1"/>
          </p:cNvPicPr>
          <p:nvPr/>
        </p:nvPicPr>
        <p:blipFill>
          <a:blip r:embed="rId2"/>
          <a:stretch>
            <a:fillRect/>
          </a:stretch>
        </p:blipFill>
        <p:spPr>
          <a:xfrm>
            <a:off x="7708392" y="5239512"/>
            <a:ext cx="265176" cy="265176"/>
          </a:xfrm>
          <a:prstGeom prst="rect">
            <a:avLst/>
          </a:prstGeom>
        </p:spPr>
      </p:pic>
      <p:sp>
        <p:nvSpPr>
          <p:cNvPr id="14" name="Text 10"/>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SIMULATION</a:t>
            </a:r>
            <a:endParaRPr lang="en-US" sz="2000" dirty="0"/>
          </a:p>
        </p:txBody>
      </p:sp>
      <p:sp>
        <p:nvSpPr>
          <p:cNvPr id="15" name="Text 11"/>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11</a:t>
            </a:r>
            <a:endParaRPr lang="en-US" sz="2000" dirty="0"/>
          </a:p>
        </p:txBody>
      </p:sp>
      <p:pic>
        <p:nvPicPr>
          <p:cNvPr id="16" name="Image 2" descr="/home/user/BasicRobotLessons/docs/presentations/v3/template/assets/logo/team5010-logo-onwhite.png">    </p:cNvPr>
          <p:cNvPicPr>
            <a:picLocks noChangeAspect="1"/>
          </p:cNvPicPr>
          <p:nvPr/>
        </p:nvPicPr>
        <p:blipFill>
          <a:blip r:embed="rId3"/>
          <a:stretch>
            <a:fillRect/>
          </a:stretch>
        </p:blipFill>
        <p:spPr>
          <a:xfrm>
            <a:off x="10957255" y="164592"/>
            <a:ext cx="777240" cy="60585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4 — Simulation</dc:title>
  <dc:subject>PptxGenJS Presentation</dc:subject>
  <dc:creator>Learn Java + Robot Programming</dc:creator>
  <cp:lastModifiedBy>Learn Java + Robot Programming</cp:lastModifiedBy>
  <cp:revision>1</cp:revision>
  <dcterms:created xsi:type="dcterms:W3CDTF">2026-09-17T14:08:51Z</dcterms:created>
  <dcterms:modified xsi:type="dcterms:W3CDTF">2026-09-17T14:08:51Z</dcterms:modified>
</cp:coreProperties>
</file>