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 warning up front: this is the biggest refactor of the course. Nothing in it is hard, but you'll touch four files and the project will spend a while mid-surgery, full of red squiggles. That's what refactoring feels like — keep going and it all compiles again by section 7. By the end there's a chassis that actually turns, which is what Lesson 8's gyro needs to make sense.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swerve robot has four modules, one at each corner. Two "shapes" of motion cover almost everything, which is the framing for the whole lesson — translate and rotate in place — with the combined case (drive-while-rotating) deliberately deferred to Lesson 10's SwerveDriveKinematics.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Doing both translate and rotate at once requires per-wheel math — you add the translation velocity and the rotation velocity vector at each corner. That's what SwerveDriveKinematics handles, and it's the whole point of Lesson 10. For now, building the two simple cases gives Lesson 8's gyro a robot that actually turns, without needing the combined math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DriveModule hard-codes CAN IDs 1 and 2 and knows nothing about where it sits on the robot. Four modules need four unique ID triples, and the rotation math needs each module's position — that's why the rename comes first, then the reshape. Doing the rename through VS Code's refactor tool, not a manual find-replace, is deliberate: it updates the filename and every reference in the project for you, so nothing gets missed.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new shape of field, worth looking at closely: the fields have no initializers — no "= new TalonFX(...)" on the declaration line. They can't be initialized up top anymore, because the CAN IDs aren't known until someone calls the constructor with real values. So the declaration says "this field will exist," and the constructor fills it in. final still holds — a final field must be assigned exactly once, and an assignment in the constructor counts. The Lesson 4 ordering rule follows the assignments into the constructor too: m_driveSim is created by asking m_driveMotor, so the motor lines come first. Constructor parameters are what make one class serve four corners: each new SwerveModule(...) call hands in different IDs and a different position. And in this.location = location, the parameter and the field share a name — this. means "the field on this object," which is how Java tells them apart. Worth naming as a deliberate exception: location is public, after all that encapsulation talk in Lesson 1 — but it's final, and a Translation2d is a value that never changes once built, so sharing a read-only fact is safe; hiding it behind a getter would add ceremony without adding protection. Hardware like m_driveMotor stays private, same as always. The constructor isn't done yet — it still has to prime the steering sensor from the CANcoder, same ritual as Lesson 5, just parameterized now instead of hardcoded. That's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closes out the constructor. getConfigurator().apply(...) builds a small config object describing what you want, then hands it to the device once — the same shape Lesson 5 used. setPosition(...) primes the motor's own relative counter from the CANcoder's absolute reading, once, at construction. Nothing here is new math — it's the exact Lesson 5 ritual, just reading magnetOffsetRotations and cancoderId from constructor parameters instead of a single hardcoded pair. Section 2 comes back to the setPosition line one more time later, once the real 25:1 steering gearing enters the picture — this version is still the pretend 1:1 one from Lesson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the module no longer implements Mechanism, the command factories are literally gone — run, runRepeatedly, and friends were inherited from Mechanism, so driveAtSpeed, driveWithJoystick, steerToAngle, and driveDistance don't compile anymore. That's fine: commands belong to mechanisms, and this class isn't one anymore, so those all get deleted along with the constructor's addPeriodic call and logTelemetry() (telemetry moves up to Drivetrain in the next section). setDesiredState is Lesson 5's steerToAngle math wearing a new home: one call means one tick of control toward the given goal. The Drivetrain's commands will call it every tick they run — the same per-tick rhythm runRepeatedly has had since Lesson 2. That keeps a tidy rule intact: motors move only when a command asks, and commands only run while the robot is enabled. The module doesn't register anything with the scheduler at all — no addPeriodic, nothing — because there's nothing it needs to do on its own schedule. Keep the private clamp helper from Lesson 5 unchanged — this alpha's WPILib doesn't ship a MathUtil.clamp to replace it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5 pretended the steering sensor turned 1:1 with the wheel and promised the real gearing later. The module is growing up today, so the debt comes due: the steering turns through a real 25:1 reduction — the rotor spins 25 times per steering rotation. Same two moves as the drive motor in Lesson 6: divide on the way in, multiply on the way back. Worth flagging a real consequence for later: the steering now turns at a believable speed instead of a bare rotor's instant snap, so Lesson 5's kP is now tuned for the wrong plant — measured against this model, the same kP = 0.0005 that converged cleanly in Lesson 5 now crawls, taking about 9 simulated seconds to close the last degree of a 90° turn. That's not a bug; the thing being controlled changed, and a 25:1 reduction resists motion harder than a bare rotor did. Nothing can be retuned yet since nothing runs until the wiring in section 6 — section 7 comes back to this the moment the robot moves.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more line from Lesson 5 needs the same fix: the constructor primes the steering motor's sensor from the CANcoder, but that line was written for the pretend 1:1 sensor. Now that 25 real rotor turns happen per wheel turn, seeding the motor's rotor-side counter means multiplying the CANcoder's wheel-side reading by the ratio — the same conversion getSteerAngleDegrees() just learned to undo. m_steerModel gets the same treatment DCMotorSim always gets: multiply back to rotor-side, exactly like the drive motor did in Lesson 6, passing SteerConstants.kSteerGearRatio where the drive motor passed DriveConstants.kDriveGearRatio. And simulatePeriodic()'s steer half gets the identical fix as the drive half did in Lesson 6 — divide by 2π to go from radians to rotations, then multiply by the gear ratio to go from wheel-side to rotor-side. All three are the same one idea, applied in three places the ratio touches.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real gearbox raises one more question the pretend 1:1 sensor never did: which way does the rotor turn when the wheel steers counterclockwise? A gear stage can reverse the direction of spin, so the answer depends on how your module's gearbox is built — it's a fact about your hardware, not your code. The motor can count either way, and you tell it which with a setting called Inverted. Like the gear ratio, a fact about your hardware belongs in Constants.java. Then hand it to the steering motor in a configuration object — the same build-it-then-apply-it shape the CANcoder has used since Lesson 5. It goes above the priming line, so the motor already counts the right way at the moment it's seeded. CounterClockwise_Positive is Phoenix's own default, so in sim — and on any robot whose steering already counts the right way — this changes nothing. It's there so that a robot whose steering counts backward is a one-word fix in Constants.java rather than a code change. The checklist at the end of the lesson tells you which kind of robot you have, and Lesson 12 grows this same configuration into the one that runs the steering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one is easy to skim past because it's short, but it's load-bearing: without it, Drivetrain has no way to hand a wheel's speed to the structured telemetry two sections from now. It's exactly getDistanceMeters()'s pipeline — rotor turns ÷ gear ratio = wheel turns/sec, × circumference = meters/sec — just read from getVelocity() instead of getPosition(). Also worth mentioning while here: MyTeleop is lit up red right now, still binding buttons to command factories that no longer exist on SwerveModule. Leave it red — section 6 rebuilds that wiring around the Drivetrain. A refactor isn't done until every file that touched the old shape learns the new one, and the compiler's job is to keep that list for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field on DriveConstants no longer makes sense and has to go: kDriveMotorPort, kSteerMotorPort, and kCancoderPort described one module's wiring — four modules need four sets, so delete those three constants; the next section replaces them with per-corner IDs passed straight into each new SwerveModule(...) call. A refactor isn't done until every file that touched the old shape learns the new one, and the compiler's job is to keep that list for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Drivetrain owns four SwerveModules in an array, logs them from its own always-on telemetry, and commands them from its command factories. This is the file that becomes the one mechanism for driving — the architectural payoff of dropping Mechanism from SwerveModule in section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new pieces of Java carry this file. SwerveModule[] is an array: a fixed-size, ordered container where every slot holds the same type. new SwerveModule[] { a, b, c, d } builds one with four elements — and here each element is itself a new SwerveModule(...) call with its own IDs and corner, which is constructor parameters doing exactly the job section 2 promised. Corner order (FL, FR, BL, BR) is a convention to pick once and stick to — it's what makes Module0 through Module3 mean something consistent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value logged since Lesson 3 has been a single number, logged one at a time with Telemetry.log(name, value). SwerveModuleVelocity is different: a WPILib data-carrier bundling one wheel's speed with its angle as a Rotation2d. Telemetry.log has an overload for exactly this: hand it a whole array plus the type's own .struct — a value SwerveModuleVelocity ships that knows how to turn one into bytes and back — and one call publishes all four modules' speed and angle together, as one labeled topic AdvantageScope's Swerve tab knows how to draw, instead of four separate numbers it would have no way to know belong to the same picture. The method that actually calls it — logTelemetry() — is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(SwerveModule module : m_modules) is the enhanced for loop — read it as "for each module in m_modules": the body runs once per element with module standing for each in turn. One wrinkle: a for-each loop doesn't number its elements, and the log keys need numbers, so a plain int index counter rides along, and "Drivetrain/Module" + index + "/..." glues the number into the key (+ between a String and a number pulls the number into the text). Keys Module0-Module3 follow the FL, FR, BL, BR order of the array. From there the final Telemetry.log(...) call publishes a fresh array every time logTelemetry() runs — one call publishes all four modules' speed and angle together, instead of four separate numbers that AdvantageScope would have no way to know belong to the same picture. Step back and name the division of labor: the periodic callback registered in the constructor runs rain or shine — every tick, even while the robot is disabled — so it holds the watching. The acting lives in commands, built next, which call setDesiredState only while enabled. That's the whole point of dropping Mechanism from SwerveModule — one mechanism, one lock, four workers commanded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third time this file reaches for the enhanced for loop, and it's the smallest use — one line in the body, calling the method every SwerveModule has carried since Lesson 4 unchanged. Drivetrain doesn't know or care how each module steps its own physics; it just asks all four to do it, every simulated tick. Without this method (and section 6's one-line wiring of it into Robot), the sim motors would sit frozen the instant this refactor lands — worth saying out loud, since it's an easy edit to skip and the failure mode (nothing moves in sim) doesn't obviously point back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shape should feel familiar — it's Lesson 2's driveWithJoystick grown up: a command factory (they're back, because Drivetrain IS a mechanism) taking suppliers so the sticks get re-read every tick. The two Math calls are the new part. Math.hypot(vx, vy) returns sqrt(vx² + vy²), the length of the vector, cleaner and numerically safer than writing the formula by hand. Math.atan2(vy, vx) is the vector's angle in radians — it's the four-quadrant version of atan, meaning it gets the direction right even when vx or vy goes negative — and Math.toDegrees converts to what the steering code expects. Then every module gets the same target, and the chassis slides as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each module's location earns its keep: unlike translate, every corner gets a different angle, computed from where that corner sits. For a module at position (x, y) from center, the CCW-tangent direction is (-y, x) — rotate the outward radial 90° CCW. Sketch the four wheels pointing those table angles and imagine them rolling — the whole robot spins CCW. Worth pointing out explicitly: neither translate nor rotate bothers with a .whenCanceled(...) cleanup, unlike every command since Lesson 1 — that's not an oversight, it's because Drivetrain is never actually idle. translate is about to become the default command in section 6, so the instant rotate is canceled (a bumper released), the scheduler hands the mechanism straight back to translate, which immediately commands fresh output. Contrast that with driveDistance back in Lesson 6, which really could end with nothing else queued up — that's the difference that decides whether cleanup is required. Two simplifications worth naming as deliberate, fixed in Lesson 10: real rotation gives faster linear speed to wheels farther from center (v = ω × r), but the same speed is used for all four here, which is close enough on a square chassis; and translate and rotate can't run at once since both require the Drivetrain — SwerveDriveKinematics combines them per-wheel.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small, easy-to-separate edits to the same file. The field swap is the obvious one — module (the single DriveModule) goes away entirely, replaced by drivetrain. The simulationPeriodic() update is the one that's easy to forget, because the old version already compiled fine calling module.simulatePeriodic() — updating it to drivetrain.simulatePeriodic() is a silent edit the compiler won't flag if you rename the field but forget the body. Without it, nothing errors, but sim physics never advances again: every module sits frozen forever, and the failure looks nothing like "forgot to update simulationPeriodic()" from the outside. This is exactly the kind of thing a refactor's compiler-driven checklist is supposed to catch, and it will — Robot.java won't compile at all until the field rename happens, but simulationPeriodic()'s body compiles either way, referencing whichever field exists. Watch for it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logCommandStart() from Lesson 3 checks one mechanism by name — requires(module) — which was fine when Robot only ever had one to watch. You just renamed that mechanism once already, a few slides ago, and every mechanism this course adds from here on would mean coming back to this method again. requirements() is the data behind Lesson 3's requires(...) — the whole set of mechanisms a command needs, instead of a yes-or-no answer about just one. Every command in this course needs exactly one mechanism, so the loop runs once — but the method doesn't need to know that, which is the point. mechanism.getName() reads back the same name every Mechanism already carries — it's where the "Drivetrain" in "Drivetrain[IDLE]" comes from — so the dashboard key builds itself: Drivetrain/CurrentCommand for a command on drivetrain, whatever a future mechanism happens to be called for one of its own. Same dashboard key you've had since Lesson 3, just arrived at without Robot needing to be told what it was watching.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minus signs are Lesson 2's stick-inversion lesson meeting section 2's coordinate convention: pushing the stick forward reads negative but means +X; pushing it left reads negative but means +Y. Every one of the old bindings named in the caption lived on SwerveModule's command factories, which no longer exist — deleting them isn't optional cleanup, the project won't compile until they're gone. The project should compile clean again once this lands.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what didn't have to happen first: walking out to the robot and pointing every wheel at some agreed "forward" before enabling. That's Lesson 5's priming, paying off exactly where it matters — four independent modules that all agree on zero the instant power comes on, with no ritual and no chance to forget it before a match. On the Swerve tab: one arrow per module, direction showing steer angle, length showing wheel speed. Push the stick and all four arrows swing together and grow with speed; hold a bumper and they snap into the pinwheel — the table from the previous slide, drawn for you, sixty times a second. This diagram is about to become the main debugging view for everything swerve going forward. On retuning kP: verified against this model, kP = 0.005 — ten times Lesson 5's value — settles within about a second with barely any overshoot. The gearbox adds real damping, so a bigger gain is both safe and needed here, the opposite of Lesson 5's ungeared case — this is the first moment the effect can actually be seen and tuned. And the gyro still reports zero — the chassis isn't yet closing the loop from "commanded rotation" to "reported heading." That's exactly what Lesson 8 wires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 can't get calibration wrong: every simulated wheel boots at exactly the zero its physics model starts from. A real chassis can, and a bad calibration doesn't look like a bug — the robot drives confidently in the wrong direction. Priming saves you from pointing the wheels at every boot, but only because you point them carefully once, here. Do this once per robot, and again whenever a module comes off the chassis, with the robot up on blocks so the wheels spin free. Step 1: +X is forward; the corners called kFrontLeft and kFrontRight must physically be at the front, and each new SwerveModule(...) in the array must get the CAN IDs of the module that really sits at that corner — check against the robot (Phoenix Tuner X lists every device on the bus), not against memory. Step 2: lay a straightedge along each side of the chassis, and point them all the same way — a wheel aimed backward is parallel to the frame too. Step 3: with every offset still 0.0 in the code, read each CANcoder's raw position in Tuner X — Lesson 5's measurement, once per corner — and store the negative of each reading as that corner's offset.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power-cycle the robot (or restart its code) without touching the wheels — priming only reads the CANcoders at boot — and plot the four Drivetrain/Module0..3/SteerAngleDegrees. Each should read about 0°; one that doesn't has the wrong offset, so remeasure it. Step 5: with the robot disabled, turn one wheel a quarter-turn counterclockwise by hand, looking down on the robot from above. Its angle should climb to about +90°. Now reboot again without moving it: it should still read about +90°. Before the reboot you were watching the steering motor count; after it, priming re-read the CANcoder — so this one step checks both sensors. Repeat for each wheel. Step 6: nudge the stick forward — all four wheels should point forward and roll the way the robot should go. Nudge it left — they should point left. Hold the left bumper — the pinwheel from section 5, every wheel pushing counterclockwise.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Stick forward drives the robot sideways: every zero is a quarter-turn off — the wheels were pointed sideways when you measured, or the end you treated as the front isn't the one kFrontLeft/kFrontRight describe. Redo steps 1–3. One wheel sits at a different angle from the other three: that corner's offset is wrong, or its CAN IDs belong to another corner. One wheel rolls backward while the rest roll forward: it was zeroed facing backward — turn it 180° and remeasure. Stick left drives the robot right: the steering motor counts backward (step 5 read about −90° before the reboot) — flip kSteerInverted, the constant from section 2. Every module reads it, which is normally what you want: one module design counts the same way on every corner. Then repeat step 5: the angle should climb to about +90° both before and after the reboot. Because the setting lives in Constants.java, it keeps working when Lesson 12 grows the steering configuration — that configuration reads the same constant. The zero is right on some boots and wrong on others: the CANcoder counts backward (step 5 read +90° before the reboot and −90° after) — set MagnetSensor.SensorDirection, Lesson 5's "Mounting matters" callout.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Checking the rotate table by corner is worth doing for real, not just reading: if one module disagrees, its position in Constants.java or its slot in the array is wrong, and the plot just told you which one. The geometry exercise is predict-then-check, not code-writing — swap two existing constants and watch the table you already have change shape, which is the point: now you understand why chassis geometry matters, not just that it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of these three genuinely expect written code, tagged accordingly. driveForwardMeters(double meters) is a whole-chassis version of Lesson 6's driveDistance: reset one wheel's odometer, drive all four forward, watch that same wheel to know when you've gone far enough — the exact shape Lesson 9 formalizes for real autonomous routines, so this is a legitimate preview, not busywork. Moving CAN IDs into Constants.java is explicitly framed as "verbose, but now every ID and calibration number lives in the same file as the gear ratios and chassis dimensions" — twelve named ports plus four magnet offsets, then the array rebuilt to reference DriveConstants.kFrontLeftDrivePort and friends instead of bare literals. The calibration-break exercise is the most memorable of the three but isn't really code-writing — change one corner's magnet offset by 0.1 (about 36°) and watch the Swerve tab: three arrows agree, one doesn't, a fixed, consistent disagreement, not noise. That's exactly what a bad calibration looks like on a real robot, and with four modules on screen at once, it's obvious which corner needs remeasuring. Remember to put the offset back afterward.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Java half of this lesson was about many of the same thing: an array holds four same-typed modules, the enhanced for loop does the same work to each, and constructor parameters let one class describe four corners that differ only in their numbers. That same loop paid for itself twice — once over m_modules, and again over command.requirements(), which turned Lesson 3's one-mechanism logCommandStart() into a version that needs no further edits no matter how many mechanisms Robot ends up with. The robot half was an architecture decision worth remembering the reasoning for: not every class should be a mechanism. SwerveModule became a plain helper class — the Drivetrain owns the array and holds the scheduler's one lock — and the module's job shrank to one method: a single tick of control toward whatever it's told, whenever a command asks. You also picked up structured telemetry — Telemetry.log's struct-array overload publishes a whole array of labeled objects in one call, so AdvantageScope draws it live, which will catch a miswired corner faster than any plot. If the refactor felt long, that's because it was the real thing — a rename, deletions, red files, and the compiler walking you through every place the old design used to live. First, the robot needs to know which way it's facing — Lesson 8 gives it a gyro.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slideLayout" Target="../slideLayouts/slideLayout1.xml"/><Relationship Id="rId5"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pic>
        <p:nvPicPr>
          <p:cNvPr id="2" name="Image 0" descr="/home/user/BasicRobotLessons/docs/presentations/v3/template/assets/logo/team5010-logo-onnavy.png">    </p:cNvPr>
          <p:cNvPicPr>
            <a:picLocks noChangeAspect="1"/>
          </p:cNvPicPr>
          <p:nvPr/>
        </p:nvPicPr>
        <p:blipFill>
          <a:blip r:embed="rId1"/>
          <a:stretch>
            <a:fillRect/>
          </a:stretch>
        </p:blipFill>
        <p:spPr>
          <a:xfrm>
            <a:off x="8351215" y="3834811"/>
            <a:ext cx="3291840" cy="2565989"/>
          </a:xfrm>
          <a:prstGeom prst="rect">
            <a:avLst/>
          </a:prstGeom>
        </p:spPr>
      </p:pic>
      <p:sp>
        <p:nvSpPr>
          <p:cNvPr id="3" name="Text 0"/>
          <p:cNvSpPr/>
          <p:nvPr/>
        </p:nvSpPr>
        <p:spPr>
          <a:xfrm>
            <a:off x="822960" y="1371600"/>
            <a:ext cx="9144000" cy="365760"/>
          </a:xfrm>
          <a:prstGeom prst="rect">
            <a:avLst/>
          </a:prstGeom>
          <a:noFill/>
          <a:ln/>
        </p:spPr>
        <p:txBody>
          <a:bodyPr wrap="square" lIns="0" tIns="0" rIns="0" bIns="0" rtlCol="0" anchor="ctr"/>
          <a:lstStyle/>
          <a:p>
            <a:pPr indent="0" marL="0">
              <a:buNone/>
            </a:pPr>
            <a:r>
              <a:rPr lang="en-US" sz="2000" b="1" spc="300" kern="0" dirty="0">
                <a:solidFill>
                  <a:srgbClr val="1B9AAA"/>
                </a:solidFill>
                <a:latin typeface="Calibri" pitchFamily="34" charset="0"/>
                <a:ea typeface="Calibri" pitchFamily="34" charset="-122"/>
                <a:cs typeface="Calibri" pitchFamily="34" charset="-120"/>
              </a:rPr>
              <a:t>LEARN JAVA + ROBOT PROGRAMMING</a:t>
            </a:r>
            <a:endParaRPr lang="en-US" sz="2000" dirty="0"/>
          </a:p>
        </p:txBody>
      </p:sp>
      <p:sp>
        <p:nvSpPr>
          <p:cNvPr id="4" name="Text 1"/>
          <p:cNvSpPr/>
          <p:nvPr/>
        </p:nvSpPr>
        <p:spPr>
          <a:xfrm>
            <a:off x="777240" y="1874520"/>
            <a:ext cx="7315200" cy="502920"/>
          </a:xfrm>
          <a:prstGeom prst="rect">
            <a:avLst/>
          </a:prstGeom>
          <a:noFill/>
          <a:ln/>
        </p:spPr>
        <p:txBody>
          <a:bodyPr wrap="square" lIns="0" tIns="0" rIns="0" bIns="0" rtlCol="0" anchor="ctr"/>
          <a:lstStyle/>
          <a:p>
            <a:pPr indent="0" marL="0">
              <a:buNone/>
            </a:pPr>
            <a:r>
              <a:rPr lang="en-US" sz="2200" b="1" spc="200" kern="0" dirty="0">
                <a:solidFill>
                  <a:srgbClr val="FF5010"/>
                </a:solidFill>
                <a:latin typeface="Calibri" pitchFamily="34" charset="0"/>
                <a:ea typeface="Calibri" pitchFamily="34" charset="-122"/>
                <a:cs typeface="Calibri" pitchFamily="34" charset="-120"/>
              </a:rPr>
              <a:t>LESSON 7</a:t>
            </a:r>
            <a:endParaRPr lang="en-US" sz="2200" dirty="0"/>
          </a:p>
        </p:txBody>
      </p:sp>
      <p:sp>
        <p:nvSpPr>
          <p:cNvPr id="5" name="Text 2"/>
          <p:cNvSpPr/>
          <p:nvPr/>
        </p:nvSpPr>
        <p:spPr>
          <a:xfrm>
            <a:off x="731520" y="2331720"/>
            <a:ext cx="10515600" cy="137160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Four Modules</a:t>
            </a:r>
            <a:endParaRPr lang="en-US" sz="6000" dirty="0"/>
          </a:p>
        </p:txBody>
      </p:sp>
      <p:sp>
        <p:nvSpPr>
          <p:cNvPr id="6" name="Text 3"/>
          <p:cNvSpPr/>
          <p:nvPr/>
        </p:nvSpPr>
        <p:spPr>
          <a:xfrm>
            <a:off x="777240" y="3611880"/>
            <a:ext cx="8686800" cy="640080"/>
          </a:xfrm>
          <a:prstGeom prst="rect">
            <a:avLst/>
          </a:prstGeom>
          <a:noFill/>
          <a:ln/>
        </p:spPr>
        <p:txBody>
          <a:bodyPr wrap="square" lIns="0" tIns="0" rIns="0" bIns="0" rtlCol="0" anchor="ctr"/>
          <a:lstStyle/>
          <a:p>
            <a:pPr indent="0" marL="0">
              <a:buNone/>
            </a:pPr>
            <a:r>
              <a:rPr lang="en-US" sz="2600" i="1" dirty="0">
                <a:solidFill>
                  <a:srgbClr val="CADCE8"/>
                </a:solidFill>
                <a:latin typeface="Cambria" pitchFamily="34" charset="0"/>
                <a:ea typeface="Cambria" pitchFamily="34" charset="-122"/>
                <a:cs typeface="Cambria" pitchFamily="34" charset="-120"/>
              </a:rPr>
              <a:t>Build the real four-corner chassis</a:t>
            </a:r>
            <a:endParaRPr lang="en-US" sz="2600" dirty="0"/>
          </a:p>
        </p:txBody>
      </p:sp>
      <p:sp>
        <p:nvSpPr>
          <p:cNvPr id="7" name="Text 4"/>
          <p:cNvSpPr/>
          <p:nvPr/>
        </p:nvSpPr>
        <p:spPr>
          <a:xfrm>
            <a:off x="777240" y="6126480"/>
            <a:ext cx="9144000" cy="365760"/>
          </a:xfrm>
          <a:prstGeom prst="rect">
            <a:avLst/>
          </a:prstGeom>
          <a:noFill/>
          <a:ln/>
        </p:spPr>
        <p:txBody>
          <a:bodyPr wrap="square" lIns="0" tIns="0" rIns="0" bIns="0" rtlCol="0" anchor="ctr"/>
          <a:lstStyle/>
          <a:p>
            <a:pPr indent="0" marL="0">
              <a:buNone/>
            </a:pPr>
            <a:r>
              <a:rPr lang="en-US" sz="2000" spc="100" kern="0" dirty="0">
                <a:solidFill>
                  <a:srgbClr val="89A0BE"/>
                </a:solidFill>
                <a:latin typeface="Calibri" pitchFamily="34" charset="0"/>
                <a:ea typeface="Calibri" pitchFamily="34" charset="-122"/>
                <a:cs typeface="Calibri" pitchFamily="34" charset="-120"/>
              </a:rPr>
              <a:t>WPILib 2027 Alpha  ·  Commands V3</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bullseye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THE GOAL</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One module becomes four, moving together</a:t>
            </a:r>
            <a:endParaRPr lang="en-US" sz="3000" dirty="0"/>
          </a:p>
        </p:txBody>
      </p:sp>
      <p:sp>
        <p:nvSpPr>
          <p:cNvPr id="6" name="Shape 3"/>
          <p:cNvSpPr/>
          <p:nvPr/>
        </p:nvSpPr>
        <p:spPr>
          <a:xfrm>
            <a:off x="640080" y="1600200"/>
            <a:ext cx="10881360" cy="1417320"/>
          </a:xfrm>
          <a:prstGeom prst="roundRect">
            <a:avLst>
              <a:gd name="adj" fmla="val 6452"/>
            </a:avLst>
          </a:prstGeom>
          <a:solidFill>
            <a:srgbClr val="F3F6FA"/>
          </a:solidFill>
          <a:ln/>
        </p:spPr>
      </p:sp>
      <p:sp>
        <p:nvSpPr>
          <p:cNvPr id="7" name="Text 4"/>
          <p:cNvSpPr/>
          <p:nvPr/>
        </p:nvSpPr>
        <p:spPr>
          <a:xfrm>
            <a:off x="960120" y="1737360"/>
            <a:ext cx="10241280" cy="1143000"/>
          </a:xfrm>
          <a:prstGeom prst="rect">
            <a:avLst/>
          </a:prstGeom>
          <a:noFill/>
          <a:ln/>
        </p:spPr>
        <p:txBody>
          <a:bodyPr wrap="square" lIns="0" tIns="0" rIns="0" bIns="0" rtlCol="0" anchor="ctr"/>
          <a:lstStyle/>
          <a:p>
            <a:pPr indent="0" marL="0">
              <a:lnSpc>
                <a:spcPct val="120000"/>
              </a:lnSpc>
              <a:buNone/>
            </a:pPr>
            <a:r>
              <a:rPr lang="en-US" sz="2100" i="1" dirty="0">
                <a:solidFill>
                  <a:srgbClr val="13294B"/>
                </a:solidFill>
                <a:latin typeface="Cambria" pitchFamily="34" charset="0"/>
                <a:ea typeface="Cambria" pitchFamily="34" charset="-122"/>
                <a:cs typeface="Cambria" pitchFamily="34" charset="-120"/>
              </a:rPr>
              <a:t>Rename DriveModule to SwerveModule, put four in an array, and command them together: translate (slide) and rotate (spin in place).</a:t>
            </a:r>
            <a:endParaRPr lang="en-US" sz="2100" dirty="0"/>
          </a:p>
        </p:txBody>
      </p:sp>
      <p:sp>
        <p:nvSpPr>
          <p:cNvPr id="8" name="Shape 5"/>
          <p:cNvSpPr/>
          <p:nvPr/>
        </p:nvSpPr>
        <p:spPr>
          <a:xfrm>
            <a:off x="640080" y="3246120"/>
            <a:ext cx="457200" cy="457200"/>
          </a:xfrm>
          <a:prstGeom prst="ellipse">
            <a:avLst/>
          </a:prstGeom>
          <a:solidFill>
            <a:srgbClr val="1B9AAA"/>
          </a:solidFill>
          <a:ln/>
        </p:spPr>
      </p:sp>
      <p:pic>
        <p:nvPicPr>
          <p:cNvPr id="9" name="Image 1" descr="/home/user/BasicRobotLessons/docs/presentations/v3/template/assets/icons/code_white.png">    </p:cNvPr>
          <p:cNvPicPr>
            <a:picLocks noChangeAspect="1"/>
          </p:cNvPicPr>
          <p:nvPr/>
        </p:nvPicPr>
        <p:blipFill>
          <a:blip r:embed="rId2"/>
          <a:stretch>
            <a:fillRect/>
          </a:stretch>
        </p:blipFill>
        <p:spPr>
          <a:xfrm>
            <a:off x="749808" y="3355848"/>
            <a:ext cx="237744" cy="237744"/>
          </a:xfrm>
          <a:prstGeom prst="rect">
            <a:avLst/>
          </a:prstGeom>
        </p:spPr>
      </p:pic>
      <p:sp>
        <p:nvSpPr>
          <p:cNvPr id="10" name="Text 6"/>
          <p:cNvSpPr/>
          <p:nvPr/>
        </p:nvSpPr>
        <p:spPr>
          <a:xfrm>
            <a:off x="1234440" y="3273552"/>
            <a:ext cx="4572000" cy="365760"/>
          </a:xfrm>
          <a:prstGeom prst="rect">
            <a:avLst/>
          </a:prstGeom>
          <a:noFill/>
          <a:ln/>
        </p:spPr>
        <p:txBody>
          <a:bodyPr wrap="square" lIns="0" tIns="0" rIns="0" bIns="0" rtlCol="0" anchor="ctr"/>
          <a:lstStyle/>
          <a:p>
            <a:pPr indent="0" marL="0">
              <a:buNone/>
            </a:pPr>
            <a:r>
              <a:rPr lang="en-US" sz="2000" b="1" spc="50" kern="0" dirty="0">
                <a:solidFill>
                  <a:srgbClr val="13294B"/>
                </a:solidFill>
                <a:latin typeface="Calibri" pitchFamily="34" charset="0"/>
                <a:ea typeface="Calibri" pitchFamily="34" charset="-122"/>
                <a:cs typeface="Calibri" pitchFamily="34" charset="-120"/>
              </a:rPr>
              <a:t>NEW JAVA CONCEPTS</a:t>
            </a:r>
            <a:endParaRPr lang="en-US" sz="2000" dirty="0"/>
          </a:p>
        </p:txBody>
      </p:sp>
      <p:sp>
        <p:nvSpPr>
          <p:cNvPr id="11" name="Text 7"/>
          <p:cNvSpPr/>
          <p:nvPr/>
        </p:nvSpPr>
        <p:spPr>
          <a:xfrm>
            <a:off x="685800" y="3813048"/>
            <a:ext cx="5257800" cy="2651760"/>
          </a:xfrm>
          <a:prstGeom prst="rect">
            <a:avLst/>
          </a:prstGeom>
          <a:noFill/>
          <a:ln/>
        </p:spPr>
        <p:txBody>
          <a:bodyPr wrap="square" lIns="0" tIns="0" rIns="0" bIns="0" rtlCol="0" anchor="t"/>
          <a:lstStyle/>
          <a:p>
            <a:pPr marL="342900" indent="-342900">
              <a:lnSpc>
                <a:spcPct val="110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Arrays: SwerveModule[]</a:t>
            </a:r>
            <a:endParaRPr lang="en-US" sz="2000" dirty="0"/>
          </a:p>
          <a:p>
            <a:pPr marL="342900" indent="-342900">
              <a:lnSpc>
                <a:spcPct val="110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The enhanced for loop</a:t>
            </a:r>
            <a:endParaRPr lang="en-US" sz="2000" dirty="0"/>
          </a:p>
          <a:p>
            <a:pPr marL="342900" indent="-342900">
              <a:lnSpc>
                <a:spcPct val="110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Constructor parameters that vary per instance</a:t>
            </a:r>
            <a:endParaRPr lang="en-US" sz="2000" dirty="0"/>
          </a:p>
          <a:p>
            <a:pPr marL="342900" indent="-342900">
              <a:lnSpc>
                <a:spcPct val="110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Translation2d, a library helper</a:t>
            </a:r>
            <a:endParaRPr lang="en-US" sz="2000" dirty="0"/>
          </a:p>
        </p:txBody>
      </p:sp>
      <p:sp>
        <p:nvSpPr>
          <p:cNvPr id="12" name="Shape 8"/>
          <p:cNvSpPr/>
          <p:nvPr/>
        </p:nvSpPr>
        <p:spPr>
          <a:xfrm>
            <a:off x="6309360" y="3246120"/>
            <a:ext cx="457200" cy="457200"/>
          </a:xfrm>
          <a:prstGeom prst="ellipse">
            <a:avLst/>
          </a:prstGeom>
          <a:solidFill>
            <a:srgbClr val="FF5010"/>
          </a:solidFill>
          <a:ln/>
        </p:spPr>
      </p:sp>
      <p:pic>
        <p:nvPicPr>
          <p:cNvPr id="13" name="Image 2" descr="/home/user/BasicRobotLessons/docs/presentations/v3/template/assets/icons/thlarge_white.png">    </p:cNvPr>
          <p:cNvPicPr>
            <a:picLocks noChangeAspect="1"/>
          </p:cNvPicPr>
          <p:nvPr/>
        </p:nvPicPr>
        <p:blipFill>
          <a:blip r:embed="rId3"/>
          <a:stretch>
            <a:fillRect/>
          </a:stretch>
        </p:blipFill>
        <p:spPr>
          <a:xfrm>
            <a:off x="6419088" y="3355848"/>
            <a:ext cx="237744" cy="237744"/>
          </a:xfrm>
          <a:prstGeom prst="rect">
            <a:avLst/>
          </a:prstGeom>
        </p:spPr>
      </p:pic>
      <p:sp>
        <p:nvSpPr>
          <p:cNvPr id="14" name="Text 9"/>
          <p:cNvSpPr/>
          <p:nvPr/>
        </p:nvSpPr>
        <p:spPr>
          <a:xfrm>
            <a:off x="6903720" y="3273552"/>
            <a:ext cx="4572000" cy="365760"/>
          </a:xfrm>
          <a:prstGeom prst="rect">
            <a:avLst/>
          </a:prstGeom>
          <a:noFill/>
          <a:ln/>
        </p:spPr>
        <p:txBody>
          <a:bodyPr wrap="square" lIns="0" tIns="0" rIns="0" bIns="0" rtlCol="0" anchor="ctr"/>
          <a:lstStyle/>
          <a:p>
            <a:pPr indent="0" marL="0">
              <a:buNone/>
            </a:pPr>
            <a:r>
              <a:rPr lang="en-US" sz="2000" b="1" spc="50" kern="0" dirty="0">
                <a:solidFill>
                  <a:srgbClr val="13294B"/>
                </a:solidFill>
                <a:latin typeface="Calibri" pitchFamily="34" charset="0"/>
                <a:ea typeface="Calibri" pitchFamily="34" charset="-122"/>
                <a:cs typeface="Calibri" pitchFamily="34" charset="-120"/>
              </a:rPr>
              <a:t>NEW ROBOT CONCEPTS</a:t>
            </a:r>
            <a:endParaRPr lang="en-US" sz="2000" dirty="0"/>
          </a:p>
        </p:txBody>
      </p:sp>
      <p:sp>
        <p:nvSpPr>
          <p:cNvPr id="15" name="Text 10"/>
          <p:cNvSpPr/>
          <p:nvPr/>
        </p:nvSpPr>
        <p:spPr>
          <a:xfrm>
            <a:off x="6355080" y="3813048"/>
            <a:ext cx="5257800" cy="2651760"/>
          </a:xfrm>
          <a:prstGeom prst="rect">
            <a:avLst/>
          </a:prstGeom>
          <a:noFill/>
          <a:ln/>
        </p:spPr>
        <p:txBody>
          <a:bodyPr wrap="square" lIns="0" tIns="0" rIns="0" bIns="0" rtlCol="0" anchor="t"/>
          <a:lstStyle/>
          <a:p>
            <a:pPr marL="342900" indent="-342900">
              <a:lnSpc>
                <a:spcPct val="110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The four corners of a swerve chassis</a:t>
            </a:r>
            <a:endParaRPr lang="en-US" sz="2000" dirty="0"/>
          </a:p>
          <a:p>
            <a:pPr marL="342900" indent="-342900">
              <a:lnSpc>
                <a:spcPct val="110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A helper class vs. a mechanism</a:t>
            </a:r>
            <a:endParaRPr lang="en-US" sz="2000" dirty="0"/>
          </a:p>
          <a:p>
            <a:pPr marL="342900" indent="-342900">
              <a:lnSpc>
                <a:spcPct val="110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Translate vs. rotate in place</a:t>
            </a:r>
            <a:endParaRPr lang="en-US" sz="2000" dirty="0"/>
          </a:p>
          <a:p>
            <a:pPr marL="342900" indent="-342900">
              <a:lnSpc>
                <a:spcPct val="110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Structured telemetry for AdvantageScope</a:t>
            </a:r>
            <a:endParaRPr lang="en-US" sz="2000" dirty="0"/>
          </a:p>
        </p:txBody>
      </p:sp>
      <p:sp>
        <p:nvSpPr>
          <p:cNvPr id="16"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FOUR MODULES</a:t>
            </a:r>
            <a:endParaRPr lang="en-US" sz="2000" dirty="0"/>
          </a:p>
        </p:txBody>
      </p:sp>
      <p:sp>
        <p:nvSpPr>
          <p:cNvPr id="17"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2</a:t>
            </a:r>
            <a:endParaRPr lang="en-US" sz="2000" dirty="0"/>
          </a:p>
        </p:txBody>
      </p:sp>
      <p:pic>
        <p:nvPicPr>
          <p:cNvPr id="18" name="Image 3" descr="/home/user/BasicRobotLessons/docs/presentations/v3/template/assets/logo/team5010-logo-onwhite.png">    </p:cNvPr>
          <p:cNvPicPr>
            <a:picLocks noChangeAspect="1"/>
          </p:cNvPicPr>
          <p:nvPr/>
        </p:nvPicPr>
        <p:blipFill>
          <a:blip r:embed="rId4"/>
          <a:stretch>
            <a:fillRect/>
          </a:stretch>
        </p:blipFill>
        <p:spPr>
          <a:xfrm>
            <a:off x="10957255" y="164592"/>
            <a:ext cx="777240" cy="60585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thlarge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SECTION 1 · WHY FOUR?</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Two shapes of motion cover almost everything</a:t>
            </a:r>
            <a:endParaRPr lang="en-US" sz="3000" dirty="0"/>
          </a:p>
        </p:txBody>
      </p:sp>
      <p:sp>
        <p:nvSpPr>
          <p:cNvPr id="6" name="Shape 3"/>
          <p:cNvSpPr/>
          <p:nvPr/>
        </p:nvSpPr>
        <p:spPr>
          <a:xfrm>
            <a:off x="640080" y="1691640"/>
            <a:ext cx="5349240" cy="3291840"/>
          </a:xfrm>
          <a:prstGeom prst="roundRect">
            <a:avLst>
              <a:gd name="adj" fmla="val 3333"/>
            </a:avLst>
          </a:prstGeom>
          <a:solidFill>
            <a:srgbClr val="132A4C"/>
          </a:solidFill>
          <a:ln/>
        </p:spPr>
      </p:sp>
      <p:sp>
        <p:nvSpPr>
          <p:cNvPr id="7" name="Text 4"/>
          <p:cNvSpPr/>
          <p:nvPr/>
        </p:nvSpPr>
        <p:spPr>
          <a:xfrm>
            <a:off x="914400" y="1965960"/>
            <a:ext cx="4800600" cy="548640"/>
          </a:xfrm>
          <a:prstGeom prst="rect">
            <a:avLst/>
          </a:prstGeom>
          <a:noFill/>
          <a:ln/>
        </p:spPr>
        <p:txBody>
          <a:bodyPr wrap="square" lIns="0" tIns="0" rIns="0" bIns="0" rtlCol="0" anchor="ctr"/>
          <a:lstStyle/>
          <a:p>
            <a:pPr indent="0" marL="0">
              <a:buNone/>
            </a:pPr>
            <a:r>
              <a:rPr lang="en-US" sz="2600" b="1" dirty="0">
                <a:solidFill>
                  <a:srgbClr val="FF5010"/>
                </a:solidFill>
                <a:latin typeface="Cambria" pitchFamily="34" charset="0"/>
                <a:ea typeface="Cambria" pitchFamily="34" charset="-122"/>
                <a:cs typeface="Cambria" pitchFamily="34" charset="-120"/>
              </a:rPr>
              <a:t>Translate</a:t>
            </a:r>
            <a:endParaRPr lang="en-US" sz="2600" dirty="0"/>
          </a:p>
        </p:txBody>
      </p:sp>
      <p:sp>
        <p:nvSpPr>
          <p:cNvPr id="8" name="Text 5"/>
          <p:cNvSpPr/>
          <p:nvPr/>
        </p:nvSpPr>
        <p:spPr>
          <a:xfrm>
            <a:off x="914400" y="2606040"/>
            <a:ext cx="4800600" cy="2286000"/>
          </a:xfrm>
          <a:prstGeom prst="rect">
            <a:avLst/>
          </a:prstGeom>
          <a:noFill/>
          <a:ln/>
        </p:spPr>
        <p:txBody>
          <a:bodyPr wrap="square" lIns="0" tIns="0" rIns="0" bIns="0" rtlCol="0" anchor="t"/>
          <a:lstStyle/>
          <a:p>
            <a:pPr indent="0" marL="0">
              <a:lnSpc>
                <a:spcPct val="125000"/>
              </a:lnSpc>
              <a:buNone/>
            </a:pPr>
            <a:r>
              <a:rPr lang="en-US" sz="2000" dirty="0">
                <a:solidFill>
                  <a:srgbClr val="D7E3F4"/>
                </a:solidFill>
                <a:latin typeface="Calibri" pitchFamily="34" charset="0"/>
                <a:ea typeface="Calibri" pitchFamily="34" charset="-122"/>
                <a:cs typeface="Calibri" pitchFamily="34" charset="-120"/>
              </a:rPr>
              <a:t>All four wheels point the same direction, same speed — the chassis slides that way.</a:t>
            </a:r>
            <a:endParaRPr lang="en-US" sz="2000" dirty="0"/>
          </a:p>
        </p:txBody>
      </p:sp>
      <p:sp>
        <p:nvSpPr>
          <p:cNvPr id="9" name="Shape 6"/>
          <p:cNvSpPr/>
          <p:nvPr/>
        </p:nvSpPr>
        <p:spPr>
          <a:xfrm>
            <a:off x="6172200" y="1691640"/>
            <a:ext cx="5349240" cy="3291840"/>
          </a:xfrm>
          <a:prstGeom prst="roundRect">
            <a:avLst>
              <a:gd name="adj" fmla="val 3333"/>
            </a:avLst>
          </a:prstGeom>
          <a:solidFill>
            <a:srgbClr val="132A4C"/>
          </a:solidFill>
          <a:ln/>
        </p:spPr>
      </p:sp>
      <p:sp>
        <p:nvSpPr>
          <p:cNvPr id="10" name="Text 7"/>
          <p:cNvSpPr/>
          <p:nvPr/>
        </p:nvSpPr>
        <p:spPr>
          <a:xfrm>
            <a:off x="6446520" y="1965960"/>
            <a:ext cx="4800600" cy="548640"/>
          </a:xfrm>
          <a:prstGeom prst="rect">
            <a:avLst/>
          </a:prstGeom>
          <a:noFill/>
          <a:ln/>
        </p:spPr>
        <p:txBody>
          <a:bodyPr wrap="square" lIns="0" tIns="0" rIns="0" bIns="0" rtlCol="0" anchor="ctr"/>
          <a:lstStyle/>
          <a:p>
            <a:pPr indent="0" marL="0">
              <a:buNone/>
            </a:pPr>
            <a:r>
              <a:rPr lang="en-US" sz="2600" b="1" dirty="0">
                <a:solidFill>
                  <a:srgbClr val="FF5010"/>
                </a:solidFill>
                <a:latin typeface="Cambria" pitchFamily="34" charset="0"/>
                <a:ea typeface="Cambria" pitchFamily="34" charset="-122"/>
                <a:cs typeface="Cambria" pitchFamily="34" charset="-120"/>
              </a:rPr>
              <a:t>Rotate in place</a:t>
            </a:r>
            <a:endParaRPr lang="en-US" sz="2600" dirty="0"/>
          </a:p>
        </p:txBody>
      </p:sp>
      <p:sp>
        <p:nvSpPr>
          <p:cNvPr id="11" name="Text 8"/>
          <p:cNvSpPr/>
          <p:nvPr/>
        </p:nvSpPr>
        <p:spPr>
          <a:xfrm>
            <a:off x="6446520" y="2606040"/>
            <a:ext cx="4800600" cy="2286000"/>
          </a:xfrm>
          <a:prstGeom prst="rect">
            <a:avLst/>
          </a:prstGeom>
          <a:noFill/>
          <a:ln/>
        </p:spPr>
        <p:txBody>
          <a:bodyPr wrap="square" lIns="0" tIns="0" rIns="0" bIns="0" rtlCol="0" anchor="t"/>
          <a:lstStyle/>
          <a:p>
            <a:pPr indent="0" marL="0">
              <a:lnSpc>
                <a:spcPct val="125000"/>
              </a:lnSpc>
              <a:buNone/>
            </a:pPr>
            <a:r>
              <a:rPr lang="en-US" sz="2000" dirty="0">
                <a:solidFill>
                  <a:srgbClr val="D7E3F4"/>
                </a:solidFill>
                <a:latin typeface="Calibri" pitchFamily="34" charset="0"/>
                <a:ea typeface="Calibri" pitchFamily="34" charset="-122"/>
                <a:cs typeface="Calibri" pitchFamily="34" charset="-120"/>
              </a:rPr>
              <a:t>Each wheel steers tangent to a circle around center, same speed — the chassis spins.</a:t>
            </a:r>
            <a:endParaRPr lang="en-US" sz="2000" dirty="0"/>
          </a:p>
        </p:txBody>
      </p:sp>
      <p:sp>
        <p:nvSpPr>
          <p:cNvPr id="12" name="Text 9"/>
          <p:cNvSpPr/>
          <p:nvPr/>
        </p:nvSpPr>
        <p:spPr>
          <a:xfrm>
            <a:off x="640080" y="5166360"/>
            <a:ext cx="10881360" cy="1097280"/>
          </a:xfrm>
          <a:prstGeom prst="rect">
            <a:avLst/>
          </a:prstGeom>
          <a:noFill/>
          <a:ln/>
        </p:spPr>
        <p:txBody>
          <a:bodyPr wrap="square" lIns="0" tIns="0" rIns="0" bIns="0" rtlCol="0" anchor="t"/>
          <a:lstStyle/>
          <a:p>
            <a:pPr indent="0" marL="0">
              <a:lnSpc>
                <a:spcPct val="125000"/>
              </a:lnSpc>
              <a:buNone/>
            </a:pPr>
            <a:r>
              <a:rPr lang="en-US" sz="2000" i="1" dirty="0">
                <a:solidFill>
                  <a:srgbClr val="CADCE8"/>
                </a:solidFill>
                <a:latin typeface="Cambria" pitchFamily="34" charset="0"/>
                <a:ea typeface="Cambria" pitchFamily="34" charset="-122"/>
                <a:cs typeface="Cambria" pitchFamily="34" charset="-120"/>
              </a:rPr>
              <a:t>Doing both at once needs per-wheel math — that's Lesson 10's SwerveDriveKinematics. For now, these two simple cases give Lesson 8's gyro a robot that actually turns.</a:t>
            </a:r>
            <a:endParaRPr lang="en-US" sz="2000" dirty="0"/>
          </a:p>
        </p:txBody>
      </p:sp>
      <p:sp>
        <p:nvSpPr>
          <p:cNvPr id="13" name="Text 10"/>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FOUR MODULES</a:t>
            </a:r>
            <a:endParaRPr lang="en-US" sz="2000" dirty="0"/>
          </a:p>
        </p:txBody>
      </p:sp>
      <p:sp>
        <p:nvSpPr>
          <p:cNvPr id="14" name="Text 11"/>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3</a:t>
            </a:r>
            <a:endParaRPr lang="en-US" sz="2000" dirty="0"/>
          </a:p>
        </p:txBody>
      </p:sp>
      <p:pic>
        <p:nvPicPr>
          <p:cNvPr id="15"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random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2 · RENAME AND PARAMETERIZE</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Rename the file first, then reshape it</a:t>
            </a:r>
            <a:endParaRPr lang="en-US" sz="3000" dirty="0"/>
          </a:p>
        </p:txBody>
      </p:sp>
      <p:sp>
        <p:nvSpPr>
          <p:cNvPr id="6" name="Shape 3"/>
          <p:cNvSpPr/>
          <p:nvPr/>
        </p:nvSpPr>
        <p:spPr>
          <a:xfrm>
            <a:off x="640080" y="1618488"/>
            <a:ext cx="502920" cy="502920"/>
          </a:xfrm>
          <a:prstGeom prst="ellipse">
            <a:avLst/>
          </a:prstGeom>
          <a:solidFill>
            <a:srgbClr val="1B9AAA"/>
          </a:solidFill>
          <a:ln/>
        </p:spPr>
      </p:sp>
      <p:sp>
        <p:nvSpPr>
          <p:cNvPr id="7" name="Text 4"/>
          <p:cNvSpPr/>
          <p:nvPr/>
        </p:nvSpPr>
        <p:spPr>
          <a:xfrm>
            <a:off x="640080" y="161848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8" name="Text 5"/>
          <p:cNvSpPr/>
          <p:nvPr/>
        </p:nvSpPr>
        <p:spPr>
          <a:xfrm>
            <a:off x="1371600" y="1545336"/>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Right-click the class name DriveModule in VS Code</a:t>
            </a:r>
            <a:endParaRPr lang="en-US" sz="2000" dirty="0"/>
          </a:p>
        </p:txBody>
      </p:sp>
      <p:sp>
        <p:nvSpPr>
          <p:cNvPr id="9" name="Text 6"/>
          <p:cNvSpPr/>
          <p:nvPr/>
        </p:nvSpPr>
        <p:spPr>
          <a:xfrm>
            <a:off x="1371600" y="192938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Anywhere it appears in the file.</a:t>
            </a:r>
            <a:endParaRPr lang="en-US" sz="2000" dirty="0"/>
          </a:p>
        </p:txBody>
      </p:sp>
      <p:sp>
        <p:nvSpPr>
          <p:cNvPr id="10" name="Shape 7"/>
          <p:cNvSpPr/>
          <p:nvPr/>
        </p:nvSpPr>
        <p:spPr>
          <a:xfrm>
            <a:off x="640080" y="2578608"/>
            <a:ext cx="502920" cy="502920"/>
          </a:xfrm>
          <a:prstGeom prst="ellipse">
            <a:avLst/>
          </a:prstGeom>
          <a:solidFill>
            <a:srgbClr val="1B9AAA"/>
          </a:solidFill>
          <a:ln/>
        </p:spPr>
      </p:sp>
      <p:sp>
        <p:nvSpPr>
          <p:cNvPr id="11" name="Text 8"/>
          <p:cNvSpPr/>
          <p:nvPr/>
        </p:nvSpPr>
        <p:spPr>
          <a:xfrm>
            <a:off x="640080" y="257860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2" name="Text 9"/>
          <p:cNvSpPr/>
          <p:nvPr/>
        </p:nvSpPr>
        <p:spPr>
          <a:xfrm>
            <a:off x="1371600" y="2505456"/>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Choose Refactor → Rename</a:t>
            </a:r>
            <a:endParaRPr lang="en-US" sz="2000" dirty="0"/>
          </a:p>
        </p:txBody>
      </p:sp>
      <p:sp>
        <p:nvSpPr>
          <p:cNvPr id="13" name="Text 10"/>
          <p:cNvSpPr/>
          <p:nvPr/>
        </p:nvSpPr>
        <p:spPr>
          <a:xfrm>
            <a:off x="1371600" y="288950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Updates the filename and every reference in the project for you.</a:t>
            </a:r>
            <a:endParaRPr lang="en-US" sz="2000" dirty="0"/>
          </a:p>
        </p:txBody>
      </p:sp>
      <p:sp>
        <p:nvSpPr>
          <p:cNvPr id="14" name="Shape 11"/>
          <p:cNvSpPr/>
          <p:nvPr/>
        </p:nvSpPr>
        <p:spPr>
          <a:xfrm>
            <a:off x="640080" y="3538728"/>
            <a:ext cx="502920" cy="502920"/>
          </a:xfrm>
          <a:prstGeom prst="ellipse">
            <a:avLst/>
          </a:prstGeom>
          <a:solidFill>
            <a:srgbClr val="1B9AAA"/>
          </a:solidFill>
          <a:ln/>
        </p:spPr>
      </p:sp>
      <p:sp>
        <p:nvSpPr>
          <p:cNvPr id="15" name="Text 12"/>
          <p:cNvSpPr/>
          <p:nvPr/>
        </p:nvSpPr>
        <p:spPr>
          <a:xfrm>
            <a:off x="640080" y="353872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6" name="Text 13"/>
          <p:cNvSpPr/>
          <p:nvPr/>
        </p:nvSpPr>
        <p:spPr>
          <a:xfrm>
            <a:off x="1371600" y="3465576"/>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Type SwerveModule, confirm</a:t>
            </a:r>
            <a:endParaRPr lang="en-US" sz="2000" dirty="0"/>
          </a:p>
        </p:txBody>
      </p:sp>
      <p:sp>
        <p:nvSpPr>
          <p:cNvPr id="17" name="Text 14"/>
          <p:cNvSpPr/>
          <p:nvPr/>
        </p:nvSpPr>
        <p:spPr>
          <a:xfrm>
            <a:off x="1371600" y="384962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The file becomes SwerveModule.java, everywhere it's used.</a:t>
            </a:r>
            <a:endParaRPr lang="en-US" sz="2000" dirty="0"/>
          </a:p>
        </p:txBody>
      </p:sp>
      <p:sp>
        <p:nvSpPr>
          <p:cNvPr id="18" name="Shape 15"/>
          <p:cNvSpPr/>
          <p:nvPr/>
        </p:nvSpPr>
        <p:spPr>
          <a:xfrm>
            <a:off x="640080" y="4434840"/>
            <a:ext cx="10881360" cy="1920240"/>
          </a:xfrm>
          <a:prstGeom prst="roundRect">
            <a:avLst>
              <a:gd name="adj" fmla="val 4762"/>
            </a:avLst>
          </a:prstGeom>
          <a:solidFill>
            <a:srgbClr val="F3F6FA"/>
          </a:solidFill>
          <a:ln/>
        </p:spPr>
      </p:sp>
      <p:sp>
        <p:nvSpPr>
          <p:cNvPr id="19" name="Text 16"/>
          <p:cNvSpPr/>
          <p:nvPr/>
        </p:nvSpPr>
        <p:spPr>
          <a:xfrm>
            <a:off x="914400" y="4709160"/>
            <a:ext cx="10332720" cy="561975"/>
          </a:xfrm>
          <a:prstGeom prst="rect">
            <a:avLst/>
          </a:prstGeom>
          <a:noFill/>
          <a:ln/>
        </p:spPr>
        <p:txBody>
          <a:bodyPr wrap="square" lIns="0" tIns="0" rIns="0" bIns="0" rtlCol="0" anchor="t"/>
          <a:lstStyle/>
          <a:p>
            <a:pPr indent="0" marL="0">
              <a:lnSpc>
                <a:spcPct val="120000"/>
              </a:lnSpc>
              <a:buNone/>
            </a:pPr>
            <a:r>
              <a:rPr lang="en-US" sz="2100" b="1" dirty="0">
                <a:solidFill>
                  <a:srgbClr val="13294B"/>
                </a:solidFill>
                <a:latin typeface="Cambria" pitchFamily="34" charset="0"/>
                <a:ea typeface="Cambria" pitchFamily="34" charset="-122"/>
                <a:cs typeface="Cambria" pitchFamily="34" charset="-120"/>
              </a:rPr>
              <a:t>Then two changes: drop Mechanism, parameterize the constructor.</a:t>
            </a:r>
            <a:endParaRPr lang="en-US" sz="2100" dirty="0"/>
          </a:p>
        </p:txBody>
      </p:sp>
      <p:sp>
        <p:nvSpPr>
          <p:cNvPr id="20" name="Text 17"/>
          <p:cNvSpPr/>
          <p:nvPr/>
        </p:nvSpPr>
        <p:spPr>
          <a:xfrm>
            <a:off x="914400" y="5271135"/>
            <a:ext cx="10332720" cy="809625"/>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A single wheel isn't what the scheduler needs to lock — the whole chassis is. Drivetrain becomes the only mechanism; each SwerveModule is a plain helper it owns.</a:t>
            </a:r>
            <a:endParaRPr lang="en-US" sz="2000" dirty="0"/>
          </a:p>
        </p:txBody>
      </p:sp>
      <p:sp>
        <p:nvSpPr>
          <p:cNvPr id="21" name="Text 18"/>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FOUR MODULES</a:t>
            </a:r>
            <a:endParaRPr lang="en-US" sz="2000" dirty="0"/>
          </a:p>
        </p:txBody>
      </p:sp>
      <p:sp>
        <p:nvSpPr>
          <p:cNvPr id="22" name="Text 19"/>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4</a:t>
            </a:r>
            <a:endParaRPr lang="en-US" sz="2000" dirty="0"/>
          </a:p>
        </p:txBody>
      </p:sp>
      <p:pic>
        <p:nvPicPr>
          <p:cNvPr id="23"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filecode_teal.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2 · SWERVEMODULE.JAVA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Fields with no initializers — the constructor fills them in</a:t>
            </a:r>
            <a:endParaRPr lang="en-US" sz="3000" dirty="0"/>
          </a:p>
        </p:txBody>
      </p:sp>
      <p:sp>
        <p:nvSpPr>
          <p:cNvPr id="6" name="Shape 3"/>
          <p:cNvSpPr/>
          <p:nvPr/>
        </p:nvSpPr>
        <p:spPr>
          <a:xfrm>
            <a:off x="640080" y="1371600"/>
            <a:ext cx="10881360" cy="4480560"/>
          </a:xfrm>
          <a:prstGeom prst="roundRect">
            <a:avLst>
              <a:gd name="adj" fmla="val 2449"/>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517904"/>
            <a:ext cx="128016" cy="128016"/>
          </a:xfrm>
          <a:prstGeom prst="ellipse">
            <a:avLst/>
          </a:prstGeom>
          <a:solidFill>
            <a:srgbClr val="FF6B6B"/>
          </a:solidFill>
          <a:ln/>
        </p:spPr>
      </p:sp>
      <p:sp>
        <p:nvSpPr>
          <p:cNvPr id="8" name="Shape 5"/>
          <p:cNvSpPr/>
          <p:nvPr/>
        </p:nvSpPr>
        <p:spPr>
          <a:xfrm>
            <a:off x="11210544" y="1719072"/>
            <a:ext cx="128016" cy="128016"/>
          </a:xfrm>
          <a:prstGeom prst="ellipse">
            <a:avLst/>
          </a:prstGeom>
          <a:solidFill>
            <a:srgbClr val="FFD166"/>
          </a:solidFill>
          <a:ln/>
        </p:spPr>
      </p:sp>
      <p:sp>
        <p:nvSpPr>
          <p:cNvPr id="9" name="Shape 6"/>
          <p:cNvSpPr/>
          <p:nvPr/>
        </p:nvSpPr>
        <p:spPr>
          <a:xfrm>
            <a:off x="11210544" y="1920240"/>
            <a:ext cx="128016" cy="128016"/>
          </a:xfrm>
          <a:prstGeom prst="ellipse">
            <a:avLst/>
          </a:prstGeom>
          <a:solidFill>
            <a:srgbClr val="2EC4B6"/>
          </a:solidFill>
          <a:ln/>
        </p:spPr>
      </p:sp>
      <p:sp>
        <p:nvSpPr>
          <p:cNvPr id="10" name="Text 7"/>
          <p:cNvSpPr/>
          <p:nvPr/>
        </p:nvSpPr>
        <p:spPr>
          <a:xfrm>
            <a:off x="914400" y="149961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Replace the top of the class with</a:t>
            </a:r>
            <a:endParaRPr lang="en-US" sz="1500" dirty="0"/>
          </a:p>
        </p:txBody>
      </p:sp>
      <p:sp>
        <p:nvSpPr>
          <p:cNvPr id="11" name="Text 8"/>
          <p:cNvSpPr/>
          <p:nvPr/>
        </p:nvSpPr>
        <p:spPr>
          <a:xfrm>
            <a:off x="914400" y="1828800"/>
            <a:ext cx="10195560" cy="3822192"/>
          </a:xfrm>
          <a:prstGeom prst="rect">
            <a:avLst/>
          </a:prstGeom>
          <a:noFill/>
          <a:ln/>
        </p:spPr>
        <p:txBody>
          <a:bodyPr wrap="square" lIns="0" tIns="0" rIns="0" bIns="0" rtlCol="0" anchor="t"/>
          <a:lstStyle/>
          <a:p>
            <a:pPr indent="0" marL="0">
              <a:lnSpc>
                <a:spcPct val="120000"/>
              </a:lnSpc>
              <a:buNone/>
            </a:pPr>
            <a:r>
              <a:rPr lang="en-US" sz="1000" dirty="0">
                <a:solidFill>
                  <a:srgbClr val="FFD166"/>
                </a:solidFill>
                <a:latin typeface="Courier New" pitchFamily="34" charset="0"/>
                <a:ea typeface="Courier New" pitchFamily="34" charset="-122"/>
                <a:cs typeface="Courier New" pitchFamily="34" charset="-120"/>
              </a:rPr>
              <a:t>public class SwerveModule {</a:t>
            </a:r>
            <a:endParaRPr lang="en-US" sz="1000" dirty="0"/>
          </a:p>
          <a:p>
            <a:pPr indent="0" marL="0">
              <a:lnSpc>
                <a:spcPct val="120000"/>
              </a:lnSpc>
              <a:buNone/>
            </a:pPr>
            <a:r>
              <a:rPr lang="en-US" sz="1000" dirty="0">
                <a:solidFill>
                  <a:srgbClr val="9EF01A"/>
                </a:solidFill>
                <a:latin typeface="Courier New" pitchFamily="34" charset="0"/>
                <a:ea typeface="Courier New" pitchFamily="34" charset="-122"/>
                <a:cs typeface="Courier New" pitchFamily="34" charset="-120"/>
              </a:rPr>
              <a:t>  public final Translation2d location;</a:t>
            </a:r>
            <a:endParaRPr lang="en-US" sz="1000" dirty="0"/>
          </a:p>
          <a:p>
            <a:pPr indent="0" marL="0">
              <a:lnSpc>
                <a:spcPct val="120000"/>
              </a:lnSpc>
              <a:buNone/>
            </a:pPr>
            <a:endParaRPr lang="en-US" sz="1000" dirty="0"/>
          </a:p>
          <a:p>
            <a:pPr indent="0" marL="0">
              <a:lnSpc>
                <a:spcPct val="120000"/>
              </a:lnSpc>
              <a:buNone/>
            </a:pPr>
            <a:r>
              <a:rPr lang="en-US" sz="1000" dirty="0">
                <a:solidFill>
                  <a:srgbClr val="D7E3F4"/>
                </a:solidFill>
                <a:latin typeface="Courier New" pitchFamily="34" charset="0"/>
                <a:ea typeface="Courier New" pitchFamily="34" charset="-122"/>
                <a:cs typeface="Courier New" pitchFamily="34" charset="-120"/>
              </a:rPr>
              <a:t>  private final TalonFX m_driveMotor;</a:t>
            </a:r>
            <a:endParaRPr lang="en-US" sz="1000" dirty="0"/>
          </a:p>
          <a:p>
            <a:pPr indent="0" marL="0">
              <a:lnSpc>
                <a:spcPct val="120000"/>
              </a:lnSpc>
              <a:buNone/>
            </a:pPr>
            <a:r>
              <a:rPr lang="en-US" sz="1000" dirty="0">
                <a:solidFill>
                  <a:srgbClr val="D7E3F4"/>
                </a:solidFill>
                <a:latin typeface="Courier New" pitchFamily="34" charset="0"/>
                <a:ea typeface="Courier New" pitchFamily="34" charset="-122"/>
                <a:cs typeface="Courier New" pitchFamily="34" charset="-120"/>
              </a:rPr>
              <a:t>  private final TalonFX m_steerMotor;</a:t>
            </a:r>
            <a:endParaRPr lang="en-US" sz="1000" dirty="0"/>
          </a:p>
          <a:p>
            <a:pPr indent="0" marL="0">
              <a:lnSpc>
                <a:spcPct val="120000"/>
              </a:lnSpc>
              <a:buNone/>
            </a:pPr>
            <a:r>
              <a:rPr lang="en-US" sz="1000" dirty="0">
                <a:solidFill>
                  <a:srgbClr val="D7E3F4"/>
                </a:solidFill>
                <a:latin typeface="Courier New" pitchFamily="34" charset="0"/>
                <a:ea typeface="Courier New" pitchFamily="34" charset="-122"/>
                <a:cs typeface="Courier New" pitchFamily="34" charset="-120"/>
              </a:rPr>
              <a:t>  private final CANcoder m_steerEncoder;</a:t>
            </a:r>
            <a:endParaRPr lang="en-US" sz="1000" dirty="0"/>
          </a:p>
          <a:p>
            <a:pPr indent="0" marL="0">
              <a:lnSpc>
                <a:spcPct val="120000"/>
              </a:lnSpc>
              <a:buNone/>
            </a:pPr>
            <a:r>
              <a:rPr lang="en-US" sz="1000" dirty="0">
                <a:solidFill>
                  <a:srgbClr val="D7E3F4"/>
                </a:solidFill>
                <a:latin typeface="Courier New" pitchFamily="34" charset="0"/>
                <a:ea typeface="Courier New" pitchFamily="34" charset="-122"/>
                <a:cs typeface="Courier New" pitchFamily="34" charset="-120"/>
              </a:rPr>
              <a:t>  private final TalonFXSimState m_driveSim;</a:t>
            </a:r>
            <a:endParaRPr lang="en-US" sz="1000" dirty="0"/>
          </a:p>
          <a:p>
            <a:pPr indent="0" marL="0">
              <a:lnSpc>
                <a:spcPct val="120000"/>
              </a:lnSpc>
              <a:buNone/>
            </a:pPr>
            <a:r>
              <a:rPr lang="en-US" sz="1000" dirty="0">
                <a:solidFill>
                  <a:srgbClr val="D7E3F4"/>
                </a:solidFill>
                <a:latin typeface="Courier New" pitchFamily="34" charset="0"/>
                <a:ea typeface="Courier New" pitchFamily="34" charset="-122"/>
                <a:cs typeface="Courier New" pitchFamily="34" charset="-120"/>
              </a:rPr>
              <a:t>  private final TalonFXSimState m_steerSim;</a:t>
            </a:r>
            <a:endParaRPr lang="en-US" sz="1000" dirty="0"/>
          </a:p>
          <a:p>
            <a:pPr indent="0" marL="0">
              <a:lnSpc>
                <a:spcPct val="120000"/>
              </a:lnSpc>
              <a:buNone/>
            </a:pPr>
            <a:endParaRPr lang="en-US" sz="1000" dirty="0"/>
          </a:p>
          <a:p>
            <a:pPr indent="0" marL="0">
              <a:lnSpc>
                <a:spcPct val="120000"/>
              </a:lnSpc>
              <a:buNone/>
            </a:pPr>
            <a:r>
              <a:rPr lang="en-US" sz="1000" dirty="0">
                <a:solidFill>
                  <a:srgbClr val="FFD166"/>
                </a:solidFill>
                <a:latin typeface="Courier New" pitchFamily="34" charset="0"/>
                <a:ea typeface="Courier New" pitchFamily="34" charset="-122"/>
                <a:cs typeface="Courier New" pitchFamily="34" charset="-120"/>
              </a:rPr>
              <a:t>  public SwerveModule(</a:t>
            </a:r>
            <a:endParaRPr lang="en-US" sz="1000" dirty="0"/>
          </a:p>
          <a:p>
            <a:pPr indent="0" marL="0">
              <a:lnSpc>
                <a:spcPct val="120000"/>
              </a:lnSpc>
              <a:buNone/>
            </a:pPr>
            <a:r>
              <a:rPr lang="en-US" sz="1000" dirty="0">
                <a:solidFill>
                  <a:srgbClr val="D7E3F4"/>
                </a:solidFill>
                <a:latin typeface="Courier New" pitchFamily="34" charset="0"/>
                <a:ea typeface="Courier New" pitchFamily="34" charset="-122"/>
                <a:cs typeface="Courier New" pitchFamily="34" charset="-120"/>
              </a:rPr>
              <a:t>      int driveId, int steerId, int cancoderId,</a:t>
            </a:r>
            <a:endParaRPr lang="en-US" sz="1000" dirty="0"/>
          </a:p>
          <a:p>
            <a:pPr indent="0" marL="0">
              <a:lnSpc>
                <a:spcPct val="120000"/>
              </a:lnSpc>
              <a:buNone/>
            </a:pPr>
            <a:r>
              <a:rPr lang="en-US" sz="1000" dirty="0">
                <a:solidFill>
                  <a:srgbClr val="D7E3F4"/>
                </a:solidFill>
                <a:latin typeface="Courier New" pitchFamily="34" charset="0"/>
                <a:ea typeface="Courier New" pitchFamily="34" charset="-122"/>
                <a:cs typeface="Courier New" pitchFamily="34" charset="-120"/>
              </a:rPr>
              <a:t>      double magnetOffsetRotations, Translation2d location) {</a:t>
            </a:r>
            <a:endParaRPr lang="en-US" sz="1000" dirty="0"/>
          </a:p>
          <a:p>
            <a:pPr indent="0" marL="0">
              <a:lnSpc>
                <a:spcPct val="120000"/>
              </a:lnSpc>
              <a:buNone/>
            </a:pPr>
            <a:r>
              <a:rPr lang="en-US" sz="1000" dirty="0">
                <a:solidFill>
                  <a:srgbClr val="9EF01A"/>
                </a:solidFill>
                <a:latin typeface="Courier New" pitchFamily="34" charset="0"/>
                <a:ea typeface="Courier New" pitchFamily="34" charset="-122"/>
                <a:cs typeface="Courier New" pitchFamily="34" charset="-120"/>
              </a:rPr>
              <a:t>    this.location  = location;</a:t>
            </a:r>
            <a:endParaRPr lang="en-US" sz="1000" dirty="0"/>
          </a:p>
          <a:p>
            <a:pPr indent="0" marL="0">
              <a:lnSpc>
                <a:spcPct val="120000"/>
              </a:lnSpc>
              <a:buNone/>
            </a:pPr>
            <a:r>
              <a:rPr lang="en-US" sz="1000" dirty="0">
                <a:solidFill>
                  <a:srgbClr val="D7E3F4"/>
                </a:solidFill>
                <a:latin typeface="Courier New" pitchFamily="34" charset="0"/>
                <a:ea typeface="Courier New" pitchFamily="34" charset="-122"/>
                <a:cs typeface="Courier New" pitchFamily="34" charset="-120"/>
              </a:rPr>
              <a:t>    m_driveMotor   = new TalonFX(driveId, new CANBus(CANPort.CAN_S0));</a:t>
            </a:r>
            <a:endParaRPr lang="en-US" sz="1000" dirty="0"/>
          </a:p>
          <a:p>
            <a:pPr indent="0" marL="0">
              <a:lnSpc>
                <a:spcPct val="120000"/>
              </a:lnSpc>
              <a:buNone/>
            </a:pPr>
            <a:r>
              <a:rPr lang="en-US" sz="1000" dirty="0">
                <a:solidFill>
                  <a:srgbClr val="D7E3F4"/>
                </a:solidFill>
                <a:latin typeface="Courier New" pitchFamily="34" charset="0"/>
                <a:ea typeface="Courier New" pitchFamily="34" charset="-122"/>
                <a:cs typeface="Courier New" pitchFamily="34" charset="-120"/>
              </a:rPr>
              <a:t>    m_steerMotor   = new TalonFX(steerId, new CANBus(CANPort.CAN_S0));</a:t>
            </a:r>
            <a:endParaRPr lang="en-US" sz="1000" dirty="0"/>
          </a:p>
          <a:p>
            <a:pPr indent="0" marL="0">
              <a:lnSpc>
                <a:spcPct val="120000"/>
              </a:lnSpc>
              <a:buNone/>
            </a:pPr>
            <a:r>
              <a:rPr lang="en-US" sz="1000" dirty="0">
                <a:solidFill>
                  <a:srgbClr val="D7E3F4"/>
                </a:solidFill>
                <a:latin typeface="Courier New" pitchFamily="34" charset="0"/>
                <a:ea typeface="Courier New" pitchFamily="34" charset="-122"/>
                <a:cs typeface="Courier New" pitchFamily="34" charset="-120"/>
              </a:rPr>
              <a:t>    m_steerEncoder = new CANcoder(cancoderId, new CANBus(CANPort.CAN_S0));</a:t>
            </a:r>
            <a:endParaRPr lang="en-US" sz="1000" dirty="0"/>
          </a:p>
          <a:p>
            <a:pPr indent="0" marL="0">
              <a:lnSpc>
                <a:spcPct val="120000"/>
              </a:lnSpc>
              <a:buNone/>
            </a:pPr>
            <a:r>
              <a:rPr lang="en-US" sz="1000" dirty="0">
                <a:solidFill>
                  <a:srgbClr val="D7E3F4"/>
                </a:solidFill>
                <a:latin typeface="Courier New" pitchFamily="34" charset="0"/>
                <a:ea typeface="Courier New" pitchFamily="34" charset="-122"/>
                <a:cs typeface="Courier New" pitchFamily="34" charset="-120"/>
              </a:rPr>
              <a:t>    m_driveSim     = m_driveMotor.getSimState();</a:t>
            </a:r>
            <a:endParaRPr lang="en-US" sz="1000" dirty="0"/>
          </a:p>
          <a:p>
            <a:pPr indent="0" marL="0">
              <a:lnSpc>
                <a:spcPct val="120000"/>
              </a:lnSpc>
              <a:buNone/>
            </a:pPr>
            <a:r>
              <a:rPr lang="en-US" sz="1000" dirty="0">
                <a:solidFill>
                  <a:srgbClr val="D7E3F4"/>
                </a:solidFill>
                <a:latin typeface="Courier New" pitchFamily="34" charset="0"/>
                <a:ea typeface="Courier New" pitchFamily="34" charset="-122"/>
                <a:cs typeface="Courier New" pitchFamily="34" charset="-120"/>
              </a:rPr>
              <a:t>    m_steerSim     = m_steerMotor.getSimState();</a:t>
            </a:r>
            <a:endParaRPr lang="en-US" sz="1000" dirty="0"/>
          </a:p>
          <a:p>
            <a:pPr indent="0" marL="0">
              <a:lnSpc>
                <a:spcPct val="120000"/>
              </a:lnSpc>
              <a:buNone/>
            </a:pPr>
            <a:r>
              <a:rPr lang="en-US" sz="1000" dirty="0">
                <a:solidFill>
                  <a:srgbClr val="7FA8C9"/>
                </a:solidFill>
                <a:latin typeface="Courier New" pitchFamily="34" charset="0"/>
                <a:ea typeface="Courier New" pitchFamily="34" charset="-122"/>
                <a:cs typeface="Courier New" pitchFamily="34" charset="-120"/>
              </a:rPr>
              <a:t>    // ...priming continues on the next slide...</a:t>
            </a:r>
            <a:endParaRPr lang="en-US" sz="100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FOUR MODULES</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5</a:t>
            </a:r>
            <a:endParaRPr lang="en-US" sz="2000" dirty="0"/>
          </a:p>
        </p:txBody>
      </p:sp>
      <p:pic>
        <p:nvPicPr>
          <p:cNvPr id="14"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filecode_teal.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2 · SWERVEMODULE.JAVA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The constructor continues: prime the steering sensor</a:t>
            </a:r>
            <a:endParaRPr lang="en-US" sz="3000" dirty="0"/>
          </a:p>
        </p:txBody>
      </p:sp>
      <p:sp>
        <p:nvSpPr>
          <p:cNvPr id="6" name="Shape 3"/>
          <p:cNvSpPr/>
          <p:nvPr/>
        </p:nvSpPr>
        <p:spPr>
          <a:xfrm>
            <a:off x="640080" y="1600200"/>
            <a:ext cx="10881360" cy="2514600"/>
          </a:xfrm>
          <a:prstGeom prst="roundRect">
            <a:avLst>
              <a:gd name="adj" fmla="val 4364"/>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746504"/>
            <a:ext cx="128016" cy="128016"/>
          </a:xfrm>
          <a:prstGeom prst="ellipse">
            <a:avLst/>
          </a:prstGeom>
          <a:solidFill>
            <a:srgbClr val="FF6B6B"/>
          </a:solidFill>
          <a:ln/>
        </p:spPr>
      </p:sp>
      <p:sp>
        <p:nvSpPr>
          <p:cNvPr id="8" name="Shape 5"/>
          <p:cNvSpPr/>
          <p:nvPr/>
        </p:nvSpPr>
        <p:spPr>
          <a:xfrm>
            <a:off x="11210544" y="1947672"/>
            <a:ext cx="128016" cy="128016"/>
          </a:xfrm>
          <a:prstGeom prst="ellipse">
            <a:avLst/>
          </a:prstGeom>
          <a:solidFill>
            <a:srgbClr val="FFD166"/>
          </a:solidFill>
          <a:ln/>
        </p:spPr>
      </p:sp>
      <p:sp>
        <p:nvSpPr>
          <p:cNvPr id="9" name="Shape 6"/>
          <p:cNvSpPr/>
          <p:nvPr/>
        </p:nvSpPr>
        <p:spPr>
          <a:xfrm>
            <a:off x="11210544" y="2148840"/>
            <a:ext cx="128016" cy="128016"/>
          </a:xfrm>
          <a:prstGeom prst="ellipse">
            <a:avLst/>
          </a:prstGeom>
          <a:solidFill>
            <a:srgbClr val="2EC4B6"/>
          </a:solidFill>
          <a:ln/>
        </p:spPr>
      </p:sp>
      <p:sp>
        <p:nvSpPr>
          <p:cNvPr id="10" name="Text 7"/>
          <p:cNvSpPr/>
          <p:nvPr/>
        </p:nvSpPr>
        <p:spPr>
          <a:xfrm>
            <a:off x="914400" y="172821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Same constructor, right after the sim-state lines</a:t>
            </a:r>
            <a:endParaRPr lang="en-US" sz="1500" dirty="0"/>
          </a:p>
        </p:txBody>
      </p:sp>
      <p:sp>
        <p:nvSpPr>
          <p:cNvPr id="11" name="Text 8"/>
          <p:cNvSpPr/>
          <p:nvPr/>
        </p:nvSpPr>
        <p:spPr>
          <a:xfrm>
            <a:off x="914400" y="2057400"/>
            <a:ext cx="10195560" cy="1856232"/>
          </a:xfrm>
          <a:prstGeom prst="rect">
            <a:avLst/>
          </a:prstGeom>
          <a:noFill/>
          <a:ln/>
        </p:spPr>
        <p:txBody>
          <a:bodyPr wrap="square" lIns="0" tIns="0" rIns="0" bIns="0" rtlCol="0" anchor="t"/>
          <a:lstStyle/>
          <a:p>
            <a:pPr indent="0" marL="0">
              <a:lnSpc>
                <a:spcPct val="120000"/>
              </a:lnSpc>
              <a:buNone/>
            </a:pPr>
            <a:r>
              <a:rPr lang="en-US" sz="1500" dirty="0">
                <a:solidFill>
                  <a:srgbClr val="7FA8C9"/>
                </a:solidFill>
                <a:latin typeface="Courier New" pitchFamily="34" charset="0"/>
                <a:ea typeface="Courier New" pitchFamily="34" charset="-122"/>
                <a:cs typeface="Courier New" pitchFamily="34" charset="-120"/>
              </a:rPr>
              <a:t>// Same CANcoder priming as Lesson 5 — the gear-ratio fix comes below.</a:t>
            </a:r>
            <a:endParaRPr lang="en-US" sz="1500" dirty="0"/>
          </a:p>
          <a:p>
            <a:pPr indent="0" marL="0">
              <a:lnSpc>
                <a:spcPct val="120000"/>
              </a:lnSpc>
              <a:buNone/>
            </a:pPr>
            <a:r>
              <a:rPr lang="en-US" sz="1500" dirty="0">
                <a:solidFill>
                  <a:srgbClr val="D7E3F4"/>
                </a:solidFill>
                <a:latin typeface="Courier New" pitchFamily="34" charset="0"/>
                <a:ea typeface="Courier New" pitchFamily="34" charset="-122"/>
                <a:cs typeface="Courier New" pitchFamily="34" charset="-120"/>
              </a:rPr>
              <a:t>CANcoderConfiguration cancoderConfig = new CANcoderConfiguration();</a:t>
            </a:r>
            <a:endParaRPr lang="en-US" sz="1500" dirty="0"/>
          </a:p>
          <a:p>
            <a:pPr indent="0" marL="0">
              <a:lnSpc>
                <a:spcPct val="120000"/>
              </a:lnSpc>
              <a:buNone/>
            </a:pPr>
            <a:r>
              <a:rPr lang="en-US" sz="1500" dirty="0">
                <a:solidFill>
                  <a:srgbClr val="9EF01A"/>
                </a:solidFill>
                <a:latin typeface="Courier New" pitchFamily="34" charset="0"/>
                <a:ea typeface="Courier New" pitchFamily="34" charset="-122"/>
                <a:cs typeface="Courier New" pitchFamily="34" charset="-120"/>
              </a:rPr>
              <a:t>cancoderConfig.MagnetSensor.MagnetOffset = magnetOffsetRotations;</a:t>
            </a:r>
            <a:endParaRPr lang="en-US" sz="1500" dirty="0"/>
          </a:p>
          <a:p>
            <a:pPr indent="0" marL="0">
              <a:lnSpc>
                <a:spcPct val="120000"/>
              </a:lnSpc>
              <a:buNone/>
            </a:pPr>
            <a:r>
              <a:rPr lang="en-US" sz="1500" dirty="0">
                <a:solidFill>
                  <a:srgbClr val="D7E3F4"/>
                </a:solidFill>
                <a:latin typeface="Courier New" pitchFamily="34" charset="0"/>
                <a:ea typeface="Courier New" pitchFamily="34" charset="-122"/>
                <a:cs typeface="Courier New" pitchFamily="34" charset="-120"/>
              </a:rPr>
              <a:t>m_steerEncoder.getConfigurator().apply(cancoderConfig);</a:t>
            </a:r>
            <a:endParaRPr lang="en-US" sz="1500" dirty="0"/>
          </a:p>
          <a:p>
            <a:pPr indent="0" marL="0">
              <a:lnSpc>
                <a:spcPct val="120000"/>
              </a:lnSpc>
              <a:buNone/>
            </a:pPr>
            <a:r>
              <a:rPr lang="en-US" sz="1500" dirty="0">
                <a:solidFill>
                  <a:srgbClr val="D7E3F4"/>
                </a:solidFill>
                <a:latin typeface="Courier New" pitchFamily="34" charset="0"/>
                <a:ea typeface="Courier New" pitchFamily="34" charset="-122"/>
                <a:cs typeface="Courier New" pitchFamily="34" charset="-120"/>
              </a:rPr>
              <a:t>m_steerMotor.setPosition(</a:t>
            </a:r>
            <a:endParaRPr lang="en-US" sz="1500" dirty="0"/>
          </a:p>
          <a:p>
            <a:pPr indent="0" marL="0">
              <a:lnSpc>
                <a:spcPct val="120000"/>
              </a:lnSpc>
              <a:buNone/>
            </a:pPr>
            <a:r>
              <a:rPr lang="en-US" sz="1500" dirty="0">
                <a:solidFill>
                  <a:srgbClr val="9EF01A"/>
                </a:solidFill>
                <a:latin typeface="Courier New" pitchFamily="34" charset="0"/>
                <a:ea typeface="Courier New" pitchFamily="34" charset="-122"/>
                <a:cs typeface="Courier New" pitchFamily="34" charset="-120"/>
              </a:rPr>
              <a:t>    m_steerEncoder.getAbsolutePosition().getValue().in(Rotations));</a:t>
            </a:r>
            <a:endParaRPr lang="en-US" sz="1500" dirty="0"/>
          </a:p>
        </p:txBody>
      </p:sp>
      <p:sp>
        <p:nvSpPr>
          <p:cNvPr id="12" name="Shape 9"/>
          <p:cNvSpPr/>
          <p:nvPr/>
        </p:nvSpPr>
        <p:spPr>
          <a:xfrm>
            <a:off x="640080" y="4206240"/>
            <a:ext cx="10881360" cy="1965960"/>
          </a:xfrm>
          <a:prstGeom prst="roundRect">
            <a:avLst>
              <a:gd name="adj" fmla="val 4651"/>
            </a:avLst>
          </a:prstGeom>
          <a:solidFill>
            <a:srgbClr val="F3F6FA"/>
          </a:solidFill>
          <a:ln/>
        </p:spPr>
      </p:sp>
      <p:sp>
        <p:nvSpPr>
          <p:cNvPr id="13" name="Text 10"/>
          <p:cNvSpPr/>
          <p:nvPr/>
        </p:nvSpPr>
        <p:spPr>
          <a:xfrm>
            <a:off x="822960" y="4389120"/>
            <a:ext cx="10515600" cy="160020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Constructor parameters are what make one class serve four corners — each new SwerveModule(...) call hands in a different CANcoder ID and a different magnet offset, the same priming ritual from Lesson 5, just parameterized like everything else here.</a:t>
            </a:r>
            <a:endParaRPr lang="en-US" sz="2000" dirty="0"/>
          </a:p>
        </p:txBody>
      </p:sp>
      <p:sp>
        <p:nvSpPr>
          <p:cNvPr id="14"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FOUR MODULES</a:t>
            </a:r>
            <a:endParaRPr lang="en-US" sz="2000" dirty="0"/>
          </a:p>
        </p:txBody>
      </p:sp>
      <p:sp>
        <p:nvSpPr>
          <p:cNvPr id="15"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6</a:t>
            </a:r>
            <a:endParaRPr lang="en-US" sz="2000" dirty="0"/>
          </a:p>
        </p:txBody>
      </p:sp>
      <p:pic>
        <p:nvPicPr>
          <p:cNvPr id="16"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filecode_teal.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2 · SWERVEMODULE.JAVA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One tick of control, told what to do</a:t>
            </a:r>
            <a:endParaRPr lang="en-US" sz="3000" dirty="0"/>
          </a:p>
        </p:txBody>
      </p:sp>
      <p:sp>
        <p:nvSpPr>
          <p:cNvPr id="6" name="Shape 3"/>
          <p:cNvSpPr/>
          <p:nvPr/>
        </p:nvSpPr>
        <p:spPr>
          <a:xfrm>
            <a:off x="640080" y="1600200"/>
            <a:ext cx="10881360" cy="2880360"/>
          </a:xfrm>
          <a:prstGeom prst="roundRect">
            <a:avLst>
              <a:gd name="adj" fmla="val 3810"/>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746504"/>
            <a:ext cx="128016" cy="128016"/>
          </a:xfrm>
          <a:prstGeom prst="ellipse">
            <a:avLst/>
          </a:prstGeom>
          <a:solidFill>
            <a:srgbClr val="FF6B6B"/>
          </a:solidFill>
          <a:ln/>
        </p:spPr>
      </p:sp>
      <p:sp>
        <p:nvSpPr>
          <p:cNvPr id="8" name="Shape 5"/>
          <p:cNvSpPr/>
          <p:nvPr/>
        </p:nvSpPr>
        <p:spPr>
          <a:xfrm>
            <a:off x="11210544" y="1947672"/>
            <a:ext cx="128016" cy="128016"/>
          </a:xfrm>
          <a:prstGeom prst="ellipse">
            <a:avLst/>
          </a:prstGeom>
          <a:solidFill>
            <a:srgbClr val="FFD166"/>
          </a:solidFill>
          <a:ln/>
        </p:spPr>
      </p:sp>
      <p:sp>
        <p:nvSpPr>
          <p:cNvPr id="9" name="Shape 6"/>
          <p:cNvSpPr/>
          <p:nvPr/>
        </p:nvSpPr>
        <p:spPr>
          <a:xfrm>
            <a:off x="11210544" y="2148840"/>
            <a:ext cx="128016" cy="128016"/>
          </a:xfrm>
          <a:prstGeom prst="ellipse">
            <a:avLst/>
          </a:prstGeom>
          <a:solidFill>
            <a:srgbClr val="2EC4B6"/>
          </a:solidFill>
          <a:ln/>
        </p:spPr>
      </p:sp>
      <p:sp>
        <p:nvSpPr>
          <p:cNvPr id="10" name="Text 7"/>
          <p:cNvSpPr/>
          <p:nvPr/>
        </p:nvSpPr>
        <p:spPr>
          <a:xfrm>
            <a:off x="914400" y="172821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SwerveModule, one plain method that does a single tick of control</a:t>
            </a:r>
            <a:endParaRPr lang="en-US" sz="1500" dirty="0"/>
          </a:p>
        </p:txBody>
      </p:sp>
      <p:sp>
        <p:nvSpPr>
          <p:cNvPr id="11" name="Text 8"/>
          <p:cNvSpPr/>
          <p:nvPr/>
        </p:nvSpPr>
        <p:spPr>
          <a:xfrm>
            <a:off x="914400" y="2057400"/>
            <a:ext cx="10195560" cy="2221992"/>
          </a:xfrm>
          <a:prstGeom prst="rect">
            <a:avLst/>
          </a:prstGeom>
          <a:noFill/>
          <a:ln/>
        </p:spPr>
        <p:txBody>
          <a:bodyPr wrap="square" lIns="0" tIns="0" rIns="0" bIns="0" rtlCol="0" anchor="t"/>
          <a:lstStyle/>
          <a:p>
            <a:pPr indent="0" marL="0">
              <a:lnSpc>
                <a:spcPct val="120000"/>
              </a:lnSpc>
              <a:buNone/>
            </a:pPr>
            <a:r>
              <a:rPr lang="en-US" sz="1400" dirty="0">
                <a:solidFill>
                  <a:srgbClr val="FFD166"/>
                </a:solidFill>
                <a:latin typeface="Courier New" pitchFamily="34" charset="0"/>
                <a:ea typeface="Courier New" pitchFamily="34" charset="-122"/>
                <a:cs typeface="Courier New" pitchFamily="34" charset="-120"/>
              </a:rPr>
              <a:t>public void setDesiredState(double angleDegrees, double speedFraction) {</a:t>
            </a:r>
            <a:endParaRPr lang="en-US" sz="1400" dirty="0"/>
          </a:p>
          <a:p>
            <a:pPr indent="0" marL="0">
              <a:lnSpc>
                <a:spcPct val="120000"/>
              </a:lnSpc>
              <a:buNone/>
            </a:pPr>
            <a:r>
              <a:rPr lang="en-US" sz="1400" dirty="0">
                <a:solidFill>
                  <a:srgbClr val="D7E3F4"/>
                </a:solidFill>
                <a:latin typeface="Courier New" pitchFamily="34" charset="0"/>
                <a:ea typeface="Courier New" pitchFamily="34" charset="-122"/>
                <a:cs typeface="Courier New" pitchFamily="34" charset="-120"/>
              </a:rPr>
              <a:t>  double error = angleDegrees - getSteerAngleDegrees();</a:t>
            </a:r>
            <a:endParaRPr lang="en-US" sz="1400" dirty="0"/>
          </a:p>
          <a:p>
            <a:pPr indent="0" marL="0">
              <a:lnSpc>
                <a:spcPct val="120000"/>
              </a:lnSpc>
              <a:buNone/>
            </a:pPr>
            <a:r>
              <a:rPr lang="en-US" sz="1400" dirty="0">
                <a:solidFill>
                  <a:srgbClr val="D7E3F4"/>
                </a:solidFill>
                <a:latin typeface="Courier New" pitchFamily="34" charset="0"/>
                <a:ea typeface="Courier New" pitchFamily="34" charset="-122"/>
                <a:cs typeface="Courier New" pitchFamily="34" charset="-120"/>
              </a:rPr>
              <a:t>  while (error &gt; 180)  { error -= 360; }</a:t>
            </a:r>
            <a:endParaRPr lang="en-US" sz="1400" dirty="0"/>
          </a:p>
          <a:p>
            <a:pPr indent="0" marL="0">
              <a:lnSpc>
                <a:spcPct val="120000"/>
              </a:lnSpc>
              <a:buNone/>
            </a:pPr>
            <a:r>
              <a:rPr lang="en-US" sz="1400" dirty="0">
                <a:solidFill>
                  <a:srgbClr val="D7E3F4"/>
                </a:solidFill>
                <a:latin typeface="Courier New" pitchFamily="34" charset="0"/>
                <a:ea typeface="Courier New" pitchFamily="34" charset="-122"/>
                <a:cs typeface="Courier New" pitchFamily="34" charset="-120"/>
              </a:rPr>
              <a:t>  while (error &lt; -180) { error += 360; }</a:t>
            </a:r>
            <a:endParaRPr lang="en-US" sz="1400" dirty="0"/>
          </a:p>
          <a:p>
            <a:pPr indent="0" marL="0">
              <a:lnSpc>
                <a:spcPct val="120000"/>
              </a:lnSpc>
              <a:buNone/>
            </a:pPr>
            <a:r>
              <a:rPr lang="en-US" sz="1400" dirty="0">
                <a:solidFill>
                  <a:srgbClr val="D7E3F4"/>
                </a:solidFill>
                <a:latin typeface="Courier New" pitchFamily="34" charset="0"/>
                <a:ea typeface="Courier New" pitchFamily="34" charset="-122"/>
                <a:cs typeface="Courier New" pitchFamily="34" charset="-120"/>
              </a:rPr>
              <a:t>  double steerOutput = clamp(SteerConstants.kP * error, -1.0, 1.0);</a:t>
            </a:r>
            <a:endParaRPr lang="en-US" sz="1400" dirty="0"/>
          </a:p>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  m_steerMotor.setThrottle(steerOutput);</a:t>
            </a:r>
            <a:endParaRPr lang="en-US" sz="1400" dirty="0"/>
          </a:p>
          <a:p>
            <a:pPr indent="0" marL="0">
              <a:lnSpc>
                <a:spcPct val="120000"/>
              </a:lnSpc>
              <a:buNone/>
            </a:pPr>
            <a:endParaRPr lang="en-US" sz="1400" dirty="0"/>
          </a:p>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  m_driveMotor.setThrottle(speedFraction);</a:t>
            </a:r>
            <a:endParaRPr lang="en-US" sz="1400" dirty="0"/>
          </a:p>
          <a:p>
            <a:pPr indent="0" marL="0">
              <a:lnSpc>
                <a:spcPct val="120000"/>
              </a:lnSpc>
              <a:buNone/>
            </a:pPr>
            <a:r>
              <a:rPr lang="en-US" sz="1400" dirty="0">
                <a:solidFill>
                  <a:srgbClr val="D7E3F4"/>
                </a:solidFill>
                <a:latin typeface="Courier New" pitchFamily="34" charset="0"/>
                <a:ea typeface="Courier New" pitchFamily="34" charset="-122"/>
                <a:cs typeface="Courier New" pitchFamily="34" charset="-120"/>
              </a:rPr>
              <a:t>}</a:t>
            </a:r>
            <a:endParaRPr lang="en-US" sz="1400" dirty="0"/>
          </a:p>
        </p:txBody>
      </p:sp>
      <p:sp>
        <p:nvSpPr>
          <p:cNvPr id="12" name="Shape 9"/>
          <p:cNvSpPr/>
          <p:nvPr/>
        </p:nvSpPr>
        <p:spPr>
          <a:xfrm>
            <a:off x="640080" y="4663440"/>
            <a:ext cx="10881360" cy="1691640"/>
          </a:xfrm>
          <a:prstGeom prst="roundRect">
            <a:avLst>
              <a:gd name="adj" fmla="val 5405"/>
            </a:avLst>
          </a:prstGeom>
          <a:solidFill>
            <a:srgbClr val="F3F6FA"/>
          </a:solidFill>
          <a:ln/>
        </p:spPr>
      </p:sp>
      <p:sp>
        <p:nvSpPr>
          <p:cNvPr id="13" name="Text 10"/>
          <p:cNvSpPr/>
          <p:nvPr/>
        </p:nvSpPr>
        <p:spPr>
          <a:xfrm>
            <a:off x="822960" y="4846320"/>
            <a:ext cx="10515600" cy="132588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Lesson 5's steerToAngle math, wearing a new home. Who calls it, and how often? Drivetrain's commands will, every tick they run — the module never talks to the scheduler at all.</a:t>
            </a:r>
            <a:endParaRPr lang="en-US" sz="2000" dirty="0"/>
          </a:p>
        </p:txBody>
      </p:sp>
      <p:sp>
        <p:nvSpPr>
          <p:cNvPr id="14"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FOUR MODULES</a:t>
            </a:r>
            <a:endParaRPr lang="en-US" sz="2000" dirty="0"/>
          </a:p>
        </p:txBody>
      </p:sp>
      <p:sp>
        <p:nvSpPr>
          <p:cNvPr id="15"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7</a:t>
            </a:r>
            <a:endParaRPr lang="en-US" sz="2000" dirty="0"/>
          </a:p>
        </p:txBody>
      </p:sp>
      <p:pic>
        <p:nvPicPr>
          <p:cNvPr id="16"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ruler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2 · PAYING OFF LESSON 5'S IOU</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The steering sensor gets its real 25:1</a:t>
            </a:r>
            <a:endParaRPr lang="en-US" sz="3000" dirty="0"/>
          </a:p>
        </p:txBody>
      </p:sp>
      <p:sp>
        <p:nvSpPr>
          <p:cNvPr id="6" name="Shape 3"/>
          <p:cNvSpPr/>
          <p:nvPr/>
        </p:nvSpPr>
        <p:spPr>
          <a:xfrm>
            <a:off x="640080" y="1463040"/>
            <a:ext cx="10881360" cy="3200400"/>
          </a:xfrm>
          <a:prstGeom prst="roundRect">
            <a:avLst>
              <a:gd name="adj" fmla="val 3429"/>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609344"/>
            <a:ext cx="128016" cy="128016"/>
          </a:xfrm>
          <a:prstGeom prst="ellipse">
            <a:avLst/>
          </a:prstGeom>
          <a:solidFill>
            <a:srgbClr val="FF6B6B"/>
          </a:solidFill>
          <a:ln/>
        </p:spPr>
      </p:sp>
      <p:sp>
        <p:nvSpPr>
          <p:cNvPr id="8" name="Shape 5"/>
          <p:cNvSpPr/>
          <p:nvPr/>
        </p:nvSpPr>
        <p:spPr>
          <a:xfrm>
            <a:off x="11210544" y="1810512"/>
            <a:ext cx="128016" cy="128016"/>
          </a:xfrm>
          <a:prstGeom prst="ellipse">
            <a:avLst/>
          </a:prstGeom>
          <a:solidFill>
            <a:srgbClr val="FFD166"/>
          </a:solidFill>
          <a:ln/>
        </p:spPr>
      </p:sp>
      <p:sp>
        <p:nvSpPr>
          <p:cNvPr id="9" name="Shape 6"/>
          <p:cNvSpPr/>
          <p:nvPr/>
        </p:nvSpPr>
        <p:spPr>
          <a:xfrm>
            <a:off x="11210544" y="2011680"/>
            <a:ext cx="128016" cy="128016"/>
          </a:xfrm>
          <a:prstGeom prst="ellipse">
            <a:avLst/>
          </a:prstGeom>
          <a:solidFill>
            <a:srgbClr val="2EC4B6"/>
          </a:solidFill>
          <a:ln/>
        </p:spPr>
      </p:sp>
      <p:sp>
        <p:nvSpPr>
          <p:cNvPr id="10" name="Text 7"/>
          <p:cNvSpPr/>
          <p:nvPr/>
        </p:nvSpPr>
        <p:spPr>
          <a:xfrm>
            <a:off x="914400" y="159105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kSteerGearRatio, then edit getSteerAngleDegrees</a:t>
            </a:r>
            <a:endParaRPr lang="en-US" sz="1500" dirty="0"/>
          </a:p>
        </p:txBody>
      </p:sp>
      <p:sp>
        <p:nvSpPr>
          <p:cNvPr id="11" name="Text 8"/>
          <p:cNvSpPr/>
          <p:nvPr/>
        </p:nvSpPr>
        <p:spPr>
          <a:xfrm>
            <a:off x="914400" y="1920240"/>
            <a:ext cx="10195560" cy="2542032"/>
          </a:xfrm>
          <a:prstGeom prst="rect">
            <a:avLst/>
          </a:prstGeom>
          <a:noFill/>
          <a:ln/>
        </p:spPr>
        <p:txBody>
          <a:bodyPr wrap="square" lIns="0" tIns="0" rIns="0" bIns="0" rtlCol="0" anchor="t"/>
          <a:lstStyle/>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public static final double kSteerGearRatio = 25.0; // rotor : steering</a:t>
            </a:r>
            <a:endParaRPr lang="en-US" sz="1300" dirty="0"/>
          </a:p>
          <a:p>
            <a:pPr indent="0" marL="0">
              <a:lnSpc>
                <a:spcPct val="120000"/>
              </a:lnSpc>
              <a:buNone/>
            </a:pPr>
            <a:endParaRPr lang="en-US" sz="1300" dirty="0"/>
          </a:p>
          <a:p>
            <a:pPr indent="0" marL="0">
              <a:lnSpc>
                <a:spcPct val="120000"/>
              </a:lnSpc>
              <a:buNone/>
            </a:pPr>
            <a:r>
              <a:rPr lang="en-US" sz="1300" dirty="0">
                <a:solidFill>
                  <a:srgbClr val="FFD166"/>
                </a:solidFill>
                <a:latin typeface="Courier New" pitchFamily="34" charset="0"/>
                <a:ea typeface="Courier New" pitchFamily="34" charset="-122"/>
                <a:cs typeface="Courier New" pitchFamily="34" charset="-120"/>
              </a:rPr>
              <a:t>public double getSteerAngleDegrees() {</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double steerRotations = m_steerMotor.getPosition().getValue().in(Rotations)</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 SteerConstants.kSteerGearRatio;</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return steerRotations * 360.0;</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a:t>
            </a:r>
            <a:endParaRPr lang="en-US" sz="1300" dirty="0"/>
          </a:p>
        </p:txBody>
      </p:sp>
      <p:sp>
        <p:nvSpPr>
          <p:cNvPr id="12" name="Shape 9"/>
          <p:cNvSpPr/>
          <p:nvPr/>
        </p:nvSpPr>
        <p:spPr>
          <a:xfrm>
            <a:off x="640080" y="4754880"/>
            <a:ext cx="10881360" cy="1600200"/>
          </a:xfrm>
          <a:prstGeom prst="roundRect">
            <a:avLst>
              <a:gd name="adj" fmla="val 5714"/>
            </a:avLst>
          </a:prstGeom>
          <a:solidFill>
            <a:srgbClr val="F3F6FA"/>
          </a:solidFill>
          <a:ln/>
        </p:spPr>
      </p:sp>
      <p:sp>
        <p:nvSpPr>
          <p:cNvPr id="13" name="Text 10"/>
          <p:cNvSpPr/>
          <p:nvPr/>
        </p:nvSpPr>
        <p:spPr>
          <a:xfrm>
            <a:off x="822960" y="4937760"/>
            <a:ext cx="10515600" cy="123444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Divide on the way in (sensor → angle) — that's this slide. Multiply on the way back (the priming line, the sim model, and simulatePeriodic) — that's the next one. Same two moves Lesson 6 made for the drive motor.</a:t>
            </a:r>
            <a:endParaRPr lang="en-US" sz="2000" dirty="0"/>
          </a:p>
        </p:txBody>
      </p:sp>
      <p:sp>
        <p:nvSpPr>
          <p:cNvPr id="14"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FOUR MODULES</a:t>
            </a:r>
            <a:endParaRPr lang="en-US" sz="2000" dirty="0"/>
          </a:p>
        </p:txBody>
      </p:sp>
      <p:sp>
        <p:nvSpPr>
          <p:cNvPr id="15"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8</a:t>
            </a:r>
            <a:endParaRPr lang="en-US" sz="2000" dirty="0"/>
          </a:p>
        </p:txBody>
      </p:sp>
      <p:pic>
        <p:nvPicPr>
          <p:cNvPr id="16"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ruler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2 · PAYING OFF LESSON 5'S IOU, CONTINUED</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Multiply on the way back — three more spots</a:t>
            </a:r>
            <a:endParaRPr lang="en-US" sz="3000" dirty="0"/>
          </a:p>
        </p:txBody>
      </p:sp>
      <p:sp>
        <p:nvSpPr>
          <p:cNvPr id="6" name="Shape 3"/>
          <p:cNvSpPr/>
          <p:nvPr/>
        </p:nvSpPr>
        <p:spPr>
          <a:xfrm>
            <a:off x="640080" y="1371600"/>
            <a:ext cx="10881360" cy="4389120"/>
          </a:xfrm>
          <a:prstGeom prst="roundRect">
            <a:avLst>
              <a:gd name="adj" fmla="val 2500"/>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517904"/>
            <a:ext cx="128016" cy="128016"/>
          </a:xfrm>
          <a:prstGeom prst="ellipse">
            <a:avLst/>
          </a:prstGeom>
          <a:solidFill>
            <a:srgbClr val="FF6B6B"/>
          </a:solidFill>
          <a:ln/>
        </p:spPr>
      </p:sp>
      <p:sp>
        <p:nvSpPr>
          <p:cNvPr id="8" name="Shape 5"/>
          <p:cNvSpPr/>
          <p:nvPr/>
        </p:nvSpPr>
        <p:spPr>
          <a:xfrm>
            <a:off x="11210544" y="1719072"/>
            <a:ext cx="128016" cy="128016"/>
          </a:xfrm>
          <a:prstGeom prst="ellipse">
            <a:avLst/>
          </a:prstGeom>
          <a:solidFill>
            <a:srgbClr val="FFD166"/>
          </a:solidFill>
          <a:ln/>
        </p:spPr>
      </p:sp>
      <p:sp>
        <p:nvSpPr>
          <p:cNvPr id="9" name="Shape 6"/>
          <p:cNvSpPr/>
          <p:nvPr/>
        </p:nvSpPr>
        <p:spPr>
          <a:xfrm>
            <a:off x="11210544" y="1920240"/>
            <a:ext cx="128016" cy="128016"/>
          </a:xfrm>
          <a:prstGeom prst="ellipse">
            <a:avLst/>
          </a:prstGeom>
          <a:solidFill>
            <a:srgbClr val="2EC4B6"/>
          </a:solidFill>
          <a:ln/>
        </p:spPr>
      </p:sp>
      <p:sp>
        <p:nvSpPr>
          <p:cNvPr id="10" name="Text 7"/>
          <p:cNvSpPr/>
          <p:nvPr/>
        </p:nvSpPr>
        <p:spPr>
          <a:xfrm>
            <a:off x="914400" y="149961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Edit the priming line, m_steerModel, and simulatePeriodic in SwerveModule</a:t>
            </a:r>
            <a:endParaRPr lang="en-US" sz="1500" dirty="0"/>
          </a:p>
        </p:txBody>
      </p:sp>
      <p:sp>
        <p:nvSpPr>
          <p:cNvPr id="11" name="Text 8"/>
          <p:cNvSpPr/>
          <p:nvPr/>
        </p:nvSpPr>
        <p:spPr>
          <a:xfrm>
            <a:off x="914400" y="1828800"/>
            <a:ext cx="10195560" cy="3730752"/>
          </a:xfrm>
          <a:prstGeom prst="rect">
            <a:avLst/>
          </a:prstGeom>
          <a:noFill/>
          <a:ln/>
        </p:spPr>
        <p:txBody>
          <a:bodyPr wrap="square" lIns="0" tIns="0" rIns="0" bIns="0" rtlCol="0" anchor="t"/>
          <a:lstStyle/>
          <a:p>
            <a:pPr indent="0" marL="0">
              <a:lnSpc>
                <a:spcPct val="120000"/>
              </a:lnSpc>
              <a:buNone/>
            </a:pPr>
            <a:r>
              <a:rPr lang="en-US" sz="1100" dirty="0">
                <a:solidFill>
                  <a:srgbClr val="7FA8C9"/>
                </a:solidFill>
                <a:latin typeface="Courier New" pitchFamily="34" charset="0"/>
                <a:ea typeface="Courier New" pitchFamily="34" charset="-122"/>
                <a:cs typeface="Courier New" pitchFamily="34" charset="-120"/>
              </a:rPr>
              <a:t>// 1. The priming line, back in the constructor:</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m_steerMotor.setPosition(</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m_steerEncoder.getAbsolutePosition().getValue().in(Rotations)</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 SteerConstants.kSteerGearRatio);</a:t>
            </a:r>
            <a:endParaRPr lang="en-US" sz="1100" dirty="0"/>
          </a:p>
          <a:p>
            <a:pPr indent="0" marL="0">
              <a:lnSpc>
                <a:spcPct val="120000"/>
              </a:lnSpc>
              <a:buNone/>
            </a:pPr>
            <a:endParaRPr lang="en-US" sz="1100" dirty="0"/>
          </a:p>
          <a:p>
            <a:pPr indent="0" marL="0">
              <a:lnSpc>
                <a:spcPct val="120000"/>
              </a:lnSpc>
              <a:buNone/>
            </a:pPr>
            <a:r>
              <a:rPr lang="en-US" sz="1100" dirty="0">
                <a:solidFill>
                  <a:srgbClr val="7FA8C9"/>
                </a:solidFill>
                <a:latin typeface="Courier New" pitchFamily="34" charset="0"/>
                <a:ea typeface="Courier New" pitchFamily="34" charset="-122"/>
                <a:cs typeface="Courier New" pitchFamily="34" charset="-120"/>
              </a:rPr>
              <a:t>// 2. The m_steerModel field, to model the gearbox:</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private final DCMotorSim m_steerModel = new DCMotorSim(</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Models.singleJointedArmFromPhysicalConstants(</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DCMotor.getKrakenX60(1), 0.004, SteerConstants.kSteerGearRatio),</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    DCMotor.getKrakenX60(1));</a:t>
            </a:r>
            <a:endParaRPr lang="en-US" sz="1100" dirty="0"/>
          </a:p>
          <a:p>
            <a:pPr indent="0" marL="0">
              <a:lnSpc>
                <a:spcPct val="120000"/>
              </a:lnSpc>
              <a:buNone/>
            </a:pPr>
            <a:endParaRPr lang="en-US" sz="1100" dirty="0"/>
          </a:p>
          <a:p>
            <a:pPr indent="0" marL="0">
              <a:lnSpc>
                <a:spcPct val="120000"/>
              </a:lnSpc>
              <a:buNone/>
            </a:pPr>
            <a:r>
              <a:rPr lang="en-US" sz="1100" dirty="0">
                <a:solidFill>
                  <a:srgbClr val="7FA8C9"/>
                </a:solidFill>
                <a:latin typeface="Courier New" pitchFamily="34" charset="0"/>
                <a:ea typeface="Courier New" pitchFamily="34" charset="-122"/>
                <a:cs typeface="Courier New" pitchFamily="34" charset="-120"/>
              </a:rPr>
              <a:t>// 3. The steer half of simulatePeriodic():</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m_steerSim.setRawRotorPosition(m_steerModel.getAngularPosition()</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 (2 * Math.PI) * SteerConstants.kSteerGearRatio);</a:t>
            </a:r>
            <a:endParaRPr lang="en-US" sz="1100" dirty="0"/>
          </a:p>
          <a:p>
            <a:pPr indent="0" marL="0">
              <a:lnSpc>
                <a:spcPct val="120000"/>
              </a:lnSpc>
              <a:buNone/>
            </a:pPr>
            <a:r>
              <a:rPr lang="en-US" sz="1100" dirty="0">
                <a:solidFill>
                  <a:srgbClr val="D7E3F4"/>
                </a:solidFill>
                <a:latin typeface="Courier New" pitchFamily="34" charset="0"/>
                <a:ea typeface="Courier New" pitchFamily="34" charset="-122"/>
                <a:cs typeface="Courier New" pitchFamily="34" charset="-120"/>
              </a:rPr>
              <a:t>m_steerSim.setRotorVelocity(m_steerModel.getAngularVelocity()</a:t>
            </a:r>
            <a:endParaRPr lang="en-US" sz="1100" dirty="0"/>
          </a:p>
          <a:p>
            <a:pPr indent="0" marL="0">
              <a:lnSpc>
                <a:spcPct val="120000"/>
              </a:lnSpc>
              <a:buNone/>
            </a:pPr>
            <a:r>
              <a:rPr lang="en-US" sz="1100" dirty="0">
                <a:solidFill>
                  <a:srgbClr val="9EF01A"/>
                </a:solidFill>
                <a:latin typeface="Courier New" pitchFamily="34" charset="0"/>
                <a:ea typeface="Courier New" pitchFamily="34" charset="-122"/>
                <a:cs typeface="Courier New" pitchFamily="34" charset="-120"/>
              </a:rPr>
              <a:t>    / (2 * Math.PI) * SteerConstants.kSteerGearRatio);</a:t>
            </a:r>
            <a:endParaRPr lang="en-US" sz="110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FOUR MODULES</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9</a:t>
            </a:r>
            <a:endParaRPr lang="en-US" sz="2000" dirty="0"/>
          </a:p>
        </p:txBody>
      </p:sp>
      <p:pic>
        <p:nvPicPr>
          <p:cNvPr id="14"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ruler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2 · PAYING OFF LESSON 5'S IOU, CONTINUED</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Which way does the steering count?</a:t>
            </a:r>
            <a:endParaRPr lang="en-US" sz="3000" dirty="0"/>
          </a:p>
        </p:txBody>
      </p:sp>
      <p:sp>
        <p:nvSpPr>
          <p:cNvPr id="6" name="Shape 3"/>
          <p:cNvSpPr/>
          <p:nvPr/>
        </p:nvSpPr>
        <p:spPr>
          <a:xfrm>
            <a:off x="640080" y="1371600"/>
            <a:ext cx="10881360" cy="3383280"/>
          </a:xfrm>
          <a:prstGeom prst="roundRect">
            <a:avLst>
              <a:gd name="adj" fmla="val 3243"/>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517904"/>
            <a:ext cx="128016" cy="128016"/>
          </a:xfrm>
          <a:prstGeom prst="ellipse">
            <a:avLst/>
          </a:prstGeom>
          <a:solidFill>
            <a:srgbClr val="FF6B6B"/>
          </a:solidFill>
          <a:ln/>
        </p:spPr>
      </p:sp>
      <p:sp>
        <p:nvSpPr>
          <p:cNvPr id="8" name="Shape 5"/>
          <p:cNvSpPr/>
          <p:nvPr/>
        </p:nvSpPr>
        <p:spPr>
          <a:xfrm>
            <a:off x="11210544" y="1719072"/>
            <a:ext cx="128016" cy="128016"/>
          </a:xfrm>
          <a:prstGeom prst="ellipse">
            <a:avLst/>
          </a:prstGeom>
          <a:solidFill>
            <a:srgbClr val="FFD166"/>
          </a:solidFill>
          <a:ln/>
        </p:spPr>
      </p:sp>
      <p:sp>
        <p:nvSpPr>
          <p:cNvPr id="9" name="Shape 6"/>
          <p:cNvSpPr/>
          <p:nvPr/>
        </p:nvSpPr>
        <p:spPr>
          <a:xfrm>
            <a:off x="11210544" y="1920240"/>
            <a:ext cx="128016" cy="128016"/>
          </a:xfrm>
          <a:prstGeom prst="ellipse">
            <a:avLst/>
          </a:prstGeom>
          <a:solidFill>
            <a:srgbClr val="2EC4B6"/>
          </a:solidFill>
          <a:ln/>
        </p:spPr>
      </p:sp>
      <p:sp>
        <p:nvSpPr>
          <p:cNvPr id="10" name="Text 7"/>
          <p:cNvSpPr/>
          <p:nvPr/>
        </p:nvSpPr>
        <p:spPr>
          <a:xfrm>
            <a:off x="914400" y="149961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kSteerInverted to SteerConstants, then configure the motor above the priming line</a:t>
            </a:r>
            <a:endParaRPr lang="en-US" sz="1500" dirty="0"/>
          </a:p>
        </p:txBody>
      </p:sp>
      <p:sp>
        <p:nvSpPr>
          <p:cNvPr id="11" name="Text 8"/>
          <p:cNvSpPr/>
          <p:nvPr/>
        </p:nvSpPr>
        <p:spPr>
          <a:xfrm>
            <a:off x="914400" y="1828800"/>
            <a:ext cx="10195560" cy="2724912"/>
          </a:xfrm>
          <a:prstGeom prst="rect">
            <a:avLst/>
          </a:prstGeom>
          <a:noFill/>
          <a:ln/>
        </p:spPr>
        <p:txBody>
          <a:bodyPr wrap="square" lIns="0" tIns="0" rIns="0" bIns="0" rtlCol="0" anchor="t"/>
          <a:lstStyle/>
          <a:p>
            <a:pPr indent="0" marL="0">
              <a:lnSpc>
                <a:spcPct val="120000"/>
              </a:lnSpc>
              <a:buNone/>
            </a:pPr>
            <a:r>
              <a:rPr lang="en-US" sz="1200" dirty="0">
                <a:solidFill>
                  <a:srgbClr val="7FA8C9"/>
                </a:solidFill>
                <a:latin typeface="Courier New" pitchFamily="34" charset="0"/>
                <a:ea typeface="Courier New" pitchFamily="34" charset="-122"/>
                <a:cs typeface="Courier New" pitchFamily="34" charset="-120"/>
              </a:rPr>
              <a:t>// Constants.java — in SteerConstants, below the gear ratio:</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public static final InvertedValue kSteerInverted =</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InvertedValue.CounterClockwise_Positive; // flip if your steering counts backward</a:t>
            </a:r>
            <a:endParaRPr lang="en-US" sz="1200" dirty="0"/>
          </a:p>
          <a:p>
            <a:pPr indent="0" marL="0">
              <a:lnSpc>
                <a:spcPct val="120000"/>
              </a:lnSpc>
              <a:buNone/>
            </a:pPr>
            <a:endParaRPr lang="en-US" sz="1200" dirty="0"/>
          </a:p>
          <a:p>
            <a:pPr indent="0" marL="0">
              <a:lnSpc>
                <a:spcPct val="120000"/>
              </a:lnSpc>
              <a:buNone/>
            </a:pPr>
            <a:r>
              <a:rPr lang="en-US" sz="1200" dirty="0">
                <a:solidFill>
                  <a:srgbClr val="7FA8C9"/>
                </a:solidFill>
                <a:latin typeface="Courier New" pitchFamily="34" charset="0"/>
                <a:ea typeface="Courier New" pitchFamily="34" charset="-122"/>
                <a:cs typeface="Courier New" pitchFamily="34" charset="-120"/>
              </a:rPr>
              <a:t>// SwerveModule's constructor — just above the priming line:</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TalonFXConfiguration steerConfig = new TalonFXConfiguration();</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steerConfig.MotorOutput.Inverted = SteerConstants.kSteerInverted;</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m_steerMotor.getConfigurator().apply(steerConfig);</a:t>
            </a:r>
            <a:endParaRPr lang="en-US" sz="1200" dirty="0"/>
          </a:p>
          <a:p>
            <a:pPr indent="0" marL="0">
              <a:lnSpc>
                <a:spcPct val="120000"/>
              </a:lnSpc>
              <a:buNone/>
            </a:pP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import com.ctre.phoenix6.signals.InvertedValue;          // Constants.java</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import com.ctre.phoenix6.configs.TalonFXConfiguration;   // SwerveModule.java</a:t>
            </a:r>
            <a:endParaRPr lang="en-US" sz="1200" dirty="0"/>
          </a:p>
        </p:txBody>
      </p:sp>
      <p:sp>
        <p:nvSpPr>
          <p:cNvPr id="12" name="Shape 9"/>
          <p:cNvSpPr/>
          <p:nvPr/>
        </p:nvSpPr>
        <p:spPr>
          <a:xfrm>
            <a:off x="640080" y="4892040"/>
            <a:ext cx="10881360" cy="1417320"/>
          </a:xfrm>
          <a:prstGeom prst="roundRect">
            <a:avLst>
              <a:gd name="adj" fmla="val 6452"/>
            </a:avLst>
          </a:prstGeom>
          <a:solidFill>
            <a:srgbClr val="F3F6FA"/>
          </a:solidFill>
          <a:ln/>
        </p:spPr>
      </p:sp>
      <p:sp>
        <p:nvSpPr>
          <p:cNvPr id="13" name="Text 10"/>
          <p:cNvSpPr/>
          <p:nvPr/>
        </p:nvSpPr>
        <p:spPr>
          <a:xfrm>
            <a:off x="822960" y="5074920"/>
            <a:ext cx="10515600" cy="105156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Gearing can reverse the spin, so this is a fact about your hardware. The default changes nothing in sim; section 7's checklist says whether to flip it.</a:t>
            </a:r>
            <a:endParaRPr lang="en-US" sz="2000" dirty="0"/>
          </a:p>
        </p:txBody>
      </p:sp>
      <p:sp>
        <p:nvSpPr>
          <p:cNvPr id="14"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FOUR MODULES</a:t>
            </a:r>
            <a:endParaRPr lang="en-US" sz="2000" dirty="0"/>
          </a:p>
        </p:txBody>
      </p:sp>
      <p:sp>
        <p:nvSpPr>
          <p:cNvPr id="15"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10</a:t>
            </a:r>
            <a:endParaRPr lang="en-US" sz="2000" dirty="0"/>
          </a:p>
        </p:txBody>
      </p:sp>
      <p:pic>
        <p:nvPicPr>
          <p:cNvPr id="16"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chartline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2 · SWERVEMODULE.JAVA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One more question-method, for the visualization ahead</a:t>
            </a:r>
            <a:endParaRPr lang="en-US" sz="3000" dirty="0"/>
          </a:p>
        </p:txBody>
      </p:sp>
      <p:sp>
        <p:nvSpPr>
          <p:cNvPr id="6" name="Shape 3"/>
          <p:cNvSpPr/>
          <p:nvPr/>
        </p:nvSpPr>
        <p:spPr>
          <a:xfrm>
            <a:off x="640080" y="1600200"/>
            <a:ext cx="10881360" cy="2560320"/>
          </a:xfrm>
          <a:prstGeom prst="roundRect">
            <a:avLst>
              <a:gd name="adj" fmla="val 4286"/>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746504"/>
            <a:ext cx="128016" cy="128016"/>
          </a:xfrm>
          <a:prstGeom prst="ellipse">
            <a:avLst/>
          </a:prstGeom>
          <a:solidFill>
            <a:srgbClr val="FF6B6B"/>
          </a:solidFill>
          <a:ln/>
        </p:spPr>
      </p:sp>
      <p:sp>
        <p:nvSpPr>
          <p:cNvPr id="8" name="Shape 5"/>
          <p:cNvSpPr/>
          <p:nvPr/>
        </p:nvSpPr>
        <p:spPr>
          <a:xfrm>
            <a:off x="11210544" y="1947672"/>
            <a:ext cx="128016" cy="128016"/>
          </a:xfrm>
          <a:prstGeom prst="ellipse">
            <a:avLst/>
          </a:prstGeom>
          <a:solidFill>
            <a:srgbClr val="FFD166"/>
          </a:solidFill>
          <a:ln/>
        </p:spPr>
      </p:sp>
      <p:sp>
        <p:nvSpPr>
          <p:cNvPr id="9" name="Shape 6"/>
          <p:cNvSpPr/>
          <p:nvPr/>
        </p:nvSpPr>
        <p:spPr>
          <a:xfrm>
            <a:off x="11210544" y="2148840"/>
            <a:ext cx="128016" cy="128016"/>
          </a:xfrm>
          <a:prstGeom prst="ellipse">
            <a:avLst/>
          </a:prstGeom>
          <a:solidFill>
            <a:srgbClr val="2EC4B6"/>
          </a:solidFill>
          <a:ln/>
        </p:spPr>
      </p:sp>
      <p:sp>
        <p:nvSpPr>
          <p:cNvPr id="10" name="Text 7"/>
          <p:cNvSpPr/>
          <p:nvPr/>
        </p:nvSpPr>
        <p:spPr>
          <a:xfrm>
            <a:off x="914400" y="172821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SwerveModule</a:t>
            </a:r>
            <a:endParaRPr lang="en-US" sz="1500" dirty="0"/>
          </a:p>
        </p:txBody>
      </p:sp>
      <p:sp>
        <p:nvSpPr>
          <p:cNvPr id="11" name="Text 8"/>
          <p:cNvSpPr/>
          <p:nvPr/>
        </p:nvSpPr>
        <p:spPr>
          <a:xfrm>
            <a:off x="914400" y="2057400"/>
            <a:ext cx="10195560" cy="1901952"/>
          </a:xfrm>
          <a:prstGeom prst="rect">
            <a:avLst/>
          </a:prstGeom>
          <a:noFill/>
          <a:ln/>
        </p:spPr>
        <p:txBody>
          <a:bodyPr wrap="square" lIns="0" tIns="0" rIns="0" bIns="0" rtlCol="0" anchor="t"/>
          <a:lstStyle/>
          <a:p>
            <a:pPr indent="0" marL="0">
              <a:lnSpc>
                <a:spcPct val="120000"/>
              </a:lnSpc>
              <a:buNone/>
            </a:pPr>
            <a:r>
              <a:rPr lang="en-US" sz="1600" dirty="0">
                <a:solidFill>
                  <a:srgbClr val="7FA8C9"/>
                </a:solidFill>
                <a:latin typeface="Courier New" pitchFamily="34" charset="0"/>
                <a:ea typeface="Courier New" pitchFamily="34" charset="-122"/>
                <a:cs typeface="Courier New" pitchFamily="34" charset="-120"/>
              </a:rPr>
              <a:t>/** Current wheel speed in meters per second. */</a:t>
            </a:r>
            <a:endParaRPr lang="en-US" sz="1600" dirty="0"/>
          </a:p>
          <a:p>
            <a:pPr indent="0" marL="0">
              <a:lnSpc>
                <a:spcPct val="120000"/>
              </a:lnSpc>
              <a:buNone/>
            </a:pPr>
            <a:r>
              <a:rPr lang="en-US" sz="1600" dirty="0">
                <a:solidFill>
                  <a:srgbClr val="FFD166"/>
                </a:solidFill>
                <a:latin typeface="Courier New" pitchFamily="34" charset="0"/>
                <a:ea typeface="Courier New" pitchFamily="34" charset="-122"/>
                <a:cs typeface="Courier New" pitchFamily="34" charset="-120"/>
              </a:rPr>
              <a:t>public double getDriveVelocityMetersPerSec() {</a:t>
            </a:r>
            <a:endParaRPr lang="en-US" sz="1600" dirty="0"/>
          </a:p>
          <a:p>
            <a:pPr indent="0" marL="0">
              <a:lnSpc>
                <a:spcPct val="120000"/>
              </a:lnSpc>
              <a:buNone/>
            </a:pPr>
            <a:r>
              <a:rPr lang="en-US" sz="1600" dirty="0">
                <a:solidFill>
                  <a:srgbClr val="D7E3F4"/>
                </a:solidFill>
                <a:latin typeface="Courier New" pitchFamily="34" charset="0"/>
                <a:ea typeface="Courier New" pitchFamily="34" charset="-122"/>
                <a:cs typeface="Courier New" pitchFamily="34" charset="-120"/>
              </a:rPr>
              <a:t>  double wheelRps = m_driveMotor.getVelocity().getValue().in(RotationsPerSecond)</a:t>
            </a:r>
            <a:endParaRPr lang="en-US" sz="1600" dirty="0"/>
          </a:p>
          <a:p>
            <a:pPr indent="0" marL="0">
              <a:lnSpc>
                <a:spcPct val="120000"/>
              </a:lnSpc>
              <a:buNone/>
            </a:pPr>
            <a:r>
              <a:rPr lang="en-US" sz="1600" dirty="0">
                <a:solidFill>
                  <a:srgbClr val="9EF01A"/>
                </a:solidFill>
                <a:latin typeface="Courier New" pitchFamily="34" charset="0"/>
                <a:ea typeface="Courier New" pitchFamily="34" charset="-122"/>
                <a:cs typeface="Courier New" pitchFamily="34" charset="-120"/>
              </a:rPr>
              <a:t>      / DriveConstants.kDriveGearRatio;</a:t>
            </a:r>
            <a:endParaRPr lang="en-US" sz="1600" dirty="0"/>
          </a:p>
          <a:p>
            <a:pPr indent="0" marL="0">
              <a:lnSpc>
                <a:spcPct val="120000"/>
              </a:lnSpc>
              <a:buNone/>
            </a:pPr>
            <a:r>
              <a:rPr lang="en-US" sz="1600" dirty="0">
                <a:solidFill>
                  <a:srgbClr val="9EF01A"/>
                </a:solidFill>
                <a:latin typeface="Courier New" pitchFamily="34" charset="0"/>
                <a:ea typeface="Courier New" pitchFamily="34" charset="-122"/>
                <a:cs typeface="Courier New" pitchFamily="34" charset="-120"/>
              </a:rPr>
              <a:t>  return wheelRps * DriveConstants.kWheelCircumferenceMeters;</a:t>
            </a:r>
            <a:endParaRPr lang="en-US" sz="1600" dirty="0"/>
          </a:p>
          <a:p>
            <a:pPr indent="0" marL="0">
              <a:lnSpc>
                <a:spcPct val="120000"/>
              </a:lnSpc>
              <a:buNone/>
            </a:pPr>
            <a:r>
              <a:rPr lang="en-US" sz="1600" dirty="0">
                <a:solidFill>
                  <a:srgbClr val="D7E3F4"/>
                </a:solidFill>
                <a:latin typeface="Courier New" pitchFamily="34" charset="0"/>
                <a:ea typeface="Courier New" pitchFamily="34" charset="-122"/>
                <a:cs typeface="Courier New" pitchFamily="34" charset="-120"/>
              </a:rPr>
              <a:t>}</a:t>
            </a:r>
            <a:endParaRPr lang="en-US" sz="1600" dirty="0"/>
          </a:p>
        </p:txBody>
      </p:sp>
      <p:sp>
        <p:nvSpPr>
          <p:cNvPr id="12" name="Shape 9"/>
          <p:cNvSpPr/>
          <p:nvPr/>
        </p:nvSpPr>
        <p:spPr>
          <a:xfrm>
            <a:off x="640080" y="4480560"/>
            <a:ext cx="10881360" cy="1874520"/>
          </a:xfrm>
          <a:prstGeom prst="roundRect">
            <a:avLst>
              <a:gd name="adj" fmla="val 4878"/>
            </a:avLst>
          </a:prstGeom>
          <a:solidFill>
            <a:srgbClr val="F3F6FA"/>
          </a:solidFill>
          <a:ln/>
        </p:spPr>
      </p:sp>
      <p:sp>
        <p:nvSpPr>
          <p:cNvPr id="13" name="Text 10"/>
          <p:cNvSpPr/>
          <p:nvPr/>
        </p:nvSpPr>
        <p:spPr>
          <a:xfrm>
            <a:off x="822960" y="4663440"/>
            <a:ext cx="10515600" cy="150876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getDistanceMeters() stays unchanged from Lesson 6 — this is its velocity twin, the same pipeline applied to velocity instead of position. Section 3 needs it: the Swerve tab visualization draws each wheel's speed as an arrow's length.</a:t>
            </a:r>
            <a:endParaRPr lang="en-US" sz="2000" dirty="0"/>
          </a:p>
        </p:txBody>
      </p:sp>
      <p:sp>
        <p:nvSpPr>
          <p:cNvPr id="14"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FOUR MODULES</a:t>
            </a:r>
            <a:endParaRPr lang="en-US" sz="2000" dirty="0"/>
          </a:p>
        </p:txBody>
      </p:sp>
      <p:sp>
        <p:nvSpPr>
          <p:cNvPr id="15"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11</a:t>
            </a:r>
            <a:endParaRPr lang="en-US" sz="2000" dirty="0"/>
          </a:p>
        </p:txBody>
      </p:sp>
      <p:pic>
        <p:nvPicPr>
          <p:cNvPr id="16"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sitemap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2 · CONSTANTS.JAVA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Four corners, as Translation2d values</a:t>
            </a:r>
            <a:endParaRPr lang="en-US" sz="3000" dirty="0"/>
          </a:p>
        </p:txBody>
      </p:sp>
      <p:sp>
        <p:nvSpPr>
          <p:cNvPr id="6" name="Shape 3"/>
          <p:cNvSpPr/>
          <p:nvPr/>
        </p:nvSpPr>
        <p:spPr>
          <a:xfrm>
            <a:off x="640080" y="1463040"/>
            <a:ext cx="10881360" cy="3108960"/>
          </a:xfrm>
          <a:prstGeom prst="roundRect">
            <a:avLst>
              <a:gd name="adj" fmla="val 3529"/>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609344"/>
            <a:ext cx="128016" cy="128016"/>
          </a:xfrm>
          <a:prstGeom prst="ellipse">
            <a:avLst/>
          </a:prstGeom>
          <a:solidFill>
            <a:srgbClr val="FF6B6B"/>
          </a:solidFill>
          <a:ln/>
        </p:spPr>
      </p:sp>
      <p:sp>
        <p:nvSpPr>
          <p:cNvPr id="8" name="Shape 5"/>
          <p:cNvSpPr/>
          <p:nvPr/>
        </p:nvSpPr>
        <p:spPr>
          <a:xfrm>
            <a:off x="11210544" y="1810512"/>
            <a:ext cx="128016" cy="128016"/>
          </a:xfrm>
          <a:prstGeom prst="ellipse">
            <a:avLst/>
          </a:prstGeom>
          <a:solidFill>
            <a:srgbClr val="FFD166"/>
          </a:solidFill>
          <a:ln/>
        </p:spPr>
      </p:sp>
      <p:sp>
        <p:nvSpPr>
          <p:cNvPr id="9" name="Shape 6"/>
          <p:cNvSpPr/>
          <p:nvPr/>
        </p:nvSpPr>
        <p:spPr>
          <a:xfrm>
            <a:off x="11210544" y="2011680"/>
            <a:ext cx="128016" cy="128016"/>
          </a:xfrm>
          <a:prstGeom prst="ellipse">
            <a:avLst/>
          </a:prstGeom>
          <a:solidFill>
            <a:srgbClr val="2EC4B6"/>
          </a:solidFill>
          <a:ln/>
        </p:spPr>
      </p:sp>
      <p:sp>
        <p:nvSpPr>
          <p:cNvPr id="10" name="Text 7"/>
          <p:cNvSpPr/>
          <p:nvPr/>
        </p:nvSpPr>
        <p:spPr>
          <a:xfrm>
            <a:off x="914400" y="159105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the four corners to DriveConstants</a:t>
            </a:r>
            <a:endParaRPr lang="en-US" sz="1500" dirty="0"/>
          </a:p>
        </p:txBody>
      </p:sp>
      <p:sp>
        <p:nvSpPr>
          <p:cNvPr id="11" name="Text 8"/>
          <p:cNvSpPr/>
          <p:nvPr/>
        </p:nvSpPr>
        <p:spPr>
          <a:xfrm>
            <a:off x="914400" y="1920240"/>
            <a:ext cx="10195560" cy="2450592"/>
          </a:xfrm>
          <a:prstGeom prst="rect">
            <a:avLst/>
          </a:prstGeom>
          <a:noFill/>
          <a:ln/>
        </p:spPr>
        <p:txBody>
          <a:bodyPr wrap="square" lIns="0" tIns="0" rIns="0" bIns="0" rtlCol="0" anchor="t"/>
          <a:lstStyle/>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public static final double kHalfLength = 0.3;  // meters, wheelbase / 2</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public static final double kHalfWidth  = 0.3;  // meters, track width / 2</a:t>
            </a:r>
            <a:endParaRPr lang="en-US" sz="1300" dirty="0"/>
          </a:p>
          <a:p>
            <a:pPr indent="0" marL="0">
              <a:lnSpc>
                <a:spcPct val="120000"/>
              </a:lnSpc>
              <a:buNone/>
            </a:pP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public static final Translation2d kFrontLeft  = new Translation2d( kHalfLength,  kHalfWidth);</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public static final Translation2d kFrontRight = new Translation2d( kHalfLength, -kHalfWidth);</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public static final Translation2d kBackLeft   = new Translation2d(-kHalfLength,  kHalfWidth);</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public static final Translation2d kBackRight  = new Translation2d(-kHalfLength, -kHalfWidth);</a:t>
            </a:r>
            <a:endParaRPr lang="en-US" sz="1300" dirty="0"/>
          </a:p>
        </p:txBody>
      </p:sp>
      <p:sp>
        <p:nvSpPr>
          <p:cNvPr id="12" name="Shape 9"/>
          <p:cNvSpPr/>
          <p:nvPr/>
        </p:nvSpPr>
        <p:spPr>
          <a:xfrm>
            <a:off x="640080" y="4754880"/>
            <a:ext cx="10881360" cy="1600200"/>
          </a:xfrm>
          <a:prstGeom prst="roundRect">
            <a:avLst>
              <a:gd name="adj" fmla="val 5714"/>
            </a:avLst>
          </a:prstGeom>
          <a:solidFill>
            <a:srgbClr val="F3F6FA"/>
          </a:solidFill>
          <a:ln/>
        </p:spPr>
      </p:sp>
      <p:sp>
        <p:nvSpPr>
          <p:cNvPr id="13" name="Text 10"/>
          <p:cNvSpPr/>
          <p:nvPr/>
        </p:nvSpPr>
        <p:spPr>
          <a:xfrm>
            <a:off x="822960" y="4937760"/>
            <a:ext cx="10515600" cy="123444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Memorize this now — every WPILib class assumes it: +X is forward, +Y is left, yaw is CCW-positive. Front-left is forward and left, so both signs are positive.</a:t>
            </a:r>
            <a:endParaRPr lang="en-US" sz="2000" dirty="0"/>
          </a:p>
        </p:txBody>
      </p:sp>
      <p:sp>
        <p:nvSpPr>
          <p:cNvPr id="14"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FOUR MODULES</a:t>
            </a:r>
            <a:endParaRPr lang="en-US" sz="2000" dirty="0"/>
          </a:p>
        </p:txBody>
      </p:sp>
      <p:sp>
        <p:nvSpPr>
          <p:cNvPr id="15"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12</a:t>
            </a:r>
            <a:endParaRPr lang="en-US" sz="2000" dirty="0"/>
          </a:p>
        </p:txBody>
      </p:sp>
      <p:pic>
        <p:nvPicPr>
          <p:cNvPr id="16"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folderopen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3 · A NEW FILE</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One mechanism to own all four modules</a:t>
            </a:r>
            <a:endParaRPr lang="en-US" sz="3000" dirty="0"/>
          </a:p>
        </p:txBody>
      </p:sp>
      <p:sp>
        <p:nvSpPr>
          <p:cNvPr id="6" name="Shape 3"/>
          <p:cNvSpPr/>
          <p:nvPr/>
        </p:nvSpPr>
        <p:spPr>
          <a:xfrm>
            <a:off x="640080" y="1709928"/>
            <a:ext cx="502920" cy="502920"/>
          </a:xfrm>
          <a:prstGeom prst="ellipse">
            <a:avLst/>
          </a:prstGeom>
          <a:solidFill>
            <a:srgbClr val="1B9AAA"/>
          </a:solidFill>
          <a:ln/>
        </p:spPr>
      </p:sp>
      <p:sp>
        <p:nvSpPr>
          <p:cNvPr id="7" name="Text 4"/>
          <p:cNvSpPr/>
          <p:nvPr/>
        </p:nvSpPr>
        <p:spPr>
          <a:xfrm>
            <a:off x="640080" y="170992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8" name="Text 5"/>
          <p:cNvSpPr/>
          <p:nvPr/>
        </p:nvSpPr>
        <p:spPr>
          <a:xfrm>
            <a:off x="1371600" y="1636776"/>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Right-click subsystems, under src/main/java/first/robot/</a:t>
            </a:r>
            <a:endParaRPr lang="en-US" sz="2000" dirty="0"/>
          </a:p>
        </p:txBody>
      </p:sp>
      <p:sp>
        <p:nvSpPr>
          <p:cNvPr id="9" name="Text 6"/>
          <p:cNvSpPr/>
          <p:nvPr/>
        </p:nvSpPr>
        <p:spPr>
          <a:xfrm>
            <a:off x="1371600" y="202082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The same folder SwerveModule.java already lives in.</a:t>
            </a:r>
            <a:endParaRPr lang="en-US" sz="2000" dirty="0"/>
          </a:p>
        </p:txBody>
      </p:sp>
      <p:sp>
        <p:nvSpPr>
          <p:cNvPr id="10" name="Shape 7"/>
          <p:cNvSpPr/>
          <p:nvPr/>
        </p:nvSpPr>
        <p:spPr>
          <a:xfrm>
            <a:off x="640080" y="2761488"/>
            <a:ext cx="502920" cy="502920"/>
          </a:xfrm>
          <a:prstGeom prst="ellipse">
            <a:avLst/>
          </a:prstGeom>
          <a:solidFill>
            <a:srgbClr val="1B9AAA"/>
          </a:solidFill>
          <a:ln/>
        </p:spPr>
      </p:sp>
      <p:sp>
        <p:nvSpPr>
          <p:cNvPr id="11" name="Text 8"/>
          <p:cNvSpPr/>
          <p:nvPr/>
        </p:nvSpPr>
        <p:spPr>
          <a:xfrm>
            <a:off x="640080" y="276148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2" name="Text 9"/>
          <p:cNvSpPr/>
          <p:nvPr/>
        </p:nvSpPr>
        <p:spPr>
          <a:xfrm>
            <a:off x="1371600" y="2688336"/>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Add a new file: Drivetrain.java</a:t>
            </a:r>
            <a:endParaRPr lang="en-US" sz="2000" dirty="0"/>
          </a:p>
        </p:txBody>
      </p:sp>
      <p:sp>
        <p:nvSpPr>
          <p:cNvPr id="13" name="Text 10"/>
          <p:cNvSpPr/>
          <p:nvPr/>
        </p:nvSpPr>
        <p:spPr>
          <a:xfrm>
            <a:off x="1371600" y="307238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Right-click subsystems → New File.</a:t>
            </a:r>
            <a:endParaRPr lang="en-US" sz="2000" dirty="0"/>
          </a:p>
        </p:txBody>
      </p:sp>
      <p:sp>
        <p:nvSpPr>
          <p:cNvPr id="14" name="Shape 11"/>
          <p:cNvSpPr/>
          <p:nvPr/>
        </p:nvSpPr>
        <p:spPr>
          <a:xfrm>
            <a:off x="640080" y="3813048"/>
            <a:ext cx="502920" cy="502920"/>
          </a:xfrm>
          <a:prstGeom prst="ellipse">
            <a:avLst/>
          </a:prstGeom>
          <a:solidFill>
            <a:srgbClr val="1B9AAA"/>
          </a:solidFill>
          <a:ln/>
        </p:spPr>
      </p:sp>
      <p:sp>
        <p:nvSpPr>
          <p:cNvPr id="15" name="Text 12"/>
          <p:cNvSpPr/>
          <p:nvPr/>
        </p:nvSpPr>
        <p:spPr>
          <a:xfrm>
            <a:off x="640080" y="381304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6" name="Text 13"/>
          <p:cNvSpPr/>
          <p:nvPr/>
        </p:nvSpPr>
        <p:spPr>
          <a:xfrm>
            <a:off x="1371600" y="3739896"/>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This one is the mechanism now</a:t>
            </a:r>
            <a:endParaRPr lang="en-US" sz="2000" dirty="0"/>
          </a:p>
        </p:txBody>
      </p:sp>
      <p:sp>
        <p:nvSpPr>
          <p:cNvPr id="17" name="Text 14"/>
          <p:cNvSpPr/>
          <p:nvPr/>
        </p:nvSpPr>
        <p:spPr>
          <a:xfrm>
            <a:off x="1371600" y="412394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It owns the array of four modules and the scheduler's one lock.</a:t>
            </a:r>
            <a:endParaRPr lang="en-US" sz="2000" dirty="0"/>
          </a:p>
        </p:txBody>
      </p:sp>
      <p:sp>
        <p:nvSpPr>
          <p:cNvPr id="18" name="Shape 15"/>
          <p:cNvSpPr/>
          <p:nvPr/>
        </p:nvSpPr>
        <p:spPr>
          <a:xfrm>
            <a:off x="640080" y="4892040"/>
            <a:ext cx="10881360" cy="1508760"/>
          </a:xfrm>
          <a:prstGeom prst="roundRect">
            <a:avLst>
              <a:gd name="adj" fmla="val 6061"/>
            </a:avLst>
          </a:prstGeom>
          <a:solidFill>
            <a:srgbClr val="F3F6FA"/>
          </a:solidFill>
          <a:ln/>
        </p:spPr>
      </p:sp>
      <p:sp>
        <p:nvSpPr>
          <p:cNvPr id="19" name="Text 16"/>
          <p:cNvSpPr/>
          <p:nvPr/>
        </p:nvSpPr>
        <p:spPr>
          <a:xfrm>
            <a:off x="822960" y="5074920"/>
            <a:ext cx="10515600" cy="114300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Not every class should be a mechanism. SwerveModule became a plain helper — Drivetrain owns the array and is the only thing the scheduler needs to lock.</a:t>
            </a:r>
            <a:endParaRPr lang="en-US" sz="2000" dirty="0"/>
          </a:p>
        </p:txBody>
      </p:sp>
      <p:sp>
        <p:nvSpPr>
          <p:cNvPr id="20" name="Text 17"/>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FOUR MODULES</a:t>
            </a:r>
            <a:endParaRPr lang="en-US" sz="2000" dirty="0"/>
          </a:p>
        </p:txBody>
      </p:sp>
      <p:sp>
        <p:nvSpPr>
          <p:cNvPr id="21" name="Text 18"/>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13</a:t>
            </a:r>
            <a:endParaRPr lang="en-US" sz="2000" dirty="0"/>
          </a:p>
        </p:txBody>
      </p:sp>
      <p:pic>
        <p:nvPicPr>
          <p:cNvPr id="22"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filecode_teal.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3 · DRIVETRAIN.JAVA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An array of four, built with their own IDs</a:t>
            </a:r>
            <a:endParaRPr lang="en-US" sz="3000" dirty="0"/>
          </a:p>
        </p:txBody>
      </p:sp>
      <p:sp>
        <p:nvSpPr>
          <p:cNvPr id="6" name="Shape 3"/>
          <p:cNvSpPr/>
          <p:nvPr/>
        </p:nvSpPr>
        <p:spPr>
          <a:xfrm>
            <a:off x="640080" y="1371600"/>
            <a:ext cx="10881360" cy="3840480"/>
          </a:xfrm>
          <a:prstGeom prst="roundRect">
            <a:avLst>
              <a:gd name="adj" fmla="val 2857"/>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517904"/>
            <a:ext cx="128016" cy="128016"/>
          </a:xfrm>
          <a:prstGeom prst="ellipse">
            <a:avLst/>
          </a:prstGeom>
          <a:solidFill>
            <a:srgbClr val="FF6B6B"/>
          </a:solidFill>
          <a:ln/>
        </p:spPr>
      </p:sp>
      <p:sp>
        <p:nvSpPr>
          <p:cNvPr id="8" name="Shape 5"/>
          <p:cNvSpPr/>
          <p:nvPr/>
        </p:nvSpPr>
        <p:spPr>
          <a:xfrm>
            <a:off x="11210544" y="1719072"/>
            <a:ext cx="128016" cy="128016"/>
          </a:xfrm>
          <a:prstGeom prst="ellipse">
            <a:avLst/>
          </a:prstGeom>
          <a:solidFill>
            <a:srgbClr val="FFD166"/>
          </a:solidFill>
          <a:ln/>
        </p:spPr>
      </p:sp>
      <p:sp>
        <p:nvSpPr>
          <p:cNvPr id="9" name="Shape 6"/>
          <p:cNvSpPr/>
          <p:nvPr/>
        </p:nvSpPr>
        <p:spPr>
          <a:xfrm>
            <a:off x="11210544" y="1920240"/>
            <a:ext cx="128016" cy="128016"/>
          </a:xfrm>
          <a:prstGeom prst="ellipse">
            <a:avLst/>
          </a:prstGeom>
          <a:solidFill>
            <a:srgbClr val="2EC4B6"/>
          </a:solidFill>
          <a:ln/>
        </p:spPr>
      </p:sp>
      <p:sp>
        <p:nvSpPr>
          <p:cNvPr id="10" name="Text 7"/>
          <p:cNvSpPr/>
          <p:nvPr/>
        </p:nvSpPr>
        <p:spPr>
          <a:xfrm>
            <a:off x="914400" y="149961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Start Drivetrain.java with the module array</a:t>
            </a:r>
            <a:endParaRPr lang="en-US" sz="1500" dirty="0"/>
          </a:p>
        </p:txBody>
      </p:sp>
      <p:sp>
        <p:nvSpPr>
          <p:cNvPr id="11" name="Text 8"/>
          <p:cNvSpPr/>
          <p:nvPr/>
        </p:nvSpPr>
        <p:spPr>
          <a:xfrm>
            <a:off x="914400" y="1828800"/>
            <a:ext cx="10195560" cy="3182112"/>
          </a:xfrm>
          <a:prstGeom prst="rect">
            <a:avLst/>
          </a:prstGeom>
          <a:noFill/>
          <a:ln/>
        </p:spPr>
        <p:txBody>
          <a:bodyPr wrap="square" lIns="0" tIns="0" rIns="0" bIns="0" rtlCol="0" anchor="t"/>
          <a:lstStyle/>
          <a:p>
            <a:pPr indent="0" marL="0">
              <a:lnSpc>
                <a:spcPct val="120000"/>
              </a:lnSpc>
              <a:buNone/>
            </a:pPr>
            <a:r>
              <a:rPr lang="en-US" sz="1300" dirty="0">
                <a:solidFill>
                  <a:srgbClr val="FFD166"/>
                </a:solidFill>
                <a:latin typeface="Courier New" pitchFamily="34" charset="0"/>
                <a:ea typeface="Courier New" pitchFamily="34" charset="-122"/>
                <a:cs typeface="Courier New" pitchFamily="34" charset="-120"/>
              </a:rPr>
              <a:t>public class Drivetrain implements Mechanism {</a:t>
            </a:r>
            <a:endParaRPr lang="en-US" sz="1300" dirty="0"/>
          </a:p>
          <a:p>
            <a:pPr indent="0" marL="0">
              <a:lnSpc>
                <a:spcPct val="120000"/>
              </a:lnSpc>
              <a:buNone/>
            </a:pPr>
            <a:r>
              <a:rPr lang="en-US" sz="1300" dirty="0">
                <a:solidFill>
                  <a:srgbClr val="7FA8C9"/>
                </a:solidFill>
                <a:latin typeface="Courier New" pitchFamily="34" charset="0"/>
                <a:ea typeface="Courier New" pitchFamily="34" charset="-122"/>
                <a:cs typeface="Courier New" pitchFamily="34" charset="-120"/>
              </a:rPr>
              <a:t>  // Corner order: FL, FR, BL, BR. Pick a convention and stick to it.</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private final SwerveModule[] m_modules = new SwerveModule[] {</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new SwerveModule(1, 2, 9, 0.0, DriveConstants.kFrontLeft),</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new SwerveModule(3, 4, 10, 0.0, DriveConstants.kFrontRight),</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new SwerveModule(5, 6, 11, 0.0, DriveConstants.kBackLeft),</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new SwerveModule(7, 8, 12, 0.0, DriveConstants.kBackRight)</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a:t>
            </a:r>
            <a:endParaRPr lang="en-US" sz="1300" dirty="0"/>
          </a:p>
          <a:p>
            <a:pPr indent="0" marL="0">
              <a:lnSpc>
                <a:spcPct val="120000"/>
              </a:lnSpc>
              <a:buNone/>
            </a:pPr>
            <a:endParaRPr lang="en-US" sz="1300" dirty="0"/>
          </a:p>
          <a:p>
            <a:pPr indent="0" marL="0">
              <a:lnSpc>
                <a:spcPct val="120000"/>
              </a:lnSpc>
              <a:buNone/>
            </a:pPr>
            <a:r>
              <a:rPr lang="en-US" sz="1300" dirty="0">
                <a:solidFill>
                  <a:srgbClr val="FFD166"/>
                </a:solidFill>
                <a:latin typeface="Courier New" pitchFamily="34" charset="0"/>
                <a:ea typeface="Courier New" pitchFamily="34" charset="-122"/>
                <a:cs typeface="Courier New" pitchFamily="34" charset="-120"/>
              </a:rPr>
              <a:t>  public Drivetrain() {</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Scheduler.getDefault().addPeriodic(this::logTelemetry);</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a:t>
            </a:r>
            <a:endParaRPr lang="en-US" sz="130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FOUR MODULES</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14</a:t>
            </a:r>
            <a:endParaRPr lang="en-US" sz="2000" dirty="0"/>
          </a:p>
        </p:txBody>
      </p:sp>
      <p:pic>
        <p:nvPicPr>
          <p:cNvPr id="14"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chartline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3 · DRIVETRAIN.JAVA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One overload publishes a whole array</a:t>
            </a:r>
            <a:endParaRPr lang="en-US" sz="3000" dirty="0"/>
          </a:p>
        </p:txBody>
      </p:sp>
      <p:sp>
        <p:nvSpPr>
          <p:cNvPr id="6" name="Shape 3"/>
          <p:cNvSpPr/>
          <p:nvPr/>
        </p:nvSpPr>
        <p:spPr>
          <a:xfrm>
            <a:off x="640080" y="1600200"/>
            <a:ext cx="10881360" cy="1463040"/>
          </a:xfrm>
          <a:prstGeom prst="roundRect">
            <a:avLst>
              <a:gd name="adj" fmla="val 7500"/>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746504"/>
            <a:ext cx="128016" cy="128016"/>
          </a:xfrm>
          <a:prstGeom prst="ellipse">
            <a:avLst/>
          </a:prstGeom>
          <a:solidFill>
            <a:srgbClr val="FF6B6B"/>
          </a:solidFill>
          <a:ln/>
        </p:spPr>
      </p:sp>
      <p:sp>
        <p:nvSpPr>
          <p:cNvPr id="8" name="Shape 5"/>
          <p:cNvSpPr/>
          <p:nvPr/>
        </p:nvSpPr>
        <p:spPr>
          <a:xfrm>
            <a:off x="11210544" y="1947672"/>
            <a:ext cx="128016" cy="128016"/>
          </a:xfrm>
          <a:prstGeom prst="ellipse">
            <a:avLst/>
          </a:prstGeom>
          <a:solidFill>
            <a:srgbClr val="FFD166"/>
          </a:solidFill>
          <a:ln/>
        </p:spPr>
      </p:sp>
      <p:sp>
        <p:nvSpPr>
          <p:cNvPr id="9" name="Shape 6"/>
          <p:cNvSpPr/>
          <p:nvPr/>
        </p:nvSpPr>
        <p:spPr>
          <a:xfrm>
            <a:off x="11210544" y="2148840"/>
            <a:ext cx="128016" cy="128016"/>
          </a:xfrm>
          <a:prstGeom prst="ellipse">
            <a:avLst/>
          </a:prstGeom>
          <a:solidFill>
            <a:srgbClr val="2EC4B6"/>
          </a:solidFill>
          <a:ln/>
        </p:spPr>
      </p:sp>
      <p:sp>
        <p:nvSpPr>
          <p:cNvPr id="10" name="Text 7"/>
          <p:cNvSpPr/>
          <p:nvPr/>
        </p:nvSpPr>
        <p:spPr>
          <a:xfrm>
            <a:off x="914400" y="1728216"/>
            <a:ext cx="10195560" cy="292608"/>
          </a:xfrm>
          <a:prstGeom prst="rect">
            <a:avLst/>
          </a:prstGeom>
          <a:noFill/>
          <a:ln/>
        </p:spPr>
        <p:txBody>
          <a:bodyPr wrap="square" lIns="0" tIns="0" rIns="0" bIns="0" rtlCol="0" anchor="ctr"/>
          <a:lstStyle/>
          <a:p>
            <a:pPr indent="0" marL="0">
              <a:buNone/>
            </a:pPr>
            <a:r>
              <a:rPr lang="en-US" sz="1500" i="1" dirty="0">
                <a:solidFill>
                  <a:srgbClr val="7FA8C9"/>
                </a:solidFill>
                <a:latin typeface="Calibri" pitchFamily="34" charset="0"/>
                <a:ea typeface="Calibri" pitchFamily="34" charset="-122"/>
                <a:cs typeface="Calibri" pitchFamily="34" charset="-120"/>
              </a:rPr>
              <a:t>Nothing to add yet — this is the shape of the call, in logTelemetry() next</a:t>
            </a:r>
            <a:endParaRPr lang="en-US" sz="1500" dirty="0"/>
          </a:p>
        </p:txBody>
      </p:sp>
      <p:sp>
        <p:nvSpPr>
          <p:cNvPr id="11" name="Text 8"/>
          <p:cNvSpPr/>
          <p:nvPr/>
        </p:nvSpPr>
        <p:spPr>
          <a:xfrm>
            <a:off x="914400" y="2057400"/>
            <a:ext cx="10195560" cy="804672"/>
          </a:xfrm>
          <a:prstGeom prst="rect">
            <a:avLst/>
          </a:prstGeom>
          <a:noFill/>
          <a:ln/>
        </p:spPr>
        <p:txBody>
          <a:bodyPr wrap="square" lIns="0" tIns="0" rIns="0" bIns="0" rtlCol="0" anchor="t"/>
          <a:lstStyle/>
          <a:p>
            <a:pPr indent="0" marL="0">
              <a:lnSpc>
                <a:spcPct val="120000"/>
              </a:lnSpc>
              <a:buNone/>
            </a:pPr>
            <a:r>
              <a:rPr lang="en-US" sz="1600" dirty="0">
                <a:solidFill>
                  <a:srgbClr val="9EF01A"/>
                </a:solidFill>
                <a:latin typeface="Courier New" pitchFamily="34" charset="0"/>
                <a:ea typeface="Courier New" pitchFamily="34" charset="-122"/>
                <a:cs typeface="Courier New" pitchFamily="34" charset="-120"/>
              </a:rPr>
              <a:t>Telemetry.log("Drivetrain/ModuleStates", states, SwerveModuleVelocity.struct);</a:t>
            </a:r>
            <a:endParaRPr lang="en-US" sz="1600" dirty="0"/>
          </a:p>
        </p:txBody>
      </p:sp>
      <p:sp>
        <p:nvSpPr>
          <p:cNvPr id="12" name="Shape 9"/>
          <p:cNvSpPr/>
          <p:nvPr/>
        </p:nvSpPr>
        <p:spPr>
          <a:xfrm>
            <a:off x="640080" y="3291840"/>
            <a:ext cx="10881360" cy="3063240"/>
          </a:xfrm>
          <a:prstGeom prst="roundRect">
            <a:avLst>
              <a:gd name="adj" fmla="val 2985"/>
            </a:avLst>
          </a:prstGeom>
          <a:solidFill>
            <a:srgbClr val="F3F6FA"/>
          </a:solidFill>
          <a:ln/>
        </p:spPr>
      </p:sp>
      <p:sp>
        <p:nvSpPr>
          <p:cNvPr id="13" name="Text 10"/>
          <p:cNvSpPr/>
          <p:nvPr/>
        </p:nvSpPr>
        <p:spPr>
          <a:xfrm>
            <a:off x="822960" y="3474720"/>
            <a:ext cx="10515600" cy="269748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Telemetry.log has an overload for exactly this: hand it a whole array plus the type's own .struct value, and one call publishes all four modules' speed and angle together — as one labeled topic AdvantageScope's Swerve tab knows how to draw, instead of four separate numbers it would have no way to know belong to the same picture. No separate field, no bridge to build.</a:t>
            </a:r>
            <a:endParaRPr lang="en-US" sz="2000" dirty="0"/>
          </a:p>
        </p:txBody>
      </p:sp>
      <p:sp>
        <p:nvSpPr>
          <p:cNvPr id="14"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FOUR MODULES</a:t>
            </a:r>
            <a:endParaRPr lang="en-US" sz="2000" dirty="0"/>
          </a:p>
        </p:txBody>
      </p:sp>
      <p:sp>
        <p:nvSpPr>
          <p:cNvPr id="15"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15</a:t>
            </a:r>
            <a:endParaRPr lang="en-US" sz="2000" dirty="0"/>
          </a:p>
        </p:txBody>
      </p:sp>
      <p:pic>
        <p:nvPicPr>
          <p:cNvPr id="16"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chartline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3 · DRIVETRAIN.JAVA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One call publishes all four modules together</a:t>
            </a:r>
            <a:endParaRPr lang="en-US" sz="3000" dirty="0"/>
          </a:p>
        </p:txBody>
      </p:sp>
      <p:sp>
        <p:nvSpPr>
          <p:cNvPr id="6" name="Shape 3"/>
          <p:cNvSpPr/>
          <p:nvPr/>
        </p:nvSpPr>
        <p:spPr>
          <a:xfrm>
            <a:off x="640080" y="1371600"/>
            <a:ext cx="10881360" cy="4297680"/>
          </a:xfrm>
          <a:prstGeom prst="roundRect">
            <a:avLst>
              <a:gd name="adj" fmla="val 2553"/>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517904"/>
            <a:ext cx="128016" cy="128016"/>
          </a:xfrm>
          <a:prstGeom prst="ellipse">
            <a:avLst/>
          </a:prstGeom>
          <a:solidFill>
            <a:srgbClr val="FF6B6B"/>
          </a:solidFill>
          <a:ln/>
        </p:spPr>
      </p:sp>
      <p:sp>
        <p:nvSpPr>
          <p:cNvPr id="8" name="Shape 5"/>
          <p:cNvSpPr/>
          <p:nvPr/>
        </p:nvSpPr>
        <p:spPr>
          <a:xfrm>
            <a:off x="11210544" y="1719072"/>
            <a:ext cx="128016" cy="128016"/>
          </a:xfrm>
          <a:prstGeom prst="ellipse">
            <a:avLst/>
          </a:prstGeom>
          <a:solidFill>
            <a:srgbClr val="FFD166"/>
          </a:solidFill>
          <a:ln/>
        </p:spPr>
      </p:sp>
      <p:sp>
        <p:nvSpPr>
          <p:cNvPr id="9" name="Shape 6"/>
          <p:cNvSpPr/>
          <p:nvPr/>
        </p:nvSpPr>
        <p:spPr>
          <a:xfrm>
            <a:off x="11210544" y="1920240"/>
            <a:ext cx="128016" cy="128016"/>
          </a:xfrm>
          <a:prstGeom prst="ellipse">
            <a:avLst/>
          </a:prstGeom>
          <a:solidFill>
            <a:srgbClr val="2EC4B6"/>
          </a:solidFill>
          <a:ln/>
        </p:spPr>
      </p:sp>
      <p:sp>
        <p:nvSpPr>
          <p:cNvPr id="10" name="Text 7"/>
          <p:cNvSpPr/>
          <p:nvPr/>
        </p:nvSpPr>
        <p:spPr>
          <a:xfrm>
            <a:off x="914400" y="149961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the method itself, below the constructor</a:t>
            </a:r>
            <a:endParaRPr lang="en-US" sz="1500" dirty="0"/>
          </a:p>
        </p:txBody>
      </p:sp>
      <p:sp>
        <p:nvSpPr>
          <p:cNvPr id="11" name="Text 8"/>
          <p:cNvSpPr/>
          <p:nvPr/>
        </p:nvSpPr>
        <p:spPr>
          <a:xfrm>
            <a:off x="914400" y="1828800"/>
            <a:ext cx="10195560" cy="3639312"/>
          </a:xfrm>
          <a:prstGeom prst="rect">
            <a:avLst/>
          </a:prstGeom>
          <a:noFill/>
          <a:ln/>
        </p:spPr>
        <p:txBody>
          <a:bodyPr wrap="square" lIns="0" tIns="0" rIns="0" bIns="0" rtlCol="0" anchor="t"/>
          <a:lstStyle/>
          <a:p>
            <a:pPr indent="0" marL="0">
              <a:lnSpc>
                <a:spcPct val="120000"/>
              </a:lnSpc>
              <a:buNone/>
            </a:pPr>
            <a:r>
              <a:rPr lang="en-US" sz="1300" dirty="0">
                <a:solidFill>
                  <a:srgbClr val="FFD166"/>
                </a:solidFill>
                <a:latin typeface="Courier New" pitchFamily="34" charset="0"/>
                <a:ea typeface="Courier New" pitchFamily="34" charset="-122"/>
                <a:cs typeface="Courier New" pitchFamily="34" charset="-120"/>
              </a:rPr>
              <a:t>private void logTelemetry() {</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SwerveModuleVelocity[] states = new SwerveModuleVelocity[4];</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int index = 0;</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for (SwerveModule module : m_modules) {</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Telemetry.log(</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"Drivetrain/Module" + index + "/SteerAngleDegrees",</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module.getSteerAngleDegrees());</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states[index] = new SwerveModuleVelocity(</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module.getDriveVelocityMetersPerSec(),</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Rotation2d.fromDegrees(module.getSteerAngleDegrees()));</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index++;</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Telemetry.log("Drivetrain/ModuleStates", states, SwerveModuleVelocity.struct);</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a:t>
            </a:r>
            <a:endParaRPr lang="en-US" sz="130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FOUR MODULES</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16</a:t>
            </a:r>
            <a:endParaRPr lang="en-US" sz="2000" dirty="0"/>
          </a:p>
        </p:txBody>
      </p:sp>
      <p:pic>
        <p:nvPicPr>
          <p:cNvPr id="14"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syncalt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3 · DRIVETRAIN.JAVA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One more loop: stepping every module's physics</a:t>
            </a:r>
            <a:endParaRPr lang="en-US" sz="3000" dirty="0"/>
          </a:p>
        </p:txBody>
      </p:sp>
      <p:sp>
        <p:nvSpPr>
          <p:cNvPr id="6" name="Shape 3"/>
          <p:cNvSpPr/>
          <p:nvPr/>
        </p:nvSpPr>
        <p:spPr>
          <a:xfrm>
            <a:off x="640080" y="1600200"/>
            <a:ext cx="10881360" cy="2560320"/>
          </a:xfrm>
          <a:prstGeom prst="roundRect">
            <a:avLst>
              <a:gd name="adj" fmla="val 4286"/>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746504"/>
            <a:ext cx="128016" cy="128016"/>
          </a:xfrm>
          <a:prstGeom prst="ellipse">
            <a:avLst/>
          </a:prstGeom>
          <a:solidFill>
            <a:srgbClr val="FF6B6B"/>
          </a:solidFill>
          <a:ln/>
        </p:spPr>
      </p:sp>
      <p:sp>
        <p:nvSpPr>
          <p:cNvPr id="8" name="Shape 5"/>
          <p:cNvSpPr/>
          <p:nvPr/>
        </p:nvSpPr>
        <p:spPr>
          <a:xfrm>
            <a:off x="11210544" y="1947672"/>
            <a:ext cx="128016" cy="128016"/>
          </a:xfrm>
          <a:prstGeom prst="ellipse">
            <a:avLst/>
          </a:prstGeom>
          <a:solidFill>
            <a:srgbClr val="FFD166"/>
          </a:solidFill>
          <a:ln/>
        </p:spPr>
      </p:sp>
      <p:sp>
        <p:nvSpPr>
          <p:cNvPr id="9" name="Shape 6"/>
          <p:cNvSpPr/>
          <p:nvPr/>
        </p:nvSpPr>
        <p:spPr>
          <a:xfrm>
            <a:off x="11210544" y="2148840"/>
            <a:ext cx="128016" cy="128016"/>
          </a:xfrm>
          <a:prstGeom prst="ellipse">
            <a:avLst/>
          </a:prstGeom>
          <a:solidFill>
            <a:srgbClr val="2EC4B6"/>
          </a:solidFill>
          <a:ln/>
        </p:spPr>
      </p:sp>
      <p:sp>
        <p:nvSpPr>
          <p:cNvPr id="10" name="Text 7"/>
          <p:cNvSpPr/>
          <p:nvPr/>
        </p:nvSpPr>
        <p:spPr>
          <a:xfrm>
            <a:off x="914400" y="172821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Drivetrain, below logTelemetry()</a:t>
            </a:r>
            <a:endParaRPr lang="en-US" sz="1500" dirty="0"/>
          </a:p>
        </p:txBody>
      </p:sp>
      <p:sp>
        <p:nvSpPr>
          <p:cNvPr id="11" name="Text 8"/>
          <p:cNvSpPr/>
          <p:nvPr/>
        </p:nvSpPr>
        <p:spPr>
          <a:xfrm>
            <a:off x="914400" y="2057400"/>
            <a:ext cx="10195560" cy="1901952"/>
          </a:xfrm>
          <a:prstGeom prst="rect">
            <a:avLst/>
          </a:prstGeom>
          <a:noFill/>
          <a:ln/>
        </p:spPr>
        <p:txBody>
          <a:bodyPr wrap="square" lIns="0" tIns="0" rIns="0" bIns="0" rtlCol="0" anchor="t"/>
          <a:lstStyle/>
          <a:p>
            <a:pPr indent="0" marL="0">
              <a:lnSpc>
                <a:spcPct val="120000"/>
              </a:lnSpc>
              <a:buNone/>
            </a:pPr>
            <a:r>
              <a:rPr lang="en-US" sz="1600" dirty="0">
                <a:solidFill>
                  <a:srgbClr val="7FA8C9"/>
                </a:solidFill>
                <a:latin typeface="Courier New" pitchFamily="34" charset="0"/>
                <a:ea typeface="Courier New" pitchFamily="34" charset="-122"/>
                <a:cs typeface="Courier New" pitchFamily="34" charset="-120"/>
              </a:rPr>
              <a:t>/** Advances every module's physics model. Only ever called in simulation. */</a:t>
            </a:r>
            <a:endParaRPr lang="en-US" sz="1600" dirty="0"/>
          </a:p>
          <a:p>
            <a:pPr indent="0" marL="0">
              <a:lnSpc>
                <a:spcPct val="120000"/>
              </a:lnSpc>
              <a:buNone/>
            </a:pPr>
            <a:r>
              <a:rPr lang="en-US" sz="1600" dirty="0">
                <a:solidFill>
                  <a:srgbClr val="FFD166"/>
                </a:solidFill>
                <a:latin typeface="Courier New" pitchFamily="34" charset="0"/>
                <a:ea typeface="Courier New" pitchFamily="34" charset="-122"/>
                <a:cs typeface="Courier New" pitchFamily="34" charset="-120"/>
              </a:rPr>
              <a:t>public void simulatePeriodic() {</a:t>
            </a:r>
            <a:endParaRPr lang="en-US" sz="1600" dirty="0"/>
          </a:p>
          <a:p>
            <a:pPr indent="0" marL="0">
              <a:lnSpc>
                <a:spcPct val="120000"/>
              </a:lnSpc>
              <a:buNone/>
            </a:pPr>
            <a:r>
              <a:rPr lang="en-US" sz="1600" dirty="0">
                <a:solidFill>
                  <a:srgbClr val="D7E3F4"/>
                </a:solidFill>
                <a:latin typeface="Courier New" pitchFamily="34" charset="0"/>
                <a:ea typeface="Courier New" pitchFamily="34" charset="-122"/>
                <a:cs typeface="Courier New" pitchFamily="34" charset="-120"/>
              </a:rPr>
              <a:t>  for (SwerveModule module : m_modules) {</a:t>
            </a:r>
            <a:endParaRPr lang="en-US" sz="1600" dirty="0"/>
          </a:p>
          <a:p>
            <a:pPr indent="0" marL="0">
              <a:lnSpc>
                <a:spcPct val="120000"/>
              </a:lnSpc>
              <a:buNone/>
            </a:pPr>
            <a:r>
              <a:rPr lang="en-US" sz="1600" dirty="0">
                <a:solidFill>
                  <a:srgbClr val="9EF01A"/>
                </a:solidFill>
                <a:latin typeface="Courier New" pitchFamily="34" charset="0"/>
                <a:ea typeface="Courier New" pitchFamily="34" charset="-122"/>
                <a:cs typeface="Courier New" pitchFamily="34" charset="-120"/>
              </a:rPr>
              <a:t>    module.simulatePeriodic();</a:t>
            </a:r>
            <a:endParaRPr lang="en-US" sz="1600" dirty="0"/>
          </a:p>
          <a:p>
            <a:pPr indent="0" marL="0">
              <a:lnSpc>
                <a:spcPct val="120000"/>
              </a:lnSpc>
              <a:buNone/>
            </a:pPr>
            <a:r>
              <a:rPr lang="en-US" sz="1600" dirty="0">
                <a:solidFill>
                  <a:srgbClr val="D7E3F4"/>
                </a:solidFill>
                <a:latin typeface="Courier New" pitchFamily="34" charset="0"/>
                <a:ea typeface="Courier New" pitchFamily="34" charset="-122"/>
                <a:cs typeface="Courier New" pitchFamily="34" charset="-120"/>
              </a:rPr>
              <a:t>  }</a:t>
            </a:r>
            <a:endParaRPr lang="en-US" sz="1600" dirty="0"/>
          </a:p>
          <a:p>
            <a:pPr indent="0" marL="0">
              <a:lnSpc>
                <a:spcPct val="120000"/>
              </a:lnSpc>
              <a:buNone/>
            </a:pPr>
            <a:r>
              <a:rPr lang="en-US" sz="1600" dirty="0">
                <a:solidFill>
                  <a:srgbClr val="D7E3F4"/>
                </a:solidFill>
                <a:latin typeface="Courier New" pitchFamily="34" charset="0"/>
                <a:ea typeface="Courier New" pitchFamily="34" charset="-122"/>
                <a:cs typeface="Courier New" pitchFamily="34" charset="-120"/>
              </a:rPr>
              <a:t>}</a:t>
            </a:r>
            <a:endParaRPr lang="en-US" sz="1600" dirty="0"/>
          </a:p>
        </p:txBody>
      </p:sp>
      <p:sp>
        <p:nvSpPr>
          <p:cNvPr id="12" name="Shape 9"/>
          <p:cNvSpPr/>
          <p:nvPr/>
        </p:nvSpPr>
        <p:spPr>
          <a:xfrm>
            <a:off x="640080" y="4480560"/>
            <a:ext cx="10881360" cy="1874520"/>
          </a:xfrm>
          <a:prstGeom prst="roundRect">
            <a:avLst>
              <a:gd name="adj" fmla="val 4878"/>
            </a:avLst>
          </a:prstGeom>
          <a:solidFill>
            <a:srgbClr val="F3F6FA"/>
          </a:solidFill>
          <a:ln/>
        </p:spPr>
      </p:sp>
      <p:sp>
        <p:nvSpPr>
          <p:cNvPr id="13" name="Text 10"/>
          <p:cNvSpPr/>
          <p:nvPr/>
        </p:nvSpPr>
        <p:spPr>
          <a:xfrm>
            <a:off x="822960" y="4663440"/>
            <a:ext cx="10515600" cy="150876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Robot.simulationPeriodic() will call this one method — section 6 wires it up — the same one-line pattern Lesson 4 established, now looping the enhanced for loop over four modules instead of stepping one module directly.</a:t>
            </a:r>
            <a:endParaRPr lang="en-US" sz="2000" dirty="0"/>
          </a:p>
        </p:txBody>
      </p:sp>
      <p:sp>
        <p:nvSpPr>
          <p:cNvPr id="14"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FOUR MODULES</a:t>
            </a:r>
            <a:endParaRPr lang="en-US" sz="2000" dirty="0"/>
          </a:p>
        </p:txBody>
      </p:sp>
      <p:sp>
        <p:nvSpPr>
          <p:cNvPr id="15"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17</a:t>
            </a:r>
            <a:endParaRPr lang="en-US" sz="2000" dirty="0"/>
          </a:p>
        </p:txBody>
      </p:sp>
      <p:pic>
        <p:nvPicPr>
          <p:cNvPr id="16"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gamepad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4 · DRIVETRAIN.JAVA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Every module gets the same target</a:t>
            </a:r>
            <a:endParaRPr lang="en-US" sz="3000" dirty="0"/>
          </a:p>
        </p:txBody>
      </p:sp>
      <p:sp>
        <p:nvSpPr>
          <p:cNvPr id="6" name="Shape 3"/>
          <p:cNvSpPr/>
          <p:nvPr/>
        </p:nvSpPr>
        <p:spPr>
          <a:xfrm>
            <a:off x="640080" y="1600200"/>
            <a:ext cx="10881360" cy="3291840"/>
          </a:xfrm>
          <a:prstGeom prst="roundRect">
            <a:avLst>
              <a:gd name="adj" fmla="val 3333"/>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746504"/>
            <a:ext cx="128016" cy="128016"/>
          </a:xfrm>
          <a:prstGeom prst="ellipse">
            <a:avLst/>
          </a:prstGeom>
          <a:solidFill>
            <a:srgbClr val="FF6B6B"/>
          </a:solidFill>
          <a:ln/>
        </p:spPr>
      </p:sp>
      <p:sp>
        <p:nvSpPr>
          <p:cNvPr id="8" name="Shape 5"/>
          <p:cNvSpPr/>
          <p:nvPr/>
        </p:nvSpPr>
        <p:spPr>
          <a:xfrm>
            <a:off x="11210544" y="1947672"/>
            <a:ext cx="128016" cy="128016"/>
          </a:xfrm>
          <a:prstGeom prst="ellipse">
            <a:avLst/>
          </a:prstGeom>
          <a:solidFill>
            <a:srgbClr val="FFD166"/>
          </a:solidFill>
          <a:ln/>
        </p:spPr>
      </p:sp>
      <p:sp>
        <p:nvSpPr>
          <p:cNvPr id="9" name="Shape 6"/>
          <p:cNvSpPr/>
          <p:nvPr/>
        </p:nvSpPr>
        <p:spPr>
          <a:xfrm>
            <a:off x="11210544" y="2148840"/>
            <a:ext cx="128016" cy="128016"/>
          </a:xfrm>
          <a:prstGeom prst="ellipse">
            <a:avLst/>
          </a:prstGeom>
          <a:solidFill>
            <a:srgbClr val="2EC4B6"/>
          </a:solidFill>
          <a:ln/>
        </p:spPr>
      </p:sp>
      <p:sp>
        <p:nvSpPr>
          <p:cNvPr id="10" name="Text 7"/>
          <p:cNvSpPr/>
          <p:nvPr/>
        </p:nvSpPr>
        <p:spPr>
          <a:xfrm>
            <a:off x="914400" y="172821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Drivetrain</a:t>
            </a:r>
            <a:endParaRPr lang="en-US" sz="1500" dirty="0"/>
          </a:p>
        </p:txBody>
      </p:sp>
      <p:sp>
        <p:nvSpPr>
          <p:cNvPr id="11" name="Text 8"/>
          <p:cNvSpPr/>
          <p:nvPr/>
        </p:nvSpPr>
        <p:spPr>
          <a:xfrm>
            <a:off x="914400" y="2057400"/>
            <a:ext cx="10195560" cy="2633472"/>
          </a:xfrm>
          <a:prstGeom prst="rect">
            <a:avLst/>
          </a:prstGeom>
          <a:noFill/>
          <a:ln/>
        </p:spPr>
        <p:txBody>
          <a:bodyPr wrap="square" lIns="0" tIns="0" rIns="0" bIns="0" rtlCol="0" anchor="t"/>
          <a:lstStyle/>
          <a:p>
            <a:pPr indent="0" marL="0">
              <a:lnSpc>
                <a:spcPct val="120000"/>
              </a:lnSpc>
              <a:buNone/>
            </a:pPr>
            <a:r>
              <a:rPr lang="en-US" sz="1200" dirty="0">
                <a:solidFill>
                  <a:srgbClr val="FFD166"/>
                </a:solidFill>
                <a:latin typeface="Courier New" pitchFamily="34" charset="0"/>
                <a:ea typeface="Courier New" pitchFamily="34" charset="-122"/>
                <a:cs typeface="Courier New" pitchFamily="34" charset="-120"/>
              </a:rPr>
              <a:t>public Command translate(DoubleSupplier vxSupplier, DoubleSupplier vySupplier) {</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return runRepeatedly(() -&gt; {</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double vx = vxSupplier.getAsDouble();</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double vy = vySupplier.getAsDouble();</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double speed = Math.hypot(vx, vy);                     // vector length</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double angleDeg = Math.toDegrees(Math.atan2(vy, vx));  // vector angle</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for (SwerveModule module : m_modules) {</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module.setDesiredState(angleDeg, speed);</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}).named("Translate");</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a:t>
            </a:r>
            <a:endParaRPr lang="en-US" sz="1200" dirty="0"/>
          </a:p>
        </p:txBody>
      </p:sp>
      <p:sp>
        <p:nvSpPr>
          <p:cNvPr id="12" name="Shape 9"/>
          <p:cNvSpPr/>
          <p:nvPr/>
        </p:nvSpPr>
        <p:spPr>
          <a:xfrm>
            <a:off x="640080" y="5074920"/>
            <a:ext cx="10881360" cy="1280160"/>
          </a:xfrm>
          <a:prstGeom prst="roundRect">
            <a:avLst>
              <a:gd name="adj" fmla="val 7143"/>
            </a:avLst>
          </a:prstGeom>
          <a:solidFill>
            <a:srgbClr val="F3F6FA"/>
          </a:solidFill>
          <a:ln/>
        </p:spPr>
      </p:sp>
      <p:sp>
        <p:nvSpPr>
          <p:cNvPr id="13" name="Text 10"/>
          <p:cNvSpPr/>
          <p:nvPr/>
        </p:nvSpPr>
        <p:spPr>
          <a:xfrm>
            <a:off x="822960" y="5257800"/>
            <a:ext cx="10515600" cy="91440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Math.hypot(vx, vy) is the vector's length; Math.atan2(vy, vx) is its angle in radians, four-quadrant so negative vx or vy still points the right way.</a:t>
            </a:r>
            <a:endParaRPr lang="en-US" sz="2000" dirty="0"/>
          </a:p>
        </p:txBody>
      </p:sp>
      <p:sp>
        <p:nvSpPr>
          <p:cNvPr id="14"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FOUR MODULES</a:t>
            </a:r>
            <a:endParaRPr lang="en-US" sz="2000" dirty="0"/>
          </a:p>
        </p:txBody>
      </p:sp>
      <p:sp>
        <p:nvSpPr>
          <p:cNvPr id="15"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18</a:t>
            </a:r>
            <a:endParaRPr lang="en-US" sz="2000" dirty="0"/>
          </a:p>
        </p:txBody>
      </p:sp>
      <p:pic>
        <p:nvPicPr>
          <p:cNvPr id="16"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syncalt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5 · DRIVETRAIN.JAVA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Rotate: a different angle per corner</a:t>
            </a:r>
            <a:endParaRPr lang="en-US" sz="3000" dirty="0"/>
          </a:p>
        </p:txBody>
      </p:sp>
      <p:sp>
        <p:nvSpPr>
          <p:cNvPr id="6" name="Shape 3"/>
          <p:cNvSpPr/>
          <p:nvPr/>
        </p:nvSpPr>
        <p:spPr>
          <a:xfrm>
            <a:off x="640080" y="1463040"/>
            <a:ext cx="6309360" cy="2926080"/>
          </a:xfrm>
          <a:prstGeom prst="roundRect">
            <a:avLst>
              <a:gd name="adj" fmla="val 3750"/>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6638544" y="1609344"/>
            <a:ext cx="128016" cy="128016"/>
          </a:xfrm>
          <a:prstGeom prst="ellipse">
            <a:avLst/>
          </a:prstGeom>
          <a:solidFill>
            <a:srgbClr val="FF6B6B"/>
          </a:solidFill>
          <a:ln/>
        </p:spPr>
      </p:sp>
      <p:sp>
        <p:nvSpPr>
          <p:cNvPr id="8" name="Shape 5"/>
          <p:cNvSpPr/>
          <p:nvPr/>
        </p:nvSpPr>
        <p:spPr>
          <a:xfrm>
            <a:off x="6638544" y="1810512"/>
            <a:ext cx="128016" cy="128016"/>
          </a:xfrm>
          <a:prstGeom prst="ellipse">
            <a:avLst/>
          </a:prstGeom>
          <a:solidFill>
            <a:srgbClr val="FFD166"/>
          </a:solidFill>
          <a:ln/>
        </p:spPr>
      </p:sp>
      <p:sp>
        <p:nvSpPr>
          <p:cNvPr id="9" name="Shape 6"/>
          <p:cNvSpPr/>
          <p:nvPr/>
        </p:nvSpPr>
        <p:spPr>
          <a:xfrm>
            <a:off x="6638544" y="2011680"/>
            <a:ext cx="128016" cy="128016"/>
          </a:xfrm>
          <a:prstGeom prst="ellipse">
            <a:avLst/>
          </a:prstGeom>
          <a:solidFill>
            <a:srgbClr val="2EC4B6"/>
          </a:solidFill>
          <a:ln/>
        </p:spPr>
      </p:sp>
      <p:sp>
        <p:nvSpPr>
          <p:cNvPr id="10" name="Text 7"/>
          <p:cNvSpPr/>
          <p:nvPr/>
        </p:nvSpPr>
        <p:spPr>
          <a:xfrm>
            <a:off x="914400" y="1591056"/>
            <a:ext cx="5623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Drivetrain</a:t>
            </a:r>
            <a:endParaRPr lang="en-US" sz="1500" dirty="0"/>
          </a:p>
        </p:txBody>
      </p:sp>
      <p:sp>
        <p:nvSpPr>
          <p:cNvPr id="11" name="Text 8"/>
          <p:cNvSpPr/>
          <p:nvPr/>
        </p:nvSpPr>
        <p:spPr>
          <a:xfrm>
            <a:off x="914400" y="1920240"/>
            <a:ext cx="5623560" cy="2267712"/>
          </a:xfrm>
          <a:prstGeom prst="rect">
            <a:avLst/>
          </a:prstGeom>
          <a:noFill/>
          <a:ln/>
        </p:spPr>
        <p:txBody>
          <a:bodyPr wrap="square" lIns="0" tIns="0" rIns="0" bIns="0" rtlCol="0" anchor="t"/>
          <a:lstStyle/>
          <a:p>
            <a:pPr indent="0" marL="0">
              <a:lnSpc>
                <a:spcPct val="120000"/>
              </a:lnSpc>
              <a:buNone/>
            </a:pPr>
            <a:r>
              <a:rPr lang="en-US" sz="1200" dirty="0">
                <a:solidFill>
                  <a:srgbClr val="FFD166"/>
                </a:solidFill>
                <a:latin typeface="Courier New" pitchFamily="34" charset="0"/>
                <a:ea typeface="Courier New" pitchFamily="34" charset="-122"/>
                <a:cs typeface="Courier New" pitchFamily="34" charset="-120"/>
              </a:rPr>
              <a:t>public Command rotate(double omega) {</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return runRepeatedly(() -&gt; {</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for (SwerveModule module : m_modules) {</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double x = module.location.getX();</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double y = module.location.getY();</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double angleDeg = Math.toDegrees(Math.atan2(x, -y));</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module.setDesiredState(angleDeg, omega);</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}).named("Rotate");</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a:t>
            </a:r>
            <a:endParaRPr lang="en-US" sz="1200" dirty="0"/>
          </a:p>
        </p:txBody>
      </p:sp>
      <p:sp>
        <p:nvSpPr>
          <p:cNvPr id="12" name="Shape 9"/>
          <p:cNvSpPr/>
          <p:nvPr/>
        </p:nvSpPr>
        <p:spPr>
          <a:xfrm>
            <a:off x="7178040" y="1463040"/>
            <a:ext cx="4343400" cy="2926080"/>
          </a:xfrm>
          <a:prstGeom prst="roundRect">
            <a:avLst>
              <a:gd name="adj" fmla="val 3125"/>
            </a:avLst>
          </a:prstGeom>
          <a:solidFill>
            <a:srgbClr val="F3F6FA"/>
          </a:solidFill>
          <a:ln/>
        </p:spPr>
      </p:sp>
      <p:sp>
        <p:nvSpPr>
          <p:cNvPr id="13" name="Text 10"/>
          <p:cNvSpPr/>
          <p:nvPr/>
        </p:nvSpPr>
        <p:spPr>
          <a:xfrm>
            <a:off x="7406640" y="1691640"/>
            <a:ext cx="2743200" cy="548640"/>
          </a:xfrm>
          <a:prstGeom prst="rect">
            <a:avLst/>
          </a:prstGeom>
          <a:noFill/>
          <a:ln/>
        </p:spPr>
        <p:txBody>
          <a:bodyPr wrap="square" lIns="0" tIns="0" rIns="0" bIns="0" rtlCol="0" anchor="ctr"/>
          <a:lstStyle/>
          <a:p>
            <a:pPr indent="0" marL="0">
              <a:buNone/>
            </a:pPr>
            <a:r>
              <a:rPr lang="en-US" sz="2000" dirty="0">
                <a:solidFill>
                  <a:srgbClr val="13294B"/>
                </a:solidFill>
                <a:latin typeface="Calibri" pitchFamily="34" charset="0"/>
                <a:ea typeface="Calibri" pitchFamily="34" charset="-122"/>
                <a:cs typeface="Calibri" pitchFamily="34" charset="-120"/>
              </a:rPr>
              <a:t>Front-left</a:t>
            </a:r>
            <a:endParaRPr lang="en-US" sz="2000" dirty="0"/>
          </a:p>
        </p:txBody>
      </p:sp>
      <p:sp>
        <p:nvSpPr>
          <p:cNvPr id="14" name="Text 11"/>
          <p:cNvSpPr/>
          <p:nvPr/>
        </p:nvSpPr>
        <p:spPr>
          <a:xfrm>
            <a:off x="9692640" y="1691640"/>
            <a:ext cx="1554480" cy="548640"/>
          </a:xfrm>
          <a:prstGeom prst="rect">
            <a:avLst/>
          </a:prstGeom>
          <a:noFill/>
          <a:ln/>
        </p:spPr>
        <p:txBody>
          <a:bodyPr wrap="square" lIns="0" tIns="0" rIns="0" bIns="0" rtlCol="0" anchor="ctr"/>
          <a:lstStyle/>
          <a:p>
            <a:pPr indent="0" marL="0">
              <a:buNone/>
            </a:pPr>
            <a:r>
              <a:rPr lang="en-US" sz="2000" b="1" dirty="0">
                <a:solidFill>
                  <a:srgbClr val="FF5010"/>
                </a:solidFill>
                <a:latin typeface="Courier New" pitchFamily="34" charset="0"/>
                <a:ea typeface="Courier New" pitchFamily="34" charset="-122"/>
                <a:cs typeface="Courier New" pitchFamily="34" charset="-120"/>
              </a:rPr>
              <a:t>135°</a:t>
            </a:r>
            <a:endParaRPr lang="en-US" sz="2000" dirty="0"/>
          </a:p>
        </p:txBody>
      </p:sp>
      <p:sp>
        <p:nvSpPr>
          <p:cNvPr id="15" name="Text 12"/>
          <p:cNvSpPr/>
          <p:nvPr/>
        </p:nvSpPr>
        <p:spPr>
          <a:xfrm>
            <a:off x="7406640" y="2350008"/>
            <a:ext cx="2743200" cy="548640"/>
          </a:xfrm>
          <a:prstGeom prst="rect">
            <a:avLst/>
          </a:prstGeom>
          <a:noFill/>
          <a:ln/>
        </p:spPr>
        <p:txBody>
          <a:bodyPr wrap="square" lIns="0" tIns="0" rIns="0" bIns="0" rtlCol="0" anchor="ctr"/>
          <a:lstStyle/>
          <a:p>
            <a:pPr indent="0" marL="0">
              <a:buNone/>
            </a:pPr>
            <a:r>
              <a:rPr lang="en-US" sz="2000" dirty="0">
                <a:solidFill>
                  <a:srgbClr val="13294B"/>
                </a:solidFill>
                <a:latin typeface="Calibri" pitchFamily="34" charset="0"/>
                <a:ea typeface="Calibri" pitchFamily="34" charset="-122"/>
                <a:cs typeface="Calibri" pitchFamily="34" charset="-120"/>
              </a:rPr>
              <a:t>Front-right</a:t>
            </a:r>
            <a:endParaRPr lang="en-US" sz="2000" dirty="0"/>
          </a:p>
        </p:txBody>
      </p:sp>
      <p:sp>
        <p:nvSpPr>
          <p:cNvPr id="16" name="Text 13"/>
          <p:cNvSpPr/>
          <p:nvPr/>
        </p:nvSpPr>
        <p:spPr>
          <a:xfrm>
            <a:off x="9692640" y="2350008"/>
            <a:ext cx="1554480" cy="548640"/>
          </a:xfrm>
          <a:prstGeom prst="rect">
            <a:avLst/>
          </a:prstGeom>
          <a:noFill/>
          <a:ln/>
        </p:spPr>
        <p:txBody>
          <a:bodyPr wrap="square" lIns="0" tIns="0" rIns="0" bIns="0" rtlCol="0" anchor="ctr"/>
          <a:lstStyle/>
          <a:p>
            <a:pPr indent="0" marL="0">
              <a:buNone/>
            </a:pPr>
            <a:r>
              <a:rPr lang="en-US" sz="2000" b="1" dirty="0">
                <a:solidFill>
                  <a:srgbClr val="FF5010"/>
                </a:solidFill>
                <a:latin typeface="Courier New" pitchFamily="34" charset="0"/>
                <a:ea typeface="Courier New" pitchFamily="34" charset="-122"/>
                <a:cs typeface="Courier New" pitchFamily="34" charset="-120"/>
              </a:rPr>
              <a:t>45°</a:t>
            </a:r>
            <a:endParaRPr lang="en-US" sz="2000" dirty="0"/>
          </a:p>
        </p:txBody>
      </p:sp>
      <p:sp>
        <p:nvSpPr>
          <p:cNvPr id="17" name="Text 14"/>
          <p:cNvSpPr/>
          <p:nvPr/>
        </p:nvSpPr>
        <p:spPr>
          <a:xfrm>
            <a:off x="7406640" y="3008376"/>
            <a:ext cx="2743200" cy="548640"/>
          </a:xfrm>
          <a:prstGeom prst="rect">
            <a:avLst/>
          </a:prstGeom>
          <a:noFill/>
          <a:ln/>
        </p:spPr>
        <p:txBody>
          <a:bodyPr wrap="square" lIns="0" tIns="0" rIns="0" bIns="0" rtlCol="0" anchor="ctr"/>
          <a:lstStyle/>
          <a:p>
            <a:pPr indent="0" marL="0">
              <a:buNone/>
            </a:pPr>
            <a:r>
              <a:rPr lang="en-US" sz="2000" dirty="0">
                <a:solidFill>
                  <a:srgbClr val="13294B"/>
                </a:solidFill>
                <a:latin typeface="Calibri" pitchFamily="34" charset="0"/>
                <a:ea typeface="Calibri" pitchFamily="34" charset="-122"/>
                <a:cs typeface="Calibri" pitchFamily="34" charset="-120"/>
              </a:rPr>
              <a:t>Back-left</a:t>
            </a:r>
            <a:endParaRPr lang="en-US" sz="2000" dirty="0"/>
          </a:p>
        </p:txBody>
      </p:sp>
      <p:sp>
        <p:nvSpPr>
          <p:cNvPr id="18" name="Text 15"/>
          <p:cNvSpPr/>
          <p:nvPr/>
        </p:nvSpPr>
        <p:spPr>
          <a:xfrm>
            <a:off x="9692640" y="3008376"/>
            <a:ext cx="1554480" cy="548640"/>
          </a:xfrm>
          <a:prstGeom prst="rect">
            <a:avLst/>
          </a:prstGeom>
          <a:noFill/>
          <a:ln/>
        </p:spPr>
        <p:txBody>
          <a:bodyPr wrap="square" lIns="0" tIns="0" rIns="0" bIns="0" rtlCol="0" anchor="ctr"/>
          <a:lstStyle/>
          <a:p>
            <a:pPr indent="0" marL="0">
              <a:buNone/>
            </a:pPr>
            <a:r>
              <a:rPr lang="en-US" sz="2000" b="1" dirty="0">
                <a:solidFill>
                  <a:srgbClr val="FF5010"/>
                </a:solidFill>
                <a:latin typeface="Courier New" pitchFamily="34" charset="0"/>
                <a:ea typeface="Courier New" pitchFamily="34" charset="-122"/>
                <a:cs typeface="Courier New" pitchFamily="34" charset="-120"/>
              </a:rPr>
              <a:t>-135°</a:t>
            </a:r>
            <a:endParaRPr lang="en-US" sz="2000" dirty="0"/>
          </a:p>
        </p:txBody>
      </p:sp>
      <p:sp>
        <p:nvSpPr>
          <p:cNvPr id="19" name="Text 16"/>
          <p:cNvSpPr/>
          <p:nvPr/>
        </p:nvSpPr>
        <p:spPr>
          <a:xfrm>
            <a:off x="7406640" y="3666744"/>
            <a:ext cx="2743200" cy="548640"/>
          </a:xfrm>
          <a:prstGeom prst="rect">
            <a:avLst/>
          </a:prstGeom>
          <a:noFill/>
          <a:ln/>
        </p:spPr>
        <p:txBody>
          <a:bodyPr wrap="square" lIns="0" tIns="0" rIns="0" bIns="0" rtlCol="0" anchor="ctr"/>
          <a:lstStyle/>
          <a:p>
            <a:pPr indent="0" marL="0">
              <a:buNone/>
            </a:pPr>
            <a:r>
              <a:rPr lang="en-US" sz="2000" dirty="0">
                <a:solidFill>
                  <a:srgbClr val="13294B"/>
                </a:solidFill>
                <a:latin typeface="Calibri" pitchFamily="34" charset="0"/>
                <a:ea typeface="Calibri" pitchFamily="34" charset="-122"/>
                <a:cs typeface="Calibri" pitchFamily="34" charset="-120"/>
              </a:rPr>
              <a:t>Back-right</a:t>
            </a:r>
            <a:endParaRPr lang="en-US" sz="2000" dirty="0"/>
          </a:p>
        </p:txBody>
      </p:sp>
      <p:sp>
        <p:nvSpPr>
          <p:cNvPr id="20" name="Text 17"/>
          <p:cNvSpPr/>
          <p:nvPr/>
        </p:nvSpPr>
        <p:spPr>
          <a:xfrm>
            <a:off x="9692640" y="3666744"/>
            <a:ext cx="1554480" cy="548640"/>
          </a:xfrm>
          <a:prstGeom prst="rect">
            <a:avLst/>
          </a:prstGeom>
          <a:noFill/>
          <a:ln/>
        </p:spPr>
        <p:txBody>
          <a:bodyPr wrap="square" lIns="0" tIns="0" rIns="0" bIns="0" rtlCol="0" anchor="ctr"/>
          <a:lstStyle/>
          <a:p>
            <a:pPr indent="0" marL="0">
              <a:buNone/>
            </a:pPr>
            <a:r>
              <a:rPr lang="en-US" sz="2000" b="1" dirty="0">
                <a:solidFill>
                  <a:srgbClr val="FF5010"/>
                </a:solidFill>
                <a:latin typeface="Courier New" pitchFamily="34" charset="0"/>
                <a:ea typeface="Courier New" pitchFamily="34" charset="-122"/>
                <a:cs typeface="Courier New" pitchFamily="34" charset="-120"/>
              </a:rPr>
              <a:t>-45°</a:t>
            </a:r>
            <a:endParaRPr lang="en-US" sz="2000" dirty="0"/>
          </a:p>
        </p:txBody>
      </p:sp>
      <p:sp>
        <p:nvSpPr>
          <p:cNvPr id="21" name="Shape 18"/>
          <p:cNvSpPr/>
          <p:nvPr/>
        </p:nvSpPr>
        <p:spPr>
          <a:xfrm>
            <a:off x="640080" y="4572000"/>
            <a:ext cx="10881360" cy="1783080"/>
          </a:xfrm>
          <a:prstGeom prst="roundRect">
            <a:avLst>
              <a:gd name="adj" fmla="val 5128"/>
            </a:avLst>
          </a:prstGeom>
          <a:solidFill>
            <a:srgbClr val="F3F6FA"/>
          </a:solidFill>
          <a:ln/>
        </p:spPr>
      </p:sp>
      <p:sp>
        <p:nvSpPr>
          <p:cNvPr id="22" name="Text 19"/>
          <p:cNvSpPr/>
          <p:nvPr/>
        </p:nvSpPr>
        <p:spPr>
          <a:xfrm>
            <a:off x="822960" y="4754880"/>
            <a:ext cx="10515600" cy="141732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For a module at (x, y), the CCW-tangent direction is (-y, x). Sketch the four wheels pointing those ways and the whole robot spins CCW.</a:t>
            </a:r>
            <a:endParaRPr lang="en-US" sz="2000" dirty="0"/>
          </a:p>
        </p:txBody>
      </p:sp>
      <p:sp>
        <p:nvSpPr>
          <p:cNvPr id="23" name="Text 20"/>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FOUR MODULES</a:t>
            </a:r>
            <a:endParaRPr lang="en-US" sz="2000" dirty="0"/>
          </a:p>
        </p:txBody>
      </p:sp>
      <p:sp>
        <p:nvSpPr>
          <p:cNvPr id="24" name="Text 21"/>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19</a:t>
            </a:r>
            <a:endParaRPr lang="en-US" sz="2000" dirty="0"/>
          </a:p>
        </p:txBody>
      </p:sp>
      <p:pic>
        <p:nvPicPr>
          <p:cNvPr id="25"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plug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6 · ROBOT.JAVA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Fix the red: Robot.java learns about the Drivetrain</a:t>
            </a:r>
            <a:endParaRPr lang="en-US" sz="3000" dirty="0"/>
          </a:p>
        </p:txBody>
      </p:sp>
      <p:sp>
        <p:nvSpPr>
          <p:cNvPr id="6" name="Shape 3"/>
          <p:cNvSpPr/>
          <p:nvPr/>
        </p:nvSpPr>
        <p:spPr>
          <a:xfrm>
            <a:off x="640080" y="1463040"/>
            <a:ext cx="10881360" cy="1280160"/>
          </a:xfrm>
          <a:prstGeom prst="roundRect">
            <a:avLst>
              <a:gd name="adj" fmla="val 8571"/>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609344"/>
            <a:ext cx="128016" cy="128016"/>
          </a:xfrm>
          <a:prstGeom prst="ellipse">
            <a:avLst/>
          </a:prstGeom>
          <a:solidFill>
            <a:srgbClr val="FF6B6B"/>
          </a:solidFill>
          <a:ln/>
        </p:spPr>
      </p:sp>
      <p:sp>
        <p:nvSpPr>
          <p:cNvPr id="8" name="Shape 5"/>
          <p:cNvSpPr/>
          <p:nvPr/>
        </p:nvSpPr>
        <p:spPr>
          <a:xfrm>
            <a:off x="11210544" y="1810512"/>
            <a:ext cx="128016" cy="128016"/>
          </a:xfrm>
          <a:prstGeom prst="ellipse">
            <a:avLst/>
          </a:prstGeom>
          <a:solidFill>
            <a:srgbClr val="FFD166"/>
          </a:solidFill>
          <a:ln/>
        </p:spPr>
      </p:sp>
      <p:sp>
        <p:nvSpPr>
          <p:cNvPr id="9" name="Shape 6"/>
          <p:cNvSpPr/>
          <p:nvPr/>
        </p:nvSpPr>
        <p:spPr>
          <a:xfrm>
            <a:off x="11210544" y="2011680"/>
            <a:ext cx="128016" cy="128016"/>
          </a:xfrm>
          <a:prstGeom prst="ellipse">
            <a:avLst/>
          </a:prstGeom>
          <a:solidFill>
            <a:srgbClr val="2EC4B6"/>
          </a:solidFill>
          <a:ln/>
        </p:spPr>
      </p:sp>
      <p:sp>
        <p:nvSpPr>
          <p:cNvPr id="10" name="Text 7"/>
          <p:cNvSpPr/>
          <p:nvPr/>
        </p:nvSpPr>
        <p:spPr>
          <a:xfrm>
            <a:off x="914400" y="159105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Delete Robot's old module field, add in its place</a:t>
            </a:r>
            <a:endParaRPr lang="en-US" sz="1500" dirty="0"/>
          </a:p>
        </p:txBody>
      </p:sp>
      <p:sp>
        <p:nvSpPr>
          <p:cNvPr id="11" name="Text 8"/>
          <p:cNvSpPr/>
          <p:nvPr/>
        </p:nvSpPr>
        <p:spPr>
          <a:xfrm>
            <a:off x="914400" y="1920240"/>
            <a:ext cx="10195560" cy="621792"/>
          </a:xfrm>
          <a:prstGeom prst="rect">
            <a:avLst/>
          </a:prstGeom>
          <a:noFill/>
          <a:ln/>
        </p:spPr>
        <p:txBody>
          <a:bodyPr wrap="square" lIns="0" tIns="0" rIns="0" bIns="0" rtlCol="0" anchor="t"/>
          <a:lstStyle/>
          <a:p>
            <a:pPr indent="0" marL="0">
              <a:lnSpc>
                <a:spcPct val="120000"/>
              </a:lnSpc>
              <a:buNone/>
            </a:pPr>
            <a:r>
              <a:rPr lang="en-US" sz="1600" dirty="0">
                <a:solidFill>
                  <a:srgbClr val="9EF01A"/>
                </a:solidFill>
                <a:latin typeface="Courier New" pitchFamily="34" charset="0"/>
                <a:ea typeface="Courier New" pitchFamily="34" charset="-122"/>
                <a:cs typeface="Courier New" pitchFamily="34" charset="-120"/>
              </a:rPr>
              <a:t>public final Drivetrain drivetrain = new Drivetrain();</a:t>
            </a:r>
            <a:endParaRPr lang="en-US" sz="1600" dirty="0"/>
          </a:p>
        </p:txBody>
      </p:sp>
      <p:sp>
        <p:nvSpPr>
          <p:cNvPr id="12" name="Shape 9"/>
          <p:cNvSpPr/>
          <p:nvPr/>
        </p:nvSpPr>
        <p:spPr>
          <a:xfrm>
            <a:off x="640080" y="2971800"/>
            <a:ext cx="10881360" cy="1965960"/>
          </a:xfrm>
          <a:prstGeom prst="roundRect">
            <a:avLst>
              <a:gd name="adj" fmla="val 5581"/>
            </a:avLst>
          </a:prstGeom>
          <a:solidFill>
            <a:srgbClr val="0B1F3A"/>
          </a:solidFill>
          <a:ln/>
          <a:effectLst>
            <a:outerShdw sx="100000" sy="100000" kx="0" ky="0" algn="bl" rotWithShape="0" blurRad="101600" dist="38100" dir="5400000">
              <a:srgbClr val="0B1F3A">
                <a:alpha val="35000"/>
              </a:srgbClr>
            </a:outerShdw>
          </a:effectLst>
        </p:spPr>
      </p:sp>
      <p:sp>
        <p:nvSpPr>
          <p:cNvPr id="13" name="Shape 10"/>
          <p:cNvSpPr/>
          <p:nvPr/>
        </p:nvSpPr>
        <p:spPr>
          <a:xfrm>
            <a:off x="11210544" y="3118104"/>
            <a:ext cx="128016" cy="128016"/>
          </a:xfrm>
          <a:prstGeom prst="ellipse">
            <a:avLst/>
          </a:prstGeom>
          <a:solidFill>
            <a:srgbClr val="FF6B6B"/>
          </a:solidFill>
          <a:ln/>
        </p:spPr>
      </p:sp>
      <p:sp>
        <p:nvSpPr>
          <p:cNvPr id="14" name="Shape 11"/>
          <p:cNvSpPr/>
          <p:nvPr/>
        </p:nvSpPr>
        <p:spPr>
          <a:xfrm>
            <a:off x="11210544" y="3319272"/>
            <a:ext cx="128016" cy="128016"/>
          </a:xfrm>
          <a:prstGeom prst="ellipse">
            <a:avLst/>
          </a:prstGeom>
          <a:solidFill>
            <a:srgbClr val="FFD166"/>
          </a:solidFill>
          <a:ln/>
        </p:spPr>
      </p:sp>
      <p:sp>
        <p:nvSpPr>
          <p:cNvPr id="15" name="Shape 12"/>
          <p:cNvSpPr/>
          <p:nvPr/>
        </p:nvSpPr>
        <p:spPr>
          <a:xfrm>
            <a:off x="11210544" y="3520440"/>
            <a:ext cx="128016" cy="128016"/>
          </a:xfrm>
          <a:prstGeom prst="ellipse">
            <a:avLst/>
          </a:prstGeom>
          <a:solidFill>
            <a:srgbClr val="2EC4B6"/>
          </a:solidFill>
          <a:ln/>
        </p:spPr>
      </p:sp>
      <p:sp>
        <p:nvSpPr>
          <p:cNvPr id="16" name="Text 13"/>
          <p:cNvSpPr/>
          <p:nvPr/>
        </p:nvSpPr>
        <p:spPr>
          <a:xfrm>
            <a:off x="914400" y="309981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Update Robot's simulationPeriodic()</a:t>
            </a:r>
            <a:endParaRPr lang="en-US" sz="1500" dirty="0"/>
          </a:p>
        </p:txBody>
      </p:sp>
      <p:sp>
        <p:nvSpPr>
          <p:cNvPr id="17" name="Text 14"/>
          <p:cNvSpPr/>
          <p:nvPr/>
        </p:nvSpPr>
        <p:spPr>
          <a:xfrm>
            <a:off x="914400" y="3429000"/>
            <a:ext cx="10195560" cy="1307592"/>
          </a:xfrm>
          <a:prstGeom prst="rect">
            <a:avLst/>
          </a:prstGeom>
          <a:noFill/>
          <a:ln/>
        </p:spPr>
        <p:txBody>
          <a:bodyPr wrap="square" lIns="0" tIns="0" rIns="0" bIns="0" rtlCol="0" anchor="t"/>
          <a:lstStyle/>
          <a:p>
            <a:pPr indent="0" marL="0">
              <a:lnSpc>
                <a:spcPct val="120000"/>
              </a:lnSpc>
              <a:buNone/>
            </a:pPr>
            <a:r>
              <a:rPr lang="en-US" sz="1600" dirty="0">
                <a:solidFill>
                  <a:srgbClr val="FFD166"/>
                </a:solidFill>
                <a:latin typeface="Courier New" pitchFamily="34" charset="0"/>
                <a:ea typeface="Courier New" pitchFamily="34" charset="-122"/>
                <a:cs typeface="Courier New" pitchFamily="34" charset="-120"/>
              </a:rPr>
              <a:t>@Override</a:t>
            </a:r>
            <a:endParaRPr lang="en-US" sz="1600" dirty="0"/>
          </a:p>
          <a:p>
            <a:pPr indent="0" marL="0">
              <a:lnSpc>
                <a:spcPct val="120000"/>
              </a:lnSpc>
              <a:buNone/>
            </a:pPr>
            <a:r>
              <a:rPr lang="en-US" sz="1600" dirty="0">
                <a:solidFill>
                  <a:srgbClr val="D7E3F4"/>
                </a:solidFill>
                <a:latin typeface="Courier New" pitchFamily="34" charset="0"/>
                <a:ea typeface="Courier New" pitchFamily="34" charset="-122"/>
                <a:cs typeface="Courier New" pitchFamily="34" charset="-120"/>
              </a:rPr>
              <a:t>public void simulationPeriodic() {</a:t>
            </a:r>
            <a:endParaRPr lang="en-US" sz="1600" dirty="0"/>
          </a:p>
          <a:p>
            <a:pPr indent="0" marL="0">
              <a:lnSpc>
                <a:spcPct val="120000"/>
              </a:lnSpc>
              <a:buNone/>
            </a:pPr>
            <a:r>
              <a:rPr lang="en-US" sz="1600" dirty="0">
                <a:solidFill>
                  <a:srgbClr val="9EF01A"/>
                </a:solidFill>
                <a:latin typeface="Courier New" pitchFamily="34" charset="0"/>
                <a:ea typeface="Courier New" pitchFamily="34" charset="-122"/>
                <a:cs typeface="Courier New" pitchFamily="34" charset="-120"/>
              </a:rPr>
              <a:t>  drivetrain.simulatePeriodic();</a:t>
            </a:r>
            <a:endParaRPr lang="en-US" sz="1600" dirty="0"/>
          </a:p>
          <a:p>
            <a:pPr indent="0" marL="0">
              <a:lnSpc>
                <a:spcPct val="120000"/>
              </a:lnSpc>
              <a:buNone/>
            </a:pPr>
            <a:r>
              <a:rPr lang="en-US" sz="1600" dirty="0">
                <a:solidFill>
                  <a:srgbClr val="D7E3F4"/>
                </a:solidFill>
                <a:latin typeface="Courier New" pitchFamily="34" charset="0"/>
                <a:ea typeface="Courier New" pitchFamily="34" charset="-122"/>
                <a:cs typeface="Courier New" pitchFamily="34" charset="-120"/>
              </a:rPr>
              <a:t>}</a:t>
            </a:r>
            <a:endParaRPr lang="en-US" sz="1600" dirty="0"/>
          </a:p>
        </p:txBody>
      </p:sp>
      <p:sp>
        <p:nvSpPr>
          <p:cNvPr id="18" name="Shape 15"/>
          <p:cNvSpPr/>
          <p:nvPr/>
        </p:nvSpPr>
        <p:spPr>
          <a:xfrm>
            <a:off x="640080" y="5074920"/>
            <a:ext cx="10881360" cy="1371600"/>
          </a:xfrm>
          <a:prstGeom prst="roundRect">
            <a:avLst>
              <a:gd name="adj" fmla="val 6667"/>
            </a:avLst>
          </a:prstGeom>
          <a:solidFill>
            <a:srgbClr val="F3F6FA"/>
          </a:solidFill>
          <a:ln/>
        </p:spPr>
      </p:sp>
      <p:sp>
        <p:nvSpPr>
          <p:cNvPr id="19" name="Text 16"/>
          <p:cNvSpPr/>
          <p:nvPr/>
        </p:nvSpPr>
        <p:spPr>
          <a:xfrm>
            <a:off x="777240" y="5212080"/>
            <a:ext cx="10607040" cy="109728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Also update the import: DriveModule becomes Drivetrain. One more thing this class reaches for is next: logCommandStart() still checks the old module by name.</a:t>
            </a:r>
            <a:endParaRPr lang="en-US" sz="2000" dirty="0"/>
          </a:p>
        </p:txBody>
      </p:sp>
      <p:sp>
        <p:nvSpPr>
          <p:cNvPr id="20" name="Text 17"/>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FOUR MODULES</a:t>
            </a:r>
            <a:endParaRPr lang="en-US" sz="2000" dirty="0"/>
          </a:p>
        </p:txBody>
      </p:sp>
      <p:sp>
        <p:nvSpPr>
          <p:cNvPr id="21" name="Text 18"/>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20</a:t>
            </a:r>
            <a:endParaRPr lang="en-US" sz="2000" dirty="0"/>
          </a:p>
        </p:txBody>
      </p:sp>
      <p:pic>
        <p:nvPicPr>
          <p:cNvPr id="22"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lightbulb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6 · ROBOT.JAVA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The enhanced for loop, a second time</a:t>
            </a:r>
            <a:endParaRPr lang="en-US" sz="3000" dirty="0"/>
          </a:p>
        </p:txBody>
      </p:sp>
      <p:sp>
        <p:nvSpPr>
          <p:cNvPr id="6" name="Shape 3"/>
          <p:cNvSpPr/>
          <p:nvPr/>
        </p:nvSpPr>
        <p:spPr>
          <a:xfrm>
            <a:off x="640080" y="1463040"/>
            <a:ext cx="10881360" cy="3063240"/>
          </a:xfrm>
          <a:prstGeom prst="roundRect">
            <a:avLst>
              <a:gd name="adj" fmla="val 3582"/>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609344"/>
            <a:ext cx="128016" cy="128016"/>
          </a:xfrm>
          <a:prstGeom prst="ellipse">
            <a:avLst/>
          </a:prstGeom>
          <a:solidFill>
            <a:srgbClr val="FF6B6B"/>
          </a:solidFill>
          <a:ln/>
        </p:spPr>
      </p:sp>
      <p:sp>
        <p:nvSpPr>
          <p:cNvPr id="8" name="Shape 5"/>
          <p:cNvSpPr/>
          <p:nvPr/>
        </p:nvSpPr>
        <p:spPr>
          <a:xfrm>
            <a:off x="11210544" y="1810512"/>
            <a:ext cx="128016" cy="128016"/>
          </a:xfrm>
          <a:prstGeom prst="ellipse">
            <a:avLst/>
          </a:prstGeom>
          <a:solidFill>
            <a:srgbClr val="FFD166"/>
          </a:solidFill>
          <a:ln/>
        </p:spPr>
      </p:sp>
      <p:sp>
        <p:nvSpPr>
          <p:cNvPr id="9" name="Shape 6"/>
          <p:cNvSpPr/>
          <p:nvPr/>
        </p:nvSpPr>
        <p:spPr>
          <a:xfrm>
            <a:off x="11210544" y="2011680"/>
            <a:ext cx="128016" cy="128016"/>
          </a:xfrm>
          <a:prstGeom prst="ellipse">
            <a:avLst/>
          </a:prstGeom>
          <a:solidFill>
            <a:srgbClr val="2EC4B6"/>
          </a:solidFill>
          <a:ln/>
        </p:spPr>
      </p:sp>
      <p:sp>
        <p:nvSpPr>
          <p:cNvPr id="10" name="Text 7"/>
          <p:cNvSpPr/>
          <p:nvPr/>
        </p:nvSpPr>
        <p:spPr>
          <a:xfrm>
            <a:off x="914400" y="159105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Replace Robot's logCommandStart()</a:t>
            </a:r>
            <a:endParaRPr lang="en-US" sz="1500" dirty="0"/>
          </a:p>
        </p:txBody>
      </p:sp>
      <p:sp>
        <p:nvSpPr>
          <p:cNvPr id="11" name="Text 8"/>
          <p:cNvSpPr/>
          <p:nvPr/>
        </p:nvSpPr>
        <p:spPr>
          <a:xfrm>
            <a:off x="914400" y="1920240"/>
            <a:ext cx="10195560" cy="2404872"/>
          </a:xfrm>
          <a:prstGeom prst="rect">
            <a:avLst/>
          </a:prstGeom>
          <a:noFill/>
          <a:ln/>
        </p:spPr>
        <p:txBody>
          <a:bodyPr wrap="square" lIns="0" tIns="0" rIns="0" bIns="0" rtlCol="0" anchor="t"/>
          <a:lstStyle/>
          <a:p>
            <a:pPr indent="0" marL="0">
              <a:lnSpc>
                <a:spcPct val="120000"/>
              </a:lnSpc>
              <a:buNone/>
            </a:pPr>
            <a:r>
              <a:rPr lang="en-US" sz="1500" dirty="0">
                <a:solidFill>
                  <a:srgbClr val="FFD166"/>
                </a:solidFill>
                <a:latin typeface="Courier New" pitchFamily="34" charset="0"/>
                <a:ea typeface="Courier New" pitchFamily="34" charset="-122"/>
                <a:cs typeface="Courier New" pitchFamily="34" charset="-120"/>
              </a:rPr>
              <a:t>private void logCommandStart(SchedulerEvent event) {</a:t>
            </a:r>
            <a:endParaRPr lang="en-US" sz="1500" dirty="0"/>
          </a:p>
          <a:p>
            <a:pPr indent="0" marL="0">
              <a:lnSpc>
                <a:spcPct val="120000"/>
              </a:lnSpc>
              <a:buNone/>
            </a:pPr>
            <a:r>
              <a:rPr lang="en-US" sz="1500" dirty="0">
                <a:solidFill>
                  <a:srgbClr val="D7E3F4"/>
                </a:solidFill>
                <a:latin typeface="Courier New" pitchFamily="34" charset="0"/>
                <a:ea typeface="Courier New" pitchFamily="34" charset="-122"/>
                <a:cs typeface="Courier New" pitchFamily="34" charset="-120"/>
              </a:rPr>
              <a:t>  if (event instanceof SchedulerEvent.Scheduled scheduled) {</a:t>
            </a:r>
            <a:endParaRPr lang="en-US" sz="1500" dirty="0"/>
          </a:p>
          <a:p>
            <a:pPr indent="0" marL="0">
              <a:lnSpc>
                <a:spcPct val="120000"/>
              </a:lnSpc>
              <a:buNone/>
            </a:pPr>
            <a:r>
              <a:rPr lang="en-US" sz="1500" dirty="0">
                <a:solidFill>
                  <a:srgbClr val="9EF01A"/>
                </a:solidFill>
                <a:latin typeface="Courier New" pitchFamily="34" charset="0"/>
                <a:ea typeface="Courier New" pitchFamily="34" charset="-122"/>
                <a:cs typeface="Courier New" pitchFamily="34" charset="-120"/>
              </a:rPr>
              <a:t>    for (Mechanism mechanism : scheduled.command().requirements()) {</a:t>
            </a:r>
            <a:endParaRPr lang="en-US" sz="1500" dirty="0"/>
          </a:p>
          <a:p>
            <a:pPr indent="0" marL="0">
              <a:lnSpc>
                <a:spcPct val="120000"/>
              </a:lnSpc>
              <a:buNone/>
            </a:pPr>
            <a:r>
              <a:rPr lang="en-US" sz="1500" dirty="0">
                <a:solidFill>
                  <a:srgbClr val="D7E3F4"/>
                </a:solidFill>
                <a:latin typeface="Courier New" pitchFamily="34" charset="0"/>
                <a:ea typeface="Courier New" pitchFamily="34" charset="-122"/>
                <a:cs typeface="Courier New" pitchFamily="34" charset="-120"/>
              </a:rPr>
              <a:t>      Telemetry.log(</a:t>
            </a:r>
            <a:endParaRPr lang="en-US" sz="1500" dirty="0"/>
          </a:p>
          <a:p>
            <a:pPr indent="0" marL="0">
              <a:lnSpc>
                <a:spcPct val="120000"/>
              </a:lnSpc>
              <a:buNone/>
            </a:pPr>
            <a:r>
              <a:rPr lang="en-US" sz="1500" dirty="0">
                <a:solidFill>
                  <a:srgbClr val="9EF01A"/>
                </a:solidFill>
                <a:latin typeface="Courier New" pitchFamily="34" charset="0"/>
                <a:ea typeface="Courier New" pitchFamily="34" charset="-122"/>
                <a:cs typeface="Courier New" pitchFamily="34" charset="-120"/>
              </a:rPr>
              <a:t>          mechanism.getName() + "/CurrentCommand", scheduled.command().name());</a:t>
            </a:r>
            <a:endParaRPr lang="en-US" sz="1500" dirty="0"/>
          </a:p>
          <a:p>
            <a:pPr indent="0" marL="0">
              <a:lnSpc>
                <a:spcPct val="120000"/>
              </a:lnSpc>
              <a:buNone/>
            </a:pPr>
            <a:r>
              <a:rPr lang="en-US" sz="1500" dirty="0">
                <a:solidFill>
                  <a:srgbClr val="D7E3F4"/>
                </a:solidFill>
                <a:latin typeface="Courier New" pitchFamily="34" charset="0"/>
                <a:ea typeface="Courier New" pitchFamily="34" charset="-122"/>
                <a:cs typeface="Courier New" pitchFamily="34" charset="-120"/>
              </a:rPr>
              <a:t>    }</a:t>
            </a:r>
            <a:endParaRPr lang="en-US" sz="1500" dirty="0"/>
          </a:p>
          <a:p>
            <a:pPr indent="0" marL="0">
              <a:lnSpc>
                <a:spcPct val="120000"/>
              </a:lnSpc>
              <a:buNone/>
            </a:pPr>
            <a:r>
              <a:rPr lang="en-US" sz="1500" dirty="0">
                <a:solidFill>
                  <a:srgbClr val="D7E3F4"/>
                </a:solidFill>
                <a:latin typeface="Courier New" pitchFamily="34" charset="0"/>
                <a:ea typeface="Courier New" pitchFamily="34" charset="-122"/>
                <a:cs typeface="Courier New" pitchFamily="34" charset="-120"/>
              </a:rPr>
              <a:t>  }</a:t>
            </a:r>
            <a:endParaRPr lang="en-US" sz="1500" dirty="0"/>
          </a:p>
          <a:p>
            <a:pPr indent="0" marL="0">
              <a:lnSpc>
                <a:spcPct val="120000"/>
              </a:lnSpc>
              <a:buNone/>
            </a:pPr>
            <a:r>
              <a:rPr lang="en-US" sz="1500" dirty="0">
                <a:solidFill>
                  <a:srgbClr val="D7E3F4"/>
                </a:solidFill>
                <a:latin typeface="Courier New" pitchFamily="34" charset="0"/>
                <a:ea typeface="Courier New" pitchFamily="34" charset="-122"/>
                <a:cs typeface="Courier New" pitchFamily="34" charset="-120"/>
              </a:rPr>
              <a:t>}</a:t>
            </a:r>
            <a:endParaRPr lang="en-US" sz="1500" dirty="0"/>
          </a:p>
        </p:txBody>
      </p:sp>
      <p:sp>
        <p:nvSpPr>
          <p:cNvPr id="12" name="Shape 9"/>
          <p:cNvSpPr/>
          <p:nvPr/>
        </p:nvSpPr>
        <p:spPr>
          <a:xfrm>
            <a:off x="640080" y="4663440"/>
            <a:ext cx="10881360" cy="1691640"/>
          </a:xfrm>
          <a:prstGeom prst="roundRect">
            <a:avLst>
              <a:gd name="adj" fmla="val 5405"/>
            </a:avLst>
          </a:prstGeom>
          <a:solidFill>
            <a:srgbClr val="F3F6FA"/>
          </a:solidFill>
          <a:ln/>
        </p:spPr>
      </p:sp>
      <p:sp>
        <p:nvSpPr>
          <p:cNvPr id="13" name="Text 10"/>
          <p:cNvSpPr/>
          <p:nvPr/>
        </p:nvSpPr>
        <p:spPr>
          <a:xfrm>
            <a:off x="777240" y="4800600"/>
            <a:ext cx="10607040" cy="141732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Add import org.wpilib.command3.Mechanism. requirements() is the whole set of mechanisms a command needs — this loop runs once today, but won't need editing when a second mechanism arrives.</a:t>
            </a:r>
            <a:endParaRPr lang="en-US" sz="2000" dirty="0"/>
          </a:p>
        </p:txBody>
      </p:sp>
      <p:sp>
        <p:nvSpPr>
          <p:cNvPr id="14"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FOUR MODULES</a:t>
            </a:r>
            <a:endParaRPr lang="en-US" sz="2000" dirty="0"/>
          </a:p>
        </p:txBody>
      </p:sp>
      <p:sp>
        <p:nvSpPr>
          <p:cNvPr id="15"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21</a:t>
            </a:r>
            <a:endParaRPr lang="en-US" sz="2000" dirty="0"/>
          </a:p>
        </p:txBody>
      </p:sp>
      <p:pic>
        <p:nvPicPr>
          <p:cNvPr id="16"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gamepad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6 · MYTELEOP.JAVA</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Left stick translates, bumpers spin</a:t>
            </a:r>
            <a:endParaRPr lang="en-US" sz="3000" dirty="0"/>
          </a:p>
        </p:txBody>
      </p:sp>
      <p:sp>
        <p:nvSpPr>
          <p:cNvPr id="6" name="Shape 3"/>
          <p:cNvSpPr/>
          <p:nvPr/>
        </p:nvSpPr>
        <p:spPr>
          <a:xfrm>
            <a:off x="640080" y="1600200"/>
            <a:ext cx="10881360" cy="2377440"/>
          </a:xfrm>
          <a:prstGeom prst="roundRect">
            <a:avLst>
              <a:gd name="adj" fmla="val 4615"/>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746504"/>
            <a:ext cx="128016" cy="128016"/>
          </a:xfrm>
          <a:prstGeom prst="ellipse">
            <a:avLst/>
          </a:prstGeom>
          <a:solidFill>
            <a:srgbClr val="FF6B6B"/>
          </a:solidFill>
          <a:ln/>
        </p:spPr>
      </p:sp>
      <p:sp>
        <p:nvSpPr>
          <p:cNvPr id="8" name="Shape 5"/>
          <p:cNvSpPr/>
          <p:nvPr/>
        </p:nvSpPr>
        <p:spPr>
          <a:xfrm>
            <a:off x="11210544" y="1947672"/>
            <a:ext cx="128016" cy="128016"/>
          </a:xfrm>
          <a:prstGeom prst="ellipse">
            <a:avLst/>
          </a:prstGeom>
          <a:solidFill>
            <a:srgbClr val="FFD166"/>
          </a:solidFill>
          <a:ln/>
        </p:spPr>
      </p:sp>
      <p:sp>
        <p:nvSpPr>
          <p:cNvPr id="9" name="Shape 6"/>
          <p:cNvSpPr/>
          <p:nvPr/>
        </p:nvSpPr>
        <p:spPr>
          <a:xfrm>
            <a:off x="11210544" y="2148840"/>
            <a:ext cx="128016" cy="128016"/>
          </a:xfrm>
          <a:prstGeom prst="ellipse">
            <a:avLst/>
          </a:prstGeom>
          <a:solidFill>
            <a:srgbClr val="2EC4B6"/>
          </a:solidFill>
          <a:ln/>
        </p:spPr>
      </p:sp>
      <p:sp>
        <p:nvSpPr>
          <p:cNvPr id="10" name="Text 7"/>
          <p:cNvSpPr/>
          <p:nvPr/>
        </p:nvSpPr>
        <p:spPr>
          <a:xfrm>
            <a:off x="914400" y="172821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Delete the old bindings, replace MyTeleop's constructor</a:t>
            </a:r>
            <a:endParaRPr lang="en-US" sz="1500" dirty="0"/>
          </a:p>
        </p:txBody>
      </p:sp>
      <p:sp>
        <p:nvSpPr>
          <p:cNvPr id="11" name="Text 8"/>
          <p:cNvSpPr/>
          <p:nvPr/>
        </p:nvSpPr>
        <p:spPr>
          <a:xfrm>
            <a:off x="914400" y="2057400"/>
            <a:ext cx="10195560" cy="1719072"/>
          </a:xfrm>
          <a:prstGeom prst="rect">
            <a:avLst/>
          </a:prstGeom>
          <a:noFill/>
          <a:ln/>
        </p:spPr>
        <p:txBody>
          <a:bodyPr wrap="square" lIns="0" tIns="0" rIns="0" bIns="0" rtlCol="0" anchor="t"/>
          <a:lstStyle/>
          <a:p>
            <a:pPr indent="0" marL="0">
              <a:lnSpc>
                <a:spcPct val="120000"/>
              </a:lnSpc>
              <a:buNone/>
            </a:pPr>
            <a:r>
              <a:rPr lang="en-US" sz="1400" dirty="0">
                <a:solidFill>
                  <a:srgbClr val="7FA8C9"/>
                </a:solidFill>
                <a:latin typeface="Courier New" pitchFamily="34" charset="0"/>
                <a:ea typeface="Courier New" pitchFamily="34" charset="-122"/>
                <a:cs typeface="Courier New" pitchFamily="34" charset="-120"/>
              </a:rPr>
              <a:t>// Left stick translates by default; bumpers spin in place.</a:t>
            </a:r>
            <a:endParaRPr lang="en-US" sz="1400" dirty="0"/>
          </a:p>
          <a:p>
            <a:pPr indent="0" marL="0">
              <a:lnSpc>
                <a:spcPct val="120000"/>
              </a:lnSpc>
              <a:buNone/>
            </a:pPr>
            <a:r>
              <a:rPr lang="en-US" sz="1400" dirty="0">
                <a:solidFill>
                  <a:srgbClr val="D7E3F4"/>
                </a:solidFill>
                <a:latin typeface="Courier New" pitchFamily="34" charset="0"/>
                <a:ea typeface="Courier New" pitchFamily="34" charset="-122"/>
                <a:cs typeface="Courier New" pitchFamily="34" charset="-120"/>
              </a:rPr>
              <a:t>robot.drivetrain.setDefaultCommand(robot.drivetrain.translate(</a:t>
            </a:r>
            <a:endParaRPr lang="en-US" sz="1400" dirty="0"/>
          </a:p>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    () -&gt; -robot.driverController.getLeftY(),   // forward = +X</a:t>
            </a:r>
            <a:endParaRPr lang="en-US" sz="1400" dirty="0"/>
          </a:p>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    () -&gt; -robot.driverController.getLeftX())); // left    = +Y</a:t>
            </a:r>
            <a:endParaRPr lang="en-US" sz="1400" dirty="0"/>
          </a:p>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robot.driverController.leftBumper().whileTrue(robot.drivetrain.rotate(0.3));</a:t>
            </a:r>
            <a:endParaRPr lang="en-US" sz="1400" dirty="0"/>
          </a:p>
          <a:p>
            <a:pPr indent="0" marL="0">
              <a:lnSpc>
                <a:spcPct val="120000"/>
              </a:lnSpc>
              <a:buNone/>
            </a:pPr>
            <a:r>
              <a:rPr lang="en-US" sz="1400" dirty="0">
                <a:solidFill>
                  <a:srgbClr val="9EF01A"/>
                </a:solidFill>
                <a:latin typeface="Courier New" pitchFamily="34" charset="0"/>
                <a:ea typeface="Courier New" pitchFamily="34" charset="-122"/>
                <a:cs typeface="Courier New" pitchFamily="34" charset="-120"/>
              </a:rPr>
              <a:t>robot.driverController.rightBumper().whileTrue(robot.drivetrain.rotate(-0.3));</a:t>
            </a:r>
            <a:endParaRPr lang="en-US" sz="1400" dirty="0"/>
          </a:p>
        </p:txBody>
      </p:sp>
      <p:sp>
        <p:nvSpPr>
          <p:cNvPr id="12" name="Shape 9"/>
          <p:cNvSpPr/>
          <p:nvPr/>
        </p:nvSpPr>
        <p:spPr>
          <a:xfrm>
            <a:off x="640080" y="4251960"/>
            <a:ext cx="10881360" cy="2103120"/>
          </a:xfrm>
          <a:prstGeom prst="roundRect">
            <a:avLst>
              <a:gd name="adj" fmla="val 4348"/>
            </a:avLst>
          </a:prstGeom>
          <a:solidFill>
            <a:srgbClr val="F3F6FA"/>
          </a:solidFill>
          <a:ln/>
        </p:spPr>
      </p:sp>
      <p:sp>
        <p:nvSpPr>
          <p:cNvPr id="13" name="Text 10"/>
          <p:cNvSpPr/>
          <p:nvPr/>
        </p:nvSpPr>
        <p:spPr>
          <a:xfrm>
            <a:off x="777240" y="4389120"/>
            <a:ext cx="10607040" cy="182880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Delete the old A/B, slow-mode, steering, and D-pad binds — all lived on a class that's now a helper. Both bumper commands and the default translate require the Drivetrain, so holding one cancels the other automatically.</a:t>
            </a:r>
            <a:endParaRPr lang="en-US" sz="2000" dirty="0"/>
          </a:p>
        </p:txBody>
      </p:sp>
      <p:sp>
        <p:nvSpPr>
          <p:cNvPr id="14"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FOUR MODULES</a:t>
            </a:r>
            <a:endParaRPr lang="en-US" sz="2000" dirty="0"/>
          </a:p>
        </p:txBody>
      </p:sp>
      <p:sp>
        <p:nvSpPr>
          <p:cNvPr id="15"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22</a:t>
            </a:r>
            <a:endParaRPr lang="en-US" sz="2000" dirty="0"/>
          </a:p>
        </p:txBody>
      </p:sp>
      <p:pic>
        <p:nvPicPr>
          <p:cNvPr id="16"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play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SECTION 7 · RUN IT</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A live diagram of the whole chassis</a:t>
            </a:r>
            <a:endParaRPr lang="en-US" sz="3000" dirty="0"/>
          </a:p>
        </p:txBody>
      </p:sp>
      <p:sp>
        <p:nvSpPr>
          <p:cNvPr id="6" name="Shape 3"/>
          <p:cNvSpPr/>
          <p:nvPr/>
        </p:nvSpPr>
        <p:spPr>
          <a:xfrm>
            <a:off x="640080" y="1709928"/>
            <a:ext cx="502920" cy="502920"/>
          </a:xfrm>
          <a:prstGeom prst="ellipse">
            <a:avLst/>
          </a:prstGeom>
          <a:solidFill>
            <a:srgbClr val="1B9AAA"/>
          </a:solidFill>
          <a:ln/>
        </p:spPr>
      </p:sp>
      <p:sp>
        <p:nvSpPr>
          <p:cNvPr id="7" name="Text 4"/>
          <p:cNvSpPr/>
          <p:nvPr/>
        </p:nvSpPr>
        <p:spPr>
          <a:xfrm>
            <a:off x="640080" y="170992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8" name="Text 5"/>
          <p:cNvSpPr/>
          <p:nvPr/>
        </p:nvSpPr>
        <p:spPr>
          <a:xfrm>
            <a:off x="1371600" y="1636776"/>
            <a:ext cx="9875520" cy="384048"/>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./gradlew simulateJava → My Teleop → Enabled</a:t>
            </a:r>
            <a:endParaRPr lang="en-US" sz="2000" dirty="0"/>
          </a:p>
        </p:txBody>
      </p:sp>
      <p:sp>
        <p:nvSpPr>
          <p:cNvPr id="9" name="Text 6"/>
          <p:cNvSpPr/>
          <p:nvPr/>
        </p:nvSpPr>
        <p:spPr>
          <a:xfrm>
            <a:off x="1371600" y="202082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CADCE8"/>
                </a:solidFill>
                <a:latin typeface="Calibri" pitchFamily="34" charset="0"/>
                <a:ea typeface="Calibri" pitchFamily="34" charset="-122"/>
                <a:cs typeface="Calibri" pitchFamily="34" charset="-120"/>
              </a:rPr>
              <a:t>Push the stick — all four steer angles snap to the same value.</a:t>
            </a:r>
            <a:endParaRPr lang="en-US" sz="2000" dirty="0"/>
          </a:p>
        </p:txBody>
      </p:sp>
      <p:sp>
        <p:nvSpPr>
          <p:cNvPr id="10" name="Shape 7"/>
          <p:cNvSpPr/>
          <p:nvPr/>
        </p:nvSpPr>
        <p:spPr>
          <a:xfrm>
            <a:off x="640080" y="2761488"/>
            <a:ext cx="502920" cy="502920"/>
          </a:xfrm>
          <a:prstGeom prst="ellipse">
            <a:avLst/>
          </a:prstGeom>
          <a:solidFill>
            <a:srgbClr val="1B9AAA"/>
          </a:solidFill>
          <a:ln/>
        </p:spPr>
      </p:sp>
      <p:sp>
        <p:nvSpPr>
          <p:cNvPr id="11" name="Text 8"/>
          <p:cNvSpPr/>
          <p:nvPr/>
        </p:nvSpPr>
        <p:spPr>
          <a:xfrm>
            <a:off x="640080" y="276148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2" name="Text 9"/>
          <p:cNvSpPr/>
          <p:nvPr/>
        </p:nvSpPr>
        <p:spPr>
          <a:xfrm>
            <a:off x="1371600" y="2688336"/>
            <a:ext cx="9875520" cy="384048"/>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Hold a bumper</a:t>
            </a:r>
            <a:endParaRPr lang="en-US" sz="2000" dirty="0"/>
          </a:p>
        </p:txBody>
      </p:sp>
      <p:sp>
        <p:nvSpPr>
          <p:cNvPr id="13" name="Text 10"/>
          <p:cNvSpPr/>
          <p:nvPr/>
        </p:nvSpPr>
        <p:spPr>
          <a:xfrm>
            <a:off x="1371600" y="307238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CADCE8"/>
                </a:solidFill>
                <a:latin typeface="Calibri" pitchFamily="34" charset="0"/>
                <a:ea typeface="Calibri" pitchFamily="34" charset="-122"/>
                <a:cs typeface="Calibri" pitchFamily="34" charset="-120"/>
              </a:rPr>
              <a:t>The four angles split into the pinwheel from the table.</a:t>
            </a:r>
            <a:endParaRPr lang="en-US" sz="2000" dirty="0"/>
          </a:p>
        </p:txBody>
      </p:sp>
      <p:sp>
        <p:nvSpPr>
          <p:cNvPr id="14" name="Shape 11"/>
          <p:cNvSpPr/>
          <p:nvPr/>
        </p:nvSpPr>
        <p:spPr>
          <a:xfrm>
            <a:off x="640080" y="3813048"/>
            <a:ext cx="502920" cy="502920"/>
          </a:xfrm>
          <a:prstGeom prst="ellipse">
            <a:avLst/>
          </a:prstGeom>
          <a:solidFill>
            <a:srgbClr val="1B9AAA"/>
          </a:solidFill>
          <a:ln/>
        </p:spPr>
      </p:sp>
      <p:sp>
        <p:nvSpPr>
          <p:cNvPr id="15" name="Text 12"/>
          <p:cNvSpPr/>
          <p:nvPr/>
        </p:nvSpPr>
        <p:spPr>
          <a:xfrm>
            <a:off x="640080" y="381304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6" name="Text 13"/>
          <p:cNvSpPr/>
          <p:nvPr/>
        </p:nvSpPr>
        <p:spPr>
          <a:xfrm>
            <a:off x="1371600" y="3739896"/>
            <a:ext cx="9875520" cy="384048"/>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Open AdvantageScope's Swerve tab</a:t>
            </a:r>
            <a:endParaRPr lang="en-US" sz="2000" dirty="0"/>
          </a:p>
        </p:txBody>
      </p:sp>
      <p:sp>
        <p:nvSpPr>
          <p:cNvPr id="17" name="Text 14"/>
          <p:cNvSpPr/>
          <p:nvPr/>
        </p:nvSpPr>
        <p:spPr>
          <a:xfrm>
            <a:off x="1371600" y="412394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CADCE8"/>
                </a:solidFill>
                <a:latin typeface="Calibri" pitchFamily="34" charset="0"/>
                <a:ea typeface="Calibri" pitchFamily="34" charset="-122"/>
                <a:cs typeface="Calibri" pitchFamily="34" charset="-120"/>
              </a:rPr>
              <a:t>Drag Telemetry/Drivetrain/ModuleStates into its States slot, Max Speed ≈ 5.</a:t>
            </a:r>
            <a:endParaRPr lang="en-US" sz="2000" dirty="0"/>
          </a:p>
        </p:txBody>
      </p:sp>
      <p:sp>
        <p:nvSpPr>
          <p:cNvPr id="18" name="Shape 15"/>
          <p:cNvSpPr/>
          <p:nvPr/>
        </p:nvSpPr>
        <p:spPr>
          <a:xfrm>
            <a:off x="640080" y="4864608"/>
            <a:ext cx="502920" cy="502920"/>
          </a:xfrm>
          <a:prstGeom prst="ellipse">
            <a:avLst/>
          </a:prstGeom>
          <a:solidFill>
            <a:srgbClr val="1B9AAA"/>
          </a:solidFill>
          <a:ln/>
        </p:spPr>
      </p:sp>
      <p:sp>
        <p:nvSpPr>
          <p:cNvPr id="19" name="Text 16"/>
          <p:cNvSpPr/>
          <p:nvPr/>
        </p:nvSpPr>
        <p:spPr>
          <a:xfrm>
            <a:off x="640080" y="486460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0" name="Text 17"/>
          <p:cNvSpPr/>
          <p:nvPr/>
        </p:nvSpPr>
        <p:spPr>
          <a:xfrm>
            <a:off x="1371600" y="4791456"/>
            <a:ext cx="9875520" cy="384048"/>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Retune kP now that you can see it move</a:t>
            </a:r>
            <a:endParaRPr lang="en-US" sz="2000" dirty="0"/>
          </a:p>
        </p:txBody>
      </p:sp>
      <p:sp>
        <p:nvSpPr>
          <p:cNvPr id="21" name="Text 18"/>
          <p:cNvSpPr/>
          <p:nvPr/>
        </p:nvSpPr>
        <p:spPr>
          <a:xfrm>
            <a:off x="1371600" y="517550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CADCE8"/>
                </a:solidFill>
                <a:latin typeface="Calibri" pitchFamily="34" charset="0"/>
                <a:ea typeface="Calibri" pitchFamily="34" charset="-122"/>
                <a:cs typeface="Calibri" pitchFamily="34" charset="-120"/>
              </a:rPr>
              <a:t>kP = 0.005 — ten times Lesson 5's value — settles in about a second.</a:t>
            </a:r>
            <a:endParaRPr lang="en-US" sz="2000" dirty="0"/>
          </a:p>
        </p:txBody>
      </p:sp>
      <p:sp>
        <p:nvSpPr>
          <p:cNvPr id="22" name="Text 1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FOUR MODULES</a:t>
            </a:r>
            <a:endParaRPr lang="en-US" sz="2000" dirty="0"/>
          </a:p>
        </p:txBody>
      </p:sp>
      <p:sp>
        <p:nvSpPr>
          <p:cNvPr id="23" name="Text 2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23</a:t>
            </a:r>
            <a:endParaRPr lang="en-US" sz="2000" dirty="0"/>
          </a:p>
        </p:txBody>
      </p:sp>
      <p:pic>
        <p:nvPicPr>
          <p:cNvPr id="24"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clipboardcheck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7 · ON A REAL CHASSIS</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Before you drive a real chassis: set it up</a:t>
            </a:r>
            <a:endParaRPr lang="en-US" sz="3000" dirty="0"/>
          </a:p>
        </p:txBody>
      </p:sp>
      <p:sp>
        <p:nvSpPr>
          <p:cNvPr id="6" name="Shape 3"/>
          <p:cNvSpPr/>
          <p:nvPr/>
        </p:nvSpPr>
        <p:spPr>
          <a:xfrm>
            <a:off x="640080" y="1618488"/>
            <a:ext cx="502920" cy="502920"/>
          </a:xfrm>
          <a:prstGeom prst="ellipse">
            <a:avLst/>
          </a:prstGeom>
          <a:solidFill>
            <a:srgbClr val="1B9AAA"/>
          </a:solidFill>
          <a:ln/>
        </p:spPr>
      </p:sp>
      <p:sp>
        <p:nvSpPr>
          <p:cNvPr id="7" name="Text 4"/>
          <p:cNvSpPr/>
          <p:nvPr/>
        </p:nvSpPr>
        <p:spPr>
          <a:xfrm>
            <a:off x="640080" y="161848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8" name="Text 5"/>
          <p:cNvSpPr/>
          <p:nvPr/>
        </p:nvSpPr>
        <p:spPr>
          <a:xfrm>
            <a:off x="1371600" y="1545336"/>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Decide which end is the front</a:t>
            </a:r>
            <a:endParaRPr lang="en-US" sz="2000" dirty="0"/>
          </a:p>
        </p:txBody>
      </p:sp>
      <p:sp>
        <p:nvSpPr>
          <p:cNvPr id="9" name="Text 6"/>
          <p:cNvSpPr/>
          <p:nvPr/>
        </p:nvSpPr>
        <p:spPr>
          <a:xfrm>
            <a:off x="1371600" y="192938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kFrontLeft/kFrontRight must really be the front; check IDs.</a:t>
            </a:r>
            <a:endParaRPr lang="en-US" sz="2000" dirty="0"/>
          </a:p>
        </p:txBody>
      </p:sp>
      <p:sp>
        <p:nvSpPr>
          <p:cNvPr id="10" name="Shape 7"/>
          <p:cNvSpPr/>
          <p:nvPr/>
        </p:nvSpPr>
        <p:spPr>
          <a:xfrm>
            <a:off x="640080" y="2670048"/>
            <a:ext cx="502920" cy="502920"/>
          </a:xfrm>
          <a:prstGeom prst="ellipse">
            <a:avLst/>
          </a:prstGeom>
          <a:solidFill>
            <a:srgbClr val="1B9AAA"/>
          </a:solidFill>
          <a:ln/>
        </p:spPr>
      </p:sp>
      <p:sp>
        <p:nvSpPr>
          <p:cNvPr id="11" name="Text 8"/>
          <p:cNvSpPr/>
          <p:nvPr/>
        </p:nvSpPr>
        <p:spPr>
          <a:xfrm>
            <a:off x="640080" y="267004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2" name="Text 9"/>
          <p:cNvSpPr/>
          <p:nvPr/>
        </p:nvSpPr>
        <p:spPr>
          <a:xfrm>
            <a:off x="1371600" y="2596896"/>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Point every wheel straight forward</a:t>
            </a:r>
            <a:endParaRPr lang="en-US" sz="2000" dirty="0"/>
          </a:p>
        </p:txBody>
      </p:sp>
      <p:sp>
        <p:nvSpPr>
          <p:cNvPr id="13" name="Text 10"/>
          <p:cNvSpPr/>
          <p:nvPr/>
        </p:nvSpPr>
        <p:spPr>
          <a:xfrm>
            <a:off x="1371600" y="298094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A straightedge along each side, all four facing the same way.</a:t>
            </a:r>
            <a:endParaRPr lang="en-US" sz="2000" dirty="0"/>
          </a:p>
        </p:txBody>
      </p:sp>
      <p:sp>
        <p:nvSpPr>
          <p:cNvPr id="14" name="Shape 11"/>
          <p:cNvSpPr/>
          <p:nvPr/>
        </p:nvSpPr>
        <p:spPr>
          <a:xfrm>
            <a:off x="640080" y="3721608"/>
            <a:ext cx="502920" cy="502920"/>
          </a:xfrm>
          <a:prstGeom prst="ellipse">
            <a:avLst/>
          </a:prstGeom>
          <a:solidFill>
            <a:srgbClr val="1B9AAA"/>
          </a:solidFill>
          <a:ln/>
        </p:spPr>
      </p:sp>
      <p:sp>
        <p:nvSpPr>
          <p:cNvPr id="15" name="Text 12"/>
          <p:cNvSpPr/>
          <p:nvPr/>
        </p:nvSpPr>
        <p:spPr>
          <a:xfrm>
            <a:off x="640080" y="372160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6" name="Text 13"/>
          <p:cNvSpPr/>
          <p:nvPr/>
        </p:nvSpPr>
        <p:spPr>
          <a:xfrm>
            <a:off x="1371600" y="3648456"/>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Measure the four magnet offsets</a:t>
            </a:r>
            <a:endParaRPr lang="en-US" sz="2000" dirty="0"/>
          </a:p>
        </p:txBody>
      </p:sp>
      <p:sp>
        <p:nvSpPr>
          <p:cNvPr id="17" name="Text 14"/>
          <p:cNvSpPr/>
          <p:nvPr/>
        </p:nvSpPr>
        <p:spPr>
          <a:xfrm>
            <a:off x="1371600" y="403250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With offsets at 0.0, store the negative of each raw reading.</a:t>
            </a:r>
            <a:endParaRPr lang="en-US" sz="2000" dirty="0"/>
          </a:p>
        </p:txBody>
      </p:sp>
      <p:sp>
        <p:nvSpPr>
          <p:cNvPr id="18" name="Shape 15"/>
          <p:cNvSpPr/>
          <p:nvPr/>
        </p:nvSpPr>
        <p:spPr>
          <a:xfrm>
            <a:off x="640080" y="4846320"/>
            <a:ext cx="10881360" cy="1417320"/>
          </a:xfrm>
          <a:prstGeom prst="roundRect">
            <a:avLst>
              <a:gd name="adj" fmla="val 6452"/>
            </a:avLst>
          </a:prstGeom>
          <a:solidFill>
            <a:srgbClr val="F3F6FA"/>
          </a:solidFill>
          <a:ln/>
        </p:spPr>
      </p:sp>
      <p:sp>
        <p:nvSpPr>
          <p:cNvPr id="19" name="Text 16"/>
          <p:cNvSpPr/>
          <p:nvPr/>
        </p:nvSpPr>
        <p:spPr>
          <a:xfrm>
            <a:off x="822960" y="5029200"/>
            <a:ext cx="10515600" cy="105156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Once per robot, and again whenever a module comes off the chassis — with the robot up on blocks so the wheels spin free.</a:t>
            </a:r>
            <a:endParaRPr lang="en-US" sz="2000" dirty="0"/>
          </a:p>
        </p:txBody>
      </p:sp>
      <p:sp>
        <p:nvSpPr>
          <p:cNvPr id="20" name="Text 17"/>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FOUR MODULES</a:t>
            </a:r>
            <a:endParaRPr lang="en-US" sz="2000" dirty="0"/>
          </a:p>
        </p:txBody>
      </p:sp>
      <p:sp>
        <p:nvSpPr>
          <p:cNvPr id="21" name="Text 18"/>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24</a:t>
            </a:r>
            <a:endParaRPr lang="en-US" sz="2000" dirty="0"/>
          </a:p>
        </p:txBody>
      </p:sp>
      <p:pic>
        <p:nvPicPr>
          <p:cNvPr id="22"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clipboardcheck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7 · ON A REAL CHASSIS</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Before you drive a real chassis: check it</a:t>
            </a:r>
            <a:endParaRPr lang="en-US" sz="3000" dirty="0"/>
          </a:p>
        </p:txBody>
      </p:sp>
      <p:sp>
        <p:nvSpPr>
          <p:cNvPr id="6" name="Shape 3"/>
          <p:cNvSpPr/>
          <p:nvPr/>
        </p:nvSpPr>
        <p:spPr>
          <a:xfrm>
            <a:off x="640080" y="1618488"/>
            <a:ext cx="502920" cy="502920"/>
          </a:xfrm>
          <a:prstGeom prst="ellipse">
            <a:avLst/>
          </a:prstGeom>
          <a:solidFill>
            <a:srgbClr val="1B9AAA"/>
          </a:solidFill>
          <a:ln/>
        </p:spPr>
      </p:sp>
      <p:sp>
        <p:nvSpPr>
          <p:cNvPr id="7" name="Text 4"/>
          <p:cNvSpPr/>
          <p:nvPr/>
        </p:nvSpPr>
        <p:spPr>
          <a:xfrm>
            <a:off x="640080" y="161848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8" name="Text 5"/>
          <p:cNvSpPr/>
          <p:nvPr/>
        </p:nvSpPr>
        <p:spPr>
          <a:xfrm>
            <a:off x="1371600" y="1545336"/>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Reboot and check zero</a:t>
            </a:r>
            <a:endParaRPr lang="en-US" sz="2000" dirty="0"/>
          </a:p>
        </p:txBody>
      </p:sp>
      <p:sp>
        <p:nvSpPr>
          <p:cNvPr id="9" name="Text 6"/>
          <p:cNvSpPr/>
          <p:nvPr/>
        </p:nvSpPr>
        <p:spPr>
          <a:xfrm>
            <a:off x="1371600" y="192938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Each module's SteerAngleDegrees should read about 0°.</a:t>
            </a:r>
            <a:endParaRPr lang="en-US" sz="2000" dirty="0"/>
          </a:p>
        </p:txBody>
      </p:sp>
      <p:sp>
        <p:nvSpPr>
          <p:cNvPr id="10" name="Shape 7"/>
          <p:cNvSpPr/>
          <p:nvPr/>
        </p:nvSpPr>
        <p:spPr>
          <a:xfrm>
            <a:off x="640080" y="2670048"/>
            <a:ext cx="502920" cy="502920"/>
          </a:xfrm>
          <a:prstGeom prst="ellipse">
            <a:avLst/>
          </a:prstGeom>
          <a:solidFill>
            <a:srgbClr val="1B9AAA"/>
          </a:solidFill>
          <a:ln/>
        </p:spPr>
      </p:sp>
      <p:sp>
        <p:nvSpPr>
          <p:cNvPr id="11" name="Text 8"/>
          <p:cNvSpPr/>
          <p:nvPr/>
        </p:nvSpPr>
        <p:spPr>
          <a:xfrm>
            <a:off x="640080" y="267004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5</a:t>
            </a:r>
            <a:endParaRPr lang="en-US" sz="2200" dirty="0"/>
          </a:p>
        </p:txBody>
      </p:sp>
      <p:sp>
        <p:nvSpPr>
          <p:cNvPr id="12" name="Text 9"/>
          <p:cNvSpPr/>
          <p:nvPr/>
        </p:nvSpPr>
        <p:spPr>
          <a:xfrm>
            <a:off x="1371600" y="2596896"/>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Turn one wheel a quarter-turn CCW by hand, then reboot</a:t>
            </a:r>
            <a:endParaRPr lang="en-US" sz="2000" dirty="0"/>
          </a:p>
        </p:txBody>
      </p:sp>
      <p:sp>
        <p:nvSpPr>
          <p:cNvPr id="13" name="Text 10"/>
          <p:cNvSpPr/>
          <p:nvPr/>
        </p:nvSpPr>
        <p:spPr>
          <a:xfrm>
            <a:off x="1371600" y="298094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About +90° before and after — this checks both sensors.</a:t>
            </a:r>
            <a:endParaRPr lang="en-US" sz="2000" dirty="0"/>
          </a:p>
        </p:txBody>
      </p:sp>
      <p:sp>
        <p:nvSpPr>
          <p:cNvPr id="14" name="Shape 11"/>
          <p:cNvSpPr/>
          <p:nvPr/>
        </p:nvSpPr>
        <p:spPr>
          <a:xfrm>
            <a:off x="640080" y="3721608"/>
            <a:ext cx="502920" cy="502920"/>
          </a:xfrm>
          <a:prstGeom prst="ellipse">
            <a:avLst/>
          </a:prstGeom>
          <a:solidFill>
            <a:srgbClr val="1B9AAA"/>
          </a:solidFill>
          <a:ln/>
        </p:spPr>
      </p:sp>
      <p:sp>
        <p:nvSpPr>
          <p:cNvPr id="15" name="Text 12"/>
          <p:cNvSpPr/>
          <p:nvPr/>
        </p:nvSpPr>
        <p:spPr>
          <a:xfrm>
            <a:off x="640080" y="372160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6</a:t>
            </a:r>
            <a:endParaRPr lang="en-US" sz="2200" dirty="0"/>
          </a:p>
        </p:txBody>
      </p:sp>
      <p:sp>
        <p:nvSpPr>
          <p:cNvPr id="16" name="Text 13"/>
          <p:cNvSpPr/>
          <p:nvPr/>
        </p:nvSpPr>
        <p:spPr>
          <a:xfrm>
            <a:off x="1371600" y="3648456"/>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Drive slowly, still on blocks</a:t>
            </a:r>
            <a:endParaRPr lang="en-US" sz="2000" dirty="0"/>
          </a:p>
        </p:txBody>
      </p:sp>
      <p:sp>
        <p:nvSpPr>
          <p:cNvPr id="17" name="Text 14"/>
          <p:cNvSpPr/>
          <p:nvPr/>
        </p:nvSpPr>
        <p:spPr>
          <a:xfrm>
            <a:off x="1371600" y="403250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Forward rolls forward, left points left, bumper = pinwheel.</a:t>
            </a:r>
            <a:endParaRPr lang="en-US" sz="2000" dirty="0"/>
          </a:p>
        </p:txBody>
      </p:sp>
      <p:sp>
        <p:nvSpPr>
          <p:cNvPr id="18" name="Shape 15"/>
          <p:cNvSpPr/>
          <p:nvPr/>
        </p:nvSpPr>
        <p:spPr>
          <a:xfrm>
            <a:off x="640080" y="4846320"/>
            <a:ext cx="10881360" cy="1417320"/>
          </a:xfrm>
          <a:prstGeom prst="roundRect">
            <a:avLst>
              <a:gd name="adj" fmla="val 6452"/>
            </a:avLst>
          </a:prstGeom>
          <a:solidFill>
            <a:srgbClr val="F3F6FA"/>
          </a:solidFill>
          <a:ln/>
        </p:spPr>
      </p:sp>
      <p:sp>
        <p:nvSpPr>
          <p:cNvPr id="19" name="Text 16"/>
          <p:cNvSpPr/>
          <p:nvPr/>
        </p:nvSpPr>
        <p:spPr>
          <a:xfrm>
            <a:off x="822960" y="5029200"/>
            <a:ext cx="10515600" cy="105156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Before the reboot you're watching the steering motor count; after it, priming has re-read the CANcoder.</a:t>
            </a:r>
            <a:endParaRPr lang="en-US" sz="2000" dirty="0"/>
          </a:p>
        </p:txBody>
      </p:sp>
      <p:sp>
        <p:nvSpPr>
          <p:cNvPr id="20" name="Text 17"/>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FOUR MODULES</a:t>
            </a:r>
            <a:endParaRPr lang="en-US" sz="2000" dirty="0"/>
          </a:p>
        </p:txBody>
      </p:sp>
      <p:sp>
        <p:nvSpPr>
          <p:cNvPr id="21" name="Text 18"/>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25</a:t>
            </a:r>
            <a:endParaRPr lang="en-US" sz="2000" dirty="0"/>
          </a:p>
        </p:txBody>
      </p:sp>
      <p:pic>
        <p:nvPicPr>
          <p:cNvPr id="22"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clipboardcheck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7 · ON A REAL CHASSIS</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When a step fails, the symptom names the cause</a:t>
            </a:r>
            <a:endParaRPr lang="en-US" sz="3000" dirty="0"/>
          </a:p>
        </p:txBody>
      </p:sp>
      <p:sp>
        <p:nvSpPr>
          <p:cNvPr id="6" name="Shape 3"/>
          <p:cNvSpPr/>
          <p:nvPr/>
        </p:nvSpPr>
        <p:spPr>
          <a:xfrm>
            <a:off x="640080" y="1417320"/>
            <a:ext cx="10881360" cy="3154680"/>
          </a:xfrm>
          <a:prstGeom prst="roundRect">
            <a:avLst>
              <a:gd name="adj" fmla="val 2899"/>
            </a:avLst>
          </a:prstGeom>
          <a:solidFill>
            <a:srgbClr val="F3F6FA"/>
          </a:solidFill>
          <a:ln/>
        </p:spPr>
      </p:sp>
      <p:sp>
        <p:nvSpPr>
          <p:cNvPr id="7" name="Text 4"/>
          <p:cNvSpPr/>
          <p:nvPr/>
        </p:nvSpPr>
        <p:spPr>
          <a:xfrm>
            <a:off x="868680" y="1645920"/>
            <a:ext cx="10424160" cy="365760"/>
          </a:xfrm>
          <a:prstGeom prst="rect">
            <a:avLst/>
          </a:prstGeom>
          <a:noFill/>
          <a:ln/>
        </p:spPr>
        <p:txBody>
          <a:bodyPr wrap="square" lIns="0" tIns="0" rIns="0" bIns="0" rtlCol="0" anchor="ctr"/>
          <a:lstStyle/>
          <a:p>
            <a:pPr indent="0" marL="0">
              <a:buNone/>
            </a:pPr>
            <a:r>
              <a:rPr lang="en-US" sz="2000" b="1" spc="50" kern="0" dirty="0">
                <a:solidFill>
                  <a:srgbClr val="FF5010"/>
                </a:solidFill>
                <a:latin typeface="Calibri" pitchFamily="34" charset="0"/>
                <a:ea typeface="Calibri" pitchFamily="34" charset="-122"/>
                <a:cs typeface="Calibri" pitchFamily="34" charset="-120"/>
              </a:rPr>
              <a:t>WHAT YOU SEE → WHAT TO FIX</a:t>
            </a:r>
            <a:endParaRPr lang="en-US" sz="2000" dirty="0"/>
          </a:p>
        </p:txBody>
      </p:sp>
      <p:sp>
        <p:nvSpPr>
          <p:cNvPr id="8" name="Text 5"/>
          <p:cNvSpPr/>
          <p:nvPr/>
        </p:nvSpPr>
        <p:spPr>
          <a:xfrm>
            <a:off x="868680" y="2103120"/>
            <a:ext cx="10424160" cy="224028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Forward drives sideways → zeros a quarter-turn off: redo steps 1–3</a:t>
            </a:r>
            <a:endParaRPr lang="en-US" sz="2000" dirty="0"/>
          </a:p>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One wheel at a different angle → remeasure it, check its IDs</a:t>
            </a:r>
            <a:endParaRPr lang="en-US" sz="2000" dirty="0"/>
          </a:p>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One wheel rolls backward → turn it 180°, remeasure its offset</a:t>
            </a:r>
            <a:endParaRPr lang="en-US" sz="2000" dirty="0"/>
          </a:p>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Stick left drives right → the steering motor counts backward</a:t>
            </a:r>
            <a:endParaRPr lang="en-US" sz="2000" dirty="0"/>
          </a:p>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Zero right on some boots only → set the CANcoder's SensorDirection</a:t>
            </a:r>
            <a:endParaRPr lang="en-US" sz="2000" dirty="0"/>
          </a:p>
        </p:txBody>
      </p:sp>
      <p:sp>
        <p:nvSpPr>
          <p:cNvPr id="9" name="Shape 6"/>
          <p:cNvSpPr/>
          <p:nvPr/>
        </p:nvSpPr>
        <p:spPr>
          <a:xfrm>
            <a:off x="640080" y="4754880"/>
            <a:ext cx="10881360" cy="1508760"/>
          </a:xfrm>
          <a:prstGeom prst="roundRect">
            <a:avLst>
              <a:gd name="adj" fmla="val 7273"/>
            </a:avLst>
          </a:prstGeom>
          <a:solidFill>
            <a:srgbClr val="0B1F3A"/>
          </a:solidFill>
          <a:ln/>
          <a:effectLst>
            <a:outerShdw sx="100000" sy="100000" kx="0" ky="0" algn="bl" rotWithShape="0" blurRad="101600" dist="38100" dir="5400000">
              <a:srgbClr val="0B1F3A">
                <a:alpha val="35000"/>
              </a:srgbClr>
            </a:outerShdw>
          </a:effectLst>
        </p:spPr>
      </p:sp>
      <p:sp>
        <p:nvSpPr>
          <p:cNvPr id="10" name="Shape 7"/>
          <p:cNvSpPr/>
          <p:nvPr/>
        </p:nvSpPr>
        <p:spPr>
          <a:xfrm>
            <a:off x="11210544" y="4901184"/>
            <a:ext cx="128016" cy="128016"/>
          </a:xfrm>
          <a:prstGeom prst="ellipse">
            <a:avLst/>
          </a:prstGeom>
          <a:solidFill>
            <a:srgbClr val="FF6B6B"/>
          </a:solidFill>
          <a:ln/>
        </p:spPr>
      </p:sp>
      <p:sp>
        <p:nvSpPr>
          <p:cNvPr id="11" name="Shape 8"/>
          <p:cNvSpPr/>
          <p:nvPr/>
        </p:nvSpPr>
        <p:spPr>
          <a:xfrm>
            <a:off x="11210544" y="5102352"/>
            <a:ext cx="128016" cy="128016"/>
          </a:xfrm>
          <a:prstGeom prst="ellipse">
            <a:avLst/>
          </a:prstGeom>
          <a:solidFill>
            <a:srgbClr val="FFD166"/>
          </a:solidFill>
          <a:ln/>
        </p:spPr>
      </p:sp>
      <p:sp>
        <p:nvSpPr>
          <p:cNvPr id="12" name="Shape 9"/>
          <p:cNvSpPr/>
          <p:nvPr/>
        </p:nvSpPr>
        <p:spPr>
          <a:xfrm>
            <a:off x="11210544" y="5303520"/>
            <a:ext cx="128016" cy="128016"/>
          </a:xfrm>
          <a:prstGeom prst="ellipse">
            <a:avLst/>
          </a:prstGeom>
          <a:solidFill>
            <a:srgbClr val="2EC4B6"/>
          </a:solidFill>
          <a:ln/>
        </p:spPr>
      </p:sp>
      <p:sp>
        <p:nvSpPr>
          <p:cNvPr id="13" name="Text 10"/>
          <p:cNvSpPr/>
          <p:nvPr/>
        </p:nvSpPr>
        <p:spPr>
          <a:xfrm>
            <a:off x="914400" y="488289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Only if step 5 read −90° before the reboot — change kSteerInverted in SteerConstants</a:t>
            </a:r>
            <a:endParaRPr lang="en-US" sz="1500" dirty="0"/>
          </a:p>
        </p:txBody>
      </p:sp>
      <p:sp>
        <p:nvSpPr>
          <p:cNvPr id="14" name="Text 11"/>
          <p:cNvSpPr/>
          <p:nvPr/>
        </p:nvSpPr>
        <p:spPr>
          <a:xfrm>
            <a:off x="914400" y="5212080"/>
            <a:ext cx="10195560" cy="850392"/>
          </a:xfrm>
          <a:prstGeom prst="rect">
            <a:avLst/>
          </a:prstGeom>
          <a:noFill/>
          <a:ln/>
        </p:spPr>
        <p:txBody>
          <a:bodyPr wrap="square" lIns="0" tIns="0" rIns="0" bIns="0" rtlCol="0" anchor="t"/>
          <a:lstStyle/>
          <a:p>
            <a:pPr indent="0" marL="0">
              <a:lnSpc>
                <a:spcPct val="120000"/>
              </a:lnSpc>
              <a:buNone/>
            </a:pPr>
            <a:r>
              <a:rPr lang="en-US" sz="1400" dirty="0">
                <a:solidFill>
                  <a:srgbClr val="D7E3F4"/>
                </a:solidFill>
                <a:latin typeface="Courier New" pitchFamily="34" charset="0"/>
                <a:ea typeface="Courier New" pitchFamily="34" charset="-122"/>
                <a:cs typeface="Courier New" pitchFamily="34" charset="-120"/>
              </a:rPr>
              <a:t>public static final InvertedValue kSteerInverted =</a:t>
            </a:r>
            <a:endParaRPr lang="en-US" sz="1400" dirty="0"/>
          </a:p>
          <a:p>
            <a:pPr indent="0" marL="0">
              <a:lnSpc>
                <a:spcPct val="120000"/>
              </a:lnSpc>
              <a:buNone/>
            </a:pPr>
            <a:r>
              <a:rPr lang="en-US" sz="1400" dirty="0">
                <a:solidFill>
                  <a:srgbClr val="FFD166"/>
                </a:solidFill>
                <a:latin typeface="Courier New" pitchFamily="34" charset="0"/>
                <a:ea typeface="Courier New" pitchFamily="34" charset="-122"/>
                <a:cs typeface="Courier New" pitchFamily="34" charset="-120"/>
              </a:rPr>
              <a:t>    InvertedValue.Clockwise_Positive;</a:t>
            </a:r>
            <a:endParaRPr lang="en-US" sz="1400" dirty="0"/>
          </a:p>
        </p:txBody>
      </p:sp>
      <p:sp>
        <p:nvSpPr>
          <p:cNvPr id="15" name="Text 12"/>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FOUR MODULES</a:t>
            </a:r>
            <a:endParaRPr lang="en-US" sz="2000" dirty="0"/>
          </a:p>
        </p:txBody>
      </p:sp>
      <p:sp>
        <p:nvSpPr>
          <p:cNvPr id="16" name="Text 13"/>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26</a:t>
            </a:r>
            <a:endParaRPr lang="en-US" sz="2000" dirty="0"/>
          </a:p>
        </p:txBody>
      </p:sp>
      <p:pic>
        <p:nvPicPr>
          <p:cNvPr id="17"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clipboardcheck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BEFORE YOU MOVE ON</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Try it (1 of 2)</a:t>
            </a:r>
            <a:endParaRPr lang="en-US" sz="3000" dirty="0"/>
          </a:p>
        </p:txBody>
      </p:sp>
      <p:sp>
        <p:nvSpPr>
          <p:cNvPr id="6" name="Shape 3"/>
          <p:cNvSpPr/>
          <p:nvPr/>
        </p:nvSpPr>
        <p:spPr>
          <a:xfrm>
            <a:off x="640080" y="1600200"/>
            <a:ext cx="5303520" cy="3794760"/>
          </a:xfrm>
          <a:prstGeom prst="roundRect">
            <a:avLst>
              <a:gd name="adj" fmla="val 2892"/>
            </a:avLst>
          </a:prstGeom>
          <a:solidFill>
            <a:srgbClr val="132A4C"/>
          </a:solidFill>
          <a:ln/>
        </p:spPr>
      </p:sp>
      <p:sp>
        <p:nvSpPr>
          <p:cNvPr id="7" name="Shape 4"/>
          <p:cNvSpPr/>
          <p:nvPr/>
        </p:nvSpPr>
        <p:spPr>
          <a:xfrm>
            <a:off x="960120" y="1828800"/>
            <a:ext cx="457200" cy="457200"/>
          </a:xfrm>
          <a:prstGeom prst="ellipse">
            <a:avLst/>
          </a:prstGeom>
          <a:solidFill>
            <a:srgbClr val="1B9AAA"/>
          </a:solidFill>
          <a:ln/>
        </p:spPr>
      </p:sp>
      <p:sp>
        <p:nvSpPr>
          <p:cNvPr id="8" name="Text 5"/>
          <p:cNvSpPr/>
          <p:nvPr/>
        </p:nvSpPr>
        <p:spPr>
          <a:xfrm>
            <a:off x="960120" y="1828800"/>
            <a:ext cx="457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9" name="Text 6"/>
          <p:cNvSpPr/>
          <p:nvPr/>
        </p:nvSpPr>
        <p:spPr>
          <a:xfrm>
            <a:off x="1600200" y="1828800"/>
            <a:ext cx="4023360" cy="457200"/>
          </a:xfrm>
          <a:prstGeom prst="rect">
            <a:avLst/>
          </a:prstGeom>
          <a:noFill/>
          <a:ln/>
        </p:spPr>
        <p:txBody>
          <a:bodyPr wrap="square" lIns="0" tIns="0" rIns="0" bIns="0" rtlCol="0" anchor="ctr"/>
          <a:lstStyle/>
          <a:p>
            <a:pPr indent="0" marL="0">
              <a:lnSpc>
                <a:spcPct val="110000"/>
              </a:lnSpc>
              <a:buNone/>
            </a:pPr>
            <a:r>
              <a:rPr lang="en-US" sz="2000" b="1" dirty="0">
                <a:solidFill>
                  <a:srgbClr val="FFFFFF"/>
                </a:solidFill>
                <a:latin typeface="Cambria" pitchFamily="34" charset="0"/>
                <a:ea typeface="Cambria" pitchFamily="34" charset="-122"/>
                <a:cs typeface="Cambria" pitchFamily="34" charset="-120"/>
              </a:rPr>
              <a:t>Check the rotate table</a:t>
            </a:r>
            <a:endParaRPr lang="en-US" sz="2000" dirty="0"/>
          </a:p>
        </p:txBody>
      </p:sp>
      <p:sp>
        <p:nvSpPr>
          <p:cNvPr id="10" name="Text 7"/>
          <p:cNvSpPr/>
          <p:nvPr/>
        </p:nvSpPr>
        <p:spPr>
          <a:xfrm>
            <a:off x="960120" y="2423160"/>
            <a:ext cx="4663440" cy="2697480"/>
          </a:xfrm>
          <a:prstGeom prst="rect">
            <a:avLst/>
          </a:prstGeom>
          <a:noFill/>
          <a:ln/>
        </p:spPr>
        <p:txBody>
          <a:bodyPr wrap="square" lIns="0" tIns="0" rIns="0" bIns="0" rtlCol="0" anchor="t"/>
          <a:lstStyle/>
          <a:p>
            <a:pPr indent="0" marL="0">
              <a:lnSpc>
                <a:spcPct val="125000"/>
              </a:lnSpc>
              <a:buNone/>
            </a:pPr>
            <a:r>
              <a:rPr lang="en-US" sz="2000" dirty="0">
                <a:solidFill>
                  <a:srgbClr val="CADCE8"/>
                </a:solidFill>
                <a:latin typeface="Calibri" pitchFamily="34" charset="0"/>
                <a:ea typeface="Calibri" pitchFamily="34" charset="-122"/>
                <a:cs typeface="Calibri" pitchFamily="34" charset="-120"/>
              </a:rPr>
              <a:t>Hold a bumper, check the four plotted angles corner by corner. A wrong one names its own bug.</a:t>
            </a:r>
            <a:endParaRPr lang="en-US" sz="2000" dirty="0"/>
          </a:p>
        </p:txBody>
      </p:sp>
      <p:sp>
        <p:nvSpPr>
          <p:cNvPr id="11" name="Shape 8"/>
          <p:cNvSpPr/>
          <p:nvPr/>
        </p:nvSpPr>
        <p:spPr>
          <a:xfrm>
            <a:off x="6217920" y="1600200"/>
            <a:ext cx="5303520" cy="3794760"/>
          </a:xfrm>
          <a:prstGeom prst="roundRect">
            <a:avLst>
              <a:gd name="adj" fmla="val 2892"/>
            </a:avLst>
          </a:prstGeom>
          <a:solidFill>
            <a:srgbClr val="132A4C"/>
          </a:solidFill>
          <a:ln/>
        </p:spPr>
      </p:sp>
      <p:sp>
        <p:nvSpPr>
          <p:cNvPr id="12" name="Shape 9"/>
          <p:cNvSpPr/>
          <p:nvPr/>
        </p:nvSpPr>
        <p:spPr>
          <a:xfrm>
            <a:off x="6537960" y="1828800"/>
            <a:ext cx="457200" cy="457200"/>
          </a:xfrm>
          <a:prstGeom prst="ellipse">
            <a:avLst/>
          </a:prstGeom>
          <a:solidFill>
            <a:srgbClr val="1B9AAA"/>
          </a:solidFill>
          <a:ln/>
        </p:spPr>
      </p:sp>
      <p:sp>
        <p:nvSpPr>
          <p:cNvPr id="13" name="Text 10"/>
          <p:cNvSpPr/>
          <p:nvPr/>
        </p:nvSpPr>
        <p:spPr>
          <a:xfrm>
            <a:off x="6537960" y="1828800"/>
            <a:ext cx="457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4" name="Text 11"/>
          <p:cNvSpPr/>
          <p:nvPr/>
        </p:nvSpPr>
        <p:spPr>
          <a:xfrm>
            <a:off x="7178040" y="1828800"/>
            <a:ext cx="4023360" cy="457200"/>
          </a:xfrm>
          <a:prstGeom prst="rect">
            <a:avLst/>
          </a:prstGeom>
          <a:noFill/>
          <a:ln/>
        </p:spPr>
        <p:txBody>
          <a:bodyPr wrap="square" lIns="0" tIns="0" rIns="0" bIns="0" rtlCol="0" anchor="ctr"/>
          <a:lstStyle/>
          <a:p>
            <a:pPr indent="0" marL="0">
              <a:lnSpc>
                <a:spcPct val="110000"/>
              </a:lnSpc>
              <a:buNone/>
            </a:pPr>
            <a:r>
              <a:rPr lang="en-US" sz="2000" b="1" dirty="0">
                <a:solidFill>
                  <a:srgbClr val="FFFFFF"/>
                </a:solidFill>
                <a:latin typeface="Cambria" pitchFamily="34" charset="0"/>
                <a:ea typeface="Cambria" pitchFamily="34" charset="-122"/>
                <a:cs typeface="Cambria" pitchFamily="34" charset="-120"/>
              </a:rPr>
              <a:t>Change the chassis geometry</a:t>
            </a:r>
            <a:endParaRPr lang="en-US" sz="2000" dirty="0"/>
          </a:p>
        </p:txBody>
      </p:sp>
      <p:sp>
        <p:nvSpPr>
          <p:cNvPr id="15" name="Text 12"/>
          <p:cNvSpPr/>
          <p:nvPr/>
        </p:nvSpPr>
        <p:spPr>
          <a:xfrm>
            <a:off x="6537960" y="2423160"/>
            <a:ext cx="4663440" cy="2697480"/>
          </a:xfrm>
          <a:prstGeom prst="rect">
            <a:avLst/>
          </a:prstGeom>
          <a:noFill/>
          <a:ln/>
        </p:spPr>
        <p:txBody>
          <a:bodyPr wrap="square" lIns="0" tIns="0" rIns="0" bIns="0" rtlCol="0" anchor="t"/>
          <a:lstStyle/>
          <a:p>
            <a:pPr indent="0" marL="0">
              <a:lnSpc>
                <a:spcPct val="125000"/>
              </a:lnSpc>
              <a:buNone/>
            </a:pPr>
            <a:r>
              <a:rPr lang="en-US" sz="2000" dirty="0">
                <a:solidFill>
                  <a:srgbClr val="CADCE8"/>
                </a:solidFill>
                <a:latin typeface="Calibri" pitchFamily="34" charset="0"/>
                <a:ea typeface="Calibri" pitchFamily="34" charset="-122"/>
                <a:cs typeface="Calibri" pitchFamily="34" charset="-120"/>
              </a:rPr>
              <a:t>kHalfLength = 0.4, kHalfWidth = 0.2. What do the four rotate angles become?</a:t>
            </a:r>
            <a:endParaRPr lang="en-US" sz="2000" dirty="0"/>
          </a:p>
        </p:txBody>
      </p:sp>
      <p:sp>
        <p:nvSpPr>
          <p:cNvPr id="16" name="Text 13"/>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FOUR MODULES</a:t>
            </a:r>
            <a:endParaRPr lang="en-US" sz="2000" dirty="0"/>
          </a:p>
        </p:txBody>
      </p:sp>
      <p:sp>
        <p:nvSpPr>
          <p:cNvPr id="17" name="Text 14"/>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27</a:t>
            </a:r>
            <a:endParaRPr lang="en-US" sz="2000" dirty="0"/>
          </a:p>
        </p:txBody>
      </p:sp>
      <p:pic>
        <p:nvPicPr>
          <p:cNvPr id="18"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clipboardcheck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BEFORE YOU MOVE ON</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Try it (2 of 2)</a:t>
            </a:r>
            <a:endParaRPr lang="en-US" sz="3000" dirty="0"/>
          </a:p>
        </p:txBody>
      </p:sp>
      <p:sp>
        <p:nvSpPr>
          <p:cNvPr id="6" name="Shape 3"/>
          <p:cNvSpPr/>
          <p:nvPr/>
        </p:nvSpPr>
        <p:spPr>
          <a:xfrm>
            <a:off x="640080" y="1600200"/>
            <a:ext cx="5303520" cy="2286000"/>
          </a:xfrm>
          <a:prstGeom prst="roundRect">
            <a:avLst>
              <a:gd name="adj" fmla="val 4800"/>
            </a:avLst>
          </a:prstGeom>
          <a:solidFill>
            <a:srgbClr val="132A4C"/>
          </a:solidFill>
          <a:ln/>
        </p:spPr>
      </p:sp>
      <p:sp>
        <p:nvSpPr>
          <p:cNvPr id="7" name="Shape 4"/>
          <p:cNvSpPr/>
          <p:nvPr/>
        </p:nvSpPr>
        <p:spPr>
          <a:xfrm>
            <a:off x="960120" y="1828800"/>
            <a:ext cx="457200" cy="457200"/>
          </a:xfrm>
          <a:prstGeom prst="ellipse">
            <a:avLst/>
          </a:prstGeom>
          <a:solidFill>
            <a:srgbClr val="1B9AAA"/>
          </a:solidFill>
          <a:ln/>
        </p:spPr>
      </p:sp>
      <p:sp>
        <p:nvSpPr>
          <p:cNvPr id="8" name="Text 5"/>
          <p:cNvSpPr/>
          <p:nvPr/>
        </p:nvSpPr>
        <p:spPr>
          <a:xfrm>
            <a:off x="960120" y="1828800"/>
            <a:ext cx="457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9" name="Text 6"/>
          <p:cNvSpPr/>
          <p:nvPr/>
        </p:nvSpPr>
        <p:spPr>
          <a:xfrm>
            <a:off x="1600200" y="1828800"/>
            <a:ext cx="2606040" cy="457200"/>
          </a:xfrm>
          <a:prstGeom prst="rect">
            <a:avLst/>
          </a:prstGeom>
          <a:noFill/>
          <a:ln/>
        </p:spPr>
        <p:txBody>
          <a:bodyPr wrap="square" lIns="0" tIns="0" rIns="0" bIns="0" rtlCol="0" anchor="ctr"/>
          <a:lstStyle/>
          <a:p>
            <a:pPr indent="0" marL="0">
              <a:lnSpc>
                <a:spcPct val="110000"/>
              </a:lnSpc>
              <a:buNone/>
            </a:pPr>
            <a:r>
              <a:rPr lang="en-US" sz="2000" b="1" dirty="0">
                <a:solidFill>
                  <a:srgbClr val="FFFFFF"/>
                </a:solidFill>
                <a:latin typeface="Cambria" pitchFamily="34" charset="0"/>
                <a:ea typeface="Cambria" pitchFamily="34" charset="-122"/>
                <a:cs typeface="Cambria" pitchFamily="34" charset="-120"/>
              </a:rPr>
              <a:t>Add driveForwardMeters</a:t>
            </a:r>
            <a:endParaRPr lang="en-US" sz="2000" dirty="0"/>
          </a:p>
        </p:txBody>
      </p:sp>
      <p:sp>
        <p:nvSpPr>
          <p:cNvPr id="10" name="Shape 7"/>
          <p:cNvSpPr/>
          <p:nvPr/>
        </p:nvSpPr>
        <p:spPr>
          <a:xfrm>
            <a:off x="4206240" y="1911096"/>
            <a:ext cx="1417320" cy="292608"/>
          </a:xfrm>
          <a:prstGeom prst="roundRect">
            <a:avLst>
              <a:gd name="adj" fmla="val 18750"/>
            </a:avLst>
          </a:prstGeom>
          <a:solidFill>
            <a:srgbClr val="FF5010"/>
          </a:solidFill>
          <a:ln/>
        </p:spPr>
      </p:sp>
      <p:sp>
        <p:nvSpPr>
          <p:cNvPr id="11" name="Text 8"/>
          <p:cNvSpPr/>
          <p:nvPr/>
        </p:nvSpPr>
        <p:spPr>
          <a:xfrm>
            <a:off x="4206240" y="1911096"/>
            <a:ext cx="1417320" cy="292608"/>
          </a:xfrm>
          <a:prstGeom prst="rect">
            <a:avLst/>
          </a:prstGeom>
          <a:noFill/>
          <a:ln/>
        </p:spPr>
        <p:txBody>
          <a:bodyPr wrap="square" lIns="0" tIns="0" rIns="0" bIns="0" rtlCol="0" anchor="ctr"/>
          <a:lstStyle/>
          <a:p>
            <a:pPr algn="ctr" indent="0" marL="0">
              <a:buNone/>
            </a:pPr>
            <a:r>
              <a:rPr lang="en-US" sz="1200" b="1" spc="50" kern="0" dirty="0">
                <a:solidFill>
                  <a:srgbClr val="0B1F3A"/>
                </a:solidFill>
                <a:latin typeface="Calibri" pitchFamily="34" charset="0"/>
                <a:ea typeface="Calibri" pitchFamily="34" charset="-122"/>
                <a:cs typeface="Calibri" pitchFamily="34" charset="-120"/>
              </a:rPr>
              <a:t>WRITE CODE</a:t>
            </a:r>
            <a:endParaRPr lang="en-US" sz="1200" dirty="0"/>
          </a:p>
        </p:txBody>
      </p:sp>
      <p:sp>
        <p:nvSpPr>
          <p:cNvPr id="12" name="Text 9"/>
          <p:cNvSpPr/>
          <p:nvPr/>
        </p:nvSpPr>
        <p:spPr>
          <a:xfrm>
            <a:off x="960120" y="2423160"/>
            <a:ext cx="4663440" cy="1188720"/>
          </a:xfrm>
          <a:prstGeom prst="rect">
            <a:avLst/>
          </a:prstGeom>
          <a:noFill/>
          <a:ln/>
        </p:spPr>
        <p:txBody>
          <a:bodyPr wrap="square" lIns="0" tIns="0" rIns="0" bIns="0" rtlCol="0" anchor="t"/>
          <a:lstStyle/>
          <a:p>
            <a:pPr indent="0" marL="0">
              <a:lnSpc>
                <a:spcPct val="125000"/>
              </a:lnSpc>
              <a:buNone/>
            </a:pPr>
            <a:r>
              <a:rPr lang="en-US" sz="2000" dirty="0">
                <a:solidFill>
                  <a:srgbClr val="CADCE8"/>
                </a:solidFill>
                <a:latin typeface="Calibri" pitchFamily="34" charset="0"/>
                <a:ea typeface="Calibri" pitchFamily="34" charset="-122"/>
                <a:cs typeface="Calibri" pitchFamily="34" charset="-120"/>
              </a:rPr>
              <a:t>Read getDistanceMeters() from m_modules[0], sequence steps like Lesson 6's driveDistance — this becomes Lesson 9's real auto step.</a:t>
            </a:r>
            <a:endParaRPr lang="en-US" sz="2000" dirty="0"/>
          </a:p>
        </p:txBody>
      </p:sp>
      <p:sp>
        <p:nvSpPr>
          <p:cNvPr id="13" name="Shape 10"/>
          <p:cNvSpPr/>
          <p:nvPr/>
        </p:nvSpPr>
        <p:spPr>
          <a:xfrm>
            <a:off x="6217920" y="1600200"/>
            <a:ext cx="5303520" cy="2286000"/>
          </a:xfrm>
          <a:prstGeom prst="roundRect">
            <a:avLst>
              <a:gd name="adj" fmla="val 4800"/>
            </a:avLst>
          </a:prstGeom>
          <a:solidFill>
            <a:srgbClr val="132A4C"/>
          </a:solidFill>
          <a:ln/>
        </p:spPr>
      </p:sp>
      <p:sp>
        <p:nvSpPr>
          <p:cNvPr id="14" name="Shape 11"/>
          <p:cNvSpPr/>
          <p:nvPr/>
        </p:nvSpPr>
        <p:spPr>
          <a:xfrm>
            <a:off x="6537960" y="1828800"/>
            <a:ext cx="457200" cy="457200"/>
          </a:xfrm>
          <a:prstGeom prst="ellipse">
            <a:avLst/>
          </a:prstGeom>
          <a:solidFill>
            <a:srgbClr val="1B9AAA"/>
          </a:solidFill>
          <a:ln/>
        </p:spPr>
      </p:sp>
      <p:sp>
        <p:nvSpPr>
          <p:cNvPr id="15" name="Text 12"/>
          <p:cNvSpPr/>
          <p:nvPr/>
        </p:nvSpPr>
        <p:spPr>
          <a:xfrm>
            <a:off x="6537960" y="1828800"/>
            <a:ext cx="457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6" name="Text 13"/>
          <p:cNvSpPr/>
          <p:nvPr/>
        </p:nvSpPr>
        <p:spPr>
          <a:xfrm>
            <a:off x="7178040" y="1828800"/>
            <a:ext cx="2606040" cy="457200"/>
          </a:xfrm>
          <a:prstGeom prst="rect">
            <a:avLst/>
          </a:prstGeom>
          <a:noFill/>
          <a:ln/>
        </p:spPr>
        <p:txBody>
          <a:bodyPr wrap="square" lIns="0" tIns="0" rIns="0" bIns="0" rtlCol="0" anchor="ctr"/>
          <a:lstStyle/>
          <a:p>
            <a:pPr indent="0" marL="0">
              <a:lnSpc>
                <a:spcPct val="110000"/>
              </a:lnSpc>
              <a:buNone/>
            </a:pPr>
            <a:r>
              <a:rPr lang="en-US" sz="2000" b="1" dirty="0">
                <a:solidFill>
                  <a:srgbClr val="FFFFFF"/>
                </a:solidFill>
                <a:latin typeface="Cambria" pitchFamily="34" charset="0"/>
                <a:ea typeface="Cambria" pitchFamily="34" charset="-122"/>
                <a:cs typeface="Cambria" pitchFamily="34" charset="-120"/>
              </a:rPr>
              <a:t>Move CAN IDs into Constants.java</a:t>
            </a:r>
            <a:endParaRPr lang="en-US" sz="2000" dirty="0"/>
          </a:p>
        </p:txBody>
      </p:sp>
      <p:sp>
        <p:nvSpPr>
          <p:cNvPr id="17" name="Shape 14"/>
          <p:cNvSpPr/>
          <p:nvPr/>
        </p:nvSpPr>
        <p:spPr>
          <a:xfrm>
            <a:off x="9784080" y="1911096"/>
            <a:ext cx="1417320" cy="292608"/>
          </a:xfrm>
          <a:prstGeom prst="roundRect">
            <a:avLst>
              <a:gd name="adj" fmla="val 18750"/>
            </a:avLst>
          </a:prstGeom>
          <a:solidFill>
            <a:srgbClr val="FF5010"/>
          </a:solidFill>
          <a:ln/>
        </p:spPr>
      </p:sp>
      <p:sp>
        <p:nvSpPr>
          <p:cNvPr id="18" name="Text 15"/>
          <p:cNvSpPr/>
          <p:nvPr/>
        </p:nvSpPr>
        <p:spPr>
          <a:xfrm>
            <a:off x="9784080" y="1911096"/>
            <a:ext cx="1417320" cy="292608"/>
          </a:xfrm>
          <a:prstGeom prst="rect">
            <a:avLst/>
          </a:prstGeom>
          <a:noFill/>
          <a:ln/>
        </p:spPr>
        <p:txBody>
          <a:bodyPr wrap="square" lIns="0" tIns="0" rIns="0" bIns="0" rtlCol="0" anchor="ctr"/>
          <a:lstStyle/>
          <a:p>
            <a:pPr algn="ctr" indent="0" marL="0">
              <a:buNone/>
            </a:pPr>
            <a:r>
              <a:rPr lang="en-US" sz="1200" b="1" spc="50" kern="0" dirty="0">
                <a:solidFill>
                  <a:srgbClr val="0B1F3A"/>
                </a:solidFill>
                <a:latin typeface="Calibri" pitchFamily="34" charset="0"/>
                <a:ea typeface="Calibri" pitchFamily="34" charset="-122"/>
                <a:cs typeface="Calibri" pitchFamily="34" charset="-120"/>
              </a:rPr>
              <a:t>WRITE CODE</a:t>
            </a:r>
            <a:endParaRPr lang="en-US" sz="1200" dirty="0"/>
          </a:p>
        </p:txBody>
      </p:sp>
      <p:sp>
        <p:nvSpPr>
          <p:cNvPr id="19" name="Text 16"/>
          <p:cNvSpPr/>
          <p:nvPr/>
        </p:nvSpPr>
        <p:spPr>
          <a:xfrm>
            <a:off x="6537960" y="2423160"/>
            <a:ext cx="4663440" cy="1188720"/>
          </a:xfrm>
          <a:prstGeom prst="rect">
            <a:avLst/>
          </a:prstGeom>
          <a:noFill/>
          <a:ln/>
        </p:spPr>
        <p:txBody>
          <a:bodyPr wrap="square" lIns="0" tIns="0" rIns="0" bIns="0" rtlCol="0" anchor="t"/>
          <a:lstStyle/>
          <a:p>
            <a:pPr indent="0" marL="0">
              <a:lnSpc>
                <a:spcPct val="125000"/>
              </a:lnSpc>
              <a:buNone/>
            </a:pPr>
            <a:r>
              <a:rPr lang="en-US" sz="2000" dirty="0">
                <a:solidFill>
                  <a:srgbClr val="CADCE8"/>
                </a:solidFill>
                <a:latin typeface="Calibri" pitchFamily="34" charset="0"/>
                <a:ea typeface="Calibri" pitchFamily="34" charset="-122"/>
                <a:cs typeface="Calibri" pitchFamily="34" charset="-120"/>
              </a:rPr>
              <a:t>Twelve CAN IDs and four magnet offsets, named in DriveConstants — then rebuild the module array to reference them.</a:t>
            </a:r>
            <a:endParaRPr lang="en-US" sz="2000" dirty="0"/>
          </a:p>
        </p:txBody>
      </p:sp>
      <p:sp>
        <p:nvSpPr>
          <p:cNvPr id="20" name="Shape 17"/>
          <p:cNvSpPr/>
          <p:nvPr/>
        </p:nvSpPr>
        <p:spPr>
          <a:xfrm>
            <a:off x="640080" y="4160520"/>
            <a:ext cx="5303520" cy="2286000"/>
          </a:xfrm>
          <a:prstGeom prst="roundRect">
            <a:avLst>
              <a:gd name="adj" fmla="val 4800"/>
            </a:avLst>
          </a:prstGeom>
          <a:solidFill>
            <a:srgbClr val="132A4C"/>
          </a:solidFill>
          <a:ln/>
        </p:spPr>
      </p:sp>
      <p:sp>
        <p:nvSpPr>
          <p:cNvPr id="21" name="Shape 18"/>
          <p:cNvSpPr/>
          <p:nvPr/>
        </p:nvSpPr>
        <p:spPr>
          <a:xfrm>
            <a:off x="960120" y="4389120"/>
            <a:ext cx="457200" cy="457200"/>
          </a:xfrm>
          <a:prstGeom prst="ellipse">
            <a:avLst/>
          </a:prstGeom>
          <a:solidFill>
            <a:srgbClr val="1B9AAA"/>
          </a:solidFill>
          <a:ln/>
        </p:spPr>
      </p:sp>
      <p:sp>
        <p:nvSpPr>
          <p:cNvPr id="22" name="Text 19"/>
          <p:cNvSpPr/>
          <p:nvPr/>
        </p:nvSpPr>
        <p:spPr>
          <a:xfrm>
            <a:off x="960120" y="4389120"/>
            <a:ext cx="457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23" name="Text 20"/>
          <p:cNvSpPr/>
          <p:nvPr/>
        </p:nvSpPr>
        <p:spPr>
          <a:xfrm>
            <a:off x="1600200" y="4389120"/>
            <a:ext cx="4023360" cy="457200"/>
          </a:xfrm>
          <a:prstGeom prst="rect">
            <a:avLst/>
          </a:prstGeom>
          <a:noFill/>
          <a:ln/>
        </p:spPr>
        <p:txBody>
          <a:bodyPr wrap="square" lIns="0" tIns="0" rIns="0" bIns="0" rtlCol="0" anchor="ctr"/>
          <a:lstStyle/>
          <a:p>
            <a:pPr indent="0" marL="0">
              <a:lnSpc>
                <a:spcPct val="110000"/>
              </a:lnSpc>
              <a:buNone/>
            </a:pPr>
            <a:r>
              <a:rPr lang="en-US" sz="2000" b="1" dirty="0">
                <a:solidFill>
                  <a:srgbClr val="FFFFFF"/>
                </a:solidFill>
                <a:latin typeface="Cambria" pitchFamily="34" charset="0"/>
                <a:ea typeface="Cambria" pitchFamily="34" charset="-122"/>
                <a:cs typeface="Cambria" pitchFamily="34" charset="-120"/>
              </a:rPr>
              <a:t>Break one calibration on purpose</a:t>
            </a:r>
            <a:endParaRPr lang="en-US" sz="2000" dirty="0"/>
          </a:p>
        </p:txBody>
      </p:sp>
      <p:sp>
        <p:nvSpPr>
          <p:cNvPr id="24" name="Text 21"/>
          <p:cNvSpPr/>
          <p:nvPr/>
        </p:nvSpPr>
        <p:spPr>
          <a:xfrm>
            <a:off x="960120" y="4983480"/>
            <a:ext cx="4663440" cy="1188720"/>
          </a:xfrm>
          <a:prstGeom prst="rect">
            <a:avLst/>
          </a:prstGeom>
          <a:noFill/>
          <a:ln/>
        </p:spPr>
        <p:txBody>
          <a:bodyPr wrap="square" lIns="0" tIns="0" rIns="0" bIns="0" rtlCol="0" anchor="t"/>
          <a:lstStyle/>
          <a:p>
            <a:pPr indent="0" marL="0">
              <a:lnSpc>
                <a:spcPct val="125000"/>
              </a:lnSpc>
              <a:buNone/>
            </a:pPr>
            <a:r>
              <a:rPr lang="en-US" sz="2000" dirty="0">
                <a:solidFill>
                  <a:srgbClr val="CADCE8"/>
                </a:solidFill>
                <a:latin typeface="Calibri" pitchFamily="34" charset="0"/>
                <a:ea typeface="Calibri" pitchFamily="34" charset="-122"/>
                <a:cs typeface="Calibri" pitchFamily="34" charset="-120"/>
              </a:rPr>
              <a:t>Change one corner's magnet offset by 0.1. Three arrows agree, one doesn't — put it back.</a:t>
            </a:r>
            <a:endParaRPr lang="en-US" sz="2000" dirty="0"/>
          </a:p>
        </p:txBody>
      </p:sp>
      <p:sp>
        <p:nvSpPr>
          <p:cNvPr id="25" name="Text 22"/>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FOUR MODULES</a:t>
            </a:r>
            <a:endParaRPr lang="en-US" sz="2000" dirty="0"/>
          </a:p>
        </p:txBody>
      </p:sp>
      <p:sp>
        <p:nvSpPr>
          <p:cNvPr id="26" name="Text 23"/>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28</a:t>
            </a:r>
            <a:endParaRPr lang="en-US" sz="2000" dirty="0"/>
          </a:p>
        </p:txBody>
      </p:sp>
      <p:pic>
        <p:nvPicPr>
          <p:cNvPr id="27"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graduationcap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WHAT YOU LEARNED</a:t>
            </a:r>
            <a:endParaRPr lang="en-US" sz="2000" dirty="0"/>
          </a:p>
        </p:txBody>
      </p:sp>
      <p:sp>
        <p:nvSpPr>
          <p:cNvPr id="5" name="Text 2"/>
          <p:cNvSpPr/>
          <p:nvPr/>
        </p:nvSpPr>
        <p:spPr>
          <a:xfrm>
            <a:off x="1371600" y="818388"/>
            <a:ext cx="10149840" cy="502920"/>
          </a:xfrm>
          <a:prstGeom prst="rect">
            <a:avLst/>
          </a:prstGeom>
          <a:noFill/>
          <a:ln/>
        </p:spPr>
        <p:txBody>
          <a:bodyPr wrap="square" lIns="0" tIns="0" rIns="0" bIns="0" rtlCol="0" anchor="t"/>
          <a:lstStyle/>
          <a:p>
            <a:pPr indent="0" marL="0">
              <a:buNone/>
            </a:pPr>
            <a:r>
              <a:rPr lang="en-US" sz="3000" b="1" dirty="0">
                <a:solidFill>
                  <a:srgbClr val="13294B"/>
                </a:solidFill>
                <a:latin typeface="Cambria" pitchFamily="34" charset="0"/>
                <a:ea typeface="Cambria" pitchFamily="34" charset="-122"/>
                <a:cs typeface="Cambria" pitchFamily="34" charset="-120"/>
              </a:rPr>
              <a:t>One mechanism, four workers commanded together</a:t>
            </a:r>
            <a:endParaRPr lang="en-US" sz="3000" dirty="0"/>
          </a:p>
        </p:txBody>
      </p:sp>
      <p:sp>
        <p:nvSpPr>
          <p:cNvPr id="6" name="Text 3"/>
          <p:cNvSpPr/>
          <p:nvPr/>
        </p:nvSpPr>
        <p:spPr>
          <a:xfrm>
            <a:off x="640080" y="1600200"/>
            <a:ext cx="6309360" cy="4206240"/>
          </a:xfrm>
          <a:prstGeom prst="rect">
            <a:avLst/>
          </a:prstGeom>
          <a:noFill/>
          <a:ln/>
        </p:spPr>
        <p:txBody>
          <a:bodyPr wrap="square" lIns="0" tIns="0" rIns="0" bIns="0" rtlCol="0" anchor="t"/>
          <a:lstStyle/>
          <a:p>
            <a:pPr marL="342900" indent="-342900">
              <a:lnSpc>
                <a:spcPct val="115000"/>
              </a:lnSpc>
              <a:spcAft>
                <a:spcPts val="1000"/>
              </a:spcAft>
              <a:buSzPct val="100000"/>
              <a:buChar char="•"/>
            </a:pPr>
            <a:r>
              <a:rPr lang="en-US" sz="2000" dirty="0">
                <a:solidFill>
                  <a:srgbClr val="13294B"/>
                </a:solidFill>
                <a:latin typeface="Calibri" pitchFamily="34" charset="0"/>
                <a:ea typeface="Calibri" pitchFamily="34" charset="-122"/>
                <a:cs typeface="Calibri" pitchFamily="34" charset="-120"/>
              </a:rPr>
              <a:t>An array holds four same-typed modules; the enhanced for loop does the same work to each.</a:t>
            </a:r>
            <a:endParaRPr lang="en-US" sz="2000" dirty="0"/>
          </a:p>
          <a:p>
            <a:pPr marL="342900" indent="-342900">
              <a:lnSpc>
                <a:spcPct val="115000"/>
              </a:lnSpc>
              <a:spcAft>
                <a:spcPts val="1000"/>
              </a:spcAft>
              <a:buSzPct val="100000"/>
              <a:buChar char="•"/>
            </a:pPr>
            <a:r>
              <a:rPr lang="en-US" sz="2000" dirty="0">
                <a:solidFill>
                  <a:srgbClr val="13294B"/>
                </a:solidFill>
                <a:latin typeface="Calibri" pitchFamily="34" charset="0"/>
                <a:ea typeface="Calibri" pitchFamily="34" charset="-122"/>
                <a:cs typeface="Calibri" pitchFamily="34" charset="-120"/>
              </a:rPr>
              <a:t>Constructor parameters let one class describe four corners that differ only in their numbers.</a:t>
            </a:r>
            <a:endParaRPr lang="en-US" sz="2000" dirty="0"/>
          </a:p>
          <a:p>
            <a:pPr marL="342900" indent="-342900">
              <a:lnSpc>
                <a:spcPct val="115000"/>
              </a:lnSpc>
              <a:spcAft>
                <a:spcPts val="1000"/>
              </a:spcAft>
              <a:buSzPct val="100000"/>
              <a:buChar char="•"/>
            </a:pPr>
            <a:r>
              <a:rPr lang="en-US" sz="2000" dirty="0">
                <a:solidFill>
                  <a:srgbClr val="13294B"/>
                </a:solidFill>
                <a:latin typeface="Calibri" pitchFamily="34" charset="0"/>
                <a:ea typeface="Calibri" pitchFamily="34" charset="-122"/>
                <a:cs typeface="Calibri" pitchFamily="34" charset="-120"/>
              </a:rPr>
              <a:t>Not every class is a mechanism — SwerveModule became a helper; Drivetrain owns the scheduler's one lock.</a:t>
            </a:r>
            <a:endParaRPr lang="en-US" sz="2000" dirty="0"/>
          </a:p>
        </p:txBody>
      </p:sp>
      <p:sp>
        <p:nvSpPr>
          <p:cNvPr id="7" name="Shape 4"/>
          <p:cNvSpPr/>
          <p:nvPr/>
        </p:nvSpPr>
        <p:spPr>
          <a:xfrm>
            <a:off x="7269480" y="1600200"/>
            <a:ext cx="4297680" cy="4434840"/>
          </a:xfrm>
          <a:prstGeom prst="roundRect">
            <a:avLst>
              <a:gd name="adj" fmla="val 2553"/>
            </a:avLst>
          </a:prstGeom>
          <a:solidFill>
            <a:srgbClr val="0B1F3A"/>
          </a:solidFill>
          <a:ln/>
        </p:spPr>
      </p:sp>
      <p:sp>
        <p:nvSpPr>
          <p:cNvPr id="8" name="Text 5"/>
          <p:cNvSpPr/>
          <p:nvPr/>
        </p:nvSpPr>
        <p:spPr>
          <a:xfrm>
            <a:off x="7589520" y="1920240"/>
            <a:ext cx="3657600" cy="365760"/>
          </a:xfrm>
          <a:prstGeom prst="rect">
            <a:avLst/>
          </a:prstGeom>
          <a:noFill/>
          <a:ln/>
        </p:spPr>
        <p:txBody>
          <a:bodyPr wrap="square" lIns="0" tIns="0" rIns="0" bIns="0" rtlCol="0" anchor="ctr"/>
          <a:lstStyle/>
          <a:p>
            <a:pPr indent="0" marL="0">
              <a:buNone/>
            </a:pPr>
            <a:r>
              <a:rPr lang="en-US" sz="2000" b="1" spc="150" kern="0" dirty="0">
                <a:solidFill>
                  <a:srgbClr val="1B9AAA"/>
                </a:solidFill>
                <a:latin typeface="Calibri" pitchFamily="34" charset="0"/>
                <a:ea typeface="Calibri" pitchFamily="34" charset="-122"/>
                <a:cs typeface="Calibri" pitchFamily="34" charset="-120"/>
              </a:rPr>
              <a:t>NEXT</a:t>
            </a:r>
            <a:endParaRPr lang="en-US" sz="2000" dirty="0"/>
          </a:p>
        </p:txBody>
      </p:sp>
      <p:sp>
        <p:nvSpPr>
          <p:cNvPr id="9" name="Text 6"/>
          <p:cNvSpPr/>
          <p:nvPr/>
        </p:nvSpPr>
        <p:spPr>
          <a:xfrm>
            <a:off x="7589520" y="2331720"/>
            <a:ext cx="3657600" cy="502920"/>
          </a:xfrm>
          <a:prstGeom prst="rect">
            <a:avLst/>
          </a:prstGeom>
          <a:noFill/>
          <a:ln/>
        </p:spPr>
        <p:txBody>
          <a:bodyPr wrap="square" lIns="0" tIns="0" rIns="0" bIns="0" rtlCol="0" anchor="ctr"/>
          <a:lstStyle/>
          <a:p>
            <a:pPr indent="0" marL="0">
              <a:buNone/>
            </a:pPr>
            <a:r>
              <a:rPr lang="en-US" sz="2600" b="1" dirty="0">
                <a:solidFill>
                  <a:srgbClr val="FF5010"/>
                </a:solidFill>
                <a:latin typeface="Cambria" pitchFamily="34" charset="0"/>
                <a:ea typeface="Cambria" pitchFamily="34" charset="-122"/>
                <a:cs typeface="Cambria" pitchFamily="34" charset="-120"/>
              </a:rPr>
              <a:t>Lesson 8</a:t>
            </a:r>
            <a:endParaRPr lang="en-US" sz="2600" dirty="0"/>
          </a:p>
        </p:txBody>
      </p:sp>
      <p:sp>
        <p:nvSpPr>
          <p:cNvPr id="10" name="Text 7"/>
          <p:cNvSpPr/>
          <p:nvPr/>
        </p:nvSpPr>
        <p:spPr>
          <a:xfrm>
            <a:off x="7589520" y="2834640"/>
            <a:ext cx="3657600" cy="54864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Gyro &amp; Heading</a:t>
            </a:r>
            <a:endParaRPr lang="en-US" sz="2200" dirty="0"/>
          </a:p>
        </p:txBody>
      </p:sp>
      <p:sp>
        <p:nvSpPr>
          <p:cNvPr id="11" name="Text 8"/>
          <p:cNvSpPr/>
          <p:nvPr/>
        </p:nvSpPr>
        <p:spPr>
          <a:xfrm>
            <a:off x="7589520" y="3474720"/>
            <a:ext cx="3657600" cy="1554480"/>
          </a:xfrm>
          <a:prstGeom prst="rect">
            <a:avLst/>
          </a:prstGeom>
          <a:noFill/>
          <a:ln/>
        </p:spPr>
        <p:txBody>
          <a:bodyPr wrap="square" lIns="0" tIns="0" rIns="0" bIns="0" rtlCol="0" anchor="t"/>
          <a:lstStyle/>
          <a:p>
            <a:pPr indent="0" marL="0">
              <a:lnSpc>
                <a:spcPct val="130000"/>
              </a:lnSpc>
              <a:buNone/>
            </a:pPr>
            <a:r>
              <a:rPr lang="en-US" sz="2000" i="1" dirty="0">
                <a:solidFill>
                  <a:srgbClr val="CADCE8"/>
                </a:solidFill>
                <a:latin typeface="Calibri" pitchFamily="34" charset="0"/>
                <a:ea typeface="Calibri" pitchFamily="34" charset="-122"/>
                <a:cs typeface="Calibri" pitchFamily="34" charset="-120"/>
              </a:rPr>
              <a:t>Turn the whole robot to a compass direction and stop.</a:t>
            </a:r>
            <a:endParaRPr lang="en-US" sz="2000" dirty="0"/>
          </a:p>
        </p:txBody>
      </p:sp>
      <p:sp>
        <p:nvSpPr>
          <p:cNvPr id="12" name="Shape 9"/>
          <p:cNvSpPr/>
          <p:nvPr/>
        </p:nvSpPr>
        <p:spPr>
          <a:xfrm>
            <a:off x="7589520" y="5120640"/>
            <a:ext cx="502920" cy="502920"/>
          </a:xfrm>
          <a:prstGeom prst="ellipse">
            <a:avLst/>
          </a:prstGeom>
          <a:solidFill>
            <a:srgbClr val="1B9AAA"/>
          </a:solidFill>
          <a:ln/>
        </p:spPr>
      </p:sp>
      <p:pic>
        <p:nvPicPr>
          <p:cNvPr id="13" name="Image 1" descr="/home/user/BasicRobotLessons/docs/presentations/v3/template/assets/icons/arrowright_white.png">    </p:cNvPr>
          <p:cNvPicPr>
            <a:picLocks noChangeAspect="1"/>
          </p:cNvPicPr>
          <p:nvPr/>
        </p:nvPicPr>
        <p:blipFill>
          <a:blip r:embed="rId2"/>
          <a:stretch>
            <a:fillRect/>
          </a:stretch>
        </p:blipFill>
        <p:spPr>
          <a:xfrm>
            <a:off x="7708392" y="5239512"/>
            <a:ext cx="265176" cy="265176"/>
          </a:xfrm>
          <a:prstGeom prst="rect">
            <a:avLst/>
          </a:prstGeom>
        </p:spPr>
      </p:pic>
      <p:sp>
        <p:nvSpPr>
          <p:cNvPr id="14" name="Text 10"/>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FOUR MODULES</a:t>
            </a:r>
            <a:endParaRPr lang="en-US" sz="2000" dirty="0"/>
          </a:p>
        </p:txBody>
      </p:sp>
      <p:sp>
        <p:nvSpPr>
          <p:cNvPr id="15" name="Text 11"/>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29</a:t>
            </a:r>
            <a:endParaRPr lang="en-US" sz="2000" dirty="0"/>
          </a:p>
        </p:txBody>
      </p:sp>
      <p:pic>
        <p:nvPicPr>
          <p:cNvPr id="16" name="Image 2" descr="/home/user/BasicRobotLessons/docs/presentations/v3/template/assets/logo/team5010-logo-onwhite.png">    </p:cNvPr>
          <p:cNvPicPr>
            <a:picLocks noChangeAspect="1"/>
          </p:cNvPicPr>
          <p:nvPr/>
        </p:nvPicPr>
        <p:blipFill>
          <a:blip r:embed="rId3"/>
          <a:stretch>
            <a:fillRect/>
          </a:stretch>
        </p:blipFill>
        <p:spPr>
          <a:xfrm>
            <a:off x="10957255" y="164592"/>
            <a:ext cx="777240" cy="60585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7 — Four Modules</dc:title>
  <dc:subject>PptxGenJS Presentation</dc:subject>
  <dc:creator>Learn Java + Robot Programming</dc:creator>
  <cp:lastModifiedBy>Learn Java + Robot Programming</cp:lastModifiedBy>
  <cp:revision>1</cp:revision>
  <dcterms:created xsi:type="dcterms:W3CDTF">2026-09-26T19:59:49Z</dcterms:created>
  <dcterms:modified xsi:type="dcterms:W3CDTF">2026-09-26T19:59:49Z</dcterms:modified>
</cp:coreProperties>
</file>