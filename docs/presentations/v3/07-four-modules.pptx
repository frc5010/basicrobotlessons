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warning up front: this is the biggest refactor of the course. Nothing in it is hard, but you'll touch four files and the project will spend a while mid-surgery, full of red squiggles. That's what refactoring feels like — keep going and it all compiles again by section 7. By the end there's a chassis that actually turns, which is what Lesson 8's gyro needs to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swerve robot has four modules, one at each corner. Two "shapes" of motion cover almost everything, which is the framing for the whole lesson — translate and rotate in place — with the combined case (drive-while-rotating) deliberately deferred to Lesson 10's SwerveDriveKinematics.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both translate and rotate at once requires per-wheel math — you add the translation velocity and the rotation velocity vector at each corner. That's what SwerveDriveKinematics handles, and it's the whole point of Lesson 10. For now, building the two simple cases gives Lesson 8's gyro a robot that actually turns, without needing the combined math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DriveModule hard-codes CAN IDs 1 and 2 and knows nothing about where it sits on the robot. Four modules need four unique ID triples, and the rotation math needs each module's position — that's why the rename comes first, then the reshape. Doing the rename through VS Code's refactor tool, not a manual find-replace, is deliberate: it updates the filename and every reference in the project for you, so nothing gets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new shape of field, worth looking at closely: the fields have no initializers — no "= new TalonFX(...)" on the declaration line. They can't be initialized up top anymore, because the CAN IDs aren't known until someone calls the constructor with real values. So the declaration says "this field will exist," and the constructor fills it in. final still holds — a final field must be assigned exactly once, and an assignment in the constructor counts. The Lesson 4 ordering rule follows the assignments into the constructor too: m_driveSim is created by asking m_driveMotor, so the motor lines come first. Constructor parameters are what make one class serve four corners: each new SwerveModule(...) call hands in different IDs and a different position. And in this.location = location, the parameter and the field share a name — this. means "the field on this object," which is how Java tells them apart. Worth naming as a deliberate exception: location is public, after all that encapsulation talk in Lesson 1 — but it's final, and a Translation2d is a value that never changes once built, so sharing a read-only fact is safe; hiding it behind a getter would add ceremony without adding protection. Hardware like m_driveMotor stays private, same as always.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module no longer extends Mechanism, the command factories are literally gone — run, runRepeatedly, and friends were inherited from Mechanism, so driveAtSpeed, driveWithJoystick, steerToAngle, and driveDistance don't compile anymore. That's fine: commands belong to mechanisms, and this class isn't one anymore, so those all get deleted along with the constructor's addPeriodic call and logTelemetry() (telemetry moves up to Drivetrain in the next section). setDesiredState is Lesson 5's steerToAngle math wearing a new home: one call means one tick of control toward the given goal. The Drivetrain's commands will call it every tick they run — the same per-tick rhythm runRepeatedly has had since Lesson 2. That keeps a tidy rule intact: motors move only when a command asks, and commands only run while the robot is enabled. The module doesn't register anything with the scheduler at all — no addPeriodic, nothing — because there's nothing it needs to do on its own schedule. Keep the private clamp helper from Lesson 5 unchanged — this alpha's WPILib doesn't ship a MathUtil.clamp to replace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pretended the steering sensor turned 1:1 with the wheel and promised the real gearing later. The module is growing up today, so the debt comes due: the steering turns through a real 25:1 reduction — the rotor spins 25 times per steering rotation. Same two moves as the drive motor in Lesson 6: divide on the way in, multiply on the way back. Worth flagging a real consequence for later: the steering now turns at a believable speed instead of a bare rotor's instant snap, so Lesson 5's kP is now tuned for the wrong plant — measured against this model, the same kP = 0.0005 that converged cleanly in Lesson 5 now crawls, taking about 9 simulated seconds to close the last degree of a 90° turn. That's not a bug; the thing being controlled changed, and a 25:1 reduction resists motion harder than a bare rotor did. Nothing can be retuned yet since nothing runs until the wiring in section 6 — section 7 comes back to this the moment the robot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field on DriveConstants no longer makes sense and has to go: kDriveMotorPort, kSteerMotorPort, and kCancoderPort described one module's wiring — four modules need four sets, so delete those three constants; the next section replaces them with per-corner IDs passed straight into each new SwerveModule(...) call. Also worth mentioning: MyTeleop will be lit up red right now, still binding buttons to command factories that no longer exist on SwerveModule. Leave it red — section 6 rebuilds that wiring around the Drivetrain. A refactor isn't done until every file that touched the old shape learns the new one, and the compiler's job is to keep that list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Drivetrain owns four SwerveModules in an array, logs them from its own always-on telemetry, and commands them from its command factories. This is the file that becomes the one mechanism for driving — the architectural payoff of dropping Mechanism from SwerveModule in section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new pieces of Java carry this file. SwerveModule[] is an array: a fixed-size, ordered container where every slot holds the same type. new SwerveModule[] { a, b, c, d } builds one with four elements — and here each element is itself a new SwerveModule(...) call with its own IDs and corner, which is constructor parameters doing exactly the job section 2 promised. Corner order (FL, FR, BL, BR) is a convention to pick once and stick to — it's what makes Module0 through Module3 mean something consistent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(SwerveModule module : m_modules) is the enhanced for loop — read it as "for each module in m_modules": the body runs once per element with module standing for each in turn. One wrinkle: a for-each loop doesn't number its elements, and the log keys need numbers, so a plain int index counter rides along, and "Drivetrain/Module" + index + "/..." glues the number into the key (+ between a String and a number pulls the number into the text). Every value logged since Lesson 3 has been a single number or string, one call, one value — SwerveModuleVelocity is different: a WPILib data-carrier bundling one wheel's speed with its angle as a Rotation2d. SmartDashboard has no putSwerveModuleVelocity, so a whole object, and an array of four of them, needs a different kind of bridge — the same idea as the TalonFXSimState bridge from Lesson 4, just for network data instead of fake sensor readings. getStructArrayTopic(name, structType) describes that bridge, SwerveModuleVelocity.struct knows how to turn the object into bytes and back, and .publish() claims the topic and hands back a StructArrayPublisher, built once as a field. From there .set(states) pushes a fresh array every tick — one call publishes all four modules' speed and angle together, instead of four separate numbers AdvantageScope would have no way to know belong to the same picture. Step back and name the division of labor: the periodic callback holds the watching (reading and logging what the four corners are doing, every tick, even disabled); the acting lives in commands, built next, which call setDesiredState only while enabled. That's the whole point of dropping Mechanism from SwerveModule — one mechanism, one lock, four workers commanded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should feel familiar — it's Lesson 2's driveWithJoystick grown up: a command factory (they're back, because Drivetrain IS a mechanism) taking suppliers so the sticks get re-read every tick. The two Math calls are the new part. Math.hypot(vx, vy) returns sqrt(vx² + vy²), the length of the vector, cleaner and numerically safer than writing the formula by hand. Math.atan2(vy, vx) is the vector's angle in radians — it's the four-quadrant version of atan, meaning it gets the direction right even when vx or vy goes negative — and Math.toDegrees converts to what the steering code expects. Then every module gets the same target, and the chassis slides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each module's location earns its keep: unlike translate, every corner gets a different angle, computed from where that corner sits. For a module at position (x, y) from center, the CCW-tangent direction is (-y, x) — rotate the outward radial 90° CCW. Sketch the four wheels pointing those table angles and imagine them rolling — the whole robot spins CCW. Worth pointing out explicitly: neither translate nor rotate bothers with a .whenCanceled(...) cleanup, unlike every command since Lesson 1 — that's not an oversight, it's because Drivetrain is never actually idle. translate is about to become the default command in section 6, so the instant rotate is canceled (a bumper released), the scheduler hands the mechanism straight back to translate, which immediately commands fresh output. Contrast that with driveDistance back in Lesson 6, which really could end with nothing else queued up — that's the difference that decides whether cleanup is required. Two simplifications worth naming as deliberate, fixed in Lesson 10: real rotation gives faster linear speed to wheels farther from center (v = ω × r), but the same speed is used for all four here, which is close enough on a square chassis; and translate and rotate can't run at once since both require the Drivetrain — SwerveDriveKinematics combines them per-wheel.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mentioning before the code: logCommandStart() from Lesson 3 checks one mechanism by name — requires(module) — which was fine with only one mechanism to watch. Replace it to loop over requirements(), the whole set of mechanisms a command needs instead of a yes-or-no answer about just one; every command in this course needs exactly one mechanism, so the loop runs once, but the method doesn't need to know that. mechanism.getName() reads back the same name every Mechanism already carries, so the dashboard key builds itself for whatever a future mechanism happens to be called. On the bindings: the minus signs are Lesson 2's stick-inversion lesson meeting section 2's coordinate convention — pushing the stick forward reads negative but means +X, pushing it left reads negative but means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 didn't have to happen first: walking out to the robot and pointing every wheel at some agreed "forward" before enabling. That's Lesson 5's priming, paying off exactly where it matters — four independent modules that all agree on zero the instant power comes on, with no ritual and no chance to forget it before a match. On the Swerve tab: one arrow per module, direction showing steer angle, length showing wheel speed. Push the stick and all four arrows swing together and grow with speed; hold a bumper and they snap into the pinwheel — the table from the previous slide, drawn for you, sixty times a second. This diagram is about to become the main debugging view for everything swerve going forward. On retuning kP: verified against this model, kP = 0.005 — ten times Lesson 5's value — settles within about a second with barely any overshoot. The gearbox adds real damping, so a bigger gain is both safe and needed here, the opposite of Lesson 5's ungeared case — this is the first moment the effect can actually be seen and tuned. And the gyro still reports zero — the chassis isn't yet closing the loop from "commanded rotation" to "reported heading." That's exactly what Lesson 8 wires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Checking the rotate table by corner is worth doing for real, not just reading: if one module disagrees, its position in Constants.java or its slot in the array is wrong, and the plot just told you which one. The break-one-calibration exercise is the most memorable of the four — change one corner's magnet offset by 0.1 (about 36°) and watch the Swerve tab: three arrows agree, one doesn't, a fixed, consistent disagreement, not noise. That's exactly what a bad calibration looks like on a real robot, and with four modules on screen at once, it's obvious which corner needs remeasuring. Remember to put the offset back afterward. The move-CAN-IDs-into-Constants exercise is explicitly framed as "verbose, but now every ID and calibration number lives in the same file as the gear ratios and chassis dimensions" — one place to check when the wiring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half of this lesson was about many of the same thing: an array holds four same-typed modules, the enhanced for loop does the same work to each, and constructor parameters let one class describe four corners that differ only in their numbers. That same loop paid for itself twice — once over m_modules, and again over command.requirements(), which turned Lesson 3's one-mechanism logCommandStart() into a version that needs no further edits no matter how many mechanisms Robot ends up with. The robot half was an architecture decision worth remembering the reasoning for: not every class should be a mechanism. SwerveModule became a plain helper class — the Drivetrain owns the array and holds the scheduler's one lock — and the module's job shrank to one method: a single tick of control toward whatever it's told, whenever a command asks. You also picked up structured telemetry — a StructArrayPublisher bridges a whole array of labeled objects onto the network in one call, so AdvantageScope draws it live, which will catch a miswired corner faster than any plot. If the refactor felt long, that's because it was the real thing — a rename, deletions, red files, and the compiler walking you through every place the old design used to live. First, the robot needs to know which way it's facing — Lesson 8 gives it a gyro.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7</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Four Modules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Build the real four-corner chassis</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module becomes four, moving together</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Rename DriveModule to SwerveModule, put four in an array, and command them together: translate (slide) and rotate (spin in place).</a:t>
            </a:r>
            <a:endParaRPr lang="en-US" sz="21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Arrays: SwerveModule[]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enhanced for loop</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that vary per instance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Translation2d, a library helper</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thlarge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four corners of a swerve chassis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helper class vs. a mechanism</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Translate vs. rotate in place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Structured telemetry for AdvantageScope</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FOUR?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Two shapes of motion cover almost everything</a:t>
            </a:r>
            <a:endParaRPr lang="en-US" sz="3000" dirty="0"/>
          </a:p>
        </p:txBody>
      </p:sp>
      <p:sp>
        <p:nvSpPr>
          <p:cNvPr id="6" name="Shape 3"/>
          <p:cNvSpPr/>
          <p:nvPr/>
        </p:nvSpPr>
        <p:spPr>
          <a:xfrm>
            <a:off x="640080" y="1691640"/>
            <a:ext cx="5349240" cy="3291840"/>
          </a:xfrm>
          <a:prstGeom prst="roundRect">
            <a:avLst>
              <a:gd name="adj" fmla="val 3333"/>
            </a:avLst>
          </a:prstGeom>
          <a:solidFill>
            <a:srgbClr val="132A4C"/>
          </a:solidFill>
          <a:ln/>
        </p:spPr>
      </p:sp>
      <p:sp>
        <p:nvSpPr>
          <p:cNvPr id="7" name="Text 4"/>
          <p:cNvSpPr/>
          <p:nvPr/>
        </p:nvSpPr>
        <p:spPr>
          <a:xfrm>
            <a:off x="91440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Translate</a:t>
            </a:r>
            <a:endParaRPr lang="en-US" sz="2600" dirty="0"/>
          </a:p>
        </p:txBody>
      </p:sp>
      <p:sp>
        <p:nvSpPr>
          <p:cNvPr id="8" name="Text 5"/>
          <p:cNvSpPr/>
          <p:nvPr/>
        </p:nvSpPr>
        <p:spPr>
          <a:xfrm>
            <a:off x="91440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All four wheels point the same direction, same speed — the chassis slides that way.</a:t>
            </a:r>
            <a:endParaRPr lang="en-US" sz="2000" dirty="0"/>
          </a:p>
        </p:txBody>
      </p:sp>
      <p:sp>
        <p:nvSpPr>
          <p:cNvPr id="9" name="Shape 6"/>
          <p:cNvSpPr/>
          <p:nvPr/>
        </p:nvSpPr>
        <p:spPr>
          <a:xfrm>
            <a:off x="6172200" y="1691640"/>
            <a:ext cx="5349240" cy="3291840"/>
          </a:xfrm>
          <a:prstGeom prst="roundRect">
            <a:avLst>
              <a:gd name="adj" fmla="val 3333"/>
            </a:avLst>
          </a:prstGeom>
          <a:solidFill>
            <a:srgbClr val="132A4C"/>
          </a:solidFill>
          <a:ln/>
        </p:spPr>
      </p:sp>
      <p:sp>
        <p:nvSpPr>
          <p:cNvPr id="10" name="Text 7"/>
          <p:cNvSpPr/>
          <p:nvPr/>
        </p:nvSpPr>
        <p:spPr>
          <a:xfrm>
            <a:off x="644652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Rotate in place</a:t>
            </a:r>
            <a:endParaRPr lang="en-US" sz="2600" dirty="0"/>
          </a:p>
        </p:txBody>
      </p:sp>
      <p:sp>
        <p:nvSpPr>
          <p:cNvPr id="11" name="Text 8"/>
          <p:cNvSpPr/>
          <p:nvPr/>
        </p:nvSpPr>
        <p:spPr>
          <a:xfrm>
            <a:off x="644652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Each wheel steers tangent to a circle around center, same speed — the chassis spins.</a:t>
            </a:r>
            <a:endParaRPr lang="en-US" sz="2000" dirty="0"/>
          </a:p>
        </p:txBody>
      </p:sp>
      <p:sp>
        <p:nvSpPr>
          <p:cNvPr id="12" name="Text 9"/>
          <p:cNvSpPr/>
          <p:nvPr/>
        </p:nvSpPr>
        <p:spPr>
          <a:xfrm>
            <a:off x="640080" y="51663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Doing both at once needs per-wheel math — that's Lesson 10's SwerveDriveKinematics. For now, these two simple cases give Lesson 8's gyro a robot that actually turns.</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andom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RENAME AND PARAMETERIZE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Rename the file first, then reshape it</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the class name DriveModule in VS Code</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Anywhere it appears in the file.</a:t>
            </a:r>
            <a:endParaRPr lang="en-US" sz="2000" dirty="0"/>
          </a:p>
        </p:txBody>
      </p:sp>
      <p:sp>
        <p:nvSpPr>
          <p:cNvPr id="10" name="Shape 7"/>
          <p:cNvSpPr/>
          <p:nvPr/>
        </p:nvSpPr>
        <p:spPr>
          <a:xfrm>
            <a:off x="640080" y="2578608"/>
            <a:ext cx="502920" cy="502920"/>
          </a:xfrm>
          <a:prstGeom prst="ellipse">
            <a:avLst/>
          </a:prstGeom>
          <a:solidFill>
            <a:srgbClr val="1B9AAA"/>
          </a:solidFill>
          <a:ln/>
        </p:spPr>
      </p:sp>
      <p:sp>
        <p:nvSpPr>
          <p:cNvPr id="11" name="Text 8"/>
          <p:cNvSpPr/>
          <p:nvPr/>
        </p:nvSpPr>
        <p:spPr>
          <a:xfrm>
            <a:off x="640080" y="2578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05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Choose Refactor → Rename</a:t>
            </a:r>
            <a:endParaRPr lang="en-US" sz="2000" dirty="0"/>
          </a:p>
        </p:txBody>
      </p:sp>
      <p:sp>
        <p:nvSpPr>
          <p:cNvPr id="13" name="Text 10"/>
          <p:cNvSpPr/>
          <p:nvPr/>
        </p:nvSpPr>
        <p:spPr>
          <a:xfrm>
            <a:off x="1371600" y="2889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Updates the filename and every reference in the project for you.</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Type SwerveModule, confirm</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file becomes SwerveModule.java, everywhere it's used.</a:t>
            </a:r>
            <a:endParaRPr lang="en-US" sz="2000" dirty="0"/>
          </a:p>
        </p:txBody>
      </p:sp>
      <p:sp>
        <p:nvSpPr>
          <p:cNvPr id="18" name="Shape 15"/>
          <p:cNvSpPr/>
          <p:nvPr/>
        </p:nvSpPr>
        <p:spPr>
          <a:xfrm>
            <a:off x="640080" y="4434840"/>
            <a:ext cx="10881360" cy="1920240"/>
          </a:xfrm>
          <a:prstGeom prst="roundRect">
            <a:avLst>
              <a:gd name="adj" fmla="val 4762"/>
            </a:avLst>
          </a:prstGeom>
          <a:solidFill>
            <a:srgbClr val="F3F6FA"/>
          </a:solidFill>
          <a:ln/>
        </p:spPr>
      </p:sp>
      <p:sp>
        <p:nvSpPr>
          <p:cNvPr id="19" name="Text 16"/>
          <p:cNvSpPr/>
          <p:nvPr/>
        </p:nvSpPr>
        <p:spPr>
          <a:xfrm>
            <a:off x="914400" y="47091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Then two changes: drop Mechanism, parameterize the constructor.</a:t>
            </a:r>
            <a:endParaRPr lang="en-US" sz="2100" dirty="0"/>
          </a:p>
        </p:txBody>
      </p:sp>
      <p:sp>
        <p:nvSpPr>
          <p:cNvPr id="20" name="Text 17"/>
          <p:cNvSpPr/>
          <p:nvPr/>
        </p:nvSpPr>
        <p:spPr>
          <a:xfrm>
            <a:off x="914400" y="5271135"/>
            <a:ext cx="10332720" cy="80962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single wheel isn't what the scheduler needs to lock — the whole chassis is. Drivetrain becomes the only mechanism; each SwerveModule is a plain helper it owns.</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3"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Fields with no initializers — the constructor fills them in</a:t>
            </a:r>
            <a:endParaRPr lang="en-US" sz="3000" dirty="0"/>
          </a:p>
        </p:txBody>
      </p:sp>
      <p:sp>
        <p:nvSpPr>
          <p:cNvPr id="6" name="Shape 3"/>
          <p:cNvSpPr/>
          <p:nvPr/>
        </p:nvSpPr>
        <p:spPr>
          <a:xfrm>
            <a:off x="640080" y="137160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top of the class with</a:t>
            </a:r>
            <a:endParaRPr lang="en-US" sz="1500" dirty="0"/>
          </a:p>
        </p:txBody>
      </p:sp>
      <p:sp>
        <p:nvSpPr>
          <p:cNvPr id="11" name="Text 8"/>
          <p:cNvSpPr/>
          <p:nvPr/>
        </p:nvSpPr>
        <p:spPr>
          <a:xfrm>
            <a:off x="914400" y="1828800"/>
            <a:ext cx="10195560" cy="354787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SwerveModule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public final Translation2d location;</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m_driveMotor;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m_steerMotor;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 m_steerEncoder;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SwerveModule(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int driveId, int steerId, int cancoderId,</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double magnetOffsetRotations, Translation2d location)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this.location  = location;</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   = new TalonFX(driveId, CANBus.systemcore(0));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   = new TalonFX(steerId, CANBus.systemcore(0));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 = new CANcoder(cancoderId, CANBus.systemcore(0));</a:t>
            </a: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...sim states, CANcoder config, and priming follow...</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tick of control, told what to do</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one plain method that does a single tick of control</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void setDesiredState(double angleDegrees, double speedFraction)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error = angleDegrees - getSteerAngleDegrees();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&gt;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&lt;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steerOutput = clamp(SteerConstants.kP * error, -1.0, 1.0);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m_steerMotor.setThrottle(steerOutput);</a:t>
            </a:r>
            <a:endParaRPr lang="en-US" sz="1400" dirty="0"/>
          </a:p>
          <a:p>
            <a:pPr indent="0" marL="0">
              <a:lnSpc>
                <a:spcPct val="120000"/>
              </a:lnSpc>
              <a:buNone/>
            </a:pP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m_driveMotor.setThrottle(speedFraction);</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822960" y="4846320"/>
            <a:ext cx="10515600" cy="13258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Lesson 5's steerToAngle math, wearing a new home. Who calls it, and how often? Drivetrain's commands will, every tick they run — the module never talks to the scheduler at all.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PAYING OFF LESSON 5'S IOU</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steering sensor gets its real 25:1</a:t>
            </a:r>
            <a:endParaRPr lang="en-US" sz="3000" dirty="0"/>
          </a:p>
        </p:txBody>
      </p:sp>
      <p:sp>
        <p:nvSpPr>
          <p:cNvPr id="6" name="Shape 3"/>
          <p:cNvSpPr/>
          <p:nvPr/>
        </p:nvSpPr>
        <p:spPr>
          <a:xfrm>
            <a:off x="640080" y="1463040"/>
            <a:ext cx="10881360" cy="2926080"/>
          </a:xfrm>
          <a:prstGeom prst="roundRect">
            <a:avLst>
              <a:gd name="adj" fmla="val 375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kSteerGearRatio, then edit getSteerAngleDegrees</a:t>
            </a:r>
            <a:endParaRPr lang="en-US" sz="1500" dirty="0"/>
          </a:p>
        </p:txBody>
      </p:sp>
      <p:sp>
        <p:nvSpPr>
          <p:cNvPr id="11" name="Text 8"/>
          <p:cNvSpPr/>
          <p:nvPr/>
        </p:nvSpPr>
        <p:spPr>
          <a:xfrm>
            <a:off x="914400" y="1920240"/>
            <a:ext cx="10195560" cy="226771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kSteerGearRatio = 25.0; // rotor : steering</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double getSteerAngleDegrees()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steerRotations = m_steerMotor.getPosition().getValue().in(Rotations)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 SteerConstants.kSteerGearRatio;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steerRotations * 360.0;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572000"/>
            <a:ext cx="10881360" cy="1783080"/>
          </a:xfrm>
          <a:prstGeom prst="roundRect">
            <a:avLst>
              <a:gd name="adj" fmla="val 5128"/>
            </a:avLst>
          </a:prstGeom>
          <a:solidFill>
            <a:srgbClr val="F3F6FA"/>
          </a:solidFill>
          <a:ln/>
        </p:spPr>
      </p:sp>
      <p:sp>
        <p:nvSpPr>
          <p:cNvPr id="13" name="Text 10"/>
          <p:cNvSpPr/>
          <p:nvPr/>
        </p:nvSpPr>
        <p:spPr>
          <a:xfrm>
            <a:off x="822960" y="475488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Divide on the way in (sensor → angle), multiply on the way back (sim model → fake rotor, and the CANcoder priming line) — the same two moves Lesson 6 made for the drive motor.</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Four corners, as Translation2d values</a:t>
            </a:r>
            <a:endParaRPr lang="en-US" sz="3000" dirty="0"/>
          </a:p>
        </p:txBody>
      </p:sp>
      <p:sp>
        <p:nvSpPr>
          <p:cNvPr id="6" name="Shape 3"/>
          <p:cNvSpPr/>
          <p:nvPr/>
        </p:nvSpPr>
        <p:spPr>
          <a:xfrm>
            <a:off x="640080" y="146304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four corners to DriveConstants</a:t>
            </a:r>
            <a:endParaRPr lang="en-US" sz="1500" dirty="0"/>
          </a:p>
        </p:txBody>
      </p:sp>
      <p:sp>
        <p:nvSpPr>
          <p:cNvPr id="11" name="Text 8"/>
          <p:cNvSpPr/>
          <p:nvPr/>
        </p:nvSpPr>
        <p:spPr>
          <a:xfrm>
            <a:off x="914400" y="1920240"/>
            <a:ext cx="10195560" cy="245059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kHalfLength = 0.3;  // meters, wheelbase / 2</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kHalfWidth  = 0.3;  // meters, track width / 2</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kFrontLeft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kFrontRight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kBackLeft   = new Translation2d(-kHalfLength,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kBackRight  = new Translation2d(-kHalfLength, -kHalfWidth);</a:t>
            </a:r>
            <a:endParaRPr lang="en-US" sz="1300" dirty="0"/>
          </a:p>
        </p:txBody>
      </p:sp>
      <p:sp>
        <p:nvSpPr>
          <p:cNvPr id="12" name="Shape 9"/>
          <p:cNvSpPr/>
          <p:nvPr/>
        </p:nvSpPr>
        <p:spPr>
          <a:xfrm>
            <a:off x="640080" y="4754880"/>
            <a:ext cx="10881360" cy="1600200"/>
          </a:xfrm>
          <a:prstGeom prst="roundRect">
            <a:avLst>
              <a:gd name="adj" fmla="val 5714"/>
            </a:avLst>
          </a:prstGeom>
          <a:solidFill>
            <a:srgbClr val="F3F6FA"/>
          </a:solidFill>
          <a:ln/>
        </p:spPr>
      </p:sp>
      <p:sp>
        <p:nvSpPr>
          <p:cNvPr id="13" name="Text 10"/>
          <p:cNvSpPr/>
          <p:nvPr/>
        </p:nvSpPr>
        <p:spPr>
          <a:xfrm>
            <a:off x="822960" y="493776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Memorize this now — every WPILib class assumes it: +X is forward, +Y is left, yaw is CCW-positive. Front-left is forward and left, so both signs are positive.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mechanism to own all four modules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under src/main/java/first/robot/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same folder SwerveModule.java already lives in.</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Drivetrain.java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subsystems → New File.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This one is the mechanism now</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owns the array of four modules and the scheduler's one lock.</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Not every class should be a mechanism. SwerveModule became a plain helper — Drivetrain owns the array and is the only thing the scheduler needs to lock.</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An array of four, built with their own IDs</a:t>
            </a:r>
            <a:endParaRPr lang="en-US" sz="3000" dirty="0"/>
          </a:p>
        </p:txBody>
      </p:sp>
      <p:sp>
        <p:nvSpPr>
          <p:cNvPr id="6" name="Shape 3"/>
          <p:cNvSpPr/>
          <p:nvPr/>
        </p:nvSpPr>
        <p:spPr>
          <a:xfrm>
            <a:off x="640080" y="1371600"/>
            <a:ext cx="10881360" cy="3840480"/>
          </a:xfrm>
          <a:prstGeom prst="roundRect">
            <a:avLst>
              <a:gd name="adj" fmla="val 2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Start Drivetrain.java with the module array</a:t>
            </a:r>
            <a:endParaRPr lang="en-US" sz="1500" dirty="0"/>
          </a:p>
        </p:txBody>
      </p:sp>
      <p:sp>
        <p:nvSpPr>
          <p:cNvPr id="11" name="Text 8"/>
          <p:cNvSpPr/>
          <p:nvPr/>
        </p:nvSpPr>
        <p:spPr>
          <a:xfrm>
            <a:off x="914400" y="1828800"/>
            <a:ext cx="10195560" cy="31821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Drivetrain extends Mechanism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Corner order: FL, FR, BL, BR. Pick a convention and stick to 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SwerveModule[] m_modules = new SwerveModule[]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SwerveModule(1, 2, 9, 0.0, DriveConstants.kFrontLeft),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SwerveModule(3, 4, 10, 0.0, DriveConstants.kFrontRight),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SwerveModule(5, 6, 11, 0.0, DriveConstants.kBackLeft),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SwerveModule(7, 8, 12, 0.0, DriveConstants.kBackRight)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Drivetrain()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call publishes all four modules together</a:t>
            </a:r>
            <a:endParaRPr lang="en-US" sz="3000" dirty="0"/>
          </a:p>
        </p:txBody>
      </p:sp>
      <p:sp>
        <p:nvSpPr>
          <p:cNvPr id="6" name="Shape 3"/>
          <p:cNvSpPr/>
          <p:nvPr/>
        </p:nvSpPr>
        <p:spPr>
          <a:xfrm>
            <a:off x="640080" y="1463040"/>
            <a:ext cx="10881360" cy="2834640"/>
          </a:xfrm>
          <a:prstGeom prst="roundRect">
            <a:avLst>
              <a:gd name="adj" fmla="val 38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alongside the constructor</a:t>
            </a:r>
            <a:endParaRPr lang="en-US" sz="1500" dirty="0"/>
          </a:p>
        </p:txBody>
      </p:sp>
      <p:sp>
        <p:nvSpPr>
          <p:cNvPr id="11" name="Text 8"/>
          <p:cNvSpPr/>
          <p:nvPr/>
        </p:nvSpPr>
        <p:spPr>
          <a:xfrm>
            <a:off x="914400" y="1920240"/>
            <a:ext cx="10195560" cy="217627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StructArrayPublisher&lt;SwerveModuleVelocity&gt; m_moduleStatesPublisher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NetworkTableInstance.getDefault()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.getStructArrayTopic("Drivetrain/ModuleStates", SwerveModuleVelocity.struct)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.publish();</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void logTelemetry()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for (SwerveModule module : m_modules) { /* ...build states[], log angles... */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m_moduleStatesPublisher.set(states);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480560"/>
            <a:ext cx="10881360" cy="1874520"/>
          </a:xfrm>
          <a:prstGeom prst="roundRect">
            <a:avLst>
              <a:gd name="adj" fmla="val 4878"/>
            </a:avLst>
          </a:prstGeom>
          <a:solidFill>
            <a:srgbClr val="F3F6FA"/>
          </a:solidFill>
          <a:ln/>
        </p:spPr>
      </p:sp>
      <p:sp>
        <p:nvSpPr>
          <p:cNvPr id="13" name="Text 10"/>
          <p:cNvSpPr/>
          <p:nvPr/>
        </p:nvSpPr>
        <p:spPr>
          <a:xfrm>
            <a:off x="822960" y="466344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SmartDashboard only knows numbers and strings — a whole SwerveModuleVelocity[] needs a struct bridge. Built once as a field, .set(states) pushes a fresh array every tick.</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Every module gets the same target</a:t>
            </a:r>
            <a:endParaRPr lang="en-US" sz="3000" dirty="0"/>
          </a:p>
        </p:txBody>
      </p:sp>
      <p:sp>
        <p:nvSpPr>
          <p:cNvPr id="6" name="Shape 3"/>
          <p:cNvSpPr/>
          <p:nvPr/>
        </p:nvSpPr>
        <p:spPr>
          <a:xfrm>
            <a:off x="640080" y="1600200"/>
            <a:ext cx="10881360" cy="3291840"/>
          </a:xfrm>
          <a:prstGeom prst="roundRect">
            <a:avLst>
              <a:gd name="adj" fmla="val 333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2057400"/>
            <a:ext cx="10195560" cy="26334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translate(DoubleSupplier vxSupplier, DoubleSupplier vySupplier)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vx = vxSupplier.getAsDouble();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vy = vySupplier.getAsDouble();</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speed = Math.hypot(vx, vy);                     // vector length</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Math.toDegrees(Math.atan2(vy, vx));  // vector angle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speed);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}).named("Translate");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074920"/>
            <a:ext cx="10881360" cy="1280160"/>
          </a:xfrm>
          <a:prstGeom prst="roundRect">
            <a:avLst>
              <a:gd name="adj" fmla="val 7143"/>
            </a:avLst>
          </a:prstGeom>
          <a:solidFill>
            <a:srgbClr val="F3F6FA"/>
          </a:solidFill>
          <a:ln/>
        </p:spPr>
      </p:sp>
      <p:sp>
        <p:nvSpPr>
          <p:cNvPr id="13" name="Text 10"/>
          <p:cNvSpPr/>
          <p:nvPr/>
        </p:nvSpPr>
        <p:spPr>
          <a:xfrm>
            <a:off x="822960" y="5257800"/>
            <a:ext cx="10515600" cy="9144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Math.hypot(vx, vy) is the vector's length; Math.atan2(vy, vx) is its angle in radians, four-quadrant so negative vx or vy still points the right way.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Rotate: a different angle per corner</a:t>
            </a:r>
            <a:endParaRPr lang="en-US" sz="3000" dirty="0"/>
          </a:p>
        </p:txBody>
      </p:sp>
      <p:sp>
        <p:nvSpPr>
          <p:cNvPr id="6" name="Shape 3"/>
          <p:cNvSpPr/>
          <p:nvPr/>
        </p:nvSpPr>
        <p:spPr>
          <a:xfrm>
            <a:off x="640080" y="1463040"/>
            <a:ext cx="6309360" cy="2926080"/>
          </a:xfrm>
          <a:prstGeom prst="roundRect">
            <a:avLst>
              <a:gd name="adj" fmla="val 375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6638544" y="1609344"/>
            <a:ext cx="128016" cy="128016"/>
          </a:xfrm>
          <a:prstGeom prst="ellipse">
            <a:avLst/>
          </a:prstGeom>
          <a:solidFill>
            <a:srgbClr val="FF6B6B"/>
          </a:solidFill>
          <a:ln/>
        </p:spPr>
      </p:sp>
      <p:sp>
        <p:nvSpPr>
          <p:cNvPr id="8" name="Shape 5"/>
          <p:cNvSpPr/>
          <p:nvPr/>
        </p:nvSpPr>
        <p:spPr>
          <a:xfrm>
            <a:off x="6638544" y="1810512"/>
            <a:ext cx="128016" cy="128016"/>
          </a:xfrm>
          <a:prstGeom prst="ellipse">
            <a:avLst/>
          </a:prstGeom>
          <a:solidFill>
            <a:srgbClr val="FFD166"/>
          </a:solidFill>
          <a:ln/>
        </p:spPr>
      </p:sp>
      <p:sp>
        <p:nvSpPr>
          <p:cNvPr id="9" name="Shape 6"/>
          <p:cNvSpPr/>
          <p:nvPr/>
        </p:nvSpPr>
        <p:spPr>
          <a:xfrm>
            <a:off x="6638544" y="2011680"/>
            <a:ext cx="128016" cy="128016"/>
          </a:xfrm>
          <a:prstGeom prst="ellipse">
            <a:avLst/>
          </a:prstGeom>
          <a:solidFill>
            <a:srgbClr val="2EC4B6"/>
          </a:solidFill>
          <a:ln/>
        </p:spPr>
      </p:sp>
      <p:sp>
        <p:nvSpPr>
          <p:cNvPr id="10" name="Text 7"/>
          <p:cNvSpPr/>
          <p:nvPr/>
        </p:nvSpPr>
        <p:spPr>
          <a:xfrm>
            <a:off x="914400" y="1591056"/>
            <a:ext cx="5623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5623560" cy="22677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rotate(double omega)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x = module.location.getX();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y = module.location.getY();</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Math.toDegrees(Math.atan2(x, -y));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}).named("Rotate");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7178040" y="1463040"/>
            <a:ext cx="4343400" cy="2926080"/>
          </a:xfrm>
          <a:prstGeom prst="roundRect">
            <a:avLst>
              <a:gd name="adj" fmla="val 3125"/>
            </a:avLst>
          </a:prstGeom>
          <a:solidFill>
            <a:srgbClr val="F3F6FA"/>
          </a:solidFill>
          <a:ln/>
        </p:spPr>
      </p:sp>
      <p:sp>
        <p:nvSpPr>
          <p:cNvPr id="13" name="Text 10"/>
          <p:cNvSpPr/>
          <p:nvPr/>
        </p:nvSpPr>
        <p:spPr>
          <a:xfrm>
            <a:off x="7406640" y="1691640"/>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Front-left</a:t>
            </a:r>
            <a:endParaRPr lang="en-US" sz="2000" dirty="0"/>
          </a:p>
        </p:txBody>
      </p:sp>
      <p:sp>
        <p:nvSpPr>
          <p:cNvPr id="14" name="Text 11"/>
          <p:cNvSpPr/>
          <p:nvPr/>
        </p:nvSpPr>
        <p:spPr>
          <a:xfrm>
            <a:off x="9692640" y="1691640"/>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5" name="Text 12"/>
          <p:cNvSpPr/>
          <p:nvPr/>
        </p:nvSpPr>
        <p:spPr>
          <a:xfrm>
            <a:off x="7406640" y="2350008"/>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Front-right</a:t>
            </a:r>
            <a:endParaRPr lang="en-US" sz="2000" dirty="0"/>
          </a:p>
        </p:txBody>
      </p:sp>
      <p:sp>
        <p:nvSpPr>
          <p:cNvPr id="16" name="Text 13"/>
          <p:cNvSpPr/>
          <p:nvPr/>
        </p:nvSpPr>
        <p:spPr>
          <a:xfrm>
            <a:off x="9692640" y="2350008"/>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17" name="Text 14"/>
          <p:cNvSpPr/>
          <p:nvPr/>
        </p:nvSpPr>
        <p:spPr>
          <a:xfrm>
            <a:off x="7406640" y="3008376"/>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Back-left</a:t>
            </a:r>
            <a:endParaRPr lang="en-US" sz="2000" dirty="0"/>
          </a:p>
        </p:txBody>
      </p:sp>
      <p:sp>
        <p:nvSpPr>
          <p:cNvPr id="18" name="Text 15"/>
          <p:cNvSpPr/>
          <p:nvPr/>
        </p:nvSpPr>
        <p:spPr>
          <a:xfrm>
            <a:off x="9692640" y="3008376"/>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9" name="Text 16"/>
          <p:cNvSpPr/>
          <p:nvPr/>
        </p:nvSpPr>
        <p:spPr>
          <a:xfrm>
            <a:off x="7406640" y="3666744"/>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Back-right</a:t>
            </a:r>
            <a:endParaRPr lang="en-US" sz="2000" dirty="0"/>
          </a:p>
        </p:txBody>
      </p:sp>
      <p:sp>
        <p:nvSpPr>
          <p:cNvPr id="20" name="Text 17"/>
          <p:cNvSpPr/>
          <p:nvPr/>
        </p:nvSpPr>
        <p:spPr>
          <a:xfrm>
            <a:off x="9692640" y="3666744"/>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21" name="Shape 18"/>
          <p:cNvSpPr/>
          <p:nvPr/>
        </p:nvSpPr>
        <p:spPr>
          <a:xfrm>
            <a:off x="640080" y="4572000"/>
            <a:ext cx="10881360" cy="1783080"/>
          </a:xfrm>
          <a:prstGeom prst="roundRect">
            <a:avLst>
              <a:gd name="adj" fmla="val 5128"/>
            </a:avLst>
          </a:prstGeom>
          <a:solidFill>
            <a:srgbClr val="F3F6FA"/>
          </a:solidFill>
          <a:ln/>
        </p:spPr>
      </p:sp>
      <p:sp>
        <p:nvSpPr>
          <p:cNvPr id="22" name="Text 19"/>
          <p:cNvSpPr/>
          <p:nvPr/>
        </p:nvSpPr>
        <p:spPr>
          <a:xfrm>
            <a:off x="822960" y="475488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For a module at (x, y), the CCW-tangent direction is (-y, x). Sketch the four wheels pointing those ways and the whole robot spins CCW.</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 &amp;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Fix the red: swap module for drivetrain</a:t>
            </a:r>
            <a:endParaRPr lang="en-US" sz="3000" dirty="0"/>
          </a:p>
        </p:txBody>
      </p:sp>
      <p:sp>
        <p:nvSpPr>
          <p:cNvPr id="6" name="Shape 3"/>
          <p:cNvSpPr/>
          <p:nvPr/>
        </p:nvSpPr>
        <p:spPr>
          <a:xfrm>
            <a:off x="640080" y="1463040"/>
            <a:ext cx="10881360" cy="1280160"/>
          </a:xfrm>
          <a:prstGeom prst="roundRect">
            <a:avLst>
              <a:gd name="adj" fmla="val 85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Robot's old module field, add in its place</a:t>
            </a:r>
            <a:endParaRPr lang="en-US" sz="1500" dirty="0"/>
          </a:p>
        </p:txBody>
      </p:sp>
      <p:sp>
        <p:nvSpPr>
          <p:cNvPr id="11" name="Text 8"/>
          <p:cNvSpPr/>
          <p:nvPr/>
        </p:nvSpPr>
        <p:spPr>
          <a:xfrm>
            <a:off x="914400" y="1920240"/>
            <a:ext cx="10195560" cy="62179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public final Drivetrain drivetrain = new Drivetrain();</a:t>
            </a:r>
            <a:endParaRPr lang="en-US" sz="1600" dirty="0"/>
          </a:p>
        </p:txBody>
      </p:sp>
      <p:sp>
        <p:nvSpPr>
          <p:cNvPr id="12" name="Shape 9"/>
          <p:cNvSpPr/>
          <p:nvPr/>
        </p:nvSpPr>
        <p:spPr>
          <a:xfrm>
            <a:off x="640080" y="29718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118104"/>
            <a:ext cx="128016" cy="128016"/>
          </a:xfrm>
          <a:prstGeom prst="ellipse">
            <a:avLst/>
          </a:prstGeom>
          <a:solidFill>
            <a:srgbClr val="FF6B6B"/>
          </a:solidFill>
          <a:ln/>
        </p:spPr>
      </p:sp>
      <p:sp>
        <p:nvSpPr>
          <p:cNvPr id="14" name="Shape 11"/>
          <p:cNvSpPr/>
          <p:nvPr/>
        </p:nvSpPr>
        <p:spPr>
          <a:xfrm>
            <a:off x="11210544" y="3319272"/>
            <a:ext cx="128016" cy="128016"/>
          </a:xfrm>
          <a:prstGeom prst="ellipse">
            <a:avLst/>
          </a:prstGeom>
          <a:solidFill>
            <a:srgbClr val="FFD166"/>
          </a:solidFill>
          <a:ln/>
        </p:spPr>
      </p:sp>
      <p:sp>
        <p:nvSpPr>
          <p:cNvPr id="15" name="Shape 12"/>
          <p:cNvSpPr/>
          <p:nvPr/>
        </p:nvSpPr>
        <p:spPr>
          <a:xfrm>
            <a:off x="11210544" y="3520440"/>
            <a:ext cx="128016" cy="128016"/>
          </a:xfrm>
          <a:prstGeom prst="ellipse">
            <a:avLst/>
          </a:prstGeom>
          <a:solidFill>
            <a:srgbClr val="2EC4B6"/>
          </a:solidFill>
          <a:ln/>
        </p:spPr>
      </p:sp>
      <p:sp>
        <p:nvSpPr>
          <p:cNvPr id="16" name="Text 13"/>
          <p:cNvSpPr/>
          <p:nvPr/>
        </p:nvSpPr>
        <p:spPr>
          <a:xfrm>
            <a:off x="914400" y="30998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the old bindings, replace MyTeleop's constructor</a:t>
            </a:r>
            <a:endParaRPr lang="en-US" sz="1500" dirty="0"/>
          </a:p>
        </p:txBody>
      </p:sp>
      <p:sp>
        <p:nvSpPr>
          <p:cNvPr id="17" name="Text 14"/>
          <p:cNvSpPr/>
          <p:nvPr/>
        </p:nvSpPr>
        <p:spPr>
          <a:xfrm>
            <a:off x="914400" y="3429000"/>
            <a:ext cx="10195560" cy="126187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robot.drivetrain.setDefaultCommand(robot.drivetrain.translate(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 -&gt; -robot.driverController.getLeftY(),   // forward = +X</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 -&gt; -robot.driverController.getLeftX())); // left    = +Y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robot.driverController.leftBumper().whileTrue(robot.drivetrain.rotate(0.3));</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robot.driverController.rightBumper().whileTrue(robot.drivetrain.rotate(-0.3));</a:t>
            </a:r>
            <a:endParaRPr lang="en-US" sz="1300" dirty="0"/>
          </a:p>
        </p:txBody>
      </p:sp>
      <p:sp>
        <p:nvSpPr>
          <p:cNvPr id="18" name="Shape 15"/>
          <p:cNvSpPr/>
          <p:nvPr/>
        </p:nvSpPr>
        <p:spPr>
          <a:xfrm>
            <a:off x="640080" y="5120640"/>
            <a:ext cx="10881360" cy="1234440"/>
          </a:xfrm>
          <a:prstGeom prst="roundRect">
            <a:avLst>
              <a:gd name="adj" fmla="val 7407"/>
            </a:avLst>
          </a:prstGeom>
          <a:solidFill>
            <a:srgbClr val="F3F6FA"/>
          </a:solidFill>
          <a:ln/>
        </p:spPr>
      </p:sp>
      <p:sp>
        <p:nvSpPr>
          <p:cNvPr id="19" name="Text 16"/>
          <p:cNvSpPr/>
          <p:nvPr/>
        </p:nvSpPr>
        <p:spPr>
          <a:xfrm>
            <a:off x="777240" y="5257800"/>
            <a:ext cx="10607040" cy="9601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Both bumper commands and the default translate require the Drivetrain — holding a bumper cancels the default; releasing hands control back automatically.</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7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live diagram of the whole chassis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Push the stick — all four steer angles snap to the same value.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Hold a bumper</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four angles split into the pinwheel from the table.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Open AdvantageScope's Swerve tab</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Drag Drivetrain/ModuleStates into its States slot, Max Speed ≈ 5.</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Retune kP now that you can see it move</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kP = 0.005 — ten times Lesson 5's value — settles in about a second.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Check the rotate table</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Hold a bumper, check the four plotted angles corner by corner. A wrong one names its own bug.</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chassis geometry</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kHalfLength = 0.4, kHalfWidth = 0.2. What do the four rotate angles become?</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CAN IDs into Constants.java</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Twelve IDs and four magnet offsets, named, right alongside the gear ratios.</a:t>
            </a:r>
            <a:endParaRPr lang="en-US" sz="2000" dirty="0"/>
          </a:p>
        </p:txBody>
      </p:sp>
      <p:sp>
        <p:nvSpPr>
          <p:cNvPr id="21" name="Shape 18"/>
          <p:cNvSpPr/>
          <p:nvPr/>
        </p:nvSpPr>
        <p:spPr>
          <a:xfrm>
            <a:off x="6217920" y="4023360"/>
            <a:ext cx="5303520" cy="2286000"/>
          </a:xfrm>
          <a:prstGeom prst="roundRect">
            <a:avLst>
              <a:gd name="adj" fmla="val 4800"/>
            </a:avLst>
          </a:prstGeom>
          <a:solidFill>
            <a:srgbClr val="132A4C"/>
          </a:solidFill>
          <a:ln/>
        </p:spPr>
      </p:sp>
      <p:sp>
        <p:nvSpPr>
          <p:cNvPr id="22" name="Shape 19"/>
          <p:cNvSpPr/>
          <p:nvPr/>
        </p:nvSpPr>
        <p:spPr>
          <a:xfrm>
            <a:off x="6537960" y="4251960"/>
            <a:ext cx="457200" cy="457200"/>
          </a:xfrm>
          <a:prstGeom prst="ellipse">
            <a:avLst/>
          </a:prstGeom>
          <a:solidFill>
            <a:srgbClr val="1B9AAA"/>
          </a:solidFill>
          <a:ln/>
        </p:spPr>
      </p:sp>
      <p:sp>
        <p:nvSpPr>
          <p:cNvPr id="23" name="Text 20"/>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1"/>
          <p:cNvSpPr/>
          <p:nvPr/>
        </p:nvSpPr>
        <p:spPr>
          <a:xfrm>
            <a:off x="717804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Break one calibration on purpose</a:t>
            </a:r>
            <a:endParaRPr lang="en-US" sz="2000" dirty="0"/>
          </a:p>
        </p:txBody>
      </p:sp>
      <p:sp>
        <p:nvSpPr>
          <p:cNvPr id="25" name="Text 22"/>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Change one corner's magnet offset by 0.1. Three arrows agree, one doesn't — put it back.</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2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mechanism, four workers commanded together</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An array holds four same-typed modules; the enhanced for loop does the same work to each.</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let one class describe four corners that differ only in their numbers.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Not every class is a mechanism — SwerveModule became a helper; Drivetrain owns the scheduler's one lock.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Gyro &amp; Heading</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Turn the whole robot to a compass direction and stop.</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 Four Modules</dc:title>
  <dc:subject>PptxGenJS Presentation</dc:subject>
  <dc:creator>Learn Java + Robot Programming</dc:creator>
  <cp:lastModifiedBy>Learn Java + Robot Programming</cp:lastModifiedBy>
  <cp:revision>1</cp:revision>
  <dcterms:created xsi:type="dcterms:W3CDTF">2026-08-25T23:17:22Z</dcterms:created>
  <dcterms:modified xsi:type="dcterms:W3CDTF">2026-08-25T23:17:22Z</dcterms:modified>
</cp:coreProperties>
</file>