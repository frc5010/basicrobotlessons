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very first lesson — before this, students have a template project that builds but does nothing recognizable yet. Frame the whole lesson as three moves: understand the boot sequence, run it once with nothing changed, then make one real edit and watch the robot respond.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the template building in simulation, see how the pieces fit together, and make the first code change — printing a message the moment teleop wakes up. Half of what's on screen (Main.java, the annotation machinery) won't matter for a while, and that's fine to say out loud — the goal today is the picture, not full understanding of every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totally normal to find unfamiliar — half of it won't matter for a while. Read the comments once, let the picture settle (boot, then hand off to whichever opmode is picked), and keep going. Robot.java boots the framework and students will rarely touch it; MyTeleop.java and MyAuto.java are what the robot does when driven vs. left to run itself in autonomous.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a package declaration. Packages keep class names from colliding across libraries — if two vendors both shipped a Timer class, packages are how you'd tell them apart. Here the packages just mirror the folder structure: first.robot is the folder first/robot, opmodes live in first.robot.opmode. Below the package line, every file defines a class — a blueprint. Robot is the class the whole program boots from; MyTeleop and MyAuto are opmodes, and every mechanism or command written from Lesson 1 on gets its own class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Inside a class, the code that actually runs lives in methods — named blocks of code that do something. Five methods, all currently empty, each named after the moment it fires. The one to focus on today is periodic() — the others get met as they're needed. Like every method WPILib calls, you don't call periodic() yourself; the framework does, on its own schedule. @Override next to it means what it always will in this course: "yes, I know this method already has a meaning; I'm supplying my own."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@Teleop sitting above the whole class is a different kind of thing: an annotation — a tag that tells the framework something about the class underneath it, without being a method or a field itself. It says "this is a piece of robot behavior a human can pick on the Driver Station, and call it My Teleop unless told otherwise." MyAuto.java has the same idea with @Autonomous instead. Neither annotation runs any code by itself — it's a label the framework reads before the code ever executes. This is the biggest mental shift in the lesson, worth saying plainly: you don't write one robot program that runs top to bottom. You write several small ones — opmodes — and something else decides which one is running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opmode is a named, selectable chunk of robot behavior. MyTeleop and MyAuto are both opmodes, and a human picks one by name on the Driver Station before anything in it runs. Once picked and enabled, its periodic() method runs about 50 times a second, forever, until something else is picked or the robot disables. Each run is a tick — the heartbeat, same idea as always: a fast loop, ticking away, doing a little work each time. You never write while (true) yourself; the framework is the loop, and you plug things into it. If students take one thing from this lesson, it's this picture, with one layer added: which piece of code the framework is ticking depends on what's selected.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Either click the WPILib icon in VS Code's left sidebar (or Ctrl+Shift+P → WPILib: Simulate Robot Code), or run ./gradlew simulateJava from the project folder in PowerShell. The very first run downloads a pile of dependencies and can take several minutes — grab a drink, this is normal, not broken. When the build finishes, VS Code asks about Sim GUI vs. Real Driverstation — Sim GUI is correct for now. Nothing moves once enabled, because there's no motor yet — that's Lesson 1, worth saying so nobody thinks something's broken.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start() runs exactly once — the instant the opmode goes from disabled to enabled. That makes it a better home for a one-time message than periodic(), which would print the same line fifty times a second and flood the terminal. Three things worth naming in this one line: System.out.println(...) is a method call — asking a method to run and handing it something in the parentheses. The stuff in double quotes is a String, Java's word for a chunk of literal text. And the whole line ends in a semicolon — every statement in Java does, and forgetting it is the number-one beginner compile error, better met now than later. Run the simulator again, pick My Teleop, flip to Enabled, and the message should be sitting right there in the terminal — the robot just changed what it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let these get skipped — most of the actual learning happens when a student has to think, not when copying code out of the walkthrough. First, MyAuto.java doesn't have a start() method yet — add one matching MyTeleop's shape, print a different message, and confirm it only shows up when My Auto is picked, not My Teleop. Second, break it on purpose: delete a semicolon, run ./gradlew build, and read the error carefully — note the file and line number it names. Reading compiler errors is a real skill, and the sooner students are comfortable with them the better. Put the semicolon back when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robot program here is a stack of classes in packages, same as always — but now some of those classes are opmodes, tagged with an annotation like @Teleop so the framework can find them and offer them by name on the Driver Station. Whichever opmode gets picked is the one whose periodic() starts ticking about 50 times a second — that's still the heartbeat everything else in this course hangs off, just with one more layer: which piece of code the heartbeat is driving is now a choice made at runtime, not baked into a single class. That's plenty for one sitting.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asicRobotLessons/docs/presentations/v3/template/assets/logo/team5010-logo-on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1215" y="3834811"/>
            <a:ext cx="3291840" cy="25659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777240" y="1874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777240" y="36118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robot and print a message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89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WPILib 2027 Alpha  ·  Commands V3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lesson gets you 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73736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the template building in simulation, see how the pieces fit together, and make your first code change — print a message the moment teleop wakes up.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pic>
        <p:nvPicPr>
          <p:cNvPr id="9" name="Image 1" descr="/home/user/BasicRobotLessons/docs/presentations/v3/template/assets/icons/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5387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456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JAVA CONCEPTS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85800" y="3995928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packages, and methods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and the semicolon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— a tag above a class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 method: System.out.println(...)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6309360" y="3429000"/>
            <a:ext cx="457200" cy="457200"/>
          </a:xfrm>
          <a:prstGeom prst="ellipse">
            <a:avLst/>
          </a:prstGeom>
          <a:solidFill>
            <a:srgbClr val="FF5010"/>
          </a:solidFill>
          <a:ln/>
        </p:spPr>
      </p:sp>
      <p:pic>
        <p:nvPicPr>
          <p:cNvPr id="13" name="Image 2" descr="/home/user/BasicRobotLessons/docs/presentations/v3/template/assets/icons/ro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53872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3456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ROBOT CONCEPTS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355080" y="3995928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Opmodes — named, selectable robot behaviors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opmode loop — the heartbeat of whichever one is picked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ORIENTATION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8" name="Image 3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u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WHAT AM I EVEN LOOKING AT?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files, one boot sequence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folder tree won't matter yet. Open src/main/java/first/robot/ and you'll find these four.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242316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3F6FA"/>
          </a:solidFill>
          <a:ln/>
        </p:spPr>
      </p:sp>
      <p:pic>
        <p:nvPicPr>
          <p:cNvPr id="8" name="Image 1" descr="/home/user/BasicRobotLessons/docs/presentations/v3/template/assets/icons/filecod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15768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6974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960120" y="32918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entry point. Never touch it.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172200" y="242316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3F6FA"/>
          </a:solidFill>
          <a:ln/>
        </p:spPr>
      </p:sp>
      <p:pic>
        <p:nvPicPr>
          <p:cNvPr id="12" name="Image 2" descr="/home/user/BasicRobotLessons/docs/presentations/v3/template/assets/icons/filecod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715768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95160" y="26974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Robot.java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6492240" y="32918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the framework. You'll rarely touch it.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40080" y="429768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3F6FA"/>
          </a:solidFill>
          <a:ln/>
        </p:spPr>
      </p:sp>
      <p:pic>
        <p:nvPicPr>
          <p:cNvPr id="16" name="Image 3" descr="/home/user/BasicRobotLessons/docs/presentations/v3/template/assets/icons/filecod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90288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5720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MyTeleop.java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960120" y="516636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robot does when you drive it.</a:t>
            </a:r>
            <a:endParaRPr lang="en-US" sz="2000" dirty="0"/>
          </a:p>
        </p:txBody>
      </p:sp>
      <p:sp>
        <p:nvSpPr>
          <p:cNvPr id="19" name="Shape 13"/>
          <p:cNvSpPr/>
          <p:nvPr/>
        </p:nvSpPr>
        <p:spPr>
          <a:xfrm>
            <a:off x="6172200" y="429768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3F6FA"/>
          </a:solidFill>
          <a:ln/>
        </p:spPr>
      </p:sp>
      <p:pic>
        <p:nvPicPr>
          <p:cNvPr id="20" name="Image 4" descr="/home/user/BasicRobotLessons/docs/presentations/v3/template/assets/icons/filecode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4590288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95160" y="45720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MyAuto.java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6492240" y="516636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robot does on its own, in autonomous.</a:t>
            </a:r>
            <a:endParaRPr lang="en-US" sz="2000" dirty="0"/>
          </a:p>
        </p:txBody>
      </p:sp>
      <p:sp>
        <p:nvSpPr>
          <p:cNvPr id="23" name="Text 16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ORIENTATION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25" name="Image 5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u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CLASSES AND PACKAGES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class is a blueprint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41264" y="17465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5541264" y="19476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5541264" y="21488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72821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add — code you already have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2057400"/>
            <a:ext cx="45262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7F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first.robot;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0080" y="3703320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keep class names from colliding — first.robot mirrors the folder first/robot.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172200" y="160020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F3F6FA"/>
          </a:solidFill>
          <a:ln/>
        </p:spPr>
      </p:sp>
      <p:sp>
        <p:nvSpPr>
          <p:cNvPr id="14" name="Text 11"/>
          <p:cNvSpPr/>
          <p:nvPr/>
        </p:nvSpPr>
        <p:spPr>
          <a:xfrm>
            <a:off x="644652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 TO REMEMBER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46520" y="233172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package at the top of a file has to match its folder path.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446520" y="3703320"/>
            <a:ext cx="4800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defines a class — a blueprint holding data plus the actions that go with it. Robot boots the program; MyTeleop and MyAuto are opmodes.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ORIENTATION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pic>
        <p:nvPicPr>
          <p:cNvPr id="19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listu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METHODS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homes, each named for its moment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760720" cy="3931920"/>
          </a:xfrm>
          <a:prstGeom prst="roundRect">
            <a:avLst>
              <a:gd name="adj" fmla="val 279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89904" y="17465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6089904" y="19476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6089904" y="21488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72821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add — code you already have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2057400"/>
            <a:ext cx="507492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start() {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once, when enabled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periodic() {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~50x / sec, enabled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629400" y="160020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F3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6903720" y="18745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FIVE, TOTAL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903720" y="2331720"/>
            <a:ext cx="43434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start(), periodic(), end(), close(), disabledPeriodic() — five methods, all empty, each named for the moment it fires.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903720" y="3893820"/>
            <a:ext cx="4343400" cy="168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periodic() today — you'll meet the rest as you need them. You never call it yourself. The framework does, on its own schedule.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ORIENTATION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pic>
        <p:nvPicPr>
          <p:cNvPr id="18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t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ANNOTATIONS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@Teleop is a tag, not a method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24144" y="17465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5724144" y="19476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5724144" y="21488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72821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add — code you already have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2057400"/>
            <a:ext cx="47091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@Teleop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MyTeleop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extends PeriodicOpMode {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" y="37490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@Teleop sits above the whole class — a tag the framework reads before your code ever runs. It says: offer this on the Driver Station as "My Teleop."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355080" y="1600200"/>
            <a:ext cx="5166360" cy="4251960"/>
          </a:xfrm>
          <a:prstGeom prst="roundRect">
            <a:avLst>
              <a:gd name="adj" fmla="val 2581"/>
            </a:avLst>
          </a:prstGeom>
          <a:solidFill>
            <a:srgbClr val="0B1F3A"/>
          </a:solidFill>
          <a:ln/>
        </p:spPr>
      </p:sp>
      <p:pic>
        <p:nvPicPr>
          <p:cNvPr id="14" name="Image 1" descr="/home/user/BasicRobotLessons/docs/presentations/v3/template/assets/icons/lightbul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745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1993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MENTAL SHIFT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675120" y="256032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don't write one program that runs top to bottom.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675120" y="38862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CA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write several small ones — opmodes — and something else decides which one runs right now.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ORIENTATION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pic>
        <p:nvPicPr>
          <p:cNvPr id="20" name="Image 2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FF5010"/>
          </a:solidFill>
          <a:ln/>
        </p:spPr>
      </p:sp>
      <p:pic>
        <p:nvPicPr>
          <p:cNvPr id="3" name="Image 0" descr="/home/user/BasicRobotLessons/docs/presentations/v3/template/assets/icons/heartbe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OPMODES AND THE HEARTBEAT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heartbeat, whichever opmode is picked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132A4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6459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5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A SECOND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114800" y="1645920"/>
            <a:ext cx="7452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picked and enabled, an opmode's periodic() runs about 50 times a second — forever, until something else is picked or the robot disables.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0080" y="36576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never write while (true) yourself — the framework is the loop, and you plug things into it.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40080" y="480060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132A4C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8006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an opmode is what decides which code the heartbeat drives — that choice happens when you select one, not when you write its class.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ORIENTATION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pic>
        <p:nvPicPr>
          <p:cNvPr id="15" name="Image 1" descr="/home/user/BasicRobotLessons/docs/presentations/v3/template/assets/logo/team5010-logo-on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pla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RUN IT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to see it boot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572768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71600" y="149961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WPILib command palette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71600" y="18836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Ctrl+Shift+P → "WPILib: Simulate Robot Code" (or the WPILib icon).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40080" y="2487168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371600" y="241401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Or, from a terminal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371600" y="27980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./gradlew simulateJava — first run downloads dependencies.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40080" y="3401568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371600" y="332841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Sim GUI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371600" y="37124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 Driverstation — Sim GUI is correct for now.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40080" y="4315968"/>
            <a:ext cx="502920" cy="502920"/>
          </a:xfrm>
          <a:prstGeom prst="ellipse">
            <a:avLst/>
          </a:prstGeom>
          <a:solidFill>
            <a:srgbClr val="FF5010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371600" y="424281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My Teleop on the opmode selector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371600" y="46268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names which code the heartbeat will drive.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40080" y="5230368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5230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371600" y="515721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 Robot State to Enabled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371600" y="55412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moves yet — there's no motor. That's Lesson 1.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ORIENTATION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pic>
        <p:nvPicPr>
          <p:cNvPr id="28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ommentdot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YOUR FIRST CHANGE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hello, and watch it show up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6492240" cy="2560320"/>
          </a:xfrm>
          <a:prstGeom prst="roundRect">
            <a:avLst>
              <a:gd name="adj" fmla="val 4286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21424" y="17465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6821424" y="19476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6821424" y="21488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72821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MyTeleop.java, find start() and drop this in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2057400"/>
            <a:ext cx="58064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start() {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"Hello from Team 5010! " +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"Teleop started.");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0080" y="4297680"/>
            <a:ext cx="6492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start() runs once — the instant the opmode is enabled. periodic() would print this fifty times a second and flood your terminal.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7360920" y="160020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F3F6FA"/>
          </a:solidFill>
          <a:ln/>
        </p:spPr>
      </p:sp>
      <p:sp>
        <p:nvSpPr>
          <p:cNvPr id="14" name="Text 11"/>
          <p:cNvSpPr/>
          <p:nvPr/>
        </p:nvSpPr>
        <p:spPr>
          <a:xfrm>
            <a:off x="763524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THINGS, ONE LINE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635240" y="2331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call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7635240" y="273405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println(...) asks a method to run.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635240" y="35021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635240" y="390448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"quotes" — literal text.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635240" y="46725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Semicolon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7635240" y="507492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every statement, no exceptions.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ORIENTATION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pic>
        <p:nvPicPr>
          <p:cNvPr id="23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FF5010"/>
          </a:solidFill>
          <a:ln/>
        </p:spPr>
      </p:sp>
      <p:pic>
        <p:nvPicPr>
          <p:cNvPr id="3" name="Image 0" descr="/home/user/BasicRobotLessons/docs/presentations/v3/template/assets/icons/clipboard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MOVE 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371600" y="14173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B8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learning happens when you have to think, not when you're copying the walkthrough. Don't skip these.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5303520" cy="3794760"/>
          </a:xfrm>
          <a:prstGeom prst="roundRect">
            <a:avLst>
              <a:gd name="adj" fmla="val 2892"/>
            </a:avLst>
          </a:prstGeom>
          <a:solidFill>
            <a:srgbClr val="132A4C"/>
          </a:solidFill>
          <a:ln/>
        </p:spPr>
      </p:sp>
      <p:sp>
        <p:nvSpPr>
          <p:cNvPr id="8" name="Shape 5"/>
          <p:cNvSpPr/>
          <p:nvPr/>
        </p:nvSpPr>
        <p:spPr>
          <a:xfrm>
            <a:off x="960120" y="246888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600200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MyAuto a start()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206240" y="2551176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FF5010"/>
          </a:solidFill>
          <a:ln/>
        </p:spPr>
      </p:sp>
      <p:sp>
        <p:nvSpPr>
          <p:cNvPr id="12" name="Text 9"/>
          <p:cNvSpPr/>
          <p:nvPr/>
        </p:nvSpPr>
        <p:spPr>
          <a:xfrm>
            <a:off x="4206240" y="25511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3063240"/>
            <a:ext cx="4663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have one yet — add it, matching the shape MyTeleop's already has, and print a different message. Confirm it only shows up when you've picked My Auto.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217920" y="2240280"/>
            <a:ext cx="5303520" cy="3794760"/>
          </a:xfrm>
          <a:prstGeom prst="roundRect">
            <a:avLst>
              <a:gd name="adj" fmla="val 2892"/>
            </a:avLst>
          </a:prstGeom>
          <a:solidFill>
            <a:srgbClr val="132A4C"/>
          </a:solidFill>
          <a:ln/>
        </p:spPr>
      </p:sp>
      <p:sp>
        <p:nvSpPr>
          <p:cNvPr id="15" name="Shape 12"/>
          <p:cNvSpPr/>
          <p:nvPr/>
        </p:nvSpPr>
        <p:spPr>
          <a:xfrm>
            <a:off x="6537960" y="246888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6" name="Text 13"/>
          <p:cNvSpPr/>
          <p:nvPr/>
        </p:nvSpPr>
        <p:spPr>
          <a:xfrm>
            <a:off x="65379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178040" y="2468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it on purpose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537960" y="3063240"/>
            <a:ext cx="4663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semicolon and run ./gradlew build. Read the error carefully — note the file and line it names. Then put the semicolon back.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ORIENTATION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pic>
        <p:nvPicPr>
          <p:cNvPr id="21" name="Image 1" descr="/home/user/BasicRobotLessons/docs/presentations/v3/template/assets/logo/team5010-logo-on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graduationc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picture to carry forward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6309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lives inside a package.</a:t>
            </a:r>
            <a:endParaRPr lang="en-US" sz="21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classes are opmodes, tagged with an annotation like @Teleop so the framework can find and offer them by name.</a:t>
            </a:r>
            <a:endParaRPr lang="en-US" sz="21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opmode is picked, its periodic() ticks ~50 times a second — that's the heartbeat.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40080" y="50749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5B6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Picking an opmode is what decides which code the heartbeat drives.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269480" y="1600200"/>
            <a:ext cx="4297680" cy="4434840"/>
          </a:xfrm>
          <a:prstGeom prst="roundRect">
            <a:avLst>
              <a:gd name="adj" fmla="val 2553"/>
            </a:avLst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58952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589520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motor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589520" y="3474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a drive motor with a button — objects, fields, and constructors.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589520" y="5120640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pic>
        <p:nvPicPr>
          <p:cNvPr id="14" name="Image 1" descr="/home/user/BasicRobotLessons/docs/presentations/v3/template/assets/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5239512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ORIENTATION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pic>
        <p:nvPicPr>
          <p:cNvPr id="17" name="Image 2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 — Orientation</dc:title>
  <dc:subject>PptxGenJS Presentation</dc:subject>
  <dc:creator>Learn Java + Robot Programming</dc:creator>
  <cp:lastModifiedBy>Learn Java + Robot Programming</cp:lastModifiedBy>
  <cp:revision>1</cp:revision>
  <dcterms:created xsi:type="dcterms:W3CDTF">2026-09-17T14:09:28Z</dcterms:created>
  <dcterms:modified xsi:type="dcterms:W3CDTF">2026-09-17T14:09:28Z</dcterms:modified>
</cp:coreProperties>
</file>