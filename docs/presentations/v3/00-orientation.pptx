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2.png"/><Relationship Id="rId4" Type="http://schemas.openxmlformats.org/officeDocument/2006/relationships/image" Target="../media/image-3-2.png"/><Relationship Id="rId5" Type="http://schemas.openxmlformats.org/officeDocument/2006/relationships/image" Target="../media/image-3-2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Orientation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robot and print a message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lesson gets you to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600200"/>
          </a:xfrm>
          <a:prstGeom prst="roundRect">
            <a:avLst>
              <a:gd name="adj" fmla="val 5714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83080"/>
            <a:ext cx="10241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the template building in simulation, see how the pieces fit together, and make your first code change — print a message the moment teleop wakes up.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342900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53872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4564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JAVA CONCEPTS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995928"/>
            <a:ext cx="5257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Classes, packages, and methods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Statements and the semicolon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Annotations — a tag above a class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Calling a method: System.out.println(...)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42900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robot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53872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4564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ROBOT CONCEPTS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995928"/>
            <a:ext cx="5257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Opmodes — named, selectable robot behaviors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opmode loop — the heartbeat of whichever one is picked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ub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WHAT AM I EVEN LOOKING AT?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files, one boot sequence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4173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the folder tree won't matter yet. Open src/main/java/first/robot/ and you'll find these four.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40080" y="242316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pic>
        <p:nvPicPr>
          <p:cNvPr id="8" name="Image 1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15768"/>
            <a:ext cx="384048" cy="3840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26974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Main.java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960120" y="329184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JVM entry point. Never touch it.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6172200" y="242316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pic>
        <p:nvPicPr>
          <p:cNvPr id="12" name="Image 2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2715768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995160" y="26974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Robot.java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6492240" y="329184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 the framework. You'll rarely touch it.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40080" y="429768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pic>
        <p:nvPicPr>
          <p:cNvPr id="16" name="Image 3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590288"/>
            <a:ext cx="384048" cy="38404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463040" y="45720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MyTeleop.java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960120" y="516636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robot does when you drive it.</a:t>
            </a:r>
            <a:endParaRPr lang="en-US" sz="2000" dirty="0"/>
          </a:p>
        </p:txBody>
      </p:sp>
      <p:sp>
        <p:nvSpPr>
          <p:cNvPr id="19" name="Shape 13"/>
          <p:cNvSpPr/>
          <p:nvPr/>
        </p:nvSpPr>
        <p:spPr>
          <a:xfrm>
            <a:off x="6172200" y="429768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pic>
        <p:nvPicPr>
          <p:cNvPr id="20" name="Image 4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4590288"/>
            <a:ext cx="384048" cy="38404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995160" y="45720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MyAuto.java</a:t>
            </a:r>
            <a:endParaRPr lang="en-US" sz="2200" dirty="0"/>
          </a:p>
        </p:txBody>
      </p:sp>
      <p:sp>
        <p:nvSpPr>
          <p:cNvPr id="22" name="Text 15"/>
          <p:cNvSpPr/>
          <p:nvPr/>
        </p:nvSpPr>
        <p:spPr>
          <a:xfrm>
            <a:off x="6492240" y="516636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robot does on its own, in autonomous.</a:t>
            </a:r>
            <a:endParaRPr lang="en-US" sz="2000" dirty="0"/>
          </a:p>
        </p:txBody>
      </p:sp>
      <p:sp>
        <p:nvSpPr>
          <p:cNvPr id="23" name="Text 16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24" name="Text 17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25" name="Image 5" descr="/home/user/BasicRobotLessons/docs/presentations/v3/template/assets/logo/team5010-log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ub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CLASSES AND PACKAGES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 is a blueprint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212080" cy="1737360"/>
          </a:xfrm>
          <a:prstGeom prst="roundRect">
            <a:avLst>
              <a:gd name="adj" fmla="val 6316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4126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54126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54126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 first.robot;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40080" y="356616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keep class names from colliding — first.robot mirrors the folder first/robot.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RULE TO REMEMBER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46520" y="2331720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package at the top of a file has to match its folder path.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6446520" y="3703320"/>
            <a:ext cx="4800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file defines a class — a blueprint holding data plus the actions that go with it. Robot boots the program; MyTeleop and MyAuto are opmodes.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listul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METHODS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homes, each named for its moment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760720" cy="3246120"/>
          </a:xfrm>
          <a:prstGeom prst="roundRect">
            <a:avLst>
              <a:gd name="adj" fmla="val 338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08990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608990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608990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507492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start() {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once, when enabled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periodic() {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~50x / sec, enabled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6629400" y="1600200"/>
            <a:ext cx="48920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6903720" y="187452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FIVE, TOTAL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903720" y="2331720"/>
            <a:ext cx="43434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start(), periodic(), end(), close(), disabledPeriodic() — five methods, all empty, each named for the moment it fires.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6903720" y="3893820"/>
            <a:ext cx="4343400" cy="1684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periodic() today — you'll meet the rest as you need them. You never call it yourself. The framework does, on its own schedule.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ta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ANNOTATIONS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@Teleop is a tag, not a method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241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7241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7241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4709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@Teleop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MyTeleop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extends PeriodicOpMode {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40080" y="3566160"/>
            <a:ext cx="5394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@Teleop sits above the whole class — a tag the framework reads before your code ever runs. It says: offer this on the Driver Station as "My Teleop."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355080" y="1600200"/>
            <a:ext cx="5166360" cy="4251960"/>
          </a:xfrm>
          <a:prstGeom prst="roundRect">
            <a:avLst>
              <a:gd name="adj" fmla="val 2581"/>
            </a:avLst>
          </a:prstGeom>
          <a:solidFill>
            <a:srgbClr val="0B1F3A"/>
          </a:solidFill>
          <a:ln/>
        </p:spPr>
      </p:sp>
      <p:pic>
        <p:nvPicPr>
          <p:cNvPr id="13" name="Image 1" descr="/home/user/BasicRobotLessons/docs/presentations/v3/template/assets/icons/lightbulb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87452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69480" y="19933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MENTAL SHIFT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6675120" y="2560320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don't write one program that runs top to bottom.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6675120" y="388620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write several small ones — opmodes — and something else decides which one runs right now.</a:t>
            </a:r>
            <a:endParaRPr lang="en-US" sz="2100" dirty="0"/>
          </a:p>
        </p:txBody>
      </p:sp>
      <p:sp>
        <p:nvSpPr>
          <p:cNvPr id="17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8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9" name="Image 2" descr="/home/user/BasicRobotLessons/docs/presentations/v3/template/assets/logo/team5010-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heartbea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OPMODES AND THE HEARTBEAT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heartbeat, whichever opmode is picked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3291840" cy="1737360"/>
          </a:xfrm>
          <a:prstGeom prst="roundRect">
            <a:avLst>
              <a:gd name="adj" fmla="val 6316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64592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5800" dirty="0"/>
          </a:p>
        </p:txBody>
      </p:sp>
      <p:sp>
        <p:nvSpPr>
          <p:cNvPr id="8" name="Text 5"/>
          <p:cNvSpPr/>
          <p:nvPr/>
        </p:nvSpPr>
        <p:spPr>
          <a:xfrm>
            <a:off x="640080" y="26517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spc="100" kern="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A SECOND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4114800" y="1645920"/>
            <a:ext cx="7452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picked and enabled, an opmode's periodic() runs about 50 times a second — forever, until something else is picked or the robot disables.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40080" y="36576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never write while (true) yourself — the framework is the loop, and you plug things into it.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640080" y="4800600"/>
            <a:ext cx="10881360" cy="1280160"/>
          </a:xfrm>
          <a:prstGeom prst="roundRect">
            <a:avLst>
              <a:gd name="adj" fmla="val 8571"/>
            </a:avLst>
          </a:prstGeom>
          <a:solidFill>
            <a:srgbClr val="132A4C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480060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Picking an opmode is what decides which code the heartbeat drives — that choice happens when you select one, not when you write its class.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5" name="Image 1" descr="/home/user/BasicRobotLessons/docs/presentations/v3/template/assets/logo/team5010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pla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RUN 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to see it boot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5727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572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4996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the WPILib command palette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71600" y="18836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Ctrl+Shift+P → "WPILib: Simulate Robot Code" (or the WPILib icon).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0080" y="24871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4140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Or, from a terminal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71600" y="27980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./gradlew simulateJava — first run downloads dependencies.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34015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4015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371600" y="33284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Sim GUI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371600" y="37124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Real Driverstation — Sim GUI is correct for now.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40080" y="4315968"/>
            <a:ext cx="502920" cy="502920"/>
          </a:xfrm>
          <a:prstGeom prst="ellipse">
            <a:avLst/>
          </a:prstGeom>
          <a:solidFill>
            <a:srgbClr val="FF5010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43159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371600" y="42428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My Teleop on the opmode selector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371600" y="46268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names which code the heartbeat will drive.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40080" y="52303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52303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371600" y="51572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Flip Robot State to Enabled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1371600" y="55412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moves yet — there's no motor. That's Lesson 1.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28" name="Image 1" descr="/home/user/BasicRobotLessons/docs/presentations/v3/template/assets/logo/team5010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mmentdot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YOUR FIRST CHANGE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 hello, and watch it show up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6492240" cy="2286000"/>
          </a:xfrm>
          <a:prstGeom prst="roundRect">
            <a:avLst>
              <a:gd name="adj" fmla="val 48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82142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682142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682142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5806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start() {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System.out.println(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"Hello from Team 5010! " +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"Teleop started.");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640080" y="4069080"/>
            <a:ext cx="6492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start() runs once — the instant the opmode is enabled. periodic() would print this fifty times a second and flood your terminal.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7360920" y="1600200"/>
            <a:ext cx="4206240" cy="4206240"/>
          </a:xfrm>
          <a:prstGeom prst="roundRect">
            <a:avLst>
              <a:gd name="adj" fmla="val 2174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7635240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THINGS, ONE LINE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635240" y="23317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 call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7635240" y="2734056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println(...) asks a method to run.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7635240" y="350215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String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7635240" y="3904488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in "quotes" — literal text.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7635240" y="467258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Semicolon</a:t>
            </a:r>
            <a:endParaRPr lang="en-US" sz="2100" dirty="0"/>
          </a:p>
        </p:txBody>
      </p:sp>
      <p:sp>
        <p:nvSpPr>
          <p:cNvPr id="19" name="Text 16"/>
          <p:cNvSpPr/>
          <p:nvPr/>
        </p:nvSpPr>
        <p:spPr>
          <a:xfrm>
            <a:off x="7635240" y="5074920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every statement, no exceptions.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22" name="Image 1" descr="/home/user/BasicRobotLessons/docs/presentations/v3/template/assets/logo/team5010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1371600" y="14173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rgbClr val="B8C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learning happens when you have to think, not when you're copying the walkthrough. Don't skip these.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40080" y="2240280"/>
            <a:ext cx="5303520" cy="3794760"/>
          </a:xfrm>
          <a:prstGeom prst="roundRect">
            <a:avLst>
              <a:gd name="adj" fmla="val 2892"/>
            </a:avLst>
          </a:prstGeom>
          <a:solidFill>
            <a:srgbClr val="132A4C"/>
          </a:solidFill>
          <a:ln/>
        </p:spPr>
      </p:sp>
      <p:sp>
        <p:nvSpPr>
          <p:cNvPr id="8" name="Shape 5"/>
          <p:cNvSpPr/>
          <p:nvPr/>
        </p:nvSpPr>
        <p:spPr>
          <a:xfrm>
            <a:off x="960120" y="251460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9" name="Text 6"/>
          <p:cNvSpPr/>
          <p:nvPr/>
        </p:nvSpPr>
        <p:spPr>
          <a:xfrm>
            <a:off x="96012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960120" y="3200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MyAuto a start()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960120" y="3977640"/>
            <a:ext cx="4663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doesn't have one yet — add it, matching the shape MyTeleop's already has, and print a different message. Confirm it only shows up when you've picked My Auto.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217920" y="2240280"/>
            <a:ext cx="5303520" cy="3794760"/>
          </a:xfrm>
          <a:prstGeom prst="roundRect">
            <a:avLst>
              <a:gd name="adj" fmla="val 2892"/>
            </a:avLst>
          </a:prstGeom>
          <a:solidFill>
            <a:srgbClr val="132A4C"/>
          </a:solidFill>
          <a:ln/>
        </p:spPr>
      </p:sp>
      <p:sp>
        <p:nvSpPr>
          <p:cNvPr id="13" name="Shape 10"/>
          <p:cNvSpPr/>
          <p:nvPr/>
        </p:nvSpPr>
        <p:spPr>
          <a:xfrm>
            <a:off x="6537960" y="251460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4" name="Text 11"/>
          <p:cNvSpPr/>
          <p:nvPr/>
        </p:nvSpPr>
        <p:spPr>
          <a:xfrm>
            <a:off x="653796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537960" y="3200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it on purpose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6537960" y="3977640"/>
            <a:ext cx="4663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a semicolon and run ./gradlew build. Read the error carefully — note the file and line it names. Then put the semicolon back.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9" name="Image 1" descr="/home/user/BasicRobotLessons/docs/presentations/v3/template/assets/logo/team5010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picture to carry forward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class lives inside a package.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classes are opmodes, tagged with an annotation like @Teleop so the framework can find and offer them by name.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Whichever opmode is picked, its periodic() ticks ~50 times a second — that's the heartbeat.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40080" y="49377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Picking an opmode is what decides which code the heartbeat drives.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1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5895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first motor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589520" y="34747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 a drive motor with a button — objects, fields, and constructors.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4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17" name="Image 2" descr="/home/user/BasicRobotLessons/docs/presentations/v3/template/assets/logo/team5010-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0 — Orientation</dc:title>
  <dc:subject>PptxGenJS Presentation</dc:subject>
  <dc:creator>Learn Java + Robot Programming</dc:creator>
  <cp:lastModifiedBy>Learn Java + Robot Programming</cp:lastModifiedBy>
  <cp:revision>1</cp:revision>
  <dcterms:created xsi:type="dcterms:W3CDTF">2026-08-22T15:16:33Z</dcterms:created>
  <dcterms:modified xsi:type="dcterms:W3CDTF">2026-08-22T15:16:33Z</dcterms:modified>
</cp:coreProperties>
</file>