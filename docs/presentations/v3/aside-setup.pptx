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1215" y="3834811"/>
            <a:ext cx="3291840" cy="256598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371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777240" y="18745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20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STARTED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731520" y="233172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</a:t>
            </a:r>
            <a:endParaRPr lang="en-US" sz="6000" dirty="0"/>
          </a:p>
        </p:txBody>
      </p:sp>
      <p:sp>
        <p:nvSpPr>
          <p:cNvPr id="6" name="Text 3"/>
          <p:cNvSpPr/>
          <p:nvPr/>
        </p:nvSpPr>
        <p:spPr>
          <a:xfrm>
            <a:off x="777240" y="361188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CADC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a bare machine to your own robot project on GitHub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77240" y="6126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89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WPILib 2027 Alpha  ·  Commands V3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bullsey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818388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One-time setup, then you never think about it again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463040"/>
          </a:xfrm>
          <a:prstGeom prst="roundRect">
            <a:avLst>
              <a:gd name="adj" fmla="val 6250"/>
            </a:avLst>
          </a:prstGeom>
          <a:solidFill>
            <a:srgbClr val="F3F6FA"/>
          </a:solidFill>
          <a:ln/>
        </p:spPr>
      </p:sp>
      <p:sp>
        <p:nvSpPr>
          <p:cNvPr id="7" name="Text 4"/>
          <p:cNvSpPr/>
          <p:nvPr/>
        </p:nvSpPr>
        <p:spPr>
          <a:xfrm>
            <a:off x="960120" y="1737360"/>
            <a:ext cx="10241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200" i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 Git, a Java 25 toolchain, your own robot project, and GitHub all working together — once, before Lesson 0.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640080" y="329184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pic>
        <p:nvPicPr>
          <p:cNvPr id="9" name="Image 1" descr="/home/user/BasicRobotLessons/docs/presentations/v3/template/assets/icons/terminal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3401568"/>
            <a:ext cx="237744" cy="2377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34440" y="331927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YOU'LL INSTALL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685800" y="3858768"/>
            <a:ext cx="52578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— tracks snapshots of your project</a:t>
            </a:r>
            <a:endParaRPr lang="en-US" sz="20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JDK 25 — the Java toolchain this course builds against</a:t>
            </a:r>
            <a:endParaRPr lang="en-US" sz="20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CLI (gh) — the friction-free way to log in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6309360" y="3291840"/>
            <a:ext cx="457200" cy="457200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13" name="Image 2" descr="/home/user/BasicRobotLessons/docs/presentations/v3/template/assets/icons/github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088" y="340156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903720" y="331927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WALK AWAY WITH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6355080" y="3858768"/>
            <a:ext cx="52578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robot project that builds and runs in simulation</a:t>
            </a:r>
            <a:endParaRPr lang="en-US" sz="20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project backed up on GitHub, under your account</a:t>
            </a:r>
            <a:endParaRPr lang="en-US" sz="20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daily rhythm: pull → edit → add → commit → push</a:t>
            </a:r>
            <a:endParaRPr lang="en-US" sz="2000" dirty="0"/>
          </a:p>
        </p:txBody>
      </p:sp>
      <p:sp>
        <p:nvSpPr>
          <p:cNvPr id="16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SETUP</a:t>
            </a:r>
            <a:endParaRPr lang="en-US" sz="2000" dirty="0"/>
          </a:p>
        </p:txBody>
      </p:sp>
      <p:sp>
        <p:nvSpPr>
          <p:cNvPr id="17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pic>
        <p:nvPicPr>
          <p:cNvPr id="18" name="Image 3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od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INSTALL WPILIB'S TOOLS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818388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installer sets up VS Code and everything else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1848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6184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1371600" y="154533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 the installer for this season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1371600" y="192938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wpilibsuite/allwpilib releases → v2027.0.0-alpha-6 for your OS.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640080" y="253288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25328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1371600" y="245973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it, and choose "Everything"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371600" y="284378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"Tools Only" — this pulls in VS Code, the JDK, and Gradle too.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640080" y="344728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5" name="Text 12"/>
          <p:cNvSpPr/>
          <p:nvPr/>
        </p:nvSpPr>
        <p:spPr>
          <a:xfrm>
            <a:off x="640080" y="34472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1371600" y="337413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 "Download for this computer only"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371600" y="375818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 isn't bundled — licensing — so the installer fetches it.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640080" y="436168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43616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1371600" y="428853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Finish, then launch WPILib VS Code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371600" y="467258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separate copy for this year, not any VS Code already installed.</a:t>
            </a:r>
            <a:endParaRPr lang="en-US" sz="2000" dirty="0"/>
          </a:p>
        </p:txBody>
      </p:sp>
      <p:sp>
        <p:nvSpPr>
          <p:cNvPr id="22" name="Shape 19"/>
          <p:cNvSpPr/>
          <p:nvPr/>
        </p:nvSpPr>
        <p:spPr>
          <a:xfrm>
            <a:off x="640080" y="527608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23" name="Text 20"/>
          <p:cNvSpPr/>
          <p:nvPr/>
        </p:nvSpPr>
        <p:spPr>
          <a:xfrm>
            <a:off x="640080" y="52760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1371600" y="520293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Look for the WPILib icon in the sidebar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1371600" y="558698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confirms the extension installed — you'll use it all course.</a:t>
            </a:r>
            <a:endParaRPr lang="en-US" sz="2000" dirty="0"/>
          </a:p>
        </p:txBody>
      </p:sp>
      <p:sp>
        <p:nvSpPr>
          <p:cNvPr id="26" name="Text 23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SETUP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pic>
        <p:nvPicPr>
          <p:cNvPr id="28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download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INSTALL GIT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818388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 Git, and tell it who you are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051560"/>
          </a:xfrm>
          <a:prstGeom prst="roundRect">
            <a:avLst>
              <a:gd name="adj" fmla="val 10435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801368"/>
            <a:ext cx="10195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7F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winget install --id Git.Git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640080" y="2926080"/>
            <a:ext cx="10881360" cy="1600200"/>
          </a:xfrm>
          <a:prstGeom prst="roundRect">
            <a:avLst>
              <a:gd name="adj" fmla="val 6857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11210544" y="307238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3" name="Shape 10"/>
          <p:cNvSpPr/>
          <p:nvPr/>
        </p:nvSpPr>
        <p:spPr>
          <a:xfrm>
            <a:off x="11210544" y="327355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14" name="Shape 11"/>
          <p:cNvSpPr/>
          <p:nvPr/>
        </p:nvSpPr>
        <p:spPr>
          <a:xfrm>
            <a:off x="11210544" y="347472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5" name="Text 12"/>
          <p:cNvSpPr/>
          <p:nvPr/>
        </p:nvSpPr>
        <p:spPr>
          <a:xfrm>
            <a:off x="914400" y="3127248"/>
            <a:ext cx="10195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config --global user.name  "Your Name"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config --global user.email "you@example.com"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640080" y="4754880"/>
            <a:ext cx="10881360" cy="1097280"/>
          </a:xfrm>
          <a:prstGeom prst="roundRect">
            <a:avLst>
              <a:gd name="adj" fmla="val 8333"/>
            </a:avLst>
          </a:prstGeom>
          <a:solidFill>
            <a:srgbClr val="F3F6FA"/>
          </a:solidFill>
          <a:ln/>
        </p:spPr>
      </p:sp>
      <p:sp>
        <p:nvSpPr>
          <p:cNvPr id="17" name="Text 14"/>
          <p:cNvSpPr/>
          <p:nvPr/>
        </p:nvSpPr>
        <p:spPr>
          <a:xfrm>
            <a:off x="868680" y="4983480"/>
            <a:ext cx="10424160" cy="895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 the same email you'll sign up for GitHub with — that's how GitHub matches a commit to your account.</a:t>
            </a:r>
            <a:endParaRPr lang="en-US" sz="2100" dirty="0"/>
          </a:p>
        </p:txBody>
      </p:sp>
      <p:sp>
        <p:nvSpPr>
          <p:cNvPr id="18" name="Text 15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SETUP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pic>
        <p:nvPicPr>
          <p:cNvPr id="20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offe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CONFIRM YOUR JDK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818388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course builds against Java 25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5212080" cy="1234440"/>
          </a:xfrm>
          <a:prstGeom prst="roundRect">
            <a:avLst>
              <a:gd name="adj" fmla="val 8889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54126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554126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554126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801368"/>
            <a:ext cx="4526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7F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java -version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640080" y="3017520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for 25 somewhere in what it prints.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6172200" y="1600200"/>
            <a:ext cx="5349240" cy="4251960"/>
          </a:xfrm>
          <a:prstGeom prst="roundRect">
            <a:avLst>
              <a:gd name="adj" fmla="val 2151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6446520" y="18745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POINTING GRADLE AT IT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446520" y="2331720"/>
            <a:ext cx="4800600" cy="927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alpha's installer already gave you one.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6446520" y="3258820"/>
            <a:ext cx="4800600" cy="2319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1's installer bundles JDK 25 — no need to install your own. A different JDK on PATH (say, Java 17 from the classic track) just means pointing Gradle at this one with JAVA_HOME or ORG_GRADLE_JAVA_HOME.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SETUP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pic>
        <p:nvPicPr>
          <p:cNvPr id="18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folderopen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YOUR STARTING PROJECT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818388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Pull your project from the course repo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554480"/>
            <a:ext cx="10881360" cy="1965960"/>
          </a:xfrm>
          <a:prstGeom prst="roundRect">
            <a:avLst>
              <a:gd name="adj" fmla="val 5581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0078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0195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0312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755648"/>
            <a:ext cx="10195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https://github.com/FRC5010/BasicRobotLessons.git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BasicRobotLessons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./tools/verify-lessons-v3.sh -1 --sandbox ~/dev/MyOpModeRobot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" y="37490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A"/>
          </a:solidFill>
          <a:ln/>
        </p:spPr>
      </p:sp>
      <p:sp>
        <p:nvSpPr>
          <p:cNvPr id="12" name="Text 9"/>
          <p:cNvSpPr/>
          <p:nvPr/>
        </p:nvSpPr>
        <p:spPr>
          <a:xfrm>
            <a:off x="914400" y="3977640"/>
            <a:ext cx="4892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--sandbox names where your project lands. -1 means "just the starting template, no lessons applied yet."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6172200" y="3749040"/>
            <a:ext cx="5349240" cy="2286000"/>
          </a:xfrm>
          <a:prstGeom prst="roundRect">
            <a:avLst>
              <a:gd name="adj" fmla="val 4000"/>
            </a:avLst>
          </a:prstGeom>
          <a:solidFill>
            <a:srgbClr val="FF5010"/>
          </a:solidFill>
          <a:ln/>
        </p:spPr>
      </p:sp>
      <p:sp>
        <p:nvSpPr>
          <p:cNvPr id="14" name="Text 11"/>
          <p:cNvSpPr/>
          <p:nvPr/>
        </p:nvSpPr>
        <p:spPr>
          <a:xfrm>
            <a:off x="6446520" y="3931920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THIS ONE IN GIT BASH, NOT POWERSHELL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6446520" y="4709160"/>
            <a:ext cx="4800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script needs bash, curl, and python3. Git Bash — installed alongside Git — is in your Start menu.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SETUP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000" dirty="0"/>
          </a:p>
        </p:txBody>
      </p:sp>
      <p:pic>
        <p:nvPicPr>
          <p:cNvPr id="18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sitemap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TWO FOLDERS NOW EXIST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818388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Don't confuse them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5349240" cy="4251960"/>
          </a:xfrm>
          <a:prstGeom prst="roundRect">
            <a:avLst>
              <a:gd name="adj" fmla="val 2151"/>
            </a:avLst>
          </a:prstGeom>
          <a:solidFill>
            <a:srgbClr val="F3F6FA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18745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BASICROBOTLESSONS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914400" y="2331720"/>
            <a:ext cx="4800600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 repo you cloned.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914400" y="2909570"/>
            <a:ext cx="4800600" cy="2668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own history, not yours. Come back to it when a lesson is unclear — but you never commit your own work into it.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6172200" y="1600200"/>
            <a:ext cx="5349240" cy="4251960"/>
          </a:xfrm>
          <a:prstGeom prst="roundRect">
            <a:avLst>
              <a:gd name="adj" fmla="val 2151"/>
            </a:avLst>
          </a:prstGeom>
          <a:solidFill>
            <a:srgbClr val="0B1F3A"/>
          </a:solidFill>
          <a:ln/>
        </p:spPr>
      </p:sp>
      <p:sp>
        <p:nvSpPr>
          <p:cNvPr id="11" name="Text 8"/>
          <p:cNvSpPr/>
          <p:nvPr/>
        </p:nvSpPr>
        <p:spPr>
          <a:xfrm>
            <a:off x="6446520" y="18745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~/DEV/MYOPMODEROBOT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6446520" y="2331720"/>
            <a:ext cx="4800600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project.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446520" y="2909570"/>
            <a:ext cx="4800600" cy="2668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clean, ordinary, git-less folder — .git, build, and .gradle were stripped on the way out. This is what every lesson from here on is talking about.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SETUP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000" dirty="0"/>
          </a:p>
        </p:txBody>
      </p:sp>
      <p:pic>
        <p:nvPicPr>
          <p:cNvPr id="16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heckcircl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MAKE IT YOUR OWN REPO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818388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it, then start tracking it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554480"/>
            <a:ext cx="5212080" cy="1874520"/>
          </a:xfrm>
          <a:prstGeom prst="roundRect">
            <a:avLst>
              <a:gd name="adj" fmla="val 5854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541264" y="170078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5541264" y="190195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5541264" y="210312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755648"/>
            <a:ext cx="45262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~/dev/MyOpModeRobot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./gradlew build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./gradlew simulateJava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640080" y="3611880"/>
            <a:ext cx="5212080" cy="2240280"/>
          </a:xfrm>
          <a:prstGeom prst="roundRect">
            <a:avLst>
              <a:gd name="adj" fmla="val 4898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541264" y="375818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3" name="Shape 10"/>
          <p:cNvSpPr/>
          <p:nvPr/>
        </p:nvSpPr>
        <p:spPr>
          <a:xfrm>
            <a:off x="5541264" y="395935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14" name="Shape 11"/>
          <p:cNvSpPr/>
          <p:nvPr/>
        </p:nvSpPr>
        <p:spPr>
          <a:xfrm>
            <a:off x="5541264" y="416052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5" name="Text 12"/>
          <p:cNvSpPr/>
          <p:nvPr/>
        </p:nvSpPr>
        <p:spPr>
          <a:xfrm>
            <a:off x="914400" y="3813048"/>
            <a:ext cx="45262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init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branch -M main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add .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commit -m "Initial commit"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172200" y="1600200"/>
            <a:ext cx="5349240" cy="4251960"/>
          </a:xfrm>
          <a:prstGeom prst="roundRect">
            <a:avLst>
              <a:gd name="adj" fmla="val 2151"/>
            </a:avLst>
          </a:prstGeom>
          <a:solidFill>
            <a:srgbClr val="F3F6FA"/>
          </a:solidFill>
          <a:ln/>
        </p:spPr>
      </p:sp>
      <p:sp>
        <p:nvSpPr>
          <p:cNvPr id="17" name="Text 14"/>
          <p:cNvSpPr/>
          <p:nvPr/>
        </p:nvSpPr>
        <p:spPr>
          <a:xfrm>
            <a:off x="6446520" y="1874520"/>
            <a:ext cx="4800600" cy="1228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template already ships a .gitignore that excludes build/ and .gradle/ — trust it.</a:t>
            </a:r>
            <a:endParaRPr lang="en-US" sz="2100" dirty="0"/>
          </a:p>
        </p:txBody>
      </p:sp>
      <p:sp>
        <p:nvSpPr>
          <p:cNvPr id="18" name="Text 15"/>
          <p:cNvSpPr/>
          <p:nvPr/>
        </p:nvSpPr>
        <p:spPr>
          <a:xfrm>
            <a:off x="6446520" y="3103245"/>
            <a:ext cx="4800600" cy="2474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with git status that every untracked file belongs in the repo. That first commit is your recovery point — if your laptop died right now, you could rebuild from it, as long as it lives on GitHub too.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SETUP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000" dirty="0"/>
          </a:p>
        </p:txBody>
      </p:sp>
      <p:pic>
        <p:nvPicPr>
          <p:cNvPr id="21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key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GITHUB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818388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account, and a login that never nags you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5212080" cy="1234440"/>
          </a:xfrm>
          <a:prstGeom prst="roundRect">
            <a:avLst>
              <a:gd name="adj" fmla="val 8889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54126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554126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554126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801368"/>
            <a:ext cx="4526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7F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winget install --id GitHub.cli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640080" y="3017520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up at github.com with the same email as before.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6172200" y="1600200"/>
            <a:ext cx="5349240" cy="4251960"/>
          </a:xfrm>
          <a:prstGeom prst="roundRect">
            <a:avLst>
              <a:gd name="adj" fmla="val 2151"/>
            </a:avLst>
          </a:prstGeom>
          <a:solidFill>
            <a:srgbClr val="0B1F3A"/>
          </a:solidFill>
          <a:ln/>
        </p:spPr>
      </p:sp>
      <p:sp>
        <p:nvSpPr>
          <p:cNvPr id="13" name="Text 10"/>
          <p:cNvSpPr/>
          <p:nvPr/>
        </p:nvSpPr>
        <p:spPr>
          <a:xfrm>
            <a:off x="6446520" y="18745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 AUTH LOGIN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446520" y="2331720"/>
            <a:ext cx="4800600" cy="1228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GitHub.com → HTTPS → authenticate Git with your GitHub credentials → log in with a web browser.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6446520" y="3560445"/>
            <a:ext cx="4800600" cy="2017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gives you a one-time code, opens your browser, you paste the code — done. From now on, git push and git pull just work, no password prompt, ever.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SETUP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2000" dirty="0"/>
          </a:p>
        </p:txBody>
      </p:sp>
      <p:pic>
        <p:nvPicPr>
          <p:cNvPr id="18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louduploadalt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PUSH IT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818388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command makes the remote and sends your code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234440"/>
          </a:xfrm>
          <a:prstGeom prst="roundRect">
            <a:avLst>
              <a:gd name="adj" fmla="val 8889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801368"/>
            <a:ext cx="10195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gh repo create MyOpModeRobot --private --source=. --remote=origin --push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40080" y="3063240"/>
            <a:ext cx="10881360" cy="2788920"/>
          </a:xfrm>
          <a:prstGeom prst="roundRect">
            <a:avLst>
              <a:gd name="adj" fmla="val 3279"/>
            </a:avLst>
          </a:prstGeom>
          <a:solidFill>
            <a:srgbClr val="F3F6FA"/>
          </a:solidFill>
          <a:ln/>
        </p:spPr>
      </p:sp>
      <p:sp>
        <p:nvSpPr>
          <p:cNvPr id="12" name="Text 9"/>
          <p:cNvSpPr/>
          <p:nvPr/>
        </p:nvSpPr>
        <p:spPr>
          <a:xfrm>
            <a:off x="914400" y="3337560"/>
            <a:ext cx="10332720" cy="927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That one line creates a private GitHub repo, wires it up as origin, and pushes your first commit.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914400" y="4264660"/>
            <a:ext cx="10332720" cy="131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it landed right: gh repo view --web opens the repo in your browser. You should see every file from your project — and nothing from BasicRobotLessons. If the whole course shows up instead, you ran it from the wrong folder.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SETUP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000" dirty="0"/>
          </a:p>
        </p:txBody>
      </p:sp>
      <p:pic>
        <p:nvPicPr>
          <p:cNvPr id="16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syncalt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8 · THE EVERYDAY LOOP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818388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one cycle you'll run constantly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6126480" cy="2834640"/>
          </a:xfrm>
          <a:prstGeom prst="roundRect">
            <a:avLst>
              <a:gd name="adj" fmla="val 3871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645566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645566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645566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801368"/>
            <a:ext cx="54406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status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add .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commit -m "Finish Lesson 3"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push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pull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949440" y="1600200"/>
            <a:ext cx="4572000" cy="2834640"/>
          </a:xfrm>
          <a:prstGeom prst="roundRect">
            <a:avLst>
              <a:gd name="adj" fmla="val 3871"/>
            </a:avLst>
          </a:prstGeom>
          <a:solidFill>
            <a:srgbClr val="132A4C"/>
          </a:solidFill>
          <a:ln/>
        </p:spPr>
      </p:sp>
      <p:sp>
        <p:nvSpPr>
          <p:cNvPr id="12" name="Text 9"/>
          <p:cNvSpPr/>
          <p:nvPr/>
        </p:nvSpPr>
        <p:spPr>
          <a:xfrm>
            <a:off x="7223760" y="182880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PULL → EDIT → ADD → COMMIT → PUSH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7223760" y="2834640"/>
            <a:ext cx="40233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it once a day, or every time something works that didn't before. Write commit messages that say what changed and why.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640080" y="4709160"/>
            <a:ext cx="10881360" cy="1371600"/>
          </a:xfrm>
          <a:prstGeom prst="roundRect">
            <a:avLst>
              <a:gd name="adj" fmla="val 8000"/>
            </a:avLst>
          </a:prstGeom>
          <a:solidFill>
            <a:srgbClr val="132A4C"/>
          </a:solidFill>
          <a:ln/>
        </p:spPr>
      </p:sp>
      <p:sp>
        <p:nvSpPr>
          <p:cNvPr id="15" name="Text 12"/>
          <p:cNvSpPr/>
          <p:nvPr/>
        </p:nvSpPr>
        <p:spPr>
          <a:xfrm>
            <a:off x="914400" y="4709160"/>
            <a:ext cx="10332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push that reports a merge conflict isn't an error — Git found two edits close together and won't guess which wins. Mark the file resolved with git add, then git commit to finish.</a:t>
            </a:r>
            <a:endParaRPr lang="en-US" sz="2100" dirty="0"/>
          </a:p>
        </p:txBody>
      </p:sp>
      <p:sp>
        <p:nvSpPr>
          <p:cNvPr id="16" name="Text 13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SETUP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2000" dirty="0"/>
          </a:p>
        </p:txBody>
      </p:sp>
      <p:pic>
        <p:nvPicPr>
          <p:cNvPr id="18" name="Image 1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clipboardcheck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MOVE ON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818388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it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46304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7" name="Shape 4"/>
          <p:cNvSpPr/>
          <p:nvPr/>
        </p:nvSpPr>
        <p:spPr>
          <a:xfrm>
            <a:off x="960120" y="169164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8" name="Text 5"/>
          <p:cNvSpPr/>
          <p:nvPr/>
        </p:nvSpPr>
        <p:spPr>
          <a:xfrm>
            <a:off x="96012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600200" y="1691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 the round trip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960120" y="228600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line to README.md, then add → commit → push. Confirm the change shows up on github.com.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6217920" y="146304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12" name="Shape 9"/>
          <p:cNvSpPr/>
          <p:nvPr/>
        </p:nvSpPr>
        <p:spPr>
          <a:xfrm>
            <a:off x="6537960" y="169164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3" name="Text 10"/>
          <p:cNvSpPr/>
          <p:nvPr/>
        </p:nvSpPr>
        <p:spPr>
          <a:xfrm>
            <a:off x="653796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7178040" y="1691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Simulate a dead laptop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6537960" y="228600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 your own repo into a fresh folder and build it. If it builds, GitHub really is a full backup.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640080" y="402336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17" name="Shape 14"/>
          <p:cNvSpPr/>
          <p:nvPr/>
        </p:nvSpPr>
        <p:spPr>
          <a:xfrm>
            <a:off x="960120" y="425196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8" name="Text 15"/>
          <p:cNvSpPr/>
          <p:nvPr/>
        </p:nvSpPr>
        <p:spPr>
          <a:xfrm>
            <a:off x="960120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1600200" y="425196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.gitignore sanity check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960120" y="484632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 build, then git status. build/ and .gradle/ shouldn't show up as untracked.</a:t>
            </a:r>
            <a:endParaRPr lang="en-US" sz="2000" dirty="0"/>
          </a:p>
        </p:txBody>
      </p:sp>
      <p:sp>
        <p:nvSpPr>
          <p:cNvPr id="21" name="Shape 18"/>
          <p:cNvSpPr/>
          <p:nvPr/>
        </p:nvSpPr>
        <p:spPr>
          <a:xfrm>
            <a:off x="6217920" y="402336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22" name="Shape 19"/>
          <p:cNvSpPr/>
          <p:nvPr/>
        </p:nvSpPr>
        <p:spPr>
          <a:xfrm>
            <a:off x="6537960" y="425196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23" name="Text 20"/>
          <p:cNvSpPr/>
          <p:nvPr/>
        </p:nvSpPr>
        <p:spPr>
          <a:xfrm>
            <a:off x="6537960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7178040" y="425196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Regenerate and compare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6537960" y="484632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setup command again into a new folder. It should match your real project exactly.</a:t>
            </a:r>
            <a:endParaRPr lang="en-US" sz="2000" dirty="0"/>
          </a:p>
        </p:txBody>
      </p:sp>
      <p:sp>
        <p:nvSpPr>
          <p:cNvPr id="26" name="Text 23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SETUP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2000" dirty="0"/>
          </a:p>
        </p:txBody>
      </p:sp>
      <p:pic>
        <p:nvPicPr>
          <p:cNvPr id="28" name="Image 1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graduationcap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LEARNED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818388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machine is ready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640080" y="1600200"/>
            <a:ext cx="63093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tracks snapshots of your project locally, with add and commit.</a:t>
            </a:r>
            <a:endParaRPr lang="en-US" sz="2100" dirty="0"/>
          </a:p>
          <a:p>
            <a:pPr marL="342900" indent="-342900">
              <a:lnSpc>
                <a:spcPct val="120000"/>
              </a:lnSpc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holds the remote copy — push sends commits up, pull brings them down.</a:t>
            </a:r>
            <a:endParaRPr lang="en-US" sz="2100" dirty="0"/>
          </a:p>
          <a:p>
            <a:pPr marL="342900" indent="-342900">
              <a:lnSpc>
                <a:spcPct val="120000"/>
              </a:lnSpc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 auth login means neither will ever ask you for a password again.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640080" y="4937760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i="1" dirty="0">
                <a:solidFill>
                  <a:srgbClr val="5B6B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rhythm to carry forward: pull → edit → add → commit → push.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7269480" y="1600200"/>
            <a:ext cx="4297680" cy="4434840"/>
          </a:xfrm>
          <a:prstGeom prst="roundRect">
            <a:avLst>
              <a:gd name="adj" fmla="val 2553"/>
            </a:avLst>
          </a:prstGeom>
          <a:solidFill>
            <a:srgbClr val="0B1F3A"/>
          </a:solidFill>
          <a:ln/>
        </p:spPr>
      </p:sp>
      <p:sp>
        <p:nvSpPr>
          <p:cNvPr id="9" name="Text 6"/>
          <p:cNvSpPr/>
          <p:nvPr/>
        </p:nvSpPr>
        <p:spPr>
          <a:xfrm>
            <a:off x="7589520" y="1920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2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START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7589520" y="233172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0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589520" y="28346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Orientation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7589520" y="347472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0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robot and print a message.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7589520" y="5120640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pic>
        <p:nvPicPr>
          <p:cNvPr id="14" name="Image 1" descr="/home/user/BasicRobotLessons/docs/presentations/v3/template/assets/icons/arrowright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8392" y="5239512"/>
            <a:ext cx="265176" cy="26517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SETUP</a:t>
            </a:r>
            <a:endParaRPr lang="en-US" sz="2000" dirty="0"/>
          </a:p>
        </p:txBody>
      </p:sp>
      <p:sp>
        <p:nvSpPr>
          <p:cNvPr id="16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2000" dirty="0"/>
          </a:p>
        </p:txBody>
      </p:sp>
      <p:pic>
        <p:nvPicPr>
          <p:cNvPr id="17" name="Image 2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Setup — Getting Started</dc:title>
  <dc:subject>PptxGenJS Presentation</dc:subject>
  <dc:creator>Learn Java + Robot Programming</dc:creator>
  <cp:lastModifiedBy>Learn Java + Robot Programming</cp:lastModifiedBy>
  <cp:revision>1</cp:revision>
  <dcterms:created xsi:type="dcterms:W3CDTF">2026-09-23T22:31:51Z</dcterms:created>
  <dcterms:modified xsi:type="dcterms:W3CDTF">2026-09-23T22:31:51Z</dcterms:modified>
</cp:coreProperties>
</file>