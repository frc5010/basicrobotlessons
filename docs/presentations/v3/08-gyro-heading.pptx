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encoder tells you how far a motor turned. A gyro tells you how far the whole robot has rotated. The Pigeon 2 reports yaw — rotation about the vertical axis, i.e. heading — in degrees, 0° wherever the robot was pointing when the gyro zeroed, positive CCW (the Lesson 7 convention, holding as promised). The most important thing in this lesson is what does NOT change: turning a whole robot to face 90° turns out to be the same five moves as pointing one 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should the gyro live? Heading is a chassis fact — no single module knows it, and no single module needs it alone — so it goes on Drivetrain, not in SwerveModule and not in some new mechanism. That framing question is worth asking out loud before opening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yaw has the same shape as reading motor position: getYaw() returns a signal, .getValue().in(Degrees) pulls the number out in the unit you want. Sensors all feel alike once you've read one — that's worth naming explicitly, since it validates the pattern-recognition students have been building since Lesson 3. Notice those last two fields aren't final — they're memory, a running total the sim rewrites every tick, which is why they're plain mutable doubles and not final like the hardware fields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for the same fact, the same split Lesson 7 established for module states: Telemetry.log's plain overload for anything that just wants a line graph, and its struct overload for AdvantageScope's Swerve tab, which wants a real Rotation2d, not a bare number. This slot right below the existing module-telemetry loop is deliberate — logTelemetry() already runs every tick via the periodic callback, so nothing new needs to be registered with the scheduler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Telemetry.log has a single-value overload for exactly this, the same idea as the module-states array from Lesson 7: hand it the value plus Rotation2d.struct — a value Rotation2d ships that knows how to turn one into bytes and back — and it publishes the structured type instead of a bare number. Rotation2d is already imported from Lesson 7, so this slots in with no new plumbing at all — no field, no NetworkTableInstance, no .publish() to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rotate(omega) command from Lesson 7 does the actual module-steering math for pure rotation — this is that exact tangent-angle loop, unchanged, just moved into a private helper. turnToHeading is about to need the same math with a different omega each tick — and the sim needs to know what omega was just asked for. You could copy the tangent-angle loop into the new command. Don't — copied code is a bug with a delay on it: fix the original and the copy stays wrong. Look at what happened to rotate: its whole body became one line that says what it wants, and the helper holds the how. That's the move — when two commands need the same math, promote it to a helper, and every caller gets the m_lastCommandedOmega bookkeeping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Pure translation shouldn't leave a stale rotation rate lying around for the sim to integrate — without this line, stopping a rotate and switching to translate would leave m_lastCommandedOmega at whatever it was last set to, and the fake gyro would keep drifting even though nothing is actually asking the chassis to spin. One line, easy to miss because the rest of the method is untouched — this is exactly the kind of edit that's easy to skip when skimming a 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promised its five moves would come back — measure, subtract, multiply, clamp, command — and here they are, pointed at the whole robot. This is the same two while loops Lesson 5 wrote inline inside steerToAngle, just pulled into their own method this time, because turnToHeading needs the wrapped error in two places: once inside the loop to compute a fresh omega, and once in the loop's own condition to decide when to stop. Writing the wrap logic twice would risk the two copies disagreeing about what "done" means — pulling it into headingError guarantees they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clamp is tighter than Lesson 5's ±1.0 on purpose: full-power spins are violent, and a heading turn never needs more than half throttle. Because the finish condition calls the same headingError the loop body used, "done" means "within 2° by the shortest path" — the wrap logic can't disagree with itself. Drivetrain needs its own private clamp helper here — it's a different class from SwerveModule, so it can't reach that one's private helper, even though the logic is identical; that helper and the HeadingConstants class holding kP both get their own slides right after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while loop as "keep steering toward the target, one tick at a time, for as long as we're still more than 2° off." Each pass computes a fresh omega from the current error, hands it to commandRotation, then coroutine.yield() suspends until the next tick — this is precisely what Coroutine.waitUntil(...) did under the hood back in Lesson 6, just written out by hand because this loop has real work to do on every pass, not just a condition to poll. The moment the error drops under 2°, the loop exits, the line right after it commands a full stop, and the coroutine body is out of code — finished, the same way driveDistance finished in Lesson 6. And because Lesson 6's rule about endings hasn't gone anywhere, .whenCanceled(() -&gt; commandRotation(0.0)) covers the other ending — something interrupting this command before the loop ever gets to its own stop line. Two endings, two stop orders, same as driveDistance.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identical logic to SwerveModule's clamp from Lesson 5/7 — deliberately duplicated, not shared, because Java's private access doesn't cross class boundaries and there's no shared parent class here to hang a common helper off of. Worth naming as a small, honest exception to the "don't copy code" rule from a few slides ago: commandRotation was worth extracting because both callers lived in the same class; clamp is small enough, and different enough in its lack of a natural home, that a second private copy is the pragmatic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 here starts at 0.02 — a very different number from SteerConstants.kP's 0.0005, and that's worth naming: these are two unrelated gains, tuned against two different plants (a geared steering motor vs. an integrated fake gyro with no inertia at all), so there's no reason to expect the numbers to be close, and they aren't. HeadingConstants existing as its own class rather than folding kP into SteerConstants keeps the naming honest — this gain is about heading, not steering.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and right face buttons are free again since Lesson 7's cleanup, which is a small but nice callback worth mentioning — the refactor really did clear things out. Because turnToHeading requires the Drivetrain, pressing the bottom button cancels the default translate command; when it finishes (or is interrupted by the right button), the default resumes automatically. Unlike Lesson 5's steerToAngle, this command finishes — so the stick comes back to life on its own the moment the robot faces 90°, with no extra code needed to hand control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real robot, commandRotation(omega) spins the four wheels tangent to the circle, the chassis rotates, and the gyro reads the result. In sim, the modules don't actually push the chassis around — that physics hasn't been built. So the loop gets closed by hand: pretend the robot rotates at the rate just commanded, and inject that back into the fake gyro. It's an honest stand-in that lets turnToHeading get developed on a laptop today; when Lesson 10 adds SwerveDriveKinematics, this can be replaced with a physics-driven simulation of the actual modules pushing the chassis around. Worth stating plainly: this is the same command → model → fake sensor → your reads loop as Lesson 4, just with a one-line model instead of a full DCMotorSim. Add this below the existing module loop in simulatePeriodic() — the Lesson 7 code that steps every module's physics stays exactly as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against this model: from a standing start, turnToHeading(90) settles inside the band in well under a second — no overshoot, no oscillation, because integrating a commanded rate has no momentum to fight, unlike the geared motors from Lesson 7. That's a clean, deliberate contrast worth naming: this control loop is easier to tune than the geared steering was, precisely because the fake gyro has no inertia. One glance at the Swerve tab now tells you what the wheels are doing and which way the robot thinks it's facing,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these four genuinely expect written code, tagged accordingly. The wrap-proving exercise is the most important of the four to actually run, not just assign, even though it's not itself code-writing: from 90°, turnToHeading(-170) should sweep +100° through 180° — the short way — not -260°, and watching the plot is what confirms the wrap logic is really doing its job rather than just compiling. Snap-to-nearest-90 is a genuine new command factory, not just a binding — Math.round(heading / 90.0) * 90.0 gives the target, then it's turnToHeading's own shape wrapping it. zeroHeading() is a good moment to point out that a one-statement coroutine body with nothing to wait for finishes the instant it runs — the same shape as a runOnce-style setup step from Lesson 6, just realized through the coroutine body instead of a decorator.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thing in this lesson is what didn't change: turning a five-hundred-newton robot to face 90° is the same five moves as pointing one wheel — measure, subtract, multiply, clamp, command — with a gyro as the sensor and the wrap trick promoted into a headingError helper that the finish condition shares, so "done" and "which way" can never disagree. Around that came two habits worth keeping: when a second caller needs the same math, extract a helper method instead of copying — copied code is a bug with a delay on it — and when the physics doesn't exist yet, fake the sensor by integrating the commanded rate. You also wrote your first finishing command whose loop body does real per-tick work instead of just waiting — the direct, by-hand version of what coroutine.waitUntil(...) was quietly doing all along back in Lesson 6. A robot that knows its heading and can command its own motion is most of what an autonomous routine needs — Lesson 9 takes the driver out of the loop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8</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Gyro &amp; Heading</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Turn the robot to a compass direction and stop</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same P control, pointed at the whole robot</a:t>
            </a:r>
            <a:endParaRPr lang="en-US" sz="3000" dirty="0"/>
          </a:p>
        </p:txBody>
      </p:sp>
      <p:sp>
        <p:nvSpPr>
          <p:cNvPr id="6" name="Shape 3"/>
          <p:cNvSpPr/>
          <p:nvPr/>
        </p:nvSpPr>
        <p:spPr>
          <a:xfrm>
            <a:off x="640080" y="1600200"/>
            <a:ext cx="10881360" cy="1417320"/>
          </a:xfrm>
          <a:prstGeom prst="roundRect">
            <a:avLst>
              <a:gd name="adj" fmla="val 6452"/>
            </a:avLst>
          </a:prstGeom>
          <a:solidFill>
            <a:srgbClr val="F3F6FA"/>
          </a:solidFill>
          <a:ln/>
        </p:spPr>
      </p:sp>
      <p:sp>
        <p:nvSpPr>
          <p:cNvPr id="7" name="Text 4"/>
          <p:cNvSpPr/>
          <p:nvPr/>
        </p:nvSpPr>
        <p:spPr>
          <a:xfrm>
            <a:off x="960120" y="1737360"/>
            <a:ext cx="10241280" cy="1143000"/>
          </a:xfrm>
          <a:prstGeom prst="rect">
            <a:avLst/>
          </a:prstGeom>
          <a:noFill/>
          <a:ln/>
        </p:spPr>
        <p:txBody>
          <a:bodyPr wrap="square" lIns="0" tIns="0" rIns="0" bIns="0" rtlCol="0" anchor="ctr"/>
          <a:lstStyle/>
          <a:p>
            <a:pPr indent="0" marL="0">
              <a:lnSpc>
                <a:spcPct val="120000"/>
              </a:lnSpc>
              <a:buNone/>
            </a:pPr>
            <a:r>
              <a:rPr lang="en-US" sz="2100" i="1" dirty="0">
                <a:solidFill>
                  <a:srgbClr val="13294B"/>
                </a:solidFill>
                <a:latin typeface="Cambria" pitchFamily="34" charset="0"/>
                <a:ea typeface="Cambria" pitchFamily="34" charset="-122"/>
                <a:cs typeface="Cambria" pitchFamily="34" charset="-120"/>
              </a:rPr>
              <a:t>Add a Pigeon 2 to the Drivetrain, then use Lesson 5's P control to make the chassis turn to a target heading and stop — using real chassis rotation.</a:t>
            </a:r>
            <a:endParaRPr lang="en-US" sz="2100" dirty="0"/>
          </a:p>
        </p:txBody>
      </p:sp>
      <p:sp>
        <p:nvSpPr>
          <p:cNvPr id="8" name="Shape 5"/>
          <p:cNvSpPr/>
          <p:nvPr/>
        </p:nvSpPr>
        <p:spPr>
          <a:xfrm>
            <a:off x="640080" y="324612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355848"/>
            <a:ext cx="237744" cy="237744"/>
          </a:xfrm>
          <a:prstGeom prst="rect">
            <a:avLst/>
          </a:prstGeom>
        </p:spPr>
      </p:pic>
      <p:sp>
        <p:nvSpPr>
          <p:cNvPr id="10" name="Text 6"/>
          <p:cNvSpPr/>
          <p:nvPr/>
        </p:nvSpPr>
        <p:spPr>
          <a:xfrm>
            <a:off x="123444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813048"/>
            <a:ext cx="5257800" cy="26517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Adding a field to an existing mechanism</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Reusing a pattern on a whole-robot quantity</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Extracting a helper to avoid duplicating logic</a:t>
            </a:r>
            <a:endParaRPr lang="en-US" sz="2000" dirty="0"/>
          </a:p>
        </p:txBody>
      </p:sp>
      <p:sp>
        <p:nvSpPr>
          <p:cNvPr id="12" name="Shape 8"/>
          <p:cNvSpPr/>
          <p:nvPr/>
        </p:nvSpPr>
        <p:spPr>
          <a:xfrm>
            <a:off x="6309360" y="3246120"/>
            <a:ext cx="457200" cy="457200"/>
          </a:xfrm>
          <a:prstGeom prst="ellipse">
            <a:avLst/>
          </a:prstGeom>
          <a:solidFill>
            <a:srgbClr val="FF5010"/>
          </a:solidFill>
          <a:ln/>
        </p:spPr>
      </p:sp>
      <p:pic>
        <p:nvPicPr>
          <p:cNvPr id="13" name="Image 2" descr="/home/user/BasicRobotLessons/docs/presentations/v3/template/assets/icons/compass_white.png">    </p:cNvPr>
          <p:cNvPicPr>
            <a:picLocks noChangeAspect="1"/>
          </p:cNvPicPr>
          <p:nvPr/>
        </p:nvPicPr>
        <p:blipFill>
          <a:blip r:embed="rId3"/>
          <a:stretch>
            <a:fillRect/>
          </a:stretch>
        </p:blipFill>
        <p:spPr>
          <a:xfrm>
            <a:off x="6419088" y="3355848"/>
            <a:ext cx="237744" cy="237744"/>
          </a:xfrm>
          <a:prstGeom prst="rect">
            <a:avLst/>
          </a:prstGeom>
        </p:spPr>
      </p:pic>
      <p:sp>
        <p:nvSpPr>
          <p:cNvPr id="14" name="Text 9"/>
          <p:cNvSpPr/>
          <p:nvPr/>
        </p:nvSpPr>
        <p:spPr>
          <a:xfrm>
            <a:off x="690372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813048"/>
            <a:ext cx="5257800" cy="26517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The gyroscope and yaw (heading)</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Closing a control loop on heading</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Faking a gyro by integrating commanded rate</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as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DRIVETRAIN.JAVA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A chassis fact belongs on the Drivetrain</a:t>
            </a:r>
            <a:endParaRPr lang="en-US" sz="3000" dirty="0"/>
          </a:p>
        </p:txBody>
      </p:sp>
      <p:sp>
        <p:nvSpPr>
          <p:cNvPr id="6" name="Shape 3"/>
          <p:cNvSpPr/>
          <p:nvPr/>
        </p:nvSpPr>
        <p:spPr>
          <a:xfrm>
            <a:off x="640080" y="1463040"/>
            <a:ext cx="10881360" cy="3063240"/>
          </a:xfrm>
          <a:prstGeom prst="roundRect">
            <a:avLst>
              <a:gd name="adj" fmla="val 35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below the modules array</a:t>
            </a:r>
            <a:endParaRPr lang="en-US" sz="1500" dirty="0"/>
          </a:p>
        </p:txBody>
      </p:sp>
      <p:sp>
        <p:nvSpPr>
          <p:cNvPr id="11" name="Text 8"/>
          <p:cNvSpPr/>
          <p:nvPr/>
        </p:nvSpPr>
        <p:spPr>
          <a:xfrm>
            <a:off x="914400" y="1920240"/>
            <a:ext cx="10195560" cy="2404872"/>
          </a:xfrm>
          <a:prstGeom prst="rect">
            <a:avLst/>
          </a:prstGeom>
          <a:noFill/>
          <a:ln/>
        </p:spPr>
        <p:txBody>
          <a:bodyPr wrap="square" lIns="0" tIns="0" rIns="0" bIns="0" rtlCol="0" anchor="t"/>
          <a:lstStyle/>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private final Pigeon2 m_gyro = new Pigeon2(0, new CANBus(CANPort.CAN_S0)); // CAN ID 0</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Remembered for the sim: what rotation rate did we just command?</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private double m_lastCommandedOmega = 0.0;</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private double m_simHeadingDegrees  = 0.0;</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Robot heading in degrees (CCW positive).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double getHeadingDegrees()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return m_gyro.getYaw().getValue().in(Degrees);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4709160"/>
            <a:ext cx="10881360" cy="1554480"/>
          </a:xfrm>
          <a:prstGeom prst="roundRect">
            <a:avLst>
              <a:gd name="adj" fmla="val 5882"/>
            </a:avLst>
          </a:prstGeom>
          <a:solidFill>
            <a:srgbClr val="F3F6FA"/>
          </a:solidFill>
          <a:ln/>
        </p:spPr>
      </p:sp>
      <p:sp>
        <p:nvSpPr>
          <p:cNvPr id="13" name="Text 10"/>
          <p:cNvSpPr/>
          <p:nvPr/>
        </p:nvSpPr>
        <p:spPr>
          <a:xfrm>
            <a:off x="822960" y="4892040"/>
            <a:ext cx="10515600" cy="11887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No single module knows the chassis heading, so it lives on Drivetrain. m_lastCommandedOmega and m_simHeadingDegrees are plain mutable doubles — memory, not final hardware.</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DRIVETRAIN.JAVA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Log it — the same two audiences as Lesson 7</a:t>
            </a:r>
            <a:endParaRPr lang="en-US" sz="3000" dirty="0"/>
          </a:p>
        </p:txBody>
      </p:sp>
      <p:sp>
        <p:nvSpPr>
          <p:cNvPr id="6" name="Shape 3"/>
          <p:cNvSpPr/>
          <p:nvPr/>
        </p:nvSpPr>
        <p:spPr>
          <a:xfrm>
            <a:off x="640080" y="1600200"/>
            <a:ext cx="10881360" cy="2788920"/>
          </a:xfrm>
          <a:prstGeom prst="roundRect">
            <a:avLst>
              <a:gd name="adj" fmla="val 393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Drivetrain's logTelemetry(), alongside the module telemetry</a:t>
            </a:r>
            <a:endParaRPr lang="en-US" sz="1500" dirty="0"/>
          </a:p>
        </p:txBody>
      </p:sp>
      <p:sp>
        <p:nvSpPr>
          <p:cNvPr id="11" name="Text 8"/>
          <p:cNvSpPr/>
          <p:nvPr/>
        </p:nvSpPr>
        <p:spPr>
          <a:xfrm>
            <a:off x="914400" y="2057400"/>
            <a:ext cx="10195560" cy="2130552"/>
          </a:xfrm>
          <a:prstGeom prst="rect">
            <a:avLst/>
          </a:prstGeom>
          <a:noFill/>
          <a:ln/>
        </p:spPr>
        <p:txBody>
          <a:bodyPr wrap="square" lIns="0" tIns="0" rIns="0" bIns="0" rtlCol="0" anchor="t"/>
          <a:lstStyle/>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private void logTelemetry() {</a:t>
            </a:r>
            <a:endParaRPr lang="en-US" sz="1500" dirty="0"/>
          </a:p>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 ...the module telemetry from Lesson 7 stays...</a:t>
            </a:r>
            <a:endParaRPr lang="en-US" sz="1500" dirty="0"/>
          </a:p>
          <a:p>
            <a:pPr indent="0" marL="0">
              <a:lnSpc>
                <a:spcPct val="120000"/>
              </a:lnSpc>
              <a:buNone/>
            </a:pP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Telemetry.log("Drivetrain/HeadingDegrees", getHeadingDegrees());</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Telemetry.log("Drivetrain/Heading",</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Rotation2d.fromDegrees(getHeadingDegrees()), Rotation2d.struct);</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a:t>
            </a:r>
            <a:endParaRPr lang="en-US" sz="1500" dirty="0"/>
          </a:p>
        </p:txBody>
      </p:sp>
      <p:sp>
        <p:nvSpPr>
          <p:cNvPr id="12" name="Shape 9"/>
          <p:cNvSpPr/>
          <p:nvPr/>
        </p:nvSpPr>
        <p:spPr>
          <a:xfrm>
            <a:off x="640080" y="4526280"/>
            <a:ext cx="10881360" cy="1737360"/>
          </a:xfrm>
          <a:prstGeom prst="roundRect">
            <a:avLst>
              <a:gd name="adj" fmla="val 5263"/>
            </a:avLst>
          </a:prstGeom>
          <a:solidFill>
            <a:srgbClr val="F3F6FA"/>
          </a:solidFill>
          <a:ln/>
        </p:spPr>
      </p:sp>
      <p:sp>
        <p:nvSpPr>
          <p:cNvPr id="13" name="Text 10"/>
          <p:cNvSpPr/>
          <p:nvPr/>
        </p:nvSpPr>
        <p:spPr>
          <a:xfrm>
            <a:off x="822960" y="4709160"/>
            <a:ext cx="10515600" cy="13716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plain number is for line graphs. The Rotation2d version is the structured value AdvantageScope's Swerve tab wants in its Rotation slot — same fact, packaged for a tool that draws instead of plots.</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DRIVETRAIN.JAVA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One value has a struct overload too</a:t>
            </a:r>
            <a:endParaRPr lang="en-US" sz="3000" dirty="0"/>
          </a:p>
        </p:txBody>
      </p:sp>
      <p:sp>
        <p:nvSpPr>
          <p:cNvPr id="6" name="Shape 3"/>
          <p:cNvSpPr/>
          <p:nvPr/>
        </p:nvSpPr>
        <p:spPr>
          <a:xfrm>
            <a:off x="640080" y="1600200"/>
            <a:ext cx="10881360" cy="1463040"/>
          </a:xfrm>
          <a:prstGeom prst="roundRect">
            <a:avLst>
              <a:gd name="adj" fmla="val 75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yet — already added, on the previous slide</a:t>
            </a:r>
            <a:endParaRPr lang="en-US" sz="1500" dirty="0"/>
          </a:p>
        </p:txBody>
      </p:sp>
      <p:sp>
        <p:nvSpPr>
          <p:cNvPr id="11" name="Text 8"/>
          <p:cNvSpPr/>
          <p:nvPr/>
        </p:nvSpPr>
        <p:spPr>
          <a:xfrm>
            <a:off x="914400" y="2057400"/>
            <a:ext cx="10195560" cy="804672"/>
          </a:xfrm>
          <a:prstGeom prst="rect">
            <a:avLst/>
          </a:prstGeom>
          <a:noFill/>
          <a:ln/>
        </p:spPr>
        <p:txBody>
          <a:bodyPr wrap="square" lIns="0" tIns="0" rIns="0" bIns="0" rtlCol="0" anchor="t"/>
          <a:lstStyle/>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Telemetry.log("Drivetrain/Heading", Rotation2d.fromDegrees(...), Rotation2d.struct);</a:t>
            </a:r>
            <a:endParaRPr lang="en-US" sz="1500" dirty="0"/>
          </a:p>
        </p:txBody>
      </p:sp>
      <p:sp>
        <p:nvSpPr>
          <p:cNvPr id="12" name="Shape 9"/>
          <p:cNvSpPr/>
          <p:nvPr/>
        </p:nvSpPr>
        <p:spPr>
          <a:xfrm>
            <a:off x="640080" y="3291840"/>
            <a:ext cx="10881360" cy="2971800"/>
          </a:xfrm>
          <a:prstGeom prst="roundRect">
            <a:avLst>
              <a:gd name="adj" fmla="val 3077"/>
            </a:avLst>
          </a:prstGeom>
          <a:solidFill>
            <a:srgbClr val="F3F6FA"/>
          </a:solidFill>
          <a:ln/>
        </p:spPr>
      </p:sp>
      <p:sp>
        <p:nvSpPr>
          <p:cNvPr id="13" name="Text 10"/>
          <p:cNvSpPr/>
          <p:nvPr/>
        </p:nvSpPr>
        <p:spPr>
          <a:xfrm>
            <a:off x="914400" y="356616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The plain number is for line graphs; the Rotation2d is for the Swerve tab.</a:t>
            </a:r>
            <a:endParaRPr lang="en-US" sz="2100" dirty="0"/>
          </a:p>
        </p:txBody>
      </p:sp>
      <p:sp>
        <p:nvSpPr>
          <p:cNvPr id="14" name="Text 11"/>
          <p:cNvSpPr/>
          <p:nvPr/>
        </p:nvSpPr>
        <p:spPr>
          <a:xfrm>
            <a:off x="914400" y="4128135"/>
            <a:ext cx="10332720" cy="1861185"/>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Telemetry.log has a single-value overload for this, the same idea as the module-states array from Lesson 7: hand it the value plus the type's own .struct, and it publishes the structured type instead of a bare number — no field, no bridge, just a second call.</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lightbulb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EXTRACT A HELPER</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Copied code is a bug with a delay on it</a:t>
            </a:r>
            <a:endParaRPr lang="en-US" sz="3000" dirty="0"/>
          </a:p>
        </p:txBody>
      </p:sp>
      <p:sp>
        <p:nvSpPr>
          <p:cNvPr id="6" name="Shape 3"/>
          <p:cNvSpPr/>
          <p:nvPr/>
        </p:nvSpPr>
        <p:spPr>
          <a:xfrm>
            <a:off x="640080" y="1280160"/>
            <a:ext cx="10881360" cy="4846320"/>
          </a:xfrm>
          <a:prstGeom prst="roundRect">
            <a:avLst>
              <a:gd name="adj" fmla="val 226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a helper, then replace rotate with the one-liner</a:t>
            </a:r>
            <a:endParaRPr lang="en-US" sz="1500" dirty="0"/>
          </a:p>
        </p:txBody>
      </p:sp>
      <p:sp>
        <p:nvSpPr>
          <p:cNvPr id="11" name="Text 8"/>
          <p:cNvSpPr/>
          <p:nvPr/>
        </p:nvSpPr>
        <p:spPr>
          <a:xfrm>
            <a:off x="914400" y="1737360"/>
            <a:ext cx="10195560" cy="418795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void commandRotation(double omega)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m_lastCommandedOmega = omega;</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for (SwerveModule module : m_modules)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x = module.location.getX();</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y = module.location.getY();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angleDeg = Math.toDegrees(Math.atan2(x, -y));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module.setDesiredState(angleDeg, omega);</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Command rotate(double omega)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return runRepeatedly(() -&gt; commandRotation(omega)).named("Rotate");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DRIVETRAIN.JAVA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One loose end: translate needs a line too</a:t>
            </a:r>
            <a:endParaRPr lang="en-US" sz="3000" dirty="0"/>
          </a:p>
        </p:txBody>
      </p:sp>
      <p:sp>
        <p:nvSpPr>
          <p:cNvPr id="6" name="Shape 3"/>
          <p:cNvSpPr/>
          <p:nvPr/>
        </p:nvSpPr>
        <p:spPr>
          <a:xfrm>
            <a:off x="640080" y="1371600"/>
            <a:ext cx="10881360" cy="4023360"/>
          </a:xfrm>
          <a:prstGeom prst="roundRect">
            <a:avLst>
              <a:gd name="adj" fmla="val 272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translate in Drivetrain, adding one line</a:t>
            </a:r>
            <a:endParaRPr lang="en-US" sz="1500" dirty="0"/>
          </a:p>
        </p:txBody>
      </p:sp>
      <p:sp>
        <p:nvSpPr>
          <p:cNvPr id="11" name="Text 8"/>
          <p:cNvSpPr/>
          <p:nvPr/>
        </p:nvSpPr>
        <p:spPr>
          <a:xfrm>
            <a:off x="914400" y="1828800"/>
            <a:ext cx="10195560" cy="3364992"/>
          </a:xfrm>
          <a:prstGeom prst="rect">
            <a:avLst/>
          </a:prstGeom>
          <a:noFill/>
          <a:ln/>
        </p:spPr>
        <p:txBody>
          <a:bodyPr wrap="square" lIns="0" tIns="0" rIns="0" bIns="0" rtlCol="0" anchor="t"/>
          <a:lstStyle/>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public Command translate(DoubleSupplier vxSupplier, DoubleSupplier vySupplier)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runRepeatedly(() -&gt;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vx = vxSupplier.getAsDouble();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vy = vySupplier.getAsDouble();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speed = Math.hypot(vx, vy);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angleDeg = Math.toDegrees(Math.atan2(vy, vx));</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m_lastCommandedOmega = 0.0;                            // ← added</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for (SwerveModule module : m_modules)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module.setDesiredState(angleDeg, speed);</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}).named("Translate");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wrap trick, in its own question-method</a:t>
            </a:r>
            <a:endParaRPr lang="en-US" sz="3000" dirty="0"/>
          </a:p>
        </p:txBody>
      </p:sp>
      <p:sp>
        <p:nvSpPr>
          <p:cNvPr id="6" name="Shape 3"/>
          <p:cNvSpPr/>
          <p:nvPr/>
        </p:nvSpPr>
        <p:spPr>
          <a:xfrm>
            <a:off x="640080" y="1600200"/>
            <a:ext cx="10881360" cy="2697480"/>
          </a:xfrm>
          <a:prstGeom prst="roundRect">
            <a:avLst>
              <a:gd name="adj" fmla="val 406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a:t>
            </a:r>
            <a:endParaRPr lang="en-US" sz="1500" dirty="0"/>
          </a:p>
        </p:txBody>
      </p:sp>
      <p:sp>
        <p:nvSpPr>
          <p:cNvPr id="11" name="Text 8"/>
          <p:cNvSpPr/>
          <p:nvPr/>
        </p:nvSpPr>
        <p:spPr>
          <a:xfrm>
            <a:off x="914400" y="2057400"/>
            <a:ext cx="10195560" cy="2039112"/>
          </a:xfrm>
          <a:prstGeom prst="rect">
            <a:avLst/>
          </a:prstGeom>
          <a:noFill/>
          <a:ln/>
        </p:spPr>
        <p:txBody>
          <a:bodyPr wrap="square" lIns="0" tIns="0" rIns="0" bIns="0" rtlCol="0" anchor="t"/>
          <a:lstStyle/>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Signed error to 'target' in degrees, wrapped to (-180, 180]. */</a:t>
            </a:r>
            <a:endParaRPr lang="en-US" sz="1500" dirty="0"/>
          </a:p>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private double headingError(double targetDegrees) {</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double error = targetDegrees - getHeadingDegrees();</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while (error &gt; 180)  { error -= 360; }</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while (error &lt; -180) { error += 360; }</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return error;</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a:t>
            </a:r>
            <a:endParaRPr lang="en-US" sz="1500" dirty="0"/>
          </a:p>
        </p:txBody>
      </p:sp>
      <p:sp>
        <p:nvSpPr>
          <p:cNvPr id="12" name="Shape 9"/>
          <p:cNvSpPr/>
          <p:nvPr/>
        </p:nvSpPr>
        <p:spPr>
          <a:xfrm>
            <a:off x="640080" y="4434840"/>
            <a:ext cx="10881360" cy="1783080"/>
          </a:xfrm>
          <a:prstGeom prst="roundRect">
            <a:avLst>
              <a:gd name="adj" fmla="val 5128"/>
            </a:avLst>
          </a:prstGeom>
          <a:solidFill>
            <a:srgbClr val="F3F6FA"/>
          </a:solidFill>
          <a:ln/>
        </p:spPr>
      </p:sp>
      <p:sp>
        <p:nvSpPr>
          <p:cNvPr id="13" name="Text 10"/>
          <p:cNvSpPr/>
          <p:nvPr/>
        </p:nvSpPr>
        <p:spPr>
          <a:xfrm>
            <a:off x="822960" y="4617720"/>
            <a:ext cx="10515600" cy="14173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Two things differ from Lesson 5's steerToAngle: which sensor gets measured, and that headings wrap around a circle — so -170° to 170° should turn 20°, not 340°. The wrap logic gets its own method because the finish condition needs it too, next slide.</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Measure, subtract, multiply, clamp, command</a:t>
            </a:r>
            <a:endParaRPr lang="en-US" sz="3000" dirty="0"/>
          </a:p>
        </p:txBody>
      </p:sp>
      <p:sp>
        <p:nvSpPr>
          <p:cNvPr id="6" name="Shape 3"/>
          <p:cNvSpPr/>
          <p:nvPr/>
        </p:nvSpPr>
        <p:spPr>
          <a:xfrm>
            <a:off x="640080" y="1371600"/>
            <a:ext cx="10881360" cy="4754880"/>
          </a:xfrm>
          <a:prstGeom prst="roundRect">
            <a:avLst>
              <a:gd name="adj" fmla="val 230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with the other command factories</a:t>
            </a:r>
            <a:endParaRPr lang="en-US" sz="1500" dirty="0"/>
          </a:p>
        </p:txBody>
      </p:sp>
      <p:sp>
        <p:nvSpPr>
          <p:cNvPr id="11" name="Text 8"/>
          <p:cNvSpPr/>
          <p:nvPr/>
        </p:nvSpPr>
        <p:spPr>
          <a:xfrm>
            <a:off x="914400" y="1828800"/>
            <a:ext cx="10195560" cy="409651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Turn to face 'targetDegrees'. Finishes when within 2°.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Command turnToHeading(double targetDegrees)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run(coroutine -&gt;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while (Math.abs(headingError(targetDegrees)) &gt;= 2.0)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double omega = clamp(</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HeadingConstants.kP * headingError(targetDegrees), -0.5, 0.5);</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commandRotation(omega);</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coroutine.yield();</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commandRotation(0.0); // reached it — stop</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.whenCanceled(() -&gt; commandRotation(0.0)) // interrupted — stop</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.named("Turn To Heading");</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REAL WORK EVERY PASS</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Not just waiting — computing, every tick</a:t>
            </a:r>
            <a:endParaRPr lang="en-US" sz="3000" dirty="0"/>
          </a:p>
        </p:txBody>
      </p:sp>
      <p:sp>
        <p:nvSpPr>
          <p:cNvPr id="6" name="Shape 3"/>
          <p:cNvSpPr/>
          <p:nvPr/>
        </p:nvSpPr>
        <p:spPr>
          <a:xfrm>
            <a:off x="640080" y="1691640"/>
            <a:ext cx="5349240" cy="4160520"/>
          </a:xfrm>
          <a:prstGeom prst="roundRect">
            <a:avLst>
              <a:gd name="adj" fmla="val 2637"/>
            </a:avLst>
          </a:prstGeom>
          <a:solidFill>
            <a:srgbClr val="132A4C"/>
          </a:solidFill>
          <a:ln/>
        </p:spPr>
      </p:sp>
      <p:sp>
        <p:nvSpPr>
          <p:cNvPr id="7" name="Text 4"/>
          <p:cNvSpPr/>
          <p:nvPr/>
        </p:nvSpPr>
        <p:spPr>
          <a:xfrm>
            <a:off x="914400" y="1920240"/>
            <a:ext cx="4800600" cy="365760"/>
          </a:xfrm>
          <a:prstGeom prst="rect">
            <a:avLst/>
          </a:prstGeom>
          <a:noFill/>
          <a:ln/>
        </p:spPr>
        <p:txBody>
          <a:bodyPr wrap="square" lIns="0" tIns="0" rIns="0" bIns="0" rtlCol="0" anchor="ctr"/>
          <a:lstStyle/>
          <a:p>
            <a:pPr indent="0" marL="0">
              <a:buNone/>
            </a:pPr>
            <a:r>
              <a:rPr lang="en-US" sz="2100" b="1" dirty="0">
                <a:solidFill>
                  <a:srgbClr val="FF5010"/>
                </a:solidFill>
                <a:latin typeface="Cambria" pitchFamily="34" charset="0"/>
                <a:ea typeface="Cambria" pitchFamily="34" charset="-122"/>
                <a:cs typeface="Cambria" pitchFamily="34" charset="-120"/>
              </a:rPr>
              <a:t>coroutine.yield()</a:t>
            </a:r>
            <a:endParaRPr lang="en-US" sz="2100" dirty="0"/>
          </a:p>
        </p:txBody>
      </p:sp>
      <p:sp>
        <p:nvSpPr>
          <p:cNvPr id="8" name="Text 5"/>
          <p:cNvSpPr/>
          <p:nvPr/>
        </p:nvSpPr>
        <p:spPr>
          <a:xfrm>
            <a:off x="914400" y="2377440"/>
            <a:ext cx="4800600" cy="329184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Suspends until the next tick — exactly what waitUntil(...) did under the hood in Lesson 6, just written out by hand because this loop has real work on every pass, not just a condition to poll.</a:t>
            </a:r>
            <a:endParaRPr lang="en-US" sz="2000" dirty="0"/>
          </a:p>
        </p:txBody>
      </p:sp>
      <p:sp>
        <p:nvSpPr>
          <p:cNvPr id="9" name="Shape 6"/>
          <p:cNvSpPr/>
          <p:nvPr/>
        </p:nvSpPr>
        <p:spPr>
          <a:xfrm>
            <a:off x="6172200" y="1691640"/>
            <a:ext cx="5349240" cy="4160520"/>
          </a:xfrm>
          <a:prstGeom prst="roundRect">
            <a:avLst>
              <a:gd name="adj" fmla="val 2637"/>
            </a:avLst>
          </a:prstGeom>
          <a:solidFill>
            <a:srgbClr val="132A4C"/>
          </a:solidFill>
          <a:ln/>
        </p:spPr>
      </p:sp>
      <p:sp>
        <p:nvSpPr>
          <p:cNvPr id="10" name="Text 7"/>
          <p:cNvSpPr/>
          <p:nvPr/>
        </p:nvSpPr>
        <p:spPr>
          <a:xfrm>
            <a:off x="6446520" y="1920240"/>
            <a:ext cx="4800600" cy="365760"/>
          </a:xfrm>
          <a:prstGeom prst="rect">
            <a:avLst/>
          </a:prstGeom>
          <a:noFill/>
          <a:ln/>
        </p:spPr>
        <p:txBody>
          <a:bodyPr wrap="square" lIns="0" tIns="0" rIns="0" bIns="0" rtlCol="0" anchor="ctr"/>
          <a:lstStyle/>
          <a:p>
            <a:pPr indent="0" marL="0">
              <a:buNone/>
            </a:pPr>
            <a:r>
              <a:rPr lang="en-US" sz="2100" b="1" dirty="0">
                <a:solidFill>
                  <a:srgbClr val="FF5010"/>
                </a:solidFill>
                <a:latin typeface="Cambria" pitchFamily="34" charset="0"/>
                <a:ea typeface="Cambria" pitchFamily="34" charset="-122"/>
                <a:cs typeface="Cambria" pitchFamily="34" charset="-120"/>
              </a:rPr>
              <a:t>Two endings, same as driveDistance</a:t>
            </a:r>
            <a:endParaRPr lang="en-US" sz="2100" dirty="0"/>
          </a:p>
        </p:txBody>
      </p:sp>
      <p:sp>
        <p:nvSpPr>
          <p:cNvPr id="11" name="Text 8"/>
          <p:cNvSpPr/>
          <p:nvPr/>
        </p:nvSpPr>
        <p:spPr>
          <a:xfrm>
            <a:off x="6446520" y="2377440"/>
            <a:ext cx="4800600" cy="329184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The finish condition calls the same headingError the loop used — "done" means "within 2° by the shortest path," and the wrap logic can't disagree with itself.</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10</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Drivetrain needs its own copy of clamp</a:t>
            </a:r>
            <a:endParaRPr lang="en-US" sz="3000" dirty="0"/>
          </a:p>
        </p:txBody>
      </p:sp>
      <p:sp>
        <p:nvSpPr>
          <p:cNvPr id="6" name="Shape 3"/>
          <p:cNvSpPr/>
          <p:nvPr/>
        </p:nvSpPr>
        <p:spPr>
          <a:xfrm>
            <a:off x="640080" y="1600200"/>
            <a:ext cx="10881360" cy="2880360"/>
          </a:xfrm>
          <a:prstGeom prst="roundRect">
            <a:avLst>
              <a:gd name="adj" fmla="val 381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a private clamp helper to Drivetrain</a:t>
            </a:r>
            <a:endParaRPr lang="en-US" sz="1500" dirty="0"/>
          </a:p>
        </p:txBody>
      </p:sp>
      <p:sp>
        <p:nvSpPr>
          <p:cNvPr id="11" name="Text 8"/>
          <p:cNvSpPr/>
          <p:nvPr/>
        </p:nvSpPr>
        <p:spPr>
          <a:xfrm>
            <a:off x="914400" y="2057400"/>
            <a:ext cx="10195560" cy="222199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Keeps 'value' between 'min' and 'max'.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double clamp(double value, double min, double max)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if (value &gt; max)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max;</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 else if (value &lt; min)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min;</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 else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value;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4663440"/>
            <a:ext cx="10881360" cy="1691640"/>
          </a:xfrm>
          <a:prstGeom prst="roundRect">
            <a:avLst>
              <a:gd name="adj" fmla="val 5405"/>
            </a:avLst>
          </a:prstGeom>
          <a:solidFill>
            <a:srgbClr val="F3F6FA"/>
          </a:solidFill>
          <a:ln/>
        </p:spPr>
      </p:sp>
      <p:sp>
        <p:nvSpPr>
          <p:cNvPr id="13" name="Text 10"/>
          <p:cNvSpPr/>
          <p:nvPr/>
        </p:nvSpPr>
        <p:spPr>
          <a:xfrm>
            <a:off x="914400" y="4937760"/>
            <a:ext cx="10332720" cy="11430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This alpha's WPILib has no MathUtil.clamp (Lesson 7 already found that out), and Drivetrain can't reach SwerveModule's private clamp — it's a different class. Same logic, its own copy.</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item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CONSTANTS.JAVA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A new nested class, for one gain</a:t>
            </a:r>
            <a:endParaRPr lang="en-US" sz="3000" dirty="0"/>
          </a:p>
        </p:txBody>
      </p:sp>
      <p:sp>
        <p:nvSpPr>
          <p:cNvPr id="6" name="Shape 3"/>
          <p:cNvSpPr/>
          <p:nvPr/>
        </p:nvSpPr>
        <p:spPr>
          <a:xfrm>
            <a:off x="640080" y="1600200"/>
            <a:ext cx="10881360" cy="1691640"/>
          </a:xfrm>
          <a:prstGeom prst="roundRect">
            <a:avLst>
              <a:gd name="adj" fmla="val 648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a nested HeadingConstants class to Constants.java</a:t>
            </a:r>
            <a:endParaRPr lang="en-US" sz="1500" dirty="0"/>
          </a:p>
        </p:txBody>
      </p:sp>
      <p:sp>
        <p:nvSpPr>
          <p:cNvPr id="11" name="Text 8"/>
          <p:cNvSpPr/>
          <p:nvPr/>
        </p:nvSpPr>
        <p:spPr>
          <a:xfrm>
            <a:off x="914400" y="2057400"/>
            <a:ext cx="10195560" cy="1033272"/>
          </a:xfrm>
          <a:prstGeom prst="rect">
            <a:avLst/>
          </a:prstGeom>
          <a:noFill/>
          <a:ln/>
        </p:spPr>
        <p:txBody>
          <a:bodyPr wrap="square" lIns="0" tIns="0" rIns="0" bIns="0" rtlCol="0" anchor="t"/>
          <a:lstStyle/>
          <a:p>
            <a:pPr indent="0" marL="0">
              <a:lnSpc>
                <a:spcPct val="120000"/>
              </a:lnSpc>
              <a:buNone/>
            </a:pPr>
            <a:r>
              <a:rPr lang="en-US" sz="1600" dirty="0">
                <a:solidFill>
                  <a:srgbClr val="FFD166"/>
                </a:solidFill>
                <a:latin typeface="Courier New" pitchFamily="34" charset="0"/>
                <a:ea typeface="Courier New" pitchFamily="34" charset="-122"/>
                <a:cs typeface="Courier New" pitchFamily="34" charset="-120"/>
              </a:rPr>
              <a:t>public static final class HeadingConstants {</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public static final double kP = 0.02; // turn power per degree of error</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a:t>
            </a:r>
            <a:endParaRPr lang="en-US" sz="1600" dirty="0"/>
          </a:p>
        </p:txBody>
      </p:sp>
      <p:sp>
        <p:nvSpPr>
          <p:cNvPr id="12" name="Shape 9"/>
          <p:cNvSpPr/>
          <p:nvPr/>
        </p:nvSpPr>
        <p:spPr>
          <a:xfrm>
            <a:off x="640080" y="3566160"/>
            <a:ext cx="10881360" cy="2651760"/>
          </a:xfrm>
          <a:prstGeom prst="roundRect">
            <a:avLst>
              <a:gd name="adj" fmla="val 3448"/>
            </a:avLst>
          </a:prstGeom>
          <a:solidFill>
            <a:srgbClr val="F3F6FA"/>
          </a:solidFill>
          <a:ln/>
        </p:spPr>
      </p:sp>
      <p:sp>
        <p:nvSpPr>
          <p:cNvPr id="13" name="Text 10"/>
          <p:cNvSpPr/>
          <p:nvPr/>
        </p:nvSpPr>
        <p:spPr>
          <a:xfrm>
            <a:off x="822960" y="3749040"/>
            <a:ext cx="10515600" cy="22860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SteerConstants and DriveConstants stay untouched — this is a third, new nested class, one tuning gain per class, named for the quantity it controls. Same Constants.java philosophy since Lesson 5: one named number, one home.</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MYTELEOP.JAVA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Two free buttons, two headings</a:t>
            </a:r>
            <a:endParaRPr lang="en-US" sz="3000" dirty="0"/>
          </a:p>
        </p:txBody>
      </p:sp>
      <p:sp>
        <p:nvSpPr>
          <p:cNvPr id="6" name="Shape 3"/>
          <p:cNvSpPr/>
          <p:nvPr/>
        </p:nvSpPr>
        <p:spPr>
          <a:xfrm>
            <a:off x="640080" y="1600200"/>
            <a:ext cx="10881360" cy="1691640"/>
          </a:xfrm>
          <a:prstGeom prst="roundRect">
            <a:avLst>
              <a:gd name="adj" fmla="val 648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two taps to MyTeleop's constructor</a:t>
            </a:r>
            <a:endParaRPr lang="en-US" sz="1500" dirty="0"/>
          </a:p>
        </p:txBody>
      </p:sp>
      <p:sp>
        <p:nvSpPr>
          <p:cNvPr id="11" name="Text 8"/>
          <p:cNvSpPr/>
          <p:nvPr/>
        </p:nvSpPr>
        <p:spPr>
          <a:xfrm>
            <a:off x="914400" y="2057400"/>
            <a:ext cx="10195560" cy="1033272"/>
          </a:xfrm>
          <a:prstGeom prst="rect">
            <a:avLst/>
          </a:prstGeom>
          <a:noFill/>
          <a:ln/>
        </p:spPr>
        <p:txBody>
          <a:bodyPr wrap="square" lIns="0" tIns="0" rIns="0" bIns="0" rtlCol="0" anchor="t"/>
          <a:lstStyle/>
          <a:p>
            <a:pPr indent="0" marL="0">
              <a:lnSpc>
                <a:spcPct val="120000"/>
              </a:lnSpc>
              <a:buNone/>
            </a:pPr>
            <a:r>
              <a:rPr lang="en-US" sz="1600" dirty="0">
                <a:solidFill>
                  <a:srgbClr val="7FA8C9"/>
                </a:solidFill>
                <a:latin typeface="Courier New" pitchFamily="34" charset="0"/>
                <a:ea typeface="Courier New" pitchFamily="34" charset="-122"/>
                <a:cs typeface="Courier New" pitchFamily="34" charset="-120"/>
              </a:rPr>
              <a:t>// Tap the bottom face button to face 90°; the right face button for 0°.</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robot.driverController.faceDown().onTrue(robot.drivetrain.turnToHeading(90));</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robot.driverController.faceRight().onTrue(robot.drivetrain.turnToHeading(0));</a:t>
            </a:r>
            <a:endParaRPr lang="en-US" sz="1600" dirty="0"/>
          </a:p>
        </p:txBody>
      </p:sp>
      <p:sp>
        <p:nvSpPr>
          <p:cNvPr id="12" name="Shape 9"/>
          <p:cNvSpPr/>
          <p:nvPr/>
        </p:nvSpPr>
        <p:spPr>
          <a:xfrm>
            <a:off x="640080" y="3566160"/>
            <a:ext cx="10881360" cy="2743200"/>
          </a:xfrm>
          <a:prstGeom prst="roundRect">
            <a:avLst>
              <a:gd name="adj" fmla="val 3333"/>
            </a:avLst>
          </a:prstGeom>
          <a:solidFill>
            <a:srgbClr val="F3F6FA"/>
          </a:solidFill>
          <a:ln/>
        </p:spPr>
      </p:sp>
      <p:sp>
        <p:nvSpPr>
          <p:cNvPr id="13" name="Text 10"/>
          <p:cNvSpPr/>
          <p:nvPr/>
        </p:nvSpPr>
        <p:spPr>
          <a:xfrm>
            <a:off x="914400" y="38404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Unlike Lesson 5's steerToAngle, this command finishes.</a:t>
            </a:r>
            <a:endParaRPr lang="en-US" sz="2200" dirty="0"/>
          </a:p>
        </p:txBody>
      </p:sp>
      <p:sp>
        <p:nvSpPr>
          <p:cNvPr id="14" name="Text 11"/>
          <p:cNvSpPr/>
          <p:nvPr/>
        </p:nvSpPr>
        <p:spPr>
          <a:xfrm>
            <a:off x="914400" y="4418330"/>
            <a:ext cx="10332720" cy="161671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Pressing the bottom button cancels the default translate; when turnToHeading finishes (or is interrupted), the default resumes automatically — the stick comes back to life on its own.</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DRIVETRAIN.JAVA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Close the loop yourself: integrate the commanded rate</a:t>
            </a:r>
            <a:endParaRPr lang="en-US" sz="3000" dirty="0"/>
          </a:p>
        </p:txBody>
      </p:sp>
      <p:sp>
        <p:nvSpPr>
          <p:cNvPr id="6" name="Shape 3"/>
          <p:cNvSpPr/>
          <p:nvPr/>
        </p:nvSpPr>
        <p:spPr>
          <a:xfrm>
            <a:off x="640080" y="1600200"/>
            <a:ext cx="10881360" cy="1965960"/>
          </a:xfrm>
          <a:prstGeom prst="roundRect">
            <a:avLst>
              <a:gd name="adj" fmla="val 558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Drivetrain's simulatePeriodic()</a:t>
            </a:r>
            <a:endParaRPr lang="en-US" sz="1500" dirty="0"/>
          </a:p>
        </p:txBody>
      </p:sp>
      <p:sp>
        <p:nvSpPr>
          <p:cNvPr id="11" name="Text 8"/>
          <p:cNvSpPr/>
          <p:nvPr/>
        </p:nvSpPr>
        <p:spPr>
          <a:xfrm>
            <a:off x="914400" y="2057400"/>
            <a:ext cx="10195560" cy="1307592"/>
          </a:xfrm>
          <a:prstGeom prst="rect">
            <a:avLst/>
          </a:prstGeom>
          <a:noFill/>
          <a:ln/>
        </p:spPr>
        <p:txBody>
          <a:bodyPr wrap="square" lIns="0" tIns="0" rIns="0" bIns="0" rtlCol="0" anchor="t"/>
          <a:lstStyle/>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New: integrate the commanded angular rate into a fake heading.</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m_simHeadingDegrees += m_lastCommandedOmega * 360.0 * 0.020; // one 20 ms tick</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m_gyro.getSimState().setRawYaw(m_simHeadingDegrees);</a:t>
            </a:r>
            <a:endParaRPr lang="en-US" sz="1500" dirty="0"/>
          </a:p>
        </p:txBody>
      </p:sp>
      <p:sp>
        <p:nvSpPr>
          <p:cNvPr id="12" name="Shape 9"/>
          <p:cNvSpPr/>
          <p:nvPr/>
        </p:nvSpPr>
        <p:spPr>
          <a:xfrm>
            <a:off x="640080" y="3794760"/>
            <a:ext cx="10881360" cy="2468880"/>
          </a:xfrm>
          <a:prstGeom prst="roundRect">
            <a:avLst>
              <a:gd name="adj" fmla="val 3704"/>
            </a:avLst>
          </a:prstGeom>
          <a:solidFill>
            <a:srgbClr val="F3F6FA"/>
          </a:solidFill>
          <a:ln/>
        </p:spPr>
      </p:sp>
      <p:sp>
        <p:nvSpPr>
          <p:cNvPr id="13" name="Text 10"/>
          <p:cNvSpPr/>
          <p:nvPr/>
        </p:nvSpPr>
        <p:spPr>
          <a:xfrm>
            <a:off x="914400" y="406908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Integrating: every tick, add rate × time to a running total.</a:t>
            </a:r>
            <a:endParaRPr lang="en-US" sz="2100" dirty="0"/>
          </a:p>
        </p:txBody>
      </p:sp>
      <p:sp>
        <p:nvSpPr>
          <p:cNvPr id="14" name="Text 11"/>
          <p:cNvSpPr/>
          <p:nvPr/>
        </p:nvSpPr>
        <p:spPr>
          <a:xfrm>
            <a:off x="914400" y="4631055"/>
            <a:ext cx="10332720" cy="1358265"/>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Rotating at 180°/s for one 20 ms tick adds 3.6°; do that fifty times a second and the total is the heading. Same command → model → fake sensor loop as Lesson 4, one line of model.</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14</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6 · RUN IT</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 control on a whole-robot quantity</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./gradlew simulateJava → My Teleop → Enabled</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Plot Telemetry/Drivetrain/HeadingDegrees in AdvantageScope.</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Press the bottom face button</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Heading sweeps toward 90°, slows as it approaches, settles inside ±2°.</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Watch the Swerve tab</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Drop Telemetry/Drivetrain/Heading into the Rotation slot — the chassis diagram turns too.</a:t>
            </a:r>
            <a:endParaRPr lang="en-US" sz="2000" dirty="0"/>
          </a:p>
        </p:txBody>
      </p:sp>
      <p:sp>
        <p:nvSpPr>
          <p:cNvPr id="18" name="Shape 15"/>
          <p:cNvSpPr/>
          <p:nvPr/>
        </p:nvSpPr>
        <p:spPr>
          <a:xfrm>
            <a:off x="640080" y="4864608"/>
            <a:ext cx="502920" cy="502920"/>
          </a:xfrm>
          <a:prstGeom prst="ellipse">
            <a:avLst/>
          </a:prstGeom>
          <a:solidFill>
            <a:srgbClr val="1B9AAA"/>
          </a:solidFill>
          <a:ln/>
        </p:spPr>
      </p:sp>
      <p:sp>
        <p:nvSpPr>
          <p:cNvPr id="19" name="Text 16"/>
          <p:cNvSpPr/>
          <p:nvPr/>
        </p:nvSpPr>
        <p:spPr>
          <a:xfrm>
            <a:off x="640080" y="4864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79145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Tune kP the Lesson 5 way</a:t>
            </a:r>
            <a:endParaRPr lang="en-US" sz="2000" dirty="0"/>
          </a:p>
        </p:txBody>
      </p:sp>
      <p:sp>
        <p:nvSpPr>
          <p:cNvPr id="21" name="Text 18"/>
          <p:cNvSpPr/>
          <p:nvPr/>
        </p:nvSpPr>
        <p:spPr>
          <a:xfrm>
            <a:off x="1371600" y="5175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Too small crawls; too big oscillates; just right settles quick and smooth.</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GYRO &amp; HEADING</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15</a:t>
            </a:r>
            <a:endParaRPr lang="en-US" sz="2000" dirty="0"/>
          </a:p>
        </p:txBody>
      </p:sp>
      <p:pic>
        <p:nvPicPr>
          <p:cNvPr id="2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Prove the wrap works</a:t>
            </a:r>
            <a:endParaRPr lang="en-US" sz="2000" dirty="0"/>
          </a:p>
        </p:txBody>
      </p:sp>
      <p:sp>
        <p:nvSpPr>
          <p:cNvPr id="10" name="Text 7"/>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From 90°, bind turnToHeading(-170). It should sweep +100° through 180°, not -260°.</a:t>
            </a:r>
            <a:endParaRPr lang="en-US" sz="2000" dirty="0"/>
          </a:p>
        </p:txBody>
      </p:sp>
      <p:sp>
        <p:nvSpPr>
          <p:cNvPr id="11" name="Shape 8"/>
          <p:cNvSpPr/>
          <p:nvPr/>
        </p:nvSpPr>
        <p:spPr>
          <a:xfrm>
            <a:off x="6217920" y="1463040"/>
            <a:ext cx="5303520" cy="2286000"/>
          </a:xfrm>
          <a:prstGeom prst="roundRect">
            <a:avLst>
              <a:gd name="adj" fmla="val 4800"/>
            </a:avLst>
          </a:prstGeom>
          <a:solidFill>
            <a:srgbClr val="132A4C"/>
          </a:solidFill>
          <a:ln/>
        </p:spPr>
      </p:sp>
      <p:sp>
        <p:nvSpPr>
          <p:cNvPr id="12" name="Shape 9"/>
          <p:cNvSpPr/>
          <p:nvPr/>
        </p:nvSpPr>
        <p:spPr>
          <a:xfrm>
            <a:off x="6537960" y="1691640"/>
            <a:ext cx="457200" cy="457200"/>
          </a:xfrm>
          <a:prstGeom prst="ellipse">
            <a:avLst/>
          </a:prstGeom>
          <a:solidFill>
            <a:srgbClr val="1B9AAA"/>
          </a:solidFill>
          <a:ln/>
        </p:spPr>
      </p:sp>
      <p:sp>
        <p:nvSpPr>
          <p:cNvPr id="13" name="Text 10"/>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1"/>
          <p:cNvSpPr/>
          <p:nvPr/>
        </p:nvSpPr>
        <p:spPr>
          <a:xfrm>
            <a:off x="717804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Snap to nearest 90°</a:t>
            </a:r>
            <a:endParaRPr lang="en-US" sz="2000" dirty="0"/>
          </a:p>
        </p:txBody>
      </p:sp>
      <p:sp>
        <p:nvSpPr>
          <p:cNvPr id="15" name="Shape 12"/>
          <p:cNvSpPr/>
          <p:nvPr/>
        </p:nvSpPr>
        <p:spPr>
          <a:xfrm>
            <a:off x="9784080" y="1773936"/>
            <a:ext cx="1417320" cy="292608"/>
          </a:xfrm>
          <a:prstGeom prst="roundRect">
            <a:avLst>
              <a:gd name="adj" fmla="val 18750"/>
            </a:avLst>
          </a:prstGeom>
          <a:solidFill>
            <a:srgbClr val="FF5010"/>
          </a:solidFill>
          <a:ln/>
        </p:spPr>
      </p:sp>
      <p:sp>
        <p:nvSpPr>
          <p:cNvPr id="16" name="Text 13"/>
          <p:cNvSpPr/>
          <p:nvPr/>
        </p:nvSpPr>
        <p:spPr>
          <a:xfrm>
            <a:off x="978408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7" name="Text 14"/>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Math.round(heading / 90.0) * 90.0 — a new command that reads heading and turns there.</a:t>
            </a:r>
            <a:endParaRPr lang="en-US" sz="2000" dirty="0"/>
          </a:p>
        </p:txBody>
      </p:sp>
      <p:sp>
        <p:nvSpPr>
          <p:cNvPr id="18" name="Shape 15"/>
          <p:cNvSpPr/>
          <p:nvPr/>
        </p:nvSpPr>
        <p:spPr>
          <a:xfrm>
            <a:off x="640080" y="4023360"/>
            <a:ext cx="5303520" cy="2286000"/>
          </a:xfrm>
          <a:prstGeom prst="roundRect">
            <a:avLst>
              <a:gd name="adj" fmla="val 4800"/>
            </a:avLst>
          </a:prstGeom>
          <a:solidFill>
            <a:srgbClr val="132A4C"/>
          </a:solidFill>
          <a:ln/>
        </p:spPr>
      </p:sp>
      <p:sp>
        <p:nvSpPr>
          <p:cNvPr id="19" name="Shape 16"/>
          <p:cNvSpPr/>
          <p:nvPr/>
        </p:nvSpPr>
        <p:spPr>
          <a:xfrm>
            <a:off x="960120" y="4251960"/>
            <a:ext cx="457200" cy="457200"/>
          </a:xfrm>
          <a:prstGeom prst="ellipse">
            <a:avLst/>
          </a:prstGeom>
          <a:solidFill>
            <a:srgbClr val="1B9AAA"/>
          </a:solidFill>
          <a:ln/>
        </p:spPr>
      </p:sp>
      <p:sp>
        <p:nvSpPr>
          <p:cNvPr id="20" name="Text 17"/>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8"/>
          <p:cNvSpPr/>
          <p:nvPr/>
        </p:nvSpPr>
        <p:spPr>
          <a:xfrm>
            <a:off x="160020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Zero the gyro at start</a:t>
            </a:r>
            <a:endParaRPr lang="en-US" sz="2000" dirty="0"/>
          </a:p>
        </p:txBody>
      </p:sp>
      <p:sp>
        <p:nvSpPr>
          <p:cNvPr id="22" name="Shape 19"/>
          <p:cNvSpPr/>
          <p:nvPr/>
        </p:nvSpPr>
        <p:spPr>
          <a:xfrm>
            <a:off x="4206240" y="4334256"/>
            <a:ext cx="1417320" cy="292608"/>
          </a:xfrm>
          <a:prstGeom prst="roundRect">
            <a:avLst>
              <a:gd name="adj" fmla="val 18750"/>
            </a:avLst>
          </a:prstGeom>
          <a:solidFill>
            <a:srgbClr val="FF5010"/>
          </a:solidFill>
          <a:ln/>
        </p:spPr>
      </p:sp>
      <p:sp>
        <p:nvSpPr>
          <p:cNvPr id="23" name="Text 20"/>
          <p:cNvSpPr/>
          <p:nvPr/>
        </p:nvSpPr>
        <p:spPr>
          <a:xfrm>
            <a:off x="420624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4" name="Text 21"/>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 zeroHeading() command with one statement — no coroutine.park(), it finishes instantly.</a:t>
            </a:r>
            <a:endParaRPr lang="en-US" sz="2000" dirty="0"/>
          </a:p>
        </p:txBody>
      </p:sp>
      <p:sp>
        <p:nvSpPr>
          <p:cNvPr id="25" name="Shape 22"/>
          <p:cNvSpPr/>
          <p:nvPr/>
        </p:nvSpPr>
        <p:spPr>
          <a:xfrm>
            <a:off x="6217920" y="4023360"/>
            <a:ext cx="5303520" cy="2286000"/>
          </a:xfrm>
          <a:prstGeom prst="roundRect">
            <a:avLst>
              <a:gd name="adj" fmla="val 4800"/>
            </a:avLst>
          </a:prstGeom>
          <a:solidFill>
            <a:srgbClr val="132A4C"/>
          </a:solidFill>
          <a:ln/>
        </p:spPr>
      </p:sp>
      <p:sp>
        <p:nvSpPr>
          <p:cNvPr id="26" name="Shape 23"/>
          <p:cNvSpPr/>
          <p:nvPr/>
        </p:nvSpPr>
        <p:spPr>
          <a:xfrm>
            <a:off x="6537960" y="4251960"/>
            <a:ext cx="457200" cy="457200"/>
          </a:xfrm>
          <a:prstGeom prst="ellipse">
            <a:avLst/>
          </a:prstGeom>
          <a:solidFill>
            <a:srgbClr val="1B9AAA"/>
          </a:solidFill>
          <a:ln/>
        </p:spPr>
      </p:sp>
      <p:sp>
        <p:nvSpPr>
          <p:cNvPr id="27" name="Text 24"/>
          <p:cNvSpPr/>
          <p:nvPr/>
        </p:nvSpPr>
        <p:spPr>
          <a:xfrm>
            <a:off x="653796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8" name="Text 25"/>
          <p:cNvSpPr/>
          <p:nvPr/>
        </p:nvSpPr>
        <p:spPr>
          <a:xfrm>
            <a:off x="717804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Move the gyro ID into Constants</a:t>
            </a:r>
            <a:endParaRPr lang="en-US" sz="2000" dirty="0"/>
          </a:p>
        </p:txBody>
      </p:sp>
      <p:sp>
        <p:nvSpPr>
          <p:cNvPr id="29" name="Shape 26"/>
          <p:cNvSpPr/>
          <p:nvPr/>
        </p:nvSpPr>
        <p:spPr>
          <a:xfrm>
            <a:off x="9784080" y="4334256"/>
            <a:ext cx="1417320" cy="292608"/>
          </a:xfrm>
          <a:prstGeom prst="roundRect">
            <a:avLst>
              <a:gd name="adj" fmla="val 18750"/>
            </a:avLst>
          </a:prstGeom>
          <a:solidFill>
            <a:srgbClr val="FF5010"/>
          </a:solidFill>
          <a:ln/>
        </p:spPr>
      </p:sp>
      <p:sp>
        <p:nvSpPr>
          <p:cNvPr id="30" name="Text 27"/>
          <p:cNvSpPr/>
          <p:nvPr/>
        </p:nvSpPr>
        <p:spPr>
          <a:xfrm>
            <a:off x="978408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31" name="Text 28"/>
          <p:cNvSpPr/>
          <p:nvPr/>
        </p:nvSpPr>
        <p:spPr>
          <a:xfrm>
            <a:off x="653796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kGyroPort, right alongside the twelve motor and CANcoder ports from Lesson 7.</a:t>
            </a:r>
            <a:endParaRPr lang="en-US" sz="2000" dirty="0"/>
          </a:p>
        </p:txBody>
      </p:sp>
      <p:sp>
        <p:nvSpPr>
          <p:cNvPr id="32" name="Text 2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GYRO &amp; HEADING</a:t>
            </a:r>
            <a:endParaRPr lang="en-US" sz="2000" dirty="0"/>
          </a:p>
        </p:txBody>
      </p:sp>
      <p:sp>
        <p:nvSpPr>
          <p:cNvPr id="33" name="Text 3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16</a:t>
            </a:r>
            <a:endParaRPr lang="en-US" sz="2000" dirty="0"/>
          </a:p>
        </p:txBody>
      </p:sp>
      <p:pic>
        <p:nvPicPr>
          <p:cNvPr id="3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What didn't change is the point</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Turning a whole robot to face 90° is the same five moves as pointing one wheel — measure, subtract, multiply, clamp, command.</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When a second caller needs the same math, extract a helper — copied code is a bug with a delay on it.</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When the physics doesn't exist yet, fake the sensor: integrate the commanded rate, add rate × time every tick.</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9</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Autonomous</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Combine everything into a routine that runs itself.</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GYRO &amp; HEADING</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17</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 — Gyro &amp; Heading</dc:title>
  <dc:subject>PptxGenJS Presentation</dc:subject>
  <dc:creator>Learn Java + Robot Programming</dc:creator>
  <cp:lastModifiedBy>Learn Java + Robot Programming</cp:lastModifiedBy>
  <cp:revision>1</cp:revision>
  <dcterms:created xsi:type="dcterms:W3CDTF">2026-09-21T13:29:40Z</dcterms:created>
  <dcterms:modified xsi:type="dcterms:W3CDTF">2026-09-21T13:29:40Z</dcterms:modified>
</cp:coreProperties>
</file>