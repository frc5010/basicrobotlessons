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Lesson 4, SwerveModule has done two jobs at once: it is the hardware, and it is the logic deciding what to command it to do. This lesson draws a hard line between them — one interface describing every sensor reading and every command a module can perform, one implementation class per world behind it. It is also the exact shape a future lesson needs to record a whole match and play it back, including a third mode, REPLAY, that exists in the code today with nothing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hardware only ever enters your code through one door per sensor, that door is the only place anything would ever need to intercept a reading — to log it, to fake it for a test, or, down the road, to hand it a value read back out of a recorded match instead of a live sensor. That last one is the biggest idea in the professional version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draws a hard line instead. Here's why that's worth the ceremony, beyond tidiness: if hardware only ever enters your code through one door per sensor, that door is the only place anything would ever need to intercept a reading. You'll see the empty doorway by the end of this lesson: a mode called REPLAY, sitting in your code, with nothing behind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ModuleIOInputs is a plain nested class holding every sensor fact the module knows, in one bundle — three public fields, no getters, because this class exists purely to be filled in and read, not to protect itself from its own owner. The default keyword gives each method a body right in the interface — here, a body that does nothing. That's deliberate: an implementation only overrides what it actually needs to, and "hardware that does nothing" is about to be exactly what one of the three worlds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hardware moves house. The motors, the CANcoder, and every config and control request from Lesson 12 relocate from SwerveModule into a class that implements the contract — and only that. The sim plumbing does NOT come along; it gets its own implementation in the next section, so this class stays a clean picture of the real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this file is new behavior — it's Lesson 12, re-shelved. The work of this lesson isn't inventing what the module does; it's drawing a boundary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sim checks, no physics: on the real robot the sensors just have values, and this class is the real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the target arrives as a plain double (the contract speaks degrees and meters-per-second), wrap it in the matching unit measure on the way into Phoenix, exactly as Lesson 12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ModuleIOSim isn't instead of the TalonFX class, it's the TalonFX class plus the physics models. Java has a word for "that class, plus": extends — the first time you extend a class you wrote. super(driveId, steerId, cancoderId, magnetOffsetRotations) runs the parent's constructor first — so the motors and CANcoder exist and the configs are applied before the sim states hook onto them. That protected from the previous section is the reason this compiles: private means "mine alone," protected means "mine and my subclasses'."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super.updateInputs(inputs) calls the parent's version of the method this class overrides: step the physics, then read the sensors exactly the way the real robot would. Step back and look at what the shape buys you: the real class has zero sim code, the sim class has zero new control behavior — same firmware loops, same gains, same reads — and the physics runs right before the read, so the bundle always holds one fresh tick of pretend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closed loop now reads the CANcoder continuously, so it needs its own honest sim feed every tick, or the simulated firmware spends the whole match chasing a signal that never moves — that's Lesson 12's section 6 payoff landing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hardware gone, SwerveModule becomes short and pure: it owns an IO (whichever kind), a bundle of inputs, its targets, and the cosine decision. The split between periodic() and setDesiredState is a rule, not a style choice: sense in periodic(), act in a command. periodic() runs every tick no matter what — that's why it holds only the harmless read-and-log.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scheduler runs periodic() before any command each tick, the bundle is always fresh by the time setDesiredState reads it for the cosine error: inputs first, then logic, which is exactly what makes a tick reproducible. Every sensor fact now takes exactly one path into the program — which is why logging it is one line per field, sitting right where the bundle gets filled, instead of scattered wherever someone happened to need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IO does a module get? That depends on where the code is running, and "where am I running" deserves a proper type. A Java enum is a type whose values are a fixed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also the moment to finally use the per-corner constants DriveConstants has carried since Lesson 7 — Try It 4 back then asked you to wire them in yourself, and rebuilding this array is the natural place to make it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Enums and switch expressions are made for each other: one arrow arm per mode, and the whole thing IS a value you can assign. Better, the compiler counts the arms against the menu — add a fourth mode next season and this line refuses to build until you say what it means. Three worlds, three implementations, chosen in one place, once, at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new ModuleIO() {} in the replay arm is an anonymous class. Every method keeps its default do-nothing body — ten characters of syntax for "hardware that doesn't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smaller scale — read it as a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Pigeon and one read. Its CAN ID comes from DriveConstants.kGyroPort, the constant Lesson 8's Try It had you add, so every CAN ID the robot owns stays in one file — if you skipped that Try It, add it now (the small card at the top). Notice it doesn't override setSimRotationRate at all — the real robot has no use for it, so the default no-op body is exactly right. That's the interface earning its keep from the other direction. The file also needs import first.robot.Constants.DriveConstants.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 implementation absorbs Lesson 8's fake-gyro integration — the m_lastCommandedOmega and m_simHeadingDegrees fields move here from Drivetrain — and look: no Pigeon, no Phoenix, no hardware at all. A heading you integrate yourself needs nothing but arithmetic, so unlike the module, this sim class doesn't extend the real one — it stands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places that fed the old bookkeeping now call the IO instead —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applyChassisSpeeds sets m_gyroIO.setSimRotationRate(speeds.omega / (2 * Math.PI)) in place of assigning m_lastCommandedOmega, and driveDistance's zero line does the same with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module.periodic() call is new — it's the read that used to happen implicitly every time SwerveModule reached straight into its own motors. Now the bundle only refreshes when something asks it to, so something has to ask. And that's why the method gets a new name: it doesn't just report numbers any more, it's where the drivetrain reads every sensor once a tick, and every command depends on those reads being fresh. That's the job SwerveModule's periodic() already does — sense in periodic(), act in a command — so the drivetrain's version gets the same name, and the constructor registers it as addPeriodic(this::periodic).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nothing left for Drivetrain to do when Robot.simulationPeriodic() fires. Which means Robot.java needs to stop calling a method that no longer exists. Pick ModuleIOSim at startup, and every future updateInputs() call steps the physics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Watching the empty doorway is a one-value flip plus running — arguably light code-editing but a real edit nonetheless; tagged for consistency with how directly it modifies Constants.java. Corrupting a sensor on purpose is a genuine one-line edit demonstrating the shape of a real hardware bug: it happened behind the one door everything else trusts, so everything downstream inherited it without any of that code being wrong itself. Cutting the cord is the biggest exercise in the lesson — rebuilding ModuleIOSim without leaning on Phoenix's simulated firmware at all, testing whether the interface boundary is really as clean as it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also met a mode with nothing behind it. REPLAY compiles, constructs, and does exactly nothing — the honest state of a doorway with no tooling on the other side yet. Every future lesson that needs a reading from "somewhere other than live hardware" walks through the exact door built today. One upgrade remains before you'd want to trust that heading and pose any further: the pose odometry dead-reckons still drifts, uncorrected, and Lesson 14 teaches the robot to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13</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IO Layers</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Hardware behind an interface</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Hardware behind one clearly-named door</a:t>
            </a:r>
            <a:endParaRPr lang="en-US" sz="3000" dirty="0"/>
          </a:p>
        </p:txBody>
      </p:sp>
      <p:sp>
        <p:nvSpPr>
          <p:cNvPr id="6" name="Shape 3"/>
          <p:cNvSpPr/>
          <p:nvPr/>
        </p:nvSpPr>
        <p:spPr>
          <a:xfrm>
            <a:off x="640080" y="1600200"/>
            <a:ext cx="10881360" cy="1691640"/>
          </a:xfrm>
          <a:prstGeom prst="roundRect">
            <a:avLst>
              <a:gd name="adj" fmla="val 5405"/>
            </a:avLst>
          </a:prstGeom>
          <a:solidFill>
            <a:srgbClr val="F3F6FA"/>
          </a:solidFill>
          <a:ln/>
        </p:spPr>
      </p:sp>
      <p:sp>
        <p:nvSpPr>
          <p:cNvPr id="7" name="Text 4"/>
          <p:cNvSpPr/>
          <p:nvPr/>
        </p:nvSpPr>
        <p:spPr>
          <a:xfrm>
            <a:off x="960120" y="1737360"/>
            <a:ext cx="10241280" cy="1463040"/>
          </a:xfrm>
          <a:prstGeom prst="rect">
            <a:avLst/>
          </a:prstGeom>
          <a:noFill/>
          <a:ln/>
        </p:spPr>
        <p:txBody>
          <a:bodyPr wrap="square" lIns="0" tIns="0" rIns="0" bIns="0" rtlCol="0" anchor="ctr"/>
          <a:lstStyle/>
          <a:p>
            <a:pPr indent="0" marL="0">
              <a:lnSpc>
                <a:spcPct val="120000"/>
              </a:lnSpc>
              <a:buNone/>
            </a:pPr>
            <a:r>
              <a:rPr lang="en-US" sz="2000" i="1" dirty="0">
                <a:solidFill>
                  <a:srgbClr val="13294B"/>
                </a:solidFill>
                <a:latin typeface="Cambria" pitchFamily="34" charset="0"/>
                <a:ea typeface="Cambria" pitchFamily="34" charset="-122"/>
                <a:cs typeface="Cambria" pitchFamily="34" charset="-120"/>
              </a:rPr>
              <a:t>Restructure the drivetrain so every sensor reading enters through a ModuleIO and a GyroIO — real hardware and sim behind separate classes, chosen by a Constants.Mode switch. SwerveModule and Drivetrain stop touching hardware entirely.</a:t>
            </a:r>
            <a:endParaRPr lang="en-US" sz="2000" dirty="0"/>
          </a:p>
        </p:txBody>
      </p:sp>
      <p:sp>
        <p:nvSpPr>
          <p:cNvPr id="8" name="Shape 5"/>
          <p:cNvSpPr/>
          <p:nvPr/>
        </p:nvSpPr>
        <p:spPr>
          <a:xfrm>
            <a:off x="640080" y="342900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538728"/>
            <a:ext cx="237744" cy="237744"/>
          </a:xfrm>
          <a:prstGeom prst="rect">
            <a:avLst/>
          </a:prstGeom>
        </p:spPr>
      </p:pic>
      <p:sp>
        <p:nvSpPr>
          <p:cNvPr id="10" name="Text 6"/>
          <p:cNvSpPr/>
          <p:nvPr/>
        </p:nvSpPr>
        <p:spPr>
          <a:xfrm>
            <a:off x="1234440" y="345643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995928"/>
            <a:ext cx="5257800" cy="23774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Interfaces and default methods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Anonymous classes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Enums, and switch expressions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Subclassing your own class: extends, protected, super</a:t>
            </a:r>
            <a:endParaRPr lang="en-US" sz="2000" dirty="0"/>
          </a:p>
        </p:txBody>
      </p:sp>
      <p:sp>
        <p:nvSpPr>
          <p:cNvPr id="12" name="Shape 8"/>
          <p:cNvSpPr/>
          <p:nvPr/>
        </p:nvSpPr>
        <p:spPr>
          <a:xfrm>
            <a:off x="6309360" y="3429000"/>
            <a:ext cx="457200" cy="457200"/>
          </a:xfrm>
          <a:prstGeom prst="ellipse">
            <a:avLst/>
          </a:prstGeom>
          <a:solidFill>
            <a:srgbClr val="FF5010"/>
          </a:solidFill>
          <a:ln/>
        </p:spPr>
      </p:sp>
      <p:pic>
        <p:nvPicPr>
          <p:cNvPr id="13" name="Image 2" descr="/home/user/BasicRobotLessons/docs/presentations/v3/template/assets/icons/dooropen_white.png">    </p:cNvPr>
          <p:cNvPicPr>
            <a:picLocks noChangeAspect="1"/>
          </p:cNvPicPr>
          <p:nvPr/>
        </p:nvPicPr>
        <p:blipFill>
          <a:blip r:embed="rId3"/>
          <a:stretch>
            <a:fillRect/>
          </a:stretch>
        </p:blipFill>
        <p:spPr>
          <a:xfrm>
            <a:off x="6419088" y="3538728"/>
            <a:ext cx="237744" cy="237744"/>
          </a:xfrm>
          <a:prstGeom prst="rect">
            <a:avLst/>
          </a:prstGeom>
        </p:spPr>
      </p:pic>
      <p:sp>
        <p:nvSpPr>
          <p:cNvPr id="14" name="Text 9"/>
          <p:cNvSpPr/>
          <p:nvPr/>
        </p:nvSpPr>
        <p:spPr>
          <a:xfrm>
            <a:off x="6903720" y="345643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995928"/>
            <a:ext cx="5257800" cy="23774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Inputs vs. outputs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The IO layer — hardware behind an interface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dormant third mode, waiting for a future lesson</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doo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THE IDEA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One door per sensor, one class per world</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548640"/>
          </a:xfrm>
          <a:prstGeom prst="rect">
            <a:avLst/>
          </a:prstGeom>
          <a:noFill/>
          <a:ln/>
        </p:spPr>
        <p:txBody>
          <a:bodyPr wrap="square" lIns="0" tIns="0" rIns="0" bIns="0" rtlCol="0" anchor="ctr"/>
          <a:lstStyle/>
          <a:p>
            <a:pPr indent="0" marL="0">
              <a:buNone/>
            </a:pPr>
            <a:r>
              <a:rPr lang="en-US" sz="2400" b="1" dirty="0">
                <a:solidFill>
                  <a:srgbClr val="FF5010"/>
                </a:solidFill>
                <a:latin typeface="Cambria" pitchFamily="34" charset="0"/>
                <a:ea typeface="Cambria" pitchFamily="34" charset="-122"/>
                <a:cs typeface="Cambria" pitchFamily="34" charset="-120"/>
              </a:rPr>
              <a:t>SwerveModule has done two jobs at once since Lesson 4.</a:t>
            </a:r>
            <a:endParaRPr lang="en-US" sz="2400" dirty="0"/>
          </a:p>
        </p:txBody>
      </p:sp>
      <p:sp>
        <p:nvSpPr>
          <p:cNvPr id="8" name="Text 5"/>
          <p:cNvSpPr/>
          <p:nvPr/>
        </p:nvSpPr>
        <p:spPr>
          <a:xfrm>
            <a:off x="914400" y="2560320"/>
            <a:ext cx="10332720" cy="173736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It IS the hardware — it owns the TalonFXs and the CANcoder — and it's also the logic that decides what to command them to do. Every sensor reading could, in principle, come from a real motor, a physics model, or a recorded log, and nothing in the code says so.</a:t>
            </a:r>
            <a:endParaRPr lang="en-US" sz="2000" dirty="0"/>
          </a:p>
        </p:txBody>
      </p:sp>
      <p:sp>
        <p:nvSpPr>
          <p:cNvPr id="9" name="Text 6"/>
          <p:cNvSpPr/>
          <p:nvPr/>
        </p:nvSpPr>
        <p:spPr>
          <a:xfrm>
            <a:off x="640080" y="4709160"/>
            <a:ext cx="10881360" cy="109728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One interface describes every reading and command. One implementation class per world sits behind it. SwerveModule owns an interface reference, with no idea — and no need to know — which world is on the other end.</a:t>
            </a:r>
            <a:endParaRPr lang="en-US" sz="20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IO LAYERS</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uzzlepiec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ModuleIO — one read, three writes, no bodies</a:t>
            </a:r>
            <a:endParaRPr lang="en-US" sz="3000" dirty="0"/>
          </a:p>
        </p:txBody>
      </p:sp>
      <p:sp>
        <p:nvSpPr>
          <p:cNvPr id="6" name="Shape 3"/>
          <p:cNvSpPr/>
          <p:nvPr/>
        </p:nvSpPr>
        <p:spPr>
          <a:xfrm>
            <a:off x="640080" y="128016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src/main/java/first/robot/subsystems/ModuleIO.java — the whole file</a:t>
            </a:r>
            <a:endParaRPr lang="en-US" sz="1500" dirty="0"/>
          </a:p>
        </p:txBody>
      </p:sp>
      <p:sp>
        <p:nvSpPr>
          <p:cNvPr id="11" name="Text 8"/>
          <p:cNvSpPr/>
          <p:nvPr/>
        </p:nvSpPr>
        <p:spPr>
          <a:xfrm>
            <a:off x="914400" y="1737360"/>
            <a:ext cx="10195560" cy="4370832"/>
          </a:xfrm>
          <a:prstGeom prst="rect">
            <a:avLst/>
          </a:prstGeom>
          <a:noFill/>
          <a:ln/>
        </p:spPr>
        <p:txBody>
          <a:bodyPr wrap="square" lIns="0" tIns="0" rIns="0" bIns="0" rtlCol="0" anchor="t"/>
          <a:lstStyle/>
          <a:p>
            <a:pPr indent="0" marL="0">
              <a:lnSpc>
                <a:spcPct val="120000"/>
              </a:lnSpc>
              <a:buNone/>
            </a:pPr>
            <a:r>
              <a:rPr lang="en-US" sz="1100" dirty="0">
                <a:solidFill>
                  <a:srgbClr val="7FD1D9"/>
                </a:solidFill>
                <a:latin typeface="Courier New" pitchFamily="34" charset="0"/>
                <a:ea typeface="Courier New" pitchFamily="34" charset="-122"/>
                <a:cs typeface="Courier New" pitchFamily="34" charset="-120"/>
              </a:rPr>
              <a:t>package first.robot.subsystems;</a:t>
            </a:r>
            <a:endParaRPr lang="en-US" sz="1100" dirty="0"/>
          </a:p>
          <a:p>
            <a:pPr indent="0" marL="0">
              <a:lnSpc>
                <a:spcPct val="120000"/>
              </a:lnSpc>
              <a:buNone/>
            </a:pP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interface ModuleIO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public static class ModuleIOInputs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double steerAngleDegrees = 0.0;</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double drivePositionMeters = 0.0;</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double driveVelocityMetersPerSec = 0.0;</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Read every sensor into 'inputs'. Called once per tick, before anything else.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default void updateInputs(ModuleIOInputs inputs)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Firmware position control for steering.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default void setSteerAngleDegrees(double angleDegrees)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Firmware velocity control for drive (wheel meters per second).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default void setDriveVelocityMetersPerSec(double mps)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Zero the drive encoder.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default void resetDrivePosition()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 PIECE 1</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ModuleIOTalonFX: fields migrate almost unchanged</a:t>
            </a:r>
            <a:endParaRPr lang="en-US" sz="3000" dirty="0"/>
          </a:p>
        </p:txBody>
      </p:sp>
      <p:sp>
        <p:nvSpPr>
          <p:cNvPr id="6" name="Shape 3"/>
          <p:cNvSpPr/>
          <p:nvPr/>
        </p:nvSpPr>
        <p:spPr>
          <a:xfrm>
            <a:off x="640080" y="1280160"/>
            <a:ext cx="10881360" cy="2651760"/>
          </a:xfrm>
          <a:prstGeom prst="roundRect">
            <a:avLst>
              <a:gd name="adj" fmla="val 413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ModuleIOTalonFX.java — class line and fields</a:t>
            </a:r>
            <a:endParaRPr lang="en-US" sz="1500" dirty="0"/>
          </a:p>
        </p:txBody>
      </p:sp>
      <p:sp>
        <p:nvSpPr>
          <p:cNvPr id="11" name="Text 8"/>
          <p:cNvSpPr/>
          <p:nvPr/>
        </p:nvSpPr>
        <p:spPr>
          <a:xfrm>
            <a:off x="914400" y="1737360"/>
            <a:ext cx="10195560" cy="199339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class ModuleIOTalonFX implements ModuleIO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protected final TalonFX m_driveMotor;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protected final TalonFX m_steerMotor;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protected final CANcoder m_steerEncoder;</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final PositionVoltage m_steerRequest = new PositionVoltage(0);</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final VelocityVoltage m_driveRequest = new VelocityVoltage(0);</a:t>
            </a:r>
            <a:endParaRPr lang="en-US" sz="1200" dirty="0"/>
          </a:p>
        </p:txBody>
      </p:sp>
      <p:sp>
        <p:nvSpPr>
          <p:cNvPr id="12" name="Shape 9"/>
          <p:cNvSpPr/>
          <p:nvPr/>
        </p:nvSpPr>
        <p:spPr>
          <a:xfrm>
            <a:off x="640080" y="3931920"/>
            <a:ext cx="10881360" cy="2514600"/>
          </a:xfrm>
          <a:prstGeom prst="roundRect">
            <a:avLst>
              <a:gd name="adj" fmla="val 3636"/>
            </a:avLst>
          </a:prstGeom>
          <a:solidFill>
            <a:srgbClr val="F3F6FA"/>
          </a:solidFill>
          <a:ln/>
        </p:spPr>
      </p:sp>
      <p:sp>
        <p:nvSpPr>
          <p:cNvPr id="13" name="Text 10"/>
          <p:cNvSpPr/>
          <p:nvPr/>
        </p:nvSpPr>
        <p:spPr>
          <a:xfrm>
            <a:off x="914400" y="4206240"/>
            <a:ext cx="10332720" cy="863600"/>
          </a:xfrm>
          <a:prstGeom prst="rect">
            <a:avLst/>
          </a:prstGeom>
          <a:noFill/>
          <a:ln/>
        </p:spPr>
        <p:txBody>
          <a:bodyPr wrap="square" lIns="0" tIns="0" rIns="0" bIns="0" rtlCol="0" anchor="t"/>
          <a:lstStyle/>
          <a:p>
            <a:pPr indent="0" marL="0">
              <a:lnSpc>
                <a:spcPct val="120000"/>
              </a:lnSpc>
              <a:buNone/>
            </a:pPr>
            <a:r>
              <a:rPr lang="en-US" sz="2000" b="1" dirty="0">
                <a:solidFill>
                  <a:srgbClr val="13294B"/>
                </a:solidFill>
                <a:latin typeface="Cambria" pitchFamily="34" charset="0"/>
                <a:ea typeface="Cambria" pitchFamily="34" charset="-122"/>
                <a:cs typeface="Cambria" pitchFamily="34" charset="-120"/>
              </a:rPr>
              <a:t>The class line now says implements ModuleIO — and the motors are protected, not private.</a:t>
            </a:r>
            <a:endParaRPr lang="en-US" sz="2000" dirty="0"/>
          </a:p>
        </p:txBody>
      </p:sp>
      <p:sp>
        <p:nvSpPr>
          <p:cNvPr id="14" name="Text 11"/>
          <p:cNvSpPr/>
          <p:nvPr/>
        </p:nvSpPr>
        <p:spPr>
          <a:xfrm>
            <a:off x="914400" y="5069840"/>
            <a:ext cx="10332720" cy="11023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These migrate from SwerveModule almost unchanged. protected instead of private is on purpose: more on that word in the next section, once ModuleIOSim needs to reach them.</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 PIECE 1</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2900" b="1" dirty="0">
                <a:solidFill>
                  <a:srgbClr val="13294B"/>
                </a:solidFill>
                <a:latin typeface="Cambria" pitchFamily="34" charset="0"/>
                <a:ea typeface="Cambria" pitchFamily="34" charset="-122"/>
                <a:cs typeface="Cambria" pitchFamily="34" charset="-120"/>
              </a:rPr>
              <a:t>The constructor: motors, CANcoder, and Lesson 12's configs</a:t>
            </a:r>
            <a:endParaRPr lang="en-US" sz="2900" dirty="0"/>
          </a:p>
        </p:txBody>
      </p:sp>
      <p:sp>
        <p:nvSpPr>
          <p:cNvPr id="6" name="Shape 3"/>
          <p:cNvSpPr/>
          <p:nvPr/>
        </p:nvSpPr>
        <p:spPr>
          <a:xfrm>
            <a:off x="640080" y="128016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ModuleIOTalonFX's constructor</a:t>
            </a:r>
            <a:endParaRPr lang="en-US" sz="1500" dirty="0"/>
          </a:p>
        </p:txBody>
      </p:sp>
      <p:sp>
        <p:nvSpPr>
          <p:cNvPr id="11" name="Text 8"/>
          <p:cNvSpPr/>
          <p:nvPr/>
        </p:nvSpPr>
        <p:spPr>
          <a:xfrm>
            <a:off x="914400" y="1737360"/>
            <a:ext cx="10195560" cy="4370832"/>
          </a:xfrm>
          <a:prstGeom prst="rect">
            <a:avLst/>
          </a:prstGeom>
          <a:noFill/>
          <a:ln/>
        </p:spPr>
        <p:txBody>
          <a:bodyPr wrap="square" lIns="0" tIns="0" rIns="0" bIns="0" rtlCol="0" anchor="t"/>
          <a:lstStyle/>
          <a:p>
            <a:pPr indent="0" marL="0">
              <a:lnSpc>
                <a:spcPct val="120000"/>
              </a:lnSpc>
              <a:buNone/>
            </a:pPr>
            <a:r>
              <a:rPr lang="en-US" sz="950" dirty="0">
                <a:solidFill>
                  <a:srgbClr val="FFD166"/>
                </a:solidFill>
                <a:latin typeface="Courier New" pitchFamily="34" charset="0"/>
                <a:ea typeface="Courier New" pitchFamily="34" charset="-122"/>
                <a:cs typeface="Courier New" pitchFamily="34" charset="-120"/>
              </a:rPr>
              <a:t>public ModuleIOTalonFX(int driveId, int steerId, int cancoderId, double magnetOffsetRotations) {</a:t>
            </a: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  m_driveMotor = new TalonFX(driveId, new CANBus(CANPort.CAN_S0));</a:t>
            </a: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  m_steerMotor = new TalonFX(steerId, new CANBus(CANPort.CAN_S0));</a:t>
            </a: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  m_steerEncoder = new CANcoder(cancoderId, new CANBus(CANPort.CAN_S0));</a:t>
            </a:r>
            <a:endParaRPr lang="en-US" sz="950" dirty="0"/>
          </a:p>
          <a:p>
            <a:pPr indent="0" marL="0">
              <a:lnSpc>
                <a:spcPct val="120000"/>
              </a:lnSpc>
              <a:buNone/>
            </a:pP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  CANcoderConfiguration cancoderConfig = new CANcoderConfiguration();</a:t>
            </a: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  cancoderConfig.MagnetSensor.MagnetOffset = magnetOffsetRotations;</a:t>
            </a: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  m_steerEncoder.getConfigurator().apply(cancoderConfig);</a:t>
            </a:r>
            <a:endParaRPr lang="en-US" sz="950" dirty="0"/>
          </a:p>
          <a:p>
            <a:pPr indent="0" marL="0">
              <a:lnSpc>
                <a:spcPct val="120000"/>
              </a:lnSpc>
              <a:buNone/>
            </a:pPr>
            <a:r>
              <a:rPr lang="en-US" sz="950" dirty="0">
                <a:solidFill>
                  <a:srgbClr val="7FA8C9"/>
                </a:solidFill>
                <a:latin typeface="Courier New" pitchFamily="34" charset="0"/>
                <a:ea typeface="Courier New" pitchFamily="34" charset="-122"/>
                <a:cs typeface="Courier New" pitchFamily="34" charset="-120"/>
              </a:rPr>
              <a:t>  // Steering: which way it counts (Lesson 7), then read angle from the CANcoder,</a:t>
            </a:r>
            <a:endParaRPr lang="en-US" sz="950" dirty="0"/>
          </a:p>
          <a:p>
            <a:pPr indent="0" marL="0">
              <a:lnSpc>
                <a:spcPct val="120000"/>
              </a:lnSpc>
              <a:buNone/>
            </a:pPr>
            <a:r>
              <a:rPr lang="en-US" sz="950" dirty="0">
                <a:solidFill>
                  <a:srgbClr val="7FA8C9"/>
                </a:solidFill>
                <a:latin typeface="Courier New" pitchFamily="34" charset="0"/>
                <a:ea typeface="Courier New" pitchFamily="34" charset="-122"/>
                <a:cs typeface="Courier New" pitchFamily="34" charset="-120"/>
              </a:rPr>
              <a:t>  // wrap like a circle, hold a P gain.</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TalonFXConfiguration steerConfig = new TalonFXConfiguration();</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steerConfig.MotorOutput.Inverted = SteerConstants.kSteerInverted;</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steerConfig.Feedback.FeedbackRemoteSensorID = cancoderId;</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steerConfig.Feedback.FeedbackSensorSource = FeedbackSensorSourceValue.RemoteCANcoder;</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steerConfig.Feedback.RotorToSensorRatio = SteerConstants.kSteerGearRatio;</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steerConfig.Feedback.SensorToMechanismRatio = 1.0;</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steerConfig.ClosedLoopGeneral.ContinuousWrap = true;</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steerConfig.Slot0.kP = SteerConstants.kSteerKP;</a:t>
            </a: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  m_steerMotor.getConfigurator().apply(steerConfig);</a:t>
            </a:r>
            <a:endParaRPr lang="en-US" sz="950" dirty="0"/>
          </a:p>
          <a:p>
            <a:pPr indent="0" marL="0">
              <a:lnSpc>
                <a:spcPct val="120000"/>
              </a:lnSpc>
              <a:buNone/>
            </a:pPr>
            <a:r>
              <a:rPr lang="en-US" sz="950" dirty="0">
                <a:solidFill>
                  <a:srgbClr val="7FA8C9"/>
                </a:solidFill>
                <a:latin typeface="Courier New" pitchFamily="34" charset="0"/>
                <a:ea typeface="Courier New" pitchFamily="34" charset="-122"/>
                <a:cs typeface="Courier New" pitchFamily="34" charset="-120"/>
              </a:rPr>
              <a:t>  // Drive: firmware knows the gearbox and runs a kV model + kP trim.</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TalonFXConfiguration driveConfig = new TalonFXConfiguration();</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driveConfig.Feedback.SensorToMechanismRatio = DriveConstants.kDriveGearRatio;</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driveConfig.Slot0.kV = DriveConstants.kDriveKV;</a:t>
            </a:r>
            <a:endParaRPr lang="en-US" sz="950" dirty="0"/>
          </a:p>
          <a:p>
            <a:pPr indent="0" marL="0">
              <a:lnSpc>
                <a:spcPct val="120000"/>
              </a:lnSpc>
              <a:buNone/>
            </a:pPr>
            <a:r>
              <a:rPr lang="en-US" sz="950" dirty="0">
                <a:solidFill>
                  <a:srgbClr val="9EF01A"/>
                </a:solidFill>
                <a:latin typeface="Courier New" pitchFamily="34" charset="0"/>
                <a:ea typeface="Courier New" pitchFamily="34" charset="-122"/>
                <a:cs typeface="Courier New" pitchFamily="34" charset="-120"/>
              </a:rPr>
              <a:t>  driveConfig.Slot0.kP = DriveConstants.kDriveKP;</a:t>
            </a: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  m_driveMotor.getConfigurator().apply(driveConfig);</a:t>
            </a:r>
            <a:endParaRPr lang="en-US" sz="950" dirty="0"/>
          </a:p>
          <a:p>
            <a:pPr indent="0" marL="0">
              <a:lnSpc>
                <a:spcPct val="120000"/>
              </a:lnSpc>
              <a:buNone/>
            </a:pPr>
            <a:r>
              <a:rPr lang="en-US" sz="950" dirty="0">
                <a:solidFill>
                  <a:srgbClr val="D7E3F4"/>
                </a:solidFill>
                <a:latin typeface="Courier New" pitchFamily="34" charset="0"/>
                <a:ea typeface="Courier New" pitchFamily="34" charset="-122"/>
                <a:cs typeface="Courier New" pitchFamily="34" charset="-120"/>
              </a:rPr>
              <a:t>}</a:t>
            </a:r>
            <a:endParaRPr lang="en-US" sz="95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 PIECE 2</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read: nothing else, no sim checks</a:t>
            </a:r>
            <a:endParaRPr lang="en-US" sz="3000" dirty="0"/>
          </a:p>
        </p:txBody>
      </p:sp>
      <p:sp>
        <p:nvSpPr>
          <p:cNvPr id="6" name="Shape 3"/>
          <p:cNvSpPr/>
          <p:nvPr/>
        </p:nvSpPr>
        <p:spPr>
          <a:xfrm>
            <a:off x="640080" y="1600200"/>
            <a:ext cx="10881360" cy="2377440"/>
          </a:xfrm>
          <a:prstGeom prst="roundRect">
            <a:avLst>
              <a:gd name="adj" fmla="val 461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ModuleIOTalonFX</a:t>
            </a:r>
            <a:endParaRPr lang="en-US" sz="1500" dirty="0"/>
          </a:p>
        </p:txBody>
      </p:sp>
      <p:sp>
        <p:nvSpPr>
          <p:cNvPr id="11" name="Text 8"/>
          <p:cNvSpPr/>
          <p:nvPr/>
        </p:nvSpPr>
        <p:spPr>
          <a:xfrm>
            <a:off x="914400" y="2057400"/>
            <a:ext cx="10195560" cy="1719072"/>
          </a:xfrm>
          <a:prstGeom prst="rect">
            <a:avLst/>
          </a:prstGeom>
          <a:noFill/>
          <a:ln/>
        </p:spPr>
        <p:txBody>
          <a:bodyPr wrap="square" lIns="0" tIns="0" rIns="0" bIns="0" rtlCol="0" anchor="t"/>
          <a:lstStyle/>
          <a:p>
            <a:pPr indent="0" marL="0">
              <a:lnSpc>
                <a:spcPct val="120000"/>
              </a:lnSpc>
              <a:buNone/>
            </a:pPr>
            <a:r>
              <a:rPr lang="en-US" sz="1000" dirty="0">
                <a:solidFill>
                  <a:srgbClr val="FFD166"/>
                </a:solidFill>
                <a:latin typeface="Courier New" pitchFamily="34" charset="0"/>
                <a:ea typeface="Courier New" pitchFamily="34" charset="-122"/>
                <a:cs typeface="Courier New" pitchFamily="34" charset="-120"/>
              </a:rPr>
              <a:t>@Override</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public void updateInputs(ModuleIOInputs inputs)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inputs.steerAngleDegrees = m_steerMotor.getPosition().getValue().in(Rotations) * 360.0;</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inputs.drivePositionMeters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m_driveMotor.getPosition().getValue().in(Rotations) * DriveConstants.kWheelCircumferenceMeters;</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inputs.driveVelocityMetersPerSec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m_driveMotor.getVelocity().getValue().in(RotationsPerSecond) * DriveConstants.kWheelCircumferenceMeters;</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p:txBody>
      </p:sp>
      <p:sp>
        <p:nvSpPr>
          <p:cNvPr id="12" name="Shape 9"/>
          <p:cNvSpPr/>
          <p:nvPr/>
        </p:nvSpPr>
        <p:spPr>
          <a:xfrm>
            <a:off x="640080" y="4251960"/>
            <a:ext cx="10881360" cy="1920240"/>
          </a:xfrm>
          <a:prstGeom prst="roundRect">
            <a:avLst>
              <a:gd name="adj" fmla="val 4762"/>
            </a:avLst>
          </a:prstGeom>
          <a:solidFill>
            <a:srgbClr val="F3F6FA"/>
          </a:solidFill>
          <a:ln/>
        </p:spPr>
      </p:sp>
      <p:sp>
        <p:nvSpPr>
          <p:cNvPr id="13" name="Text 10"/>
          <p:cNvSpPr/>
          <p:nvPr/>
        </p:nvSpPr>
        <p:spPr>
          <a:xfrm>
            <a:off x="822960" y="4434840"/>
            <a:ext cx="10515600" cy="155448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updateInputs fills the inputs bundle from the sensors — nothing else. On the real robot the sensors just have values, and this class is the real robot.</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 PIECE 3</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writes: each one a Lesson 12 line wearing @Override</a:t>
            </a:r>
            <a:endParaRPr lang="en-US" sz="3000" dirty="0"/>
          </a:p>
        </p:txBody>
      </p:sp>
      <p:sp>
        <p:nvSpPr>
          <p:cNvPr id="6" name="Shape 3"/>
          <p:cNvSpPr/>
          <p:nvPr/>
        </p:nvSpPr>
        <p:spPr>
          <a:xfrm>
            <a:off x="640080" y="128016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ModuleIOTalonFX, closing out the class</a:t>
            </a:r>
            <a:endParaRPr lang="en-US" sz="1500" dirty="0"/>
          </a:p>
        </p:txBody>
      </p:sp>
      <p:sp>
        <p:nvSpPr>
          <p:cNvPr id="11" name="Text 8"/>
          <p:cNvSpPr/>
          <p:nvPr/>
        </p:nvSpPr>
        <p:spPr>
          <a:xfrm>
            <a:off x="914400" y="1737360"/>
            <a:ext cx="10195560" cy="437083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@Override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void setSteerAngleDegrees(double angleDegrees)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Phoenix speaks Units — hand it the angle as a measure.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m_steerMotor.setControl(m_steerRequest.withPosition(Degrees.of(angleDegrees)));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@Override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void setDriveVelocityMetersPerSec(double mps)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double wheelRps = mps / DriveConstants.kWheelCircumferenceMeters;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m_driveMotor.setControl(m_driveRequest.withVelocity(RotationsPerSecond.of(wheelRps)));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@Override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void resetDrivePosition()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m_driveMotor.setPosition(0);</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ModuleIOSim: the TalonFX class, plus the physics</a:t>
            </a:r>
            <a:endParaRPr lang="en-US" sz="3000" dirty="0"/>
          </a:p>
        </p:txBody>
      </p:sp>
      <p:sp>
        <p:nvSpPr>
          <p:cNvPr id="6" name="Shape 3"/>
          <p:cNvSpPr/>
          <p:nvPr/>
        </p:nvSpPr>
        <p:spPr>
          <a:xfrm>
            <a:off x="640080" y="128016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ModuleIOSim.java — extends ModuleIOTalonFX</a:t>
            </a:r>
            <a:endParaRPr lang="en-US" sz="1500" dirty="0"/>
          </a:p>
        </p:txBody>
      </p:sp>
      <p:sp>
        <p:nvSpPr>
          <p:cNvPr id="11" name="Text 8"/>
          <p:cNvSpPr/>
          <p:nvPr/>
        </p:nvSpPr>
        <p:spPr>
          <a:xfrm>
            <a:off x="914400" y="1737360"/>
            <a:ext cx="10195560" cy="4370832"/>
          </a:xfrm>
          <a:prstGeom prst="rect">
            <a:avLst/>
          </a:prstGeom>
          <a:noFill/>
          <a:ln/>
        </p:spPr>
        <p:txBody>
          <a:bodyPr wrap="square" lIns="0" tIns="0" rIns="0" bIns="0" rtlCol="0" anchor="t"/>
          <a:lstStyle/>
          <a:p>
            <a:pPr indent="0" marL="0">
              <a:lnSpc>
                <a:spcPct val="120000"/>
              </a:lnSpc>
              <a:buNone/>
            </a:pPr>
            <a:r>
              <a:rPr lang="en-US" sz="1000" dirty="0">
                <a:solidFill>
                  <a:srgbClr val="7FA8C9"/>
                </a:solidFill>
                <a:latin typeface="Courier New" pitchFamily="34" charset="0"/>
                <a:ea typeface="Courier New" pitchFamily="34" charset="-122"/>
                <a:cs typeface="Courier New" pitchFamily="34" charset="-120"/>
              </a:rPr>
              <a:t>/** Sim: the real TalonFX class, plus the physics models from Lessons 4-5/12. */</a:t>
            </a:r>
            <a:endParaRPr lang="en-US" sz="1000" dirty="0"/>
          </a:p>
          <a:p>
            <a:pPr indent="0" marL="0">
              <a:lnSpc>
                <a:spcPct val="120000"/>
              </a:lnSpc>
              <a:buNone/>
            </a:pPr>
            <a:r>
              <a:rPr lang="en-US" sz="1000" dirty="0">
                <a:solidFill>
                  <a:srgbClr val="FFD166"/>
                </a:solidFill>
                <a:latin typeface="Courier New" pitchFamily="34" charset="0"/>
                <a:ea typeface="Courier New" pitchFamily="34" charset="-122"/>
                <a:cs typeface="Courier New" pitchFamily="34" charset="-120"/>
              </a:rPr>
              <a:t>public class ModuleIOSim extends ModuleIOTalonFX {</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TalonFXSimState m_driveSim;</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TalonFXSimState m_steerSim;</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CANcoderSimState m_steerEncoderSim;</a:t>
            </a:r>
            <a:endParaRPr lang="en-US" sz="1000" dirty="0"/>
          </a:p>
          <a:p>
            <a:pPr indent="0" marL="0">
              <a:lnSpc>
                <a:spcPct val="120000"/>
              </a:lnSpc>
              <a:buNone/>
            </a:pP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DCMotorSim m_driveModel = new DCMotorSim(</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Models.singleJointedArmFromPhysicalConstants(</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DCMotor.getKrakenX60(1), 0.025, DriveConstants.kDriveGearRatio),</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DCMotor.getKrakenX60(1));</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DCMotorSim m_steerModel = new DCMotorSim(</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Models.singleJointedArmFromPhysicalConstants(</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DCMotor.getKrakenX60(1), 0.004, SteerConstants.kSteerGearRatio),</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DCMotor.getKrakenX60(1));</a:t>
            </a:r>
            <a:endParaRPr lang="en-US" sz="1000" dirty="0"/>
          </a:p>
          <a:p>
            <a:pPr indent="0" marL="0">
              <a:lnSpc>
                <a:spcPct val="120000"/>
              </a:lnSpc>
              <a:buNone/>
            </a:pPr>
            <a:endParaRPr lang="en-US" sz="1000" dirty="0"/>
          </a:p>
          <a:p>
            <a:pPr indent="0" marL="0">
              <a:lnSpc>
                <a:spcPct val="120000"/>
              </a:lnSpc>
              <a:buNone/>
            </a:pPr>
            <a:r>
              <a:rPr lang="en-US" sz="1000" dirty="0">
                <a:solidFill>
                  <a:srgbClr val="FFD166"/>
                </a:solidFill>
                <a:latin typeface="Courier New" pitchFamily="34" charset="0"/>
                <a:ea typeface="Courier New" pitchFamily="34" charset="-122"/>
                <a:cs typeface="Courier New" pitchFamily="34" charset="-120"/>
              </a:rPr>
              <a:t>  public ModuleIOSim(int driveId, int steerId, int cancoderId, double magnetOffsetRotations)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super(driveId, steerId, cancoderId, magnetOffsetRotations); // build motors, CANcoder, configs</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m_driveSim = m_driveMotor.getSimState();</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m_steerSim = m_steerMotor.getSimState();</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m_steerEncoderSim = m_steerEncoder.getSimState();</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Physics first, then read — same order every tick</a:t>
            </a:r>
            <a:endParaRPr lang="en-US" sz="3000" dirty="0"/>
          </a:p>
        </p:txBody>
      </p:sp>
      <p:sp>
        <p:nvSpPr>
          <p:cNvPr id="6" name="Shape 3"/>
          <p:cNvSpPr/>
          <p:nvPr/>
        </p:nvSpPr>
        <p:spPr>
          <a:xfrm>
            <a:off x="640080" y="1280160"/>
            <a:ext cx="1088136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ModuleIOSim</a:t>
            </a:r>
            <a:endParaRPr lang="en-US" sz="1500" dirty="0"/>
          </a:p>
        </p:txBody>
      </p:sp>
      <p:sp>
        <p:nvSpPr>
          <p:cNvPr id="11" name="Text 8"/>
          <p:cNvSpPr/>
          <p:nvPr/>
        </p:nvSpPr>
        <p:spPr>
          <a:xfrm>
            <a:off x="914400" y="1737360"/>
            <a:ext cx="10195560" cy="153619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@Override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public void updateInputs(ModuleIOInputs inputs)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stepSim(); // advance the physics one tick...</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super.updateInputs(inputs); // ...then read the sensors like the real class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3566160"/>
            <a:ext cx="10881360" cy="2788920"/>
          </a:xfrm>
          <a:prstGeom prst="roundRect">
            <a:avLst>
              <a:gd name="adj" fmla="val 3934"/>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712464"/>
            <a:ext cx="128016" cy="128016"/>
          </a:xfrm>
          <a:prstGeom prst="ellipse">
            <a:avLst/>
          </a:prstGeom>
          <a:solidFill>
            <a:srgbClr val="FF6B6B"/>
          </a:solidFill>
          <a:ln/>
        </p:spPr>
      </p:sp>
      <p:sp>
        <p:nvSpPr>
          <p:cNvPr id="14" name="Shape 11"/>
          <p:cNvSpPr/>
          <p:nvPr/>
        </p:nvSpPr>
        <p:spPr>
          <a:xfrm>
            <a:off x="11210544" y="3913632"/>
            <a:ext cx="128016" cy="128016"/>
          </a:xfrm>
          <a:prstGeom prst="ellipse">
            <a:avLst/>
          </a:prstGeom>
          <a:solidFill>
            <a:srgbClr val="FFD166"/>
          </a:solidFill>
          <a:ln/>
        </p:spPr>
      </p:sp>
      <p:sp>
        <p:nvSpPr>
          <p:cNvPr id="15" name="Shape 12"/>
          <p:cNvSpPr/>
          <p:nvPr/>
        </p:nvSpPr>
        <p:spPr>
          <a:xfrm>
            <a:off x="11210544" y="4114800"/>
            <a:ext cx="128016" cy="128016"/>
          </a:xfrm>
          <a:prstGeom prst="ellipse">
            <a:avLst/>
          </a:prstGeom>
          <a:solidFill>
            <a:srgbClr val="2EC4B6"/>
          </a:solidFill>
          <a:ln/>
        </p:spPr>
      </p:sp>
      <p:sp>
        <p:nvSpPr>
          <p:cNvPr id="16" name="Text 13"/>
          <p:cNvSpPr/>
          <p:nvPr/>
        </p:nvSpPr>
        <p:spPr>
          <a:xfrm>
            <a:off x="914400" y="3694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stepSim(), drive-motor half — one tick of pretend reality</a:t>
            </a:r>
            <a:endParaRPr lang="en-US" sz="1500" dirty="0"/>
          </a:p>
        </p:txBody>
      </p:sp>
      <p:sp>
        <p:nvSpPr>
          <p:cNvPr id="17" name="Text 14"/>
          <p:cNvSpPr/>
          <p:nvPr/>
        </p:nvSpPr>
        <p:spPr>
          <a:xfrm>
            <a:off x="914400" y="4023360"/>
            <a:ext cx="10195560" cy="213055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void stepSim()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m_driveSim.setSupplyVoltage(RobotController.getBatteryVoltage());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m_driveModel.setInputVoltage(m_driveSim.getMotorVoltage());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m_driveModel.update(0.020);</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m_driveSim.setRawRotorPosition(</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m_driveModel.getAngularPosition() / (2 * Math.PI) * DriveConstants.kDriveGearRatio);</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m_driveSim.setRotorVelocity(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m_driveModel.getAngularVelocity() / (2 * Math.PI) * DriveConstants.kDriveGearRatio);</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...steer motor and CANcoder feeds continue on the next slide...</a:t>
            </a:r>
            <a:endParaRPr lang="en-US" sz="12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CANcoder needs its own honest feed too</a:t>
            </a:r>
            <a:endParaRPr lang="en-US" sz="3000" dirty="0"/>
          </a:p>
        </p:txBody>
      </p:sp>
      <p:sp>
        <p:nvSpPr>
          <p:cNvPr id="6" name="Shape 3"/>
          <p:cNvSpPr/>
          <p:nvPr/>
        </p:nvSpPr>
        <p:spPr>
          <a:xfrm>
            <a:off x="640080" y="1280160"/>
            <a:ext cx="10881360" cy="2651760"/>
          </a:xfrm>
          <a:prstGeom prst="roundRect">
            <a:avLst>
              <a:gd name="adj" fmla="val 413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stepSim(), continued — steer motor, through the 25:1 reduction</a:t>
            </a:r>
            <a:endParaRPr lang="en-US" sz="1500" dirty="0"/>
          </a:p>
        </p:txBody>
      </p:sp>
      <p:sp>
        <p:nvSpPr>
          <p:cNvPr id="11" name="Text 8"/>
          <p:cNvSpPr/>
          <p:nvPr/>
        </p:nvSpPr>
        <p:spPr>
          <a:xfrm>
            <a:off x="914400" y="1737360"/>
            <a:ext cx="10195560" cy="199339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m_steerSim.setSupplyVoltage(RobotController.getBatteryVoltage());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m_steerModel.setInputVoltage(m_steerSim.getMotorVoltage());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m_steerModel.update(0.020);</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m_steerSim.setRawRotorPosition(</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m_steerModel.getAngularPosition() / (2 * Math.PI) * SteerConstants.kSteerGearRatio);</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m_steerSim.setRotorVelocity(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m_steerModel.getAngularVelocity() / (2 * Math.PI) * SteerConstants.kSteerGearRatio);</a:t>
            </a:r>
            <a:endParaRPr lang="en-US" sz="1200" dirty="0"/>
          </a:p>
        </p:txBody>
      </p:sp>
      <p:sp>
        <p:nvSpPr>
          <p:cNvPr id="12" name="Shape 9"/>
          <p:cNvSpPr/>
          <p:nvPr/>
        </p:nvSpPr>
        <p:spPr>
          <a:xfrm>
            <a:off x="640080" y="4160520"/>
            <a:ext cx="10881360" cy="1691640"/>
          </a:xfrm>
          <a:prstGeom prst="roundRect">
            <a:avLst>
              <a:gd name="adj" fmla="val 6486"/>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4306824"/>
            <a:ext cx="128016" cy="128016"/>
          </a:xfrm>
          <a:prstGeom prst="ellipse">
            <a:avLst/>
          </a:prstGeom>
          <a:solidFill>
            <a:srgbClr val="FF6B6B"/>
          </a:solidFill>
          <a:ln/>
        </p:spPr>
      </p:sp>
      <p:sp>
        <p:nvSpPr>
          <p:cNvPr id="14" name="Shape 11"/>
          <p:cNvSpPr/>
          <p:nvPr/>
        </p:nvSpPr>
        <p:spPr>
          <a:xfrm>
            <a:off x="11210544" y="4507992"/>
            <a:ext cx="128016" cy="128016"/>
          </a:xfrm>
          <a:prstGeom prst="ellipse">
            <a:avLst/>
          </a:prstGeom>
          <a:solidFill>
            <a:srgbClr val="FFD166"/>
          </a:solidFill>
          <a:ln/>
        </p:spPr>
      </p:sp>
      <p:sp>
        <p:nvSpPr>
          <p:cNvPr id="15" name="Shape 12"/>
          <p:cNvSpPr/>
          <p:nvPr/>
        </p:nvSpPr>
        <p:spPr>
          <a:xfrm>
            <a:off x="11210544" y="4709160"/>
            <a:ext cx="128016" cy="128016"/>
          </a:xfrm>
          <a:prstGeom prst="ellipse">
            <a:avLst/>
          </a:prstGeom>
          <a:solidFill>
            <a:srgbClr val="2EC4B6"/>
          </a:solidFill>
          <a:ln/>
        </p:spPr>
      </p:sp>
      <p:sp>
        <p:nvSpPr>
          <p:cNvPr id="16" name="Text 13"/>
          <p:cNvSpPr/>
          <p:nvPr/>
        </p:nvSpPr>
        <p:spPr>
          <a:xfrm>
            <a:off x="914400" y="428853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stepSim(), closing out — CANcoder: mechanism-side, no gear multiply</a:t>
            </a:r>
            <a:endParaRPr lang="en-US" sz="1500" dirty="0"/>
          </a:p>
        </p:txBody>
      </p:sp>
      <p:sp>
        <p:nvSpPr>
          <p:cNvPr id="17" name="Text 14"/>
          <p:cNvSpPr/>
          <p:nvPr/>
        </p:nvSpPr>
        <p:spPr>
          <a:xfrm>
            <a:off x="914400" y="4617720"/>
            <a:ext cx="10195560" cy="1033272"/>
          </a:xfrm>
          <a:prstGeom prst="rect">
            <a:avLst/>
          </a:prstGeom>
          <a:noFill/>
          <a:ln/>
        </p:spPr>
        <p:txBody>
          <a:bodyPr wrap="square" lIns="0" tIns="0" rIns="0" bIns="0" rtlCol="0" anchor="t"/>
          <a:lstStyle/>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m_steerEncoderSim.setRawPosition(m_steerModel.getAngularPosition() / (2 * Math.PI));</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m_steerEncoderSim.setVelocity(m_steerModel.getAngularVelocity() / (2 * Math.PI));</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ressarrows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Hardware-free: an IO, a bundle, its targets</a:t>
            </a:r>
            <a:endParaRPr lang="en-US" sz="3000" dirty="0"/>
          </a:p>
        </p:txBody>
      </p:sp>
      <p:sp>
        <p:nvSpPr>
          <p:cNvPr id="6" name="Shape 3"/>
          <p:cNvSpPr/>
          <p:nvPr/>
        </p:nvSpPr>
        <p:spPr>
          <a:xfrm>
            <a:off x="640080" y="128016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Rewrite SwerveModule.java — fields, constructor, periodic()</a:t>
            </a:r>
            <a:endParaRPr lang="en-US" sz="1500" dirty="0"/>
          </a:p>
        </p:txBody>
      </p:sp>
      <p:sp>
        <p:nvSpPr>
          <p:cNvPr id="11" name="Text 8"/>
          <p:cNvSpPr/>
          <p:nvPr/>
        </p:nvSpPr>
        <p:spPr>
          <a:xfrm>
            <a:off x="914400" y="1737360"/>
            <a:ext cx="10195560" cy="437083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class SwerveModule {</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Position of this module relative to robot center, in meters.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public final Translation2d location;</a:t>
            </a:r>
            <a:endParaRPr lang="en-US" sz="1100" dirty="0"/>
          </a:p>
          <a:p>
            <a:pPr indent="0" marL="0">
              <a:lnSpc>
                <a:spcPct val="120000"/>
              </a:lnSpc>
              <a:buNone/>
            </a:pP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private final ModuleIO m_io;</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private final ModuleIO.ModuleIOInputs m_inputs = new ModuleIO.ModuleIOInputs();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private final String m_logKey; // e.g. "Drivetrain/Module0"</a:t>
            </a:r>
            <a:endParaRPr lang="en-US" sz="1100" dirty="0"/>
          </a:p>
          <a:p>
            <a:pPr indent="0" marL="0">
              <a:lnSpc>
                <a:spcPct val="120000"/>
              </a:lnSpc>
              <a:buNone/>
            </a:pP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SwerveModule(ModuleIO io, String logKey, Translation2d location)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m_io = io;</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m_logKey = logKey;</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this.location = location;</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One tick of sensing: read the hardware into the bundle and log it.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void periodic()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m_io.updateInputs(m_inputs);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Telemetry.log(m_logKey + "/SteerAngleDegrees", m_inputs.steerAngleDegrees);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Telemetry.log(m_logKey + "/DrivePositionMeters", m_inputs.drivePositionMeters);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Telemetry.log(m_logKey + "/DriveVelocityMetersPerSec", m_inputs.driveVelocityMetersPerSec);</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ressarrows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Question-methods read the bundle, not the hardware</a:t>
            </a:r>
            <a:endParaRPr lang="en-US" sz="3000" dirty="0"/>
          </a:p>
        </p:txBody>
      </p:sp>
      <p:sp>
        <p:nvSpPr>
          <p:cNvPr id="6" name="Shape 3"/>
          <p:cNvSpPr/>
          <p:nvPr/>
        </p:nvSpPr>
        <p:spPr>
          <a:xfrm>
            <a:off x="640080" y="128016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Rewrite SwerveModule.java — setDesiredState() and the getters, closing the class</a:t>
            </a:r>
            <a:endParaRPr lang="en-US" sz="1500" dirty="0"/>
          </a:p>
        </p:txBody>
      </p:sp>
      <p:sp>
        <p:nvSpPr>
          <p:cNvPr id="11" name="Text 8"/>
          <p:cNvSpPr/>
          <p:nvPr/>
        </p:nvSpPr>
        <p:spPr>
          <a:xfrm>
            <a:off x="914400" y="1737360"/>
            <a:ext cx="10195560" cy="437083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One tick of control: hand the IO its targets. Called by a command each tick.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void setDesiredState(SwerveModuleVelocity state)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targetDegrees = state.angle.getDegrees();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m_io.setSteerAngleDegrees(targetDegrees);</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Cosine compensation (Lesson 9) — a decision, so it stays in our code.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error = targetDegrees - m_inputs.steerAngleDegrees;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alignment = Math.cos(Math.toRadians(error));</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m_io.setDriveVelocityMetersPerSec(state.velocity * alignment);</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public double getSteerAngleDegrees() { return m_inputs.steerAngleDegrees;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public double getDistanceMeters() { return m_inputs.drivePositionMeters;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public double getDriveVelocityMetersPerSec() { return m_inputs.driveVelocityMetersPerSec; }</a:t>
            </a:r>
            <a:endParaRPr lang="en-US" sz="1100" dirty="0"/>
          </a:p>
          <a:p>
            <a:pPr indent="0" marL="0">
              <a:lnSpc>
                <a:spcPct val="120000"/>
              </a:lnSpc>
              <a:buNone/>
            </a:pP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SwerveModulePosition getPosition()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return new SwerveModulePosition(</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m_inputs.drivePositionMeters, Rotation2d.fromDegrees(m_inputs.steerAngleDegrees));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public void resetDrivePosition() { m_io.resetDrivePosition(); }</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ta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2600" b="1" dirty="0">
                <a:solidFill>
                  <a:srgbClr val="13294B"/>
                </a:solidFill>
                <a:latin typeface="Cambria" pitchFamily="34" charset="0"/>
                <a:ea typeface="Cambria" pitchFamily="34" charset="-122"/>
                <a:cs typeface="Cambria" pitchFamily="34" charset="-120"/>
              </a:rPr>
              <a:t>A fixed menu of values — you can't typo a mode that doesn't exist</a:t>
            </a:r>
            <a:endParaRPr lang="en-US" sz="2600" dirty="0"/>
          </a:p>
        </p:txBody>
      </p:sp>
      <p:sp>
        <p:nvSpPr>
          <p:cNvPr id="6" name="Shape 3"/>
          <p:cNvSpPr/>
          <p:nvPr/>
        </p:nvSpPr>
        <p:spPr>
          <a:xfrm>
            <a:off x="640080" y="1371600"/>
            <a:ext cx="10881360" cy="2743200"/>
          </a:xfrm>
          <a:prstGeom prst="roundRect">
            <a:avLst>
              <a:gd name="adj" fmla="val 4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the top of Constants.java</a:t>
            </a:r>
            <a:endParaRPr lang="en-US" sz="1500" dirty="0"/>
          </a:p>
        </p:txBody>
      </p:sp>
      <p:sp>
        <p:nvSpPr>
          <p:cNvPr id="11" name="Text 8"/>
          <p:cNvSpPr/>
          <p:nvPr/>
        </p:nvSpPr>
        <p:spPr>
          <a:xfrm>
            <a:off x="914400" y="1828800"/>
            <a:ext cx="10195560" cy="208483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final class Constants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enum Mode { REAL, SIM, REPLAY }</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Change kSimMode to Mode.REPLAY to re-run a log file instead of simulating fresh.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Mode kSimMode = Mode.SIM;</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Mode kCurrentMode = RobotBase.isReal() ? Mode.REAL : kSimMode;</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...the nested constants classes stay...</a:t>
            </a:r>
            <a:endParaRPr lang="en-US" sz="1300" dirty="0"/>
          </a:p>
        </p:txBody>
      </p:sp>
      <p:sp>
        <p:nvSpPr>
          <p:cNvPr id="12" name="Shape 9"/>
          <p:cNvSpPr/>
          <p:nvPr/>
        </p:nvSpPr>
        <p:spPr>
          <a:xfrm>
            <a:off x="640080" y="4251960"/>
            <a:ext cx="10881360" cy="2057400"/>
          </a:xfrm>
          <a:prstGeom prst="roundRect">
            <a:avLst>
              <a:gd name="adj" fmla="val 4444"/>
            </a:avLst>
          </a:prstGeom>
          <a:solidFill>
            <a:srgbClr val="F3F6FA"/>
          </a:solidFill>
          <a:ln/>
        </p:spPr>
      </p:sp>
      <p:sp>
        <p:nvSpPr>
          <p:cNvPr id="13" name="Text 10"/>
          <p:cNvSpPr/>
          <p:nvPr/>
        </p:nvSpPr>
        <p:spPr>
          <a:xfrm>
            <a:off x="868680" y="4480560"/>
            <a:ext cx="10424160" cy="160020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Needs import org.wpilib.framework.RobotBase; — a question-method deciding a constant. That comment on kSimMode is honest about where this is going, even though flipping it to REPLAY today buys nothing yet but a dormant, empty implementation.</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object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Finally wiring in the per-corner constants</a:t>
            </a:r>
            <a:endParaRPr lang="en-US" sz="3000" dirty="0"/>
          </a:p>
        </p:txBody>
      </p:sp>
      <p:sp>
        <p:nvSpPr>
          <p:cNvPr id="6" name="Shape 3"/>
          <p:cNvSpPr/>
          <p:nvPr/>
        </p:nvSpPr>
        <p:spPr>
          <a:xfrm>
            <a:off x="640080" y="1280160"/>
            <a:ext cx="10881360" cy="4846320"/>
          </a:xfrm>
          <a:prstGeom prst="roundRect">
            <a:avLst>
              <a:gd name="adj" fmla="val 226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the m_modules field in Drivetrain</a:t>
            </a:r>
            <a:endParaRPr lang="en-US" sz="1500" dirty="0"/>
          </a:p>
        </p:txBody>
      </p:sp>
      <p:sp>
        <p:nvSpPr>
          <p:cNvPr id="11" name="Text 8"/>
          <p:cNvSpPr/>
          <p:nvPr/>
        </p:nvSpPr>
        <p:spPr>
          <a:xfrm>
            <a:off x="914400" y="1737360"/>
            <a:ext cx="10195560" cy="418795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private final SwerveModule[] m_modules = new SwerveModule[]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makeModule(0, DriveConstants.kFrontLeftDrivePort, DriveConstants.kFrontLeftSteerPort,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DriveConstants.kFrontLeftCancoderPort, DriveConstants.kFrontLeftMagnetOffset,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DriveConstants.kFrontLeft),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makeModule(1, DriveConstants.kFrontRightDrivePort, DriveConstants.kFrontRightSteerPort,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DriveConstants.kFrontRightCancoderPort, DriveConstants.kFrontRightMagnetOffset,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DriveConstants.kFrontRight),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makeModule(2, DriveConstants.kBackLeftDrivePort, DriveConstants.kBackLeftSteerPort,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DriveConstants.kBackLeftCancoderPort, DriveConstants.kBackLeftMagnetOffset,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DriveConstants.kBackLeft),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makeModule(3, DriveConstants.kBackRightDrivePort, DriveConstants.kBackRightSteerPort,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DriveConstants.kBackRightCancoderPort, DriveConstants.kBackRightMagnetOffset,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DriveConstants.kBackRight)</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object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switch, three worlds</a:t>
            </a:r>
            <a:endParaRPr lang="en-US" sz="3000" dirty="0"/>
          </a:p>
        </p:txBody>
      </p:sp>
      <p:sp>
        <p:nvSpPr>
          <p:cNvPr id="6" name="Shape 3"/>
          <p:cNvSpPr/>
          <p:nvPr/>
        </p:nvSpPr>
        <p:spPr>
          <a:xfrm>
            <a:off x="640080" y="1280160"/>
            <a:ext cx="10881360" cy="3474720"/>
          </a:xfrm>
          <a:prstGeom prst="roundRect">
            <a:avLst>
              <a:gd name="adj" fmla="val 315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the builder, next to makeModule</a:t>
            </a:r>
            <a:endParaRPr lang="en-US" sz="1500" dirty="0"/>
          </a:p>
        </p:txBody>
      </p:sp>
      <p:sp>
        <p:nvSpPr>
          <p:cNvPr id="11" name="Text 8"/>
          <p:cNvSpPr/>
          <p:nvPr/>
        </p:nvSpPr>
        <p:spPr>
          <a:xfrm>
            <a:off x="914400" y="1737360"/>
            <a:ext cx="10195560" cy="281635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Builds the right ModuleIO for the current mode, then wraps it in a SwerveModule.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static SwerveModule makeModule(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int index, int driveId, int steerId, int cancoderId, double magnetOffsetRotations,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Translation2d location)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ModuleIO io = switch (Constants.kCurrentMode)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case REAL -&gt; new ModuleIOTalonFX(driveId, steerId, cancoderId, magnetOffsetRotations);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case SIM -&gt; new ModuleIOSim(driveId, steerId, cancoderId, magnetOffsetRotations);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case REPLAY -&gt; new ModuleIO() {}; // nothing feeds this yet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new SwerveModule(io, "Drivetrain/Module" + index, location);</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4937760"/>
            <a:ext cx="10881360" cy="1188720"/>
          </a:xfrm>
          <a:prstGeom prst="roundRect">
            <a:avLst>
              <a:gd name="adj" fmla="val 7692"/>
            </a:avLst>
          </a:prstGeom>
          <a:solidFill>
            <a:srgbClr val="F3F6FA"/>
          </a:solidFill>
          <a:ln/>
        </p:spPr>
      </p:sp>
      <p:sp>
        <p:nvSpPr>
          <p:cNvPr id="13" name="Text 10"/>
          <p:cNvSpPr/>
          <p:nvPr/>
        </p:nvSpPr>
        <p:spPr>
          <a:xfrm>
            <a:off x="777240" y="5074920"/>
            <a:ext cx="10607040" cy="914400"/>
          </a:xfrm>
          <a:prstGeom prst="rect">
            <a:avLst/>
          </a:prstGeom>
          <a:noFill/>
          <a:ln/>
        </p:spPr>
        <p:txBody>
          <a:bodyPr wrap="square" lIns="0" tIns="0" rIns="0" bIns="0" rtlCol="0" anchor="t"/>
          <a:lstStyle/>
          <a:p>
            <a:pPr indent="0" marL="0">
              <a:lnSpc>
                <a:spcPct val="125000"/>
              </a:lnSpc>
              <a:buNone/>
            </a:pPr>
            <a:r>
              <a:rPr lang="en-US" sz="1700" dirty="0">
                <a:solidFill>
                  <a:srgbClr val="13294B"/>
                </a:solidFill>
                <a:latin typeface="Calibri" pitchFamily="34" charset="0"/>
                <a:ea typeface="Calibri" pitchFamily="34" charset="-122"/>
                <a:cs typeface="Calibri" pitchFamily="34" charset="-120"/>
              </a:rPr>
              <a:t>Drivetrain needs import first.robot.Constants; alongside its existing DriveConstants/HeadingConstants imports — importing a nested class doesn't let you refer to the outer one by its bare name.</a:t>
            </a:r>
            <a:endParaRPr lang="en-US" sz="17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uzzlepiec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6 · NEW MODULEIO() {}</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Ten characters for "hardware that doesn't exist"</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777240"/>
          </a:xfrm>
          <a:prstGeom prst="rect">
            <a:avLst/>
          </a:prstGeom>
          <a:noFill/>
          <a:ln/>
        </p:spPr>
        <p:txBody>
          <a:bodyPr wrap="square" lIns="0" tIns="0" rIns="0" bIns="0" rtlCol="0" anchor="t"/>
          <a:lstStyle/>
          <a:p>
            <a:pPr indent="0" marL="0">
              <a:lnSpc>
                <a:spcPct val="120000"/>
              </a:lnSpc>
              <a:buNone/>
            </a:pPr>
            <a:r>
              <a:rPr lang="en-US" sz="2200" b="1" dirty="0">
                <a:solidFill>
                  <a:srgbClr val="FF5010"/>
                </a:solidFill>
                <a:latin typeface="Cambria" pitchFamily="34" charset="0"/>
                <a:ea typeface="Cambria" pitchFamily="34" charset="-122"/>
                <a:cs typeface="Cambria" pitchFamily="34" charset="-120"/>
              </a:rPr>
              <a:t>A nameless class implementing ModuleIO, overriding nothing.</a:t>
            </a:r>
            <a:endParaRPr lang="en-US" sz="2200" dirty="0"/>
          </a:p>
        </p:txBody>
      </p:sp>
      <p:sp>
        <p:nvSpPr>
          <p:cNvPr id="8" name="Text 5"/>
          <p:cNvSpPr/>
          <p:nvPr/>
        </p:nvSpPr>
        <p:spPr>
          <a:xfrm>
            <a:off x="914400" y="2743200"/>
            <a:ext cx="10332720" cy="155448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Every method keeps its default do-nothing body: reads leave the inputs sitting at whatever they were (0.0, since nothing has ever touched them), writes go nowhere — there are no motors.</a:t>
            </a:r>
            <a:endParaRPr lang="en-US" sz="2000" dirty="0"/>
          </a:p>
        </p:txBody>
      </p:sp>
      <p:sp>
        <p:nvSpPr>
          <p:cNvPr id="9" name="Text 6"/>
          <p:cNvSpPr/>
          <p:nvPr/>
        </p:nvSpPr>
        <p:spPr>
          <a:xfrm>
            <a:off x="640080" y="4709160"/>
            <a:ext cx="10881360" cy="109728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This is exactly why the interface's methods got default bodies in section 2: without them, new ModuleIO() {} wouldn't compile — you'd owe the compiler four method bodies for a class that's supposed to do nothing at all.</a:t>
            </a:r>
            <a:endParaRPr lang="en-US" sz="20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IO LAYERS</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17</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gyro gets the same treatment</a:t>
            </a:r>
            <a:endParaRPr lang="en-US" sz="3000" dirty="0"/>
          </a:p>
        </p:txBody>
      </p:sp>
      <p:sp>
        <p:nvSpPr>
          <p:cNvPr id="6" name="Shape 3"/>
          <p:cNvSpPr/>
          <p:nvPr/>
        </p:nvSpPr>
        <p:spPr>
          <a:xfrm>
            <a:off x="640080" y="1371600"/>
            <a:ext cx="10881360" cy="3749040"/>
          </a:xfrm>
          <a:prstGeom prst="roundRect">
            <a:avLst>
              <a:gd name="adj" fmla="val 292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GyroIO.java — the whole file</a:t>
            </a:r>
            <a:endParaRPr lang="en-US" sz="1500" dirty="0"/>
          </a:p>
        </p:txBody>
      </p:sp>
      <p:sp>
        <p:nvSpPr>
          <p:cNvPr id="11" name="Text 8"/>
          <p:cNvSpPr/>
          <p:nvPr/>
        </p:nvSpPr>
        <p:spPr>
          <a:xfrm>
            <a:off x="914400" y="1828800"/>
            <a:ext cx="10195560" cy="3090672"/>
          </a:xfrm>
          <a:prstGeom prst="rect">
            <a:avLst/>
          </a:prstGeom>
          <a:noFill/>
          <a:ln/>
        </p:spPr>
        <p:txBody>
          <a:bodyPr wrap="square" lIns="0" tIns="0" rIns="0" bIns="0" rtlCol="0" anchor="t"/>
          <a:lstStyle/>
          <a:p>
            <a:pPr indent="0" marL="0">
              <a:lnSpc>
                <a:spcPct val="120000"/>
              </a:lnSpc>
              <a:buNone/>
            </a:pPr>
            <a:r>
              <a:rPr lang="en-US" sz="1300" dirty="0">
                <a:solidFill>
                  <a:srgbClr val="7FD1D9"/>
                </a:solidFill>
                <a:latin typeface="Courier New" pitchFamily="34" charset="0"/>
                <a:ea typeface="Courier New" pitchFamily="34" charset="-122"/>
                <a:cs typeface="Courier New" pitchFamily="34" charset="-120"/>
              </a:rPr>
              <a:t>package first.robot.subsystems;</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interface GyroIO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static class GyroIOInputs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double yawDegrees = 0.0;</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default void updateInputs(GyroIOInputs inputs) {}</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Sim bookkeeping: the commanded rotation rate, in revolutions per second.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default void setSimRotationRate(double omegaRevPerSec)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18</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GyroIOPigeon2 — the shortest class in the course</a:t>
            </a:r>
            <a:endParaRPr lang="en-US" sz="3000" dirty="0"/>
          </a:p>
        </p:txBody>
      </p:sp>
      <p:sp>
        <p:nvSpPr>
          <p:cNvPr id="6" name="Shape 3"/>
          <p:cNvSpPr/>
          <p:nvPr/>
        </p:nvSpPr>
        <p:spPr>
          <a:xfrm>
            <a:off x="640080" y="1371600"/>
            <a:ext cx="10881360" cy="960120"/>
          </a:xfrm>
          <a:prstGeom prst="roundRect">
            <a:avLst>
              <a:gd name="adj" fmla="val 114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If you skipped Lesson 8's Try It, add to DriveConstants</a:t>
            </a:r>
            <a:endParaRPr lang="en-US" sz="1500" dirty="0"/>
          </a:p>
        </p:txBody>
      </p:sp>
      <p:sp>
        <p:nvSpPr>
          <p:cNvPr id="11" name="Text 8"/>
          <p:cNvSpPr/>
          <p:nvPr/>
        </p:nvSpPr>
        <p:spPr>
          <a:xfrm>
            <a:off x="914400" y="1828800"/>
            <a:ext cx="10195560" cy="30175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public static final int kGyroPort = 0;               // CAN ID — change to yours</a:t>
            </a:r>
            <a:endParaRPr lang="en-US" sz="1400" dirty="0"/>
          </a:p>
        </p:txBody>
      </p:sp>
      <p:sp>
        <p:nvSpPr>
          <p:cNvPr id="12" name="Shape 9"/>
          <p:cNvSpPr/>
          <p:nvPr/>
        </p:nvSpPr>
        <p:spPr>
          <a:xfrm>
            <a:off x="640080" y="2423160"/>
            <a:ext cx="10881360" cy="3063240"/>
          </a:xfrm>
          <a:prstGeom prst="roundRect">
            <a:avLst>
              <a:gd name="adj" fmla="val 3582"/>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2569464"/>
            <a:ext cx="128016" cy="128016"/>
          </a:xfrm>
          <a:prstGeom prst="ellipse">
            <a:avLst/>
          </a:prstGeom>
          <a:solidFill>
            <a:srgbClr val="FF6B6B"/>
          </a:solidFill>
          <a:ln/>
        </p:spPr>
      </p:sp>
      <p:sp>
        <p:nvSpPr>
          <p:cNvPr id="14" name="Shape 11"/>
          <p:cNvSpPr/>
          <p:nvPr/>
        </p:nvSpPr>
        <p:spPr>
          <a:xfrm>
            <a:off x="11210544" y="2770632"/>
            <a:ext cx="128016" cy="128016"/>
          </a:xfrm>
          <a:prstGeom prst="ellipse">
            <a:avLst/>
          </a:prstGeom>
          <a:solidFill>
            <a:srgbClr val="FFD166"/>
          </a:solidFill>
          <a:ln/>
        </p:spPr>
      </p:sp>
      <p:sp>
        <p:nvSpPr>
          <p:cNvPr id="15" name="Shape 12"/>
          <p:cNvSpPr/>
          <p:nvPr/>
        </p:nvSpPr>
        <p:spPr>
          <a:xfrm>
            <a:off x="11210544" y="2971800"/>
            <a:ext cx="128016" cy="128016"/>
          </a:xfrm>
          <a:prstGeom prst="ellipse">
            <a:avLst/>
          </a:prstGeom>
          <a:solidFill>
            <a:srgbClr val="2EC4B6"/>
          </a:solidFill>
          <a:ln/>
        </p:spPr>
      </p:sp>
      <p:sp>
        <p:nvSpPr>
          <p:cNvPr id="16" name="Text 13"/>
          <p:cNvSpPr/>
          <p:nvPr/>
        </p:nvSpPr>
        <p:spPr>
          <a:xfrm>
            <a:off x="914400" y="2551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GyroIOPigeon2.java — the whole file</a:t>
            </a:r>
            <a:endParaRPr lang="en-US" sz="1500" dirty="0"/>
          </a:p>
        </p:txBody>
      </p:sp>
      <p:sp>
        <p:nvSpPr>
          <p:cNvPr id="17" name="Text 14"/>
          <p:cNvSpPr/>
          <p:nvPr/>
        </p:nvSpPr>
        <p:spPr>
          <a:xfrm>
            <a:off x="914400" y="2880360"/>
            <a:ext cx="10195560" cy="240487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class GyroIOPigeon2 implements GyroIO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private final Pigeon2 m_gyro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new Pigeon2(DriveConstants.kGyroPort, new CANBus(CANPort.CAN_S0));</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  @Override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void updateInputs(GyroIOInputs inputs)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inputs.yawDegrees = m_gyro.getYaw().getValue().in(Degrees);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8" name="Shape 15"/>
          <p:cNvSpPr/>
          <p:nvPr/>
        </p:nvSpPr>
        <p:spPr>
          <a:xfrm>
            <a:off x="640080" y="5577840"/>
            <a:ext cx="10881360" cy="777240"/>
          </a:xfrm>
          <a:prstGeom prst="roundRect">
            <a:avLst>
              <a:gd name="adj" fmla="val 11765"/>
            </a:avLst>
          </a:prstGeom>
          <a:solidFill>
            <a:srgbClr val="F3F6FA"/>
          </a:solidFill>
          <a:ln/>
        </p:spPr>
      </p:sp>
      <p:sp>
        <p:nvSpPr>
          <p:cNvPr id="19" name="Text 16"/>
          <p:cNvSpPr/>
          <p:nvPr/>
        </p:nvSpPr>
        <p:spPr>
          <a:xfrm>
            <a:off x="822960" y="5760720"/>
            <a:ext cx="10515600" cy="41148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It doesn't override setSimRotationRate — the real robot has no use for it.</a:t>
            </a:r>
            <a:endParaRPr lang="en-US" sz="18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19</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GyroIOSim: no hardware at all — arithmetic only</a:t>
            </a:r>
            <a:endParaRPr lang="en-US" sz="3000" dirty="0"/>
          </a:p>
        </p:txBody>
      </p:sp>
      <p:sp>
        <p:nvSpPr>
          <p:cNvPr id="6" name="Shape 3"/>
          <p:cNvSpPr/>
          <p:nvPr/>
        </p:nvSpPr>
        <p:spPr>
          <a:xfrm>
            <a:off x="640080" y="128016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GyroIOSim.java — the whole file</a:t>
            </a:r>
            <a:endParaRPr lang="en-US" sz="1500" dirty="0"/>
          </a:p>
        </p:txBody>
      </p:sp>
      <p:sp>
        <p:nvSpPr>
          <p:cNvPr id="11" name="Text 8"/>
          <p:cNvSpPr/>
          <p:nvPr/>
        </p:nvSpPr>
        <p:spPr>
          <a:xfrm>
            <a:off x="914400" y="1737360"/>
            <a:ext cx="10195560" cy="437083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class GyroIOSim implements GyroIO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private double m_lastCommandedOmega = 0.0;</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private double m_simHeadingDegrees = 0.0;</a:t>
            </a:r>
            <a:endParaRPr lang="en-US" sz="1400" dirty="0"/>
          </a:p>
          <a:p>
            <a:pPr indent="0" marL="0">
              <a:lnSpc>
                <a:spcPct val="120000"/>
              </a:lnSpc>
              <a:buNone/>
            </a:pP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  @Override</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public void updateInputs(GyroIOInputs inputs) {</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Lesson 8's integration: add rate x time, every tick.</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m_simHeadingDegrees += m_lastCommandedOmega * 360.0 * 0.020;</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inputs.yawDegrees = m_simHeadingDegrees;</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  @Override</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public void setSimRotationRate(double omegaRevPerSec)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m_lastCommandedOmega = omegaRevPerSec;</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20</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Wire the gyro in with the same three-arm switch</a:t>
            </a:r>
            <a:endParaRPr lang="en-US" sz="3000" dirty="0"/>
          </a:p>
        </p:txBody>
      </p:sp>
      <p:sp>
        <p:nvSpPr>
          <p:cNvPr id="6" name="Shape 3"/>
          <p:cNvSpPr/>
          <p:nvPr/>
        </p:nvSpPr>
        <p:spPr>
          <a:xfrm>
            <a:off x="640080" y="1371600"/>
            <a:ext cx="10881360" cy="2011680"/>
          </a:xfrm>
          <a:prstGeom prst="roundRect">
            <a:avLst>
              <a:gd name="adj" fmla="val 545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Drivetrain's gyro field with</a:t>
            </a:r>
            <a:endParaRPr lang="en-US" sz="1500" dirty="0"/>
          </a:p>
        </p:txBody>
      </p:sp>
      <p:sp>
        <p:nvSpPr>
          <p:cNvPr id="11" name="Text 8"/>
          <p:cNvSpPr/>
          <p:nvPr/>
        </p:nvSpPr>
        <p:spPr>
          <a:xfrm>
            <a:off x="914400" y="1828800"/>
            <a:ext cx="10195560" cy="135331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private final GyroIO m_gyroIO = switch (Constants.kCurrentMode)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case REAL -&gt; new GyroIOPigeon2();</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case SIM -&gt; new GyroIOSim();</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case REPLAY -&gt; new GyroIO() {}; // nothing feeds this yet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private final GyroIO.GyroIOInputs m_gyroInputs = new GyroIO.GyroIOInputs();</a:t>
            </a:r>
            <a:endParaRPr lang="en-US" sz="1300" dirty="0"/>
          </a:p>
        </p:txBody>
      </p:sp>
      <p:sp>
        <p:nvSpPr>
          <p:cNvPr id="12" name="Shape 9"/>
          <p:cNvSpPr/>
          <p:nvPr/>
        </p:nvSpPr>
        <p:spPr>
          <a:xfrm>
            <a:off x="640080" y="3657600"/>
            <a:ext cx="10881360" cy="1737360"/>
          </a:xfrm>
          <a:prstGeom prst="roundRect">
            <a:avLst>
              <a:gd name="adj" fmla="val 6316"/>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803904"/>
            <a:ext cx="128016" cy="128016"/>
          </a:xfrm>
          <a:prstGeom prst="ellipse">
            <a:avLst/>
          </a:prstGeom>
          <a:solidFill>
            <a:srgbClr val="FF6B6B"/>
          </a:solidFill>
          <a:ln/>
        </p:spPr>
      </p:sp>
      <p:sp>
        <p:nvSpPr>
          <p:cNvPr id="14" name="Shape 11"/>
          <p:cNvSpPr/>
          <p:nvPr/>
        </p:nvSpPr>
        <p:spPr>
          <a:xfrm>
            <a:off x="11210544" y="4005072"/>
            <a:ext cx="128016" cy="128016"/>
          </a:xfrm>
          <a:prstGeom prst="ellipse">
            <a:avLst/>
          </a:prstGeom>
          <a:solidFill>
            <a:srgbClr val="FFD166"/>
          </a:solidFill>
          <a:ln/>
        </p:spPr>
      </p:sp>
      <p:sp>
        <p:nvSpPr>
          <p:cNvPr id="15" name="Shape 12"/>
          <p:cNvSpPr/>
          <p:nvPr/>
        </p:nvSpPr>
        <p:spPr>
          <a:xfrm>
            <a:off x="11210544" y="4206240"/>
            <a:ext cx="128016" cy="128016"/>
          </a:xfrm>
          <a:prstGeom prst="ellipse">
            <a:avLst/>
          </a:prstGeom>
          <a:solidFill>
            <a:srgbClr val="2EC4B6"/>
          </a:solidFill>
          <a:ln/>
        </p:spPr>
      </p:sp>
      <p:sp>
        <p:nvSpPr>
          <p:cNvPr id="16" name="Text 13"/>
          <p:cNvSpPr/>
          <p:nvPr/>
        </p:nvSpPr>
        <p:spPr>
          <a:xfrm>
            <a:off x="914400" y="3785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getHeadingDegrees() — it now reads the bundle</a:t>
            </a:r>
            <a:endParaRPr lang="en-US" sz="1500" dirty="0"/>
          </a:p>
        </p:txBody>
      </p:sp>
      <p:sp>
        <p:nvSpPr>
          <p:cNvPr id="17" name="Text 14"/>
          <p:cNvSpPr/>
          <p:nvPr/>
        </p:nvSpPr>
        <p:spPr>
          <a:xfrm>
            <a:off x="914400" y="4114800"/>
            <a:ext cx="10195560" cy="1078992"/>
          </a:xfrm>
          <a:prstGeom prst="rect">
            <a:avLst/>
          </a:prstGeom>
          <a:noFill/>
          <a:ln/>
        </p:spPr>
        <p:txBody>
          <a:bodyPr wrap="square" lIns="0" tIns="0" rIns="0" bIns="0" rtlCol="0" anchor="t"/>
          <a:lstStyle/>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Robot heading in degrees (CCW positive). */</a:t>
            </a:r>
            <a:endParaRPr lang="en-US" sz="1500" dirty="0"/>
          </a:p>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public double getHeadingDegrees() {</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return m_gyroInputs.yawDegrees;</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21</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two places that fed the old bookkeeping</a:t>
            </a:r>
            <a:endParaRPr lang="en-US" sz="3000" dirty="0"/>
          </a:p>
        </p:txBody>
      </p:sp>
      <p:sp>
        <p:nvSpPr>
          <p:cNvPr id="6" name="Shape 3"/>
          <p:cNvSpPr/>
          <p:nvPr/>
        </p:nvSpPr>
        <p:spPr>
          <a:xfrm>
            <a:off x="640080" y="1463040"/>
            <a:ext cx="10881360" cy="1371600"/>
          </a:xfrm>
          <a:prstGeom prst="roundRect">
            <a:avLst>
              <a:gd name="adj" fmla="val 8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In applyChassisSpeeds, replace the m_lastCommandedOmega assignment with</a:t>
            </a:r>
            <a:endParaRPr lang="en-US" sz="1500" dirty="0"/>
          </a:p>
        </p:txBody>
      </p:sp>
      <p:sp>
        <p:nvSpPr>
          <p:cNvPr id="11" name="Text 8"/>
          <p:cNvSpPr/>
          <p:nvPr/>
        </p:nvSpPr>
        <p:spPr>
          <a:xfrm>
            <a:off x="914400" y="1920240"/>
            <a:ext cx="10195560" cy="713232"/>
          </a:xfrm>
          <a:prstGeom prst="rect">
            <a:avLst/>
          </a:prstGeom>
          <a:noFill/>
          <a:ln/>
        </p:spPr>
        <p:txBody>
          <a:bodyPr wrap="square" lIns="0" tIns="0" rIns="0" bIns="0" rtlCol="0" anchor="t"/>
          <a:lstStyle/>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m_gyroIO.setSimRotationRate(speeds.omega / (2 * Math.PI));</a:t>
            </a:r>
            <a:endParaRPr lang="en-US" sz="1500" dirty="0"/>
          </a:p>
        </p:txBody>
      </p:sp>
      <p:sp>
        <p:nvSpPr>
          <p:cNvPr id="12" name="Shape 9"/>
          <p:cNvSpPr/>
          <p:nvPr/>
        </p:nvSpPr>
        <p:spPr>
          <a:xfrm>
            <a:off x="640080" y="3200400"/>
            <a:ext cx="10881360" cy="1371600"/>
          </a:xfrm>
          <a:prstGeom prst="roundRect">
            <a:avLst>
              <a:gd name="adj" fmla="val 8000"/>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346704"/>
            <a:ext cx="128016" cy="128016"/>
          </a:xfrm>
          <a:prstGeom prst="ellipse">
            <a:avLst/>
          </a:prstGeom>
          <a:solidFill>
            <a:srgbClr val="FF6B6B"/>
          </a:solidFill>
          <a:ln/>
        </p:spPr>
      </p:sp>
      <p:sp>
        <p:nvSpPr>
          <p:cNvPr id="14" name="Shape 11"/>
          <p:cNvSpPr/>
          <p:nvPr/>
        </p:nvSpPr>
        <p:spPr>
          <a:xfrm>
            <a:off x="11210544" y="3547872"/>
            <a:ext cx="128016" cy="128016"/>
          </a:xfrm>
          <a:prstGeom prst="ellipse">
            <a:avLst/>
          </a:prstGeom>
          <a:solidFill>
            <a:srgbClr val="FFD166"/>
          </a:solidFill>
          <a:ln/>
        </p:spPr>
      </p:sp>
      <p:sp>
        <p:nvSpPr>
          <p:cNvPr id="15" name="Shape 12"/>
          <p:cNvSpPr/>
          <p:nvPr/>
        </p:nvSpPr>
        <p:spPr>
          <a:xfrm>
            <a:off x="11210544" y="3749040"/>
            <a:ext cx="128016" cy="128016"/>
          </a:xfrm>
          <a:prstGeom prst="ellipse">
            <a:avLst/>
          </a:prstGeom>
          <a:solidFill>
            <a:srgbClr val="2EC4B6"/>
          </a:solidFill>
          <a:ln/>
        </p:spPr>
      </p:sp>
      <p:sp>
        <p:nvSpPr>
          <p:cNvPr id="16" name="Text 13"/>
          <p:cNvSpPr/>
          <p:nvPr/>
        </p:nvSpPr>
        <p:spPr>
          <a:xfrm>
            <a:off x="914400" y="33284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And driveDistance's zero line does the same, with</a:t>
            </a:r>
            <a:endParaRPr lang="en-US" sz="1500" dirty="0"/>
          </a:p>
        </p:txBody>
      </p:sp>
      <p:sp>
        <p:nvSpPr>
          <p:cNvPr id="17" name="Text 14"/>
          <p:cNvSpPr/>
          <p:nvPr/>
        </p:nvSpPr>
        <p:spPr>
          <a:xfrm>
            <a:off x="914400" y="3657600"/>
            <a:ext cx="10195560" cy="713232"/>
          </a:xfrm>
          <a:prstGeom prst="rect">
            <a:avLst/>
          </a:prstGeom>
          <a:noFill/>
          <a:ln/>
        </p:spPr>
        <p:txBody>
          <a:bodyPr wrap="square" lIns="0" tIns="0" rIns="0" bIns="0" rtlCol="0" anchor="t"/>
          <a:lstStyle/>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m_gyroIO.setSimRotationRate(0.0);</a:t>
            </a:r>
            <a:endParaRPr lang="en-US" sz="1500" dirty="0"/>
          </a:p>
        </p:txBody>
      </p:sp>
      <p:sp>
        <p:nvSpPr>
          <p:cNvPr id="18" name="Shape 15"/>
          <p:cNvSpPr/>
          <p:nvPr/>
        </p:nvSpPr>
        <p:spPr>
          <a:xfrm>
            <a:off x="640080" y="4937760"/>
            <a:ext cx="10881360" cy="1188720"/>
          </a:xfrm>
          <a:prstGeom prst="roundRect">
            <a:avLst>
              <a:gd name="adj" fmla="val 7692"/>
            </a:avLst>
          </a:prstGeom>
          <a:solidFill>
            <a:srgbClr val="F3F6FA"/>
          </a:solidFill>
          <a:ln/>
        </p:spPr>
      </p:sp>
      <p:sp>
        <p:nvSpPr>
          <p:cNvPr id="19" name="Text 16"/>
          <p:cNvSpPr/>
          <p:nvPr/>
        </p:nvSpPr>
        <p:spPr>
          <a:xfrm>
            <a:off x="777240" y="5074920"/>
            <a:ext cx="10607040" cy="914400"/>
          </a:xfrm>
          <a:prstGeom prst="rect">
            <a:avLst/>
          </a:prstGeom>
          <a:noFill/>
          <a:ln/>
        </p:spPr>
        <p:txBody>
          <a:bodyPr wrap="square" lIns="0" tIns="0" rIns="0" bIns="0" rtlCol="0" anchor="t"/>
          <a:lstStyle/>
          <a:p>
            <a:pPr indent="0" marL="0">
              <a:lnSpc>
                <a:spcPct val="125000"/>
              </a:lnSpc>
              <a:buNone/>
            </a:pPr>
            <a:r>
              <a:rPr lang="en-US" sz="1700" dirty="0">
                <a:solidFill>
                  <a:srgbClr val="13294B"/>
                </a:solidFill>
                <a:latin typeface="Calibri" pitchFamily="34" charset="0"/>
                <a:ea typeface="Calibri" pitchFamily="34" charset="-122"/>
                <a:cs typeface="Calibri" pitchFamily="34" charset="-120"/>
              </a:rPr>
              <a:t>applyChassisSpeeds sets the rate every tick it runs; driveDistance zeros it the same way — both used to assign m_lastCommandedOmega directly, and both now call the IO instead.</a:t>
            </a:r>
            <a:endParaRPr lang="en-US" sz="17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22</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roadcasttow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Now something has to ask each module to refresh</a:t>
            </a:r>
            <a:endParaRPr lang="en-US" sz="3000" dirty="0"/>
          </a:p>
        </p:txBody>
      </p:sp>
      <p:sp>
        <p:nvSpPr>
          <p:cNvPr id="6" name="Shape 3"/>
          <p:cNvSpPr/>
          <p:nvPr/>
        </p:nvSpPr>
        <p:spPr>
          <a:xfrm>
            <a:off x="640080" y="1280160"/>
            <a:ext cx="10881360" cy="4206240"/>
          </a:xfrm>
          <a:prstGeom prst="roundRect">
            <a:avLst>
              <a:gd name="adj" fmla="val 260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Rename logTelemetry() to periodic() (and its addPeriodic line), then add the gyro and module reads</a:t>
            </a:r>
            <a:endParaRPr lang="en-US" sz="1500" dirty="0"/>
          </a:p>
        </p:txBody>
      </p:sp>
      <p:sp>
        <p:nvSpPr>
          <p:cNvPr id="11" name="Text 8"/>
          <p:cNvSpPr/>
          <p:nvPr/>
        </p:nvSpPr>
        <p:spPr>
          <a:xfrm>
            <a:off x="914400" y="1737360"/>
            <a:ext cx="10195560" cy="354787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void periodic()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m_gyroIO.updateInputs(m_gyroInputs);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Telemetry.log("Drivetrain/Gyro/YawDegrees", m_gyroInputs.yawDegrees);</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SwerveModuleVelocity[] states = new SwerveModuleVelocity[4];</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int index = 0;</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(SwerveModule module : m_modules)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module.periodic(); // refresh + log this module's inputs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states[index] = new SwerveModuleVelocity(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module.getDriveVelocityMetersPerSec(),</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Rotation2d.fromDegrees(module.getSteerAngleDegrees()));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index++;</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Telemetry.log("Drivetrain/ModuleStates", states, SwerveModuleVelocity.struct);</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...Heading/Pose publishing, odometry update, Field2d — unchanged...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23</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DRIVETRAIN.JAVA &amp;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real behavior change, not a formality</a:t>
            </a:r>
            <a:endParaRPr lang="en-US" sz="3000" dirty="0"/>
          </a:p>
        </p:txBody>
      </p:sp>
      <p:sp>
        <p:nvSpPr>
          <p:cNvPr id="6" name="Shape 3"/>
          <p:cNvSpPr/>
          <p:nvPr/>
        </p:nvSpPr>
        <p:spPr>
          <a:xfrm>
            <a:off x="640080" y="1280160"/>
            <a:ext cx="10881360" cy="1874520"/>
          </a:xfrm>
          <a:prstGeom prst="roundRect">
            <a:avLst>
              <a:gd name="adj" fmla="val 4878"/>
            </a:avLst>
          </a:prstGeom>
          <a:solidFill>
            <a:srgbClr val="F3F6FA"/>
          </a:solidFill>
          <a:ln/>
        </p:spPr>
      </p:sp>
      <p:sp>
        <p:nvSpPr>
          <p:cNvPr id="7" name="Text 4"/>
          <p:cNvSpPr/>
          <p:nvPr/>
        </p:nvSpPr>
        <p:spPr>
          <a:xfrm>
            <a:off x="914400" y="15544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Delete Drivetrain.simulatePeriodic() entirely.</a:t>
            </a:r>
            <a:endParaRPr lang="en-US" sz="2200" dirty="0"/>
          </a:p>
        </p:txBody>
      </p:sp>
      <p:sp>
        <p:nvSpPr>
          <p:cNvPr id="8" name="Text 5"/>
          <p:cNvSpPr/>
          <p:nvPr/>
        </p:nvSpPr>
        <p:spPr>
          <a:xfrm>
            <a:off x="914400" y="2132330"/>
            <a:ext cx="10332720" cy="7480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Every scrap of sim-only code now lives inside an IO implementation, chosen once at construction instead of re-run from a method every tick.</a:t>
            </a:r>
            <a:endParaRPr lang="en-US" sz="2000" dirty="0"/>
          </a:p>
        </p:txBody>
      </p:sp>
      <p:sp>
        <p:nvSpPr>
          <p:cNvPr id="9" name="Shape 6"/>
          <p:cNvSpPr/>
          <p:nvPr/>
        </p:nvSpPr>
        <p:spPr>
          <a:xfrm>
            <a:off x="640080" y="3246120"/>
            <a:ext cx="10881360" cy="1554480"/>
          </a:xfrm>
          <a:prstGeom prst="roundRect">
            <a:avLst>
              <a:gd name="adj" fmla="val 7059"/>
            </a:avLst>
          </a:prstGeom>
          <a:solidFill>
            <a:srgbClr val="0B1F3A"/>
          </a:solidFill>
          <a:ln/>
          <a:effectLst>
            <a:outerShdw sx="100000" sy="100000" kx="0" ky="0" algn="bl" rotWithShape="0" blurRad="101600" dist="38100" dir="5400000">
              <a:srgbClr val="0B1F3A">
                <a:alpha val="35000"/>
              </a:srgbClr>
            </a:outerShdw>
          </a:effectLst>
        </p:spPr>
      </p:sp>
      <p:sp>
        <p:nvSpPr>
          <p:cNvPr id="10" name="Shape 7"/>
          <p:cNvSpPr/>
          <p:nvPr/>
        </p:nvSpPr>
        <p:spPr>
          <a:xfrm>
            <a:off x="11210544" y="3392424"/>
            <a:ext cx="128016" cy="128016"/>
          </a:xfrm>
          <a:prstGeom prst="ellipse">
            <a:avLst/>
          </a:prstGeom>
          <a:solidFill>
            <a:srgbClr val="FF6B6B"/>
          </a:solidFill>
          <a:ln/>
        </p:spPr>
      </p:sp>
      <p:sp>
        <p:nvSpPr>
          <p:cNvPr id="11" name="Shape 8"/>
          <p:cNvSpPr/>
          <p:nvPr/>
        </p:nvSpPr>
        <p:spPr>
          <a:xfrm>
            <a:off x="11210544" y="3593592"/>
            <a:ext cx="128016" cy="128016"/>
          </a:xfrm>
          <a:prstGeom prst="ellipse">
            <a:avLst/>
          </a:prstGeom>
          <a:solidFill>
            <a:srgbClr val="FFD166"/>
          </a:solidFill>
          <a:ln/>
        </p:spPr>
      </p:sp>
      <p:sp>
        <p:nvSpPr>
          <p:cNvPr id="12" name="Shape 9"/>
          <p:cNvSpPr/>
          <p:nvPr/>
        </p:nvSpPr>
        <p:spPr>
          <a:xfrm>
            <a:off x="11210544" y="3794760"/>
            <a:ext cx="128016" cy="128016"/>
          </a:xfrm>
          <a:prstGeom prst="ellipse">
            <a:avLst/>
          </a:prstGeom>
          <a:solidFill>
            <a:srgbClr val="2EC4B6"/>
          </a:solidFill>
          <a:ln/>
        </p:spPr>
      </p:sp>
      <p:sp>
        <p:nvSpPr>
          <p:cNvPr id="13" name="Text 10"/>
          <p:cNvSpPr/>
          <p:nvPr/>
        </p:nvSpPr>
        <p:spPr>
          <a:xfrm>
            <a:off x="914400" y="337413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Empty out simulationPeriodic() in Robot.java</a:t>
            </a:r>
            <a:endParaRPr lang="en-US" sz="1500" dirty="0"/>
          </a:p>
        </p:txBody>
      </p:sp>
      <p:sp>
        <p:nvSpPr>
          <p:cNvPr id="14" name="Text 11"/>
          <p:cNvSpPr/>
          <p:nvPr/>
        </p:nvSpPr>
        <p:spPr>
          <a:xfrm>
            <a:off x="914400" y="3703320"/>
            <a:ext cx="10195560" cy="89611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Runs every tick, but only while the code is running in simulation.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@Override</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public void simulationPeriodic() {}</a:t>
            </a:r>
            <a:endParaRPr lang="en-US" sz="1400" dirty="0"/>
          </a:p>
        </p:txBody>
      </p:sp>
      <p:sp>
        <p:nvSpPr>
          <p:cNvPr id="15" name="Shape 12"/>
          <p:cNvSpPr/>
          <p:nvPr/>
        </p:nvSpPr>
        <p:spPr>
          <a:xfrm>
            <a:off x="640080" y="4983480"/>
            <a:ext cx="10881360" cy="1280160"/>
          </a:xfrm>
          <a:prstGeom prst="roundRect">
            <a:avLst>
              <a:gd name="adj" fmla="val 7143"/>
            </a:avLst>
          </a:prstGeom>
          <a:solidFill>
            <a:srgbClr val="F3F6FA"/>
          </a:solidFill>
          <a:ln/>
        </p:spPr>
      </p:sp>
      <p:sp>
        <p:nvSpPr>
          <p:cNvPr id="16" name="Text 13"/>
          <p:cNvSpPr/>
          <p:nvPr/>
        </p:nvSpPr>
        <p:spPr>
          <a:xfrm>
            <a:off x="777240" y="5120640"/>
            <a:ext cx="10607040" cy="1005840"/>
          </a:xfrm>
          <a:prstGeom prst="rect">
            <a:avLst/>
          </a:prstGeom>
          <a:noFill/>
          <a:ln/>
        </p:spPr>
        <p:txBody>
          <a:bodyPr wrap="square" lIns="0" tIns="0" rIns="0" bIns="0" rtlCol="0" anchor="t"/>
          <a:lstStyle/>
          <a:p>
            <a:pPr indent="0" marL="0">
              <a:lnSpc>
                <a:spcPct val="125000"/>
              </a:lnSpc>
              <a:buNone/>
            </a:pPr>
            <a:r>
              <a:rPr lang="en-US" sz="1700" dirty="0">
                <a:solidFill>
                  <a:srgbClr val="13294B"/>
                </a:solidFill>
                <a:latin typeface="Calibri" pitchFamily="34" charset="0"/>
                <a:ea typeface="Calibri" pitchFamily="34" charset="-122"/>
                <a:cs typeface="Calibri" pitchFamily="34" charset="-120"/>
              </a:rPr>
              <a:t>A genuinely different shape than every earlier lesson used: physics now happens as a side effect of which class got constructed. Nothing to opt into each tick, nothing to forget.</a:t>
            </a:r>
            <a:endParaRPr lang="en-US" sz="1700" dirty="0"/>
          </a:p>
        </p:txBody>
      </p:sp>
      <p:sp>
        <p:nvSpPr>
          <p:cNvPr id="17" name="Text 1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8" name="Text 1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24</a:t>
            </a:r>
            <a:endParaRPr lang="en-US" sz="2000" dirty="0"/>
          </a:p>
        </p:txBody>
      </p:sp>
      <p:pic>
        <p:nvPicPr>
          <p:cNvPr id="19"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Watch the empty doorway</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Flip kSimMode to Mode.REPLAY. Everything on the Swerve tab sits frozen at 0.0 forever — that's the honest state of an open, empty door.</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Corrupt a sensor on purpose</a:t>
            </a:r>
            <a:endParaRPr lang="en-US" sz="2000" dirty="0"/>
          </a:p>
        </p:txBody>
      </p:sp>
      <p:sp>
        <p:nvSpPr>
          <p:cNvPr id="17" name="Shape 14"/>
          <p:cNvSpPr/>
          <p:nvPr/>
        </p:nvSpPr>
        <p:spPr>
          <a:xfrm>
            <a:off x="9784080" y="1773936"/>
            <a:ext cx="1417320" cy="292608"/>
          </a:xfrm>
          <a:prstGeom prst="roundRect">
            <a:avLst>
              <a:gd name="adj" fmla="val 18750"/>
            </a:avLst>
          </a:prstGeom>
          <a:solidFill>
            <a:srgbClr val="FF5010"/>
          </a:solidFill>
          <a:ln/>
        </p:spPr>
      </p:sp>
      <p:sp>
        <p:nvSpPr>
          <p:cNvPr id="18" name="Text 15"/>
          <p:cNvSpPr/>
          <p:nvPr/>
        </p:nvSpPr>
        <p:spPr>
          <a:xfrm>
            <a:off x="978408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Multiply drivePositionMeters by 1.1 in ModuleIOTalonFX. Odometry disagrees by a consistent 10%.</a:t>
            </a:r>
            <a:endParaRPr lang="en-US" sz="2000" dirty="0"/>
          </a:p>
        </p:txBody>
      </p:sp>
      <p:sp>
        <p:nvSpPr>
          <p:cNvPr id="20" name="Shape 17"/>
          <p:cNvSpPr/>
          <p:nvPr/>
        </p:nvSpPr>
        <p:spPr>
          <a:xfrm>
            <a:off x="640080" y="4023360"/>
            <a:ext cx="5303520" cy="2286000"/>
          </a:xfrm>
          <a:prstGeom prst="roundRect">
            <a:avLst>
              <a:gd name="adj" fmla="val 4800"/>
            </a:avLst>
          </a:prstGeom>
          <a:solidFill>
            <a:srgbClr val="132A4C"/>
          </a:solidFill>
          <a:ln/>
        </p:spPr>
      </p:sp>
      <p:sp>
        <p:nvSpPr>
          <p:cNvPr id="21" name="Shape 18"/>
          <p:cNvSpPr/>
          <p:nvPr/>
        </p:nvSpPr>
        <p:spPr>
          <a:xfrm>
            <a:off x="960120" y="4251960"/>
            <a:ext cx="457200" cy="457200"/>
          </a:xfrm>
          <a:prstGeom prst="ellipse">
            <a:avLst/>
          </a:prstGeom>
          <a:solidFill>
            <a:srgbClr val="1B9AAA"/>
          </a:solidFill>
          <a:ln/>
        </p:spPr>
      </p:sp>
      <p:sp>
        <p:nvSpPr>
          <p:cNvPr id="22" name="Text 19"/>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Cut the cord</a:t>
            </a:r>
            <a:endParaRPr lang="en-US" sz="2000" dirty="0"/>
          </a:p>
        </p:txBody>
      </p:sp>
      <p:sp>
        <p:nvSpPr>
          <p:cNvPr id="24" name="Shape 21"/>
          <p:cNvSpPr/>
          <p:nvPr/>
        </p:nvSpPr>
        <p:spPr>
          <a:xfrm>
            <a:off x="4206240" y="4334256"/>
            <a:ext cx="1417320" cy="292608"/>
          </a:xfrm>
          <a:prstGeom prst="roundRect">
            <a:avLst>
              <a:gd name="adj" fmla="val 18750"/>
            </a:avLst>
          </a:prstGeom>
          <a:solidFill>
            <a:srgbClr val="FF5010"/>
          </a:solidFill>
          <a:ln/>
        </p:spPr>
      </p:sp>
      <p:sp>
        <p:nvSpPr>
          <p:cNvPr id="25" name="Text 22"/>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Rebuild ModuleIOSim standalone: implements ModuleIO directly, a DCMotorSim and a PIDController, no Phoenix at all.</a:t>
            </a:r>
            <a:endParaRPr lang="en-US" sz="2000" dirty="0"/>
          </a:p>
        </p:txBody>
      </p:sp>
      <p:sp>
        <p:nvSpPr>
          <p:cNvPr id="27" name="Text 2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IO LAYERS</a:t>
            </a:r>
            <a:endParaRPr lang="en-US" sz="2000" dirty="0"/>
          </a:p>
        </p:txBody>
      </p:sp>
      <p:sp>
        <p:nvSpPr>
          <p:cNvPr id="28" name="Text 2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25</a:t>
            </a:r>
            <a:endParaRPr lang="en-US" sz="2000" dirty="0"/>
          </a:p>
        </p:txBody>
      </p:sp>
      <p:pic>
        <p:nvPicPr>
          <p:cNvPr id="29"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Hardware behind a door, everywhere</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default do-nothing methods make "hardware that doesn't exist" ten characters of anonymous class, not four method bodies you owe the compiler.</a:t>
            </a:r>
            <a:endParaRPr lang="en-US" sz="1900" dirty="0"/>
          </a:p>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One implementation per world — real hardware, and sim extending the real one to borrow its firmware — chosen once, at construction, by an enum and a switch expression.</a:t>
            </a:r>
            <a:endParaRPr lang="en-US" sz="1900" dirty="0"/>
          </a:p>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SwerveModule and Drivetrain never touch a motor or a gyro anymore; they touch the bundle an IO filled in.</a:t>
            </a:r>
            <a:endParaRPr lang="en-US" sz="19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14</a:t>
            </a:r>
            <a:endParaRPr lang="en-US" sz="2600" dirty="0"/>
          </a:p>
        </p:txBody>
      </p:sp>
      <p:sp>
        <p:nvSpPr>
          <p:cNvPr id="10" name="Text 7"/>
          <p:cNvSpPr/>
          <p:nvPr/>
        </p:nvSpPr>
        <p:spPr>
          <a:xfrm>
            <a:off x="7589520" y="2834640"/>
            <a:ext cx="3657600" cy="822960"/>
          </a:xfrm>
          <a:prstGeom prst="rect">
            <a:avLst/>
          </a:prstGeom>
          <a:noFill/>
          <a:ln/>
        </p:spPr>
        <p:txBody>
          <a:bodyPr wrap="square" lIns="0" tIns="0" rIns="0" bIns="0" rtlCol="0" anchor="t"/>
          <a:lstStyle/>
          <a:p>
            <a:pPr indent="0" marL="0">
              <a:lnSpc>
                <a:spcPct val="110000"/>
              </a:lnSpc>
              <a:buNone/>
            </a:pPr>
            <a:r>
              <a:rPr lang="en-US" sz="2200" b="1" dirty="0">
                <a:solidFill>
                  <a:srgbClr val="FFFFFF"/>
                </a:solidFill>
                <a:latin typeface="Cambria" pitchFamily="34" charset="0"/>
                <a:ea typeface="Cambria" pitchFamily="34" charset="-122"/>
                <a:cs typeface="Cambria" pitchFamily="34" charset="-120"/>
              </a:rPr>
              <a:t>The Pose Estimator</a:t>
            </a:r>
            <a:endParaRPr lang="en-US" sz="2200" dirty="0"/>
          </a:p>
        </p:txBody>
      </p:sp>
      <p:sp>
        <p:nvSpPr>
          <p:cNvPr id="11" name="Text 8"/>
          <p:cNvSpPr/>
          <p:nvPr/>
        </p:nvSpPr>
        <p:spPr>
          <a:xfrm>
            <a:off x="7589520" y="3749040"/>
            <a:ext cx="3657600" cy="128016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A localizer fused from many sources, closing the drift odometry leaves open.</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IO LAYERS</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26</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 — IO Layers</dc:title>
  <dc:subject>PptxGenJS Presentation</dc:subject>
  <dc:creator>Learn Java + Robot Programming</dc:creator>
  <cp:lastModifiedBy>Learn Java + Robot Programming</cp:lastModifiedBy>
  <cp:revision>1</cp:revision>
  <dcterms:created xsi:type="dcterms:W3CDTF">2026-09-27T18:46:31Z</dcterms:created>
  <dcterms:modified xsi:type="dcterms:W3CDTF">2026-09-27T18:46:31Z</dcterms:modified>
</cp:coreProperties>
</file>