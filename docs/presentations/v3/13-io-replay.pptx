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Lesson 4, SwerveModule has done two jobs at once: it is the hardware, and it is the logic deciding what to command it to do. This lesson draws a hard line between them — one interface describing every sensor reading and every command a module can perform, one implementation class per world behind it. It is also the exact shape a future lesson needs to record a whole match and play it back, including a third mode, REPLAY, that exists in the code today with nothing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hardware only ever enters your code through one door per sensor, that door is the only place anything would ever need to intercept a reading — to log it, to fake it for a test, or, down the road, to hand it a value read back out of a recorded match instead of a live sensor. That last one is the biggest idea in the professional version of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draws a hard line instead. Here's why that's worth the ceremony, beyond tidiness: if hardware only ever enters your code through one door per sensor, that door is the only place anything would ever need to intercept a reading. You'll see the empty doorway by the end of this lesson: a mode called REPLAY, sitting in your code, with nothing behind it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ModuleIOInputs is a plain nested class holding every sensor fact the module knows, in one bundle — three public fields, no getters, because this class exists purely to be filled in and read, not to protect itself from its own owner. The default keyword gives each method a body right in the interface — here, a body that does nothing. That's deliberate: an implementation only overrides what it actually needs to, and "hardware that does nothing" is about to be exactly what one of the three worlds wants.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hardware moves house. The motors, the CANcoder, and every config and control request from Lesson 12 relocate from SwerveModule into a class that implements the contract — and only that. The sim plumbing does NOT come along; it gets its own implementation in the next section, so this class stays a clean picture of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in this file is new behavior — it's Lesson 12, re-shelved. The work of this lesson isn't inventing what the module does; it's drawing a boundary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sim checks, no physics: on the real robot the sensors just have values, and this class is the real robot.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the target arrives as a plain double (the contract speaks degrees and meters-per-second), wrap it in the matching unit measure on the way into Phoenix, exactly as Lesson 12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ModuleIOSim isn't instead of the TalonFX class, it's the TalonFX class plus the physics models. Java has a word for "that class, plus": extends — the first time you extend a class you wrote. super(driveId, steerId, cancoderId, magnetOffsetRotations) runs the parent's constructor first — so the motors and CANcoder exist and the configs are applied before the sim states hook onto them. That protected from the previous section is the reason this compiles: private means "mine alone," protected means "mine and my subclasses'."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super.updateInputs(inputs) calls the parent's version of the method this class overrides: step the physics, then read the sensors exactly the way the real robot would. Step back and look at what the shape buys you: the real class has zero sim code, the sim class has zero new control behavior — same firmware loops, same gains, same reads — and the physics runs right before the read, so the bundle always holds one fresh tick of pretend reality.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closed loop now reads the CANcoder continuously, so it needs its own honest sim feed every tick, or the simulated firmware spends the whole match chasing a signal that never moves — that's Lesson 12's section 6 payoff landing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hardware gone, SwerveModule becomes short and pure: it owns an IO (whichever kind), a bundle of inputs, its targets, and the cosine decision. The split between periodic() and setDesiredState is a rule, not a style choice: sense in periodic(), act in a command. periodic() runs every tick no matter what — that's why it holds only the harmless read-and-log.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scheduler runs periodic() before any command each tick, the bundle is always fresh by the time setDesiredState reads it for the cosine error: inputs first, then logic, which is exactly what makes a tick reproducible. Every sensor fact now takes exactly one path into the program — which is why logging it is one line per field, sitting right where the bundle gets filled, instead of scattered wherever someone happened to need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IO does a module get? That depends on where the code is running, and "where am I running" deserves a proper type. A Java enum is a type whose values are a fixed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also the moment to finally use the per-corner constants DriveConstants has carried since Lesson 7 — Try It 4 back then asked you to wire them in yourself, and rebuilding this array is the natural place to make it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Enums and switch expressions are made for each other: one arrow arm per mode, and the whole thing IS a value you can assign. Better, the compiler counts the arms against the menu — add a fourth mode next season and this line refuses to build until you say what it means. Three worlds, three implementations, chosen in one place, once, at construction.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new ModuleIO() {} in the replay arm is an anonymous class. Every method keeps its default do-nothing body — ten characters of syntax for "hardware that doesn't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pattern, smaller scale — read it as a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Pigeon and one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 implementation absorbs Lesson 8's fake-gyro integration — the m_lastCommandedOmega and m_simHeadingDegrees fields move here from Drivetrain — and look: no Pigeon, no Phoenix, no hardware at all. A heading you integrate yourself needs nothing but arithmetic, so unlike the module, this sim class doesn't extend the real one — it stands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places that fed the old bookkeeping now call the IO instead —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applyChassisSpeeds sets m_gyroIO.setSimRotationRate(speeds.omega / (2 * Math.PI)) in place of assigning m_lastCommandedOmega, and driveDistance's zero line does the same with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module.periodic() call is new — it's the read that used to happen implicitly every time SwerveModule reached straight into its own motors. Now the bundle only refreshes when something asks it to, so something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nothing left for Drivetrain to do when Robot.simulationPeriodic() fires. Which means Robot.java needs to stop calling a method that no longer exists. Pick ModuleIOSim at startup, and every future updateInputs() call steps the physics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Watching the empty doorway is a one-value flip plus running — arguably light code-editing but a real edit nonetheless; tagged for consistency with how directly it modifies Constants.java. Corrupting a sensor on purpose is a genuine one-line edit demonstrating the shape of a real hardware bug: it happened behind the one door everything else trusts, so everything downstream inherited it without any of that code being wrong itself. Cutting the cord is the biggest exercise in the lesson — rebuilding ModuleIOSim without leaning on Phoenix's simulated firmware at all, testing whether the interface boundary is really as clean as it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also met a mode with nothing behind it. REPLAY compiles, constructs, and does exactly nothing — the honest state of a doorway with no tooling on the other side yet. Every future lesson that needs a reading from "somewhere other than live hardware" walks through the exact door built today. One upgrade remains before you'd want to trust that heading and pose any further: the pose odometry dead-reckons still drifts, uncorrected, and Lesson 14 teaches the robot to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13</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IO Layers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Hardware behind an interface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Hardware behind one clearly-named door</a:t>
            </a:r>
            <a:endParaRPr lang="en-US" sz="3000" dirty="0"/>
          </a:p>
        </p:txBody>
      </p:sp>
      <p:sp>
        <p:nvSpPr>
          <p:cNvPr id="6" name="Shape 3"/>
          <p:cNvSpPr/>
          <p:nvPr/>
        </p:nvSpPr>
        <p:spPr>
          <a:xfrm>
            <a:off x="640080" y="1600200"/>
            <a:ext cx="10881360" cy="1691640"/>
          </a:xfrm>
          <a:prstGeom prst="roundRect">
            <a:avLst>
              <a:gd name="adj" fmla="val 5405"/>
            </a:avLst>
          </a:prstGeom>
          <a:solidFill>
            <a:srgbClr val="F3F6FA"/>
          </a:solidFill>
          <a:ln/>
        </p:spPr>
      </p:sp>
      <p:sp>
        <p:nvSpPr>
          <p:cNvPr id="7" name="Text 4"/>
          <p:cNvSpPr/>
          <p:nvPr/>
        </p:nvSpPr>
        <p:spPr>
          <a:xfrm>
            <a:off x="960120" y="1737360"/>
            <a:ext cx="10241280" cy="1463040"/>
          </a:xfrm>
          <a:prstGeom prst="rect">
            <a:avLst/>
          </a:prstGeom>
          <a:noFill/>
          <a:ln/>
        </p:spPr>
        <p:txBody>
          <a:bodyPr wrap="square" lIns="0" tIns="0" rIns="0" bIns="0" rtlCol="0" anchor="ctr"/>
          <a:lstStyle/>
          <a:p>
            <a:pPr indent="0" marL="0">
              <a:lnSpc>
                <a:spcPct val="120000"/>
              </a:lnSpc>
              <a:buNone/>
            </a:pPr>
            <a:r>
              <a:rPr lang="en-US" sz="2000" i="1" dirty="0">
                <a:solidFill>
                  <a:srgbClr val="13294B"/>
                </a:solidFill>
                <a:latin typeface="Cambria" pitchFamily="34" charset="0"/>
                <a:ea typeface="Cambria" pitchFamily="34" charset="-122"/>
                <a:cs typeface="Cambria" pitchFamily="34" charset="-120"/>
              </a:rPr>
              <a:t>Restructure the drivetrain so every sensor reading enters through a ModuleIO and a GyroIO — real hardware and sim behind separate classes, chosen by a Constants.Mode switch. SwerveModule and Drivetrain stop touching hardware entirely.</a:t>
            </a:r>
            <a:endParaRPr lang="en-US" sz="2000" dirty="0"/>
          </a:p>
        </p:txBody>
      </p:sp>
      <p:sp>
        <p:nvSpPr>
          <p:cNvPr id="8" name="Shape 5"/>
          <p:cNvSpPr/>
          <p:nvPr/>
        </p:nvSpPr>
        <p:spPr>
          <a:xfrm>
            <a:off x="640080" y="342900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538728"/>
            <a:ext cx="237744" cy="237744"/>
          </a:xfrm>
          <a:prstGeom prst="rect">
            <a:avLst/>
          </a:prstGeom>
        </p:spPr>
      </p:pic>
      <p:sp>
        <p:nvSpPr>
          <p:cNvPr id="10" name="Text 6"/>
          <p:cNvSpPr/>
          <p:nvPr/>
        </p:nvSpPr>
        <p:spPr>
          <a:xfrm>
            <a:off x="123444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Interfaces and default methods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Anonymous classes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Enums, and switch expressions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Subclassing your own class: extends, protected, super</a:t>
            </a:r>
            <a:endParaRPr lang="en-US" sz="2000" dirty="0"/>
          </a:p>
        </p:txBody>
      </p:sp>
      <p:sp>
        <p:nvSpPr>
          <p:cNvPr id="12" name="Shape 8"/>
          <p:cNvSpPr/>
          <p:nvPr/>
        </p:nvSpPr>
        <p:spPr>
          <a:xfrm>
            <a:off x="6309360" y="3429000"/>
            <a:ext cx="457200" cy="457200"/>
          </a:xfrm>
          <a:prstGeom prst="ellipse">
            <a:avLst/>
          </a:prstGeom>
          <a:solidFill>
            <a:srgbClr val="FF5010"/>
          </a:solidFill>
          <a:ln/>
        </p:spPr>
      </p:sp>
      <p:pic>
        <p:nvPicPr>
          <p:cNvPr id="13" name="Image 2" descr="/home/user/BasicRobotLessons/docs/presentations/v3/template/assets/icons/dooropen_white.png">    </p:cNvPr>
          <p:cNvPicPr>
            <a:picLocks noChangeAspect="1"/>
          </p:cNvPicPr>
          <p:nvPr/>
        </p:nvPicPr>
        <p:blipFill>
          <a:blip r:embed="rId3"/>
          <a:stretch>
            <a:fillRect/>
          </a:stretch>
        </p:blipFill>
        <p:spPr>
          <a:xfrm>
            <a:off x="6419088" y="3538728"/>
            <a:ext cx="237744" cy="237744"/>
          </a:xfrm>
          <a:prstGeom prst="rect">
            <a:avLst/>
          </a:prstGeom>
        </p:spPr>
      </p:pic>
      <p:sp>
        <p:nvSpPr>
          <p:cNvPr id="14" name="Text 9"/>
          <p:cNvSpPr/>
          <p:nvPr/>
        </p:nvSpPr>
        <p:spPr>
          <a:xfrm>
            <a:off x="6903720" y="345643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995928"/>
            <a:ext cx="5257800" cy="23774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Inputs vs. outputs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IO layer — hardware behind an interface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dormant third mode, waiting for a future lesson</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doo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THE IDEA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One door per sensor, one class per world</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548640"/>
          </a:xfrm>
          <a:prstGeom prst="rect">
            <a:avLst/>
          </a:prstGeom>
          <a:noFill/>
          <a:ln/>
        </p:spPr>
        <p:txBody>
          <a:bodyPr wrap="square" lIns="0" tIns="0" rIns="0" bIns="0" rtlCol="0" anchor="ctr"/>
          <a:lstStyle/>
          <a:p>
            <a:pPr indent="0" marL="0">
              <a:buNone/>
            </a:pPr>
            <a:r>
              <a:rPr lang="en-US" sz="2400" b="1" dirty="0">
                <a:solidFill>
                  <a:srgbClr val="FF5010"/>
                </a:solidFill>
                <a:latin typeface="Cambria" pitchFamily="34" charset="0"/>
                <a:ea typeface="Cambria" pitchFamily="34" charset="-122"/>
                <a:cs typeface="Cambria" pitchFamily="34" charset="-120"/>
              </a:rPr>
              <a:t>SwerveModule has done two jobs at once since Lesson 4.</a:t>
            </a:r>
            <a:endParaRPr lang="en-US" sz="2400" dirty="0"/>
          </a:p>
        </p:txBody>
      </p:sp>
      <p:sp>
        <p:nvSpPr>
          <p:cNvPr id="8" name="Text 5"/>
          <p:cNvSpPr/>
          <p:nvPr/>
        </p:nvSpPr>
        <p:spPr>
          <a:xfrm>
            <a:off x="914400" y="2560320"/>
            <a:ext cx="10332720" cy="173736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It IS the hardware — it owns the TalonFXs and the CANcoder — and it's also the logic that decides what to command them to do. Every sensor reading could, in principle, come from a real motor, a physics model, or a recorded log, and nothing in the code says so.</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One interface describes every reading and command. One implementation class per world sits behind it. SwerveModule owns an interface reference, with no idea — and no need to know — which world is on the other end.</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uzzlepiec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ModuleIO — one read, three writes, no bodies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src/main/java/first/robot/subsystems/ModuleIO.java — the whole file</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7FD1D9"/>
                </a:solidFill>
                <a:latin typeface="Courier New" pitchFamily="34" charset="0"/>
                <a:ea typeface="Courier New" pitchFamily="34" charset="-122"/>
                <a:cs typeface="Courier New" pitchFamily="34" charset="-120"/>
              </a:rPr>
              <a:t>package first.robot.subsystems;</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interface ModuleIO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static class ModuleIOInputs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steerAngleDegrees = 0.0;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drivePositionMeters = 0.0;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double driveVelocityMetersPerSec = 0.0;</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Read every sensor into 'inputs'. Called once per tick, before anything else.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updateInputs(ModuleIOInputs inputs)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position control for steering.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setSteerAngleDegrees(double angleDegrees)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Firmware velocity control for drive (wheel meters per second).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setDriveVelocityMetersPerSec(double mps)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Zero the drive encoder.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public default void resetDrivePosition()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ModuleIOTalonFX: fields migrate almost unchanged</a:t>
            </a:r>
            <a:endParaRPr lang="en-US" sz="3000" dirty="0"/>
          </a:p>
        </p:txBody>
      </p:sp>
      <p:sp>
        <p:nvSpPr>
          <p:cNvPr id="6" name="Shape 3"/>
          <p:cNvSpPr/>
          <p:nvPr/>
        </p:nvSpPr>
        <p:spPr>
          <a:xfrm>
            <a:off x="640080" y="118872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ModuleIOTalonFX.java — class line and fields</a:t>
            </a:r>
            <a:endParaRPr lang="en-US" sz="1500" dirty="0"/>
          </a:p>
        </p:txBody>
      </p:sp>
      <p:sp>
        <p:nvSpPr>
          <p:cNvPr id="11" name="Text 8"/>
          <p:cNvSpPr/>
          <p:nvPr/>
        </p:nvSpPr>
        <p:spPr>
          <a:xfrm>
            <a:off x="914400" y="1645920"/>
            <a:ext cx="10195560" cy="208483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class ModuleIOTalonFX implements ModuleIO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m_driveMotor;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TalonFX m_steerMotor;</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protected final CANcoder m_steerEncoder;</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PositionVoltage m_steerRequest = new PositionVoltage(0);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private final VelocityVoltage m_driveRequest = new VelocityVoltage(0);</a:t>
            </a:r>
            <a:endParaRPr lang="en-US" sz="1200" dirty="0"/>
          </a:p>
        </p:txBody>
      </p:sp>
      <p:sp>
        <p:nvSpPr>
          <p:cNvPr id="12" name="Shape 9"/>
          <p:cNvSpPr/>
          <p:nvPr/>
        </p:nvSpPr>
        <p:spPr>
          <a:xfrm>
            <a:off x="640080" y="3931920"/>
            <a:ext cx="10881360" cy="2514600"/>
          </a:xfrm>
          <a:prstGeom prst="roundRect">
            <a:avLst>
              <a:gd name="adj" fmla="val 3636"/>
            </a:avLst>
          </a:prstGeom>
          <a:solidFill>
            <a:srgbClr val="F3F6FA"/>
          </a:solidFill>
          <a:ln/>
        </p:spPr>
      </p:sp>
      <p:sp>
        <p:nvSpPr>
          <p:cNvPr id="13" name="Text 10"/>
          <p:cNvSpPr/>
          <p:nvPr/>
        </p:nvSpPr>
        <p:spPr>
          <a:xfrm>
            <a:off x="914400" y="4206240"/>
            <a:ext cx="10332720" cy="863600"/>
          </a:xfrm>
          <a:prstGeom prst="rect">
            <a:avLst/>
          </a:prstGeom>
          <a:noFill/>
          <a:ln/>
        </p:spPr>
        <p:txBody>
          <a:bodyPr wrap="square" lIns="0" tIns="0" rIns="0" bIns="0" rtlCol="0" anchor="t"/>
          <a:lstStyle/>
          <a:p>
            <a:pPr indent="0" marL="0">
              <a:lnSpc>
                <a:spcPct val="120000"/>
              </a:lnSpc>
              <a:buNone/>
            </a:pPr>
            <a:r>
              <a:rPr lang="en-US" sz="2000" b="1" dirty="0">
                <a:solidFill>
                  <a:srgbClr val="13294B"/>
                </a:solidFill>
                <a:latin typeface="Cambria" pitchFamily="34" charset="0"/>
                <a:ea typeface="Cambria" pitchFamily="34" charset="-122"/>
                <a:cs typeface="Cambria" pitchFamily="34" charset="-120"/>
              </a:rPr>
              <a:t>The class line now says implements ModuleIO — and the motors are protected, not private.</a:t>
            </a:r>
            <a:endParaRPr lang="en-US" sz="2000" dirty="0"/>
          </a:p>
        </p:txBody>
      </p:sp>
      <p:sp>
        <p:nvSpPr>
          <p:cNvPr id="14" name="Text 11"/>
          <p:cNvSpPr/>
          <p:nvPr/>
        </p:nvSpPr>
        <p:spPr>
          <a:xfrm>
            <a:off x="914400" y="5069840"/>
            <a:ext cx="10332720" cy="11023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These migrate from SwerveModule almost unchanged. protected instead of private is on purpose: more on that word in the next section, once ModuleIOSim needs to reach them.</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1</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constructor: motors, CANcoder, and Lesson 12's configs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ModuleIOTalonFX's constructor</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ModuleIOTalonFX(int driveId, int steerId, int cancoderId, double magnetOffsetRotations) {</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 = new TalonFX(driveId, CANBus.systemcore(0));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 = new TalonFX(steerId, CANBus.systemcore(0));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 = new CANcoder(cancoderId, CANBus.systemcore(0));</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CANcoderConfiguration cancoderConfig = new CANcoderConfiguration();</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cancoderConfig.MagnetSensor.MagnetOffset = magnetOffsetRotations;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m_steerEncoder.getConfigurator().apply(cancoderConfig);</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 Steering: read angle from the CANcoder, wrap like a circle, hold a P gain.</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TalonFXConfiguration steerConfig = new TalonFXConfiguration();</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steerConfig.Feedback.FeedbackRemoteSensorID = cancoderId;</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steerConfig.Feedback.FeedbackSensorSource = FeedbackSensorSourceValue.RemoteCANcoder;</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steerConfig.Feedback.RotorToSensorRatio = SteerConstants.kSteerGearRatio;</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steerConfig.Feedback.SensorToMechanismRatio = 1.0;</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steerConfig.ClosedLoopGeneral.ContinuousWrap = true;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steerConfig.Slot0.kP = SteerConstants.kSteerKP;</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m_steerMotor.getConfigurator().apply(steerConfig);</a:t>
            </a:r>
            <a:endParaRPr lang="en-US" sz="1000" dirty="0"/>
          </a:p>
          <a:p>
            <a:pPr indent="0" marL="0">
              <a:lnSpc>
                <a:spcPct val="120000"/>
              </a:lnSpc>
              <a:buNone/>
            </a:pP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 Drive: firmware knows the gearbox and runs a kV model + kP trim.</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TalonFXConfiguration driveConfig = new TalonFXConfiguration();</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driveConfig.Feedback.SensorToMechanismRatio = DriveConstants.kDriveGearRatio;</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driveConfig.Slot0.kV = DriveConstants.kDriveKV;</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driveConfig.Slot0.kP = DriveConstants.kDriveKP;</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m_driveMotor.getConfigurator().apply(driveConfig);</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2</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read: nothing else, no sim checks</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ModuleIOTalonFX</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@Override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inputs.steerAngleDegrees = m_steerMotor.getPosition().getValue().in(Rotations) * 360.0;</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inputs.drivePositionMeters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m_driveMotor.getPosition().getValue().in(Rotations) * DriveConstants.kWheelCircumferenceMeters;</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inputs.driveVelocityMetersPerSec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m_driveMotor.getVelocity().getValue().in(RotationsPerSecond) * DriveConstants.kWheelCircumferenceMeters;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12" name="Shape 9"/>
          <p:cNvSpPr/>
          <p:nvPr/>
        </p:nvSpPr>
        <p:spPr>
          <a:xfrm>
            <a:off x="640080" y="4251960"/>
            <a:ext cx="10881360" cy="1920240"/>
          </a:xfrm>
          <a:prstGeom prst="roundRect">
            <a:avLst>
              <a:gd name="adj" fmla="val 4762"/>
            </a:avLst>
          </a:prstGeom>
          <a:solidFill>
            <a:srgbClr val="F3F6FA"/>
          </a:solidFill>
          <a:ln/>
        </p:spPr>
      </p:sp>
      <p:sp>
        <p:nvSpPr>
          <p:cNvPr id="13" name="Text 10"/>
          <p:cNvSpPr/>
          <p:nvPr/>
        </p:nvSpPr>
        <p:spPr>
          <a:xfrm>
            <a:off x="822960" y="4434840"/>
            <a:ext cx="10515600" cy="155448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updateInputs fills the inputs bundle from the sensors — nothing else. On the real robot the sensors just have values, and this class is the real robot.</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 PIECE 3</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writes: each one a Lesson 12 line wearing @Override</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ModuleIOTalonFX, closing out the class</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setSteerAngleDegrees(double angleDegrees)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Phoenix speaks Units — hand it the angle as a measure.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m_steerMotor.setControl(m_steerRequest.withPosition(Degrees.of(angleDegrees)));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setDriveVelocityMetersPerSec(double mps)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wheelRps = mps / DriveConstants.kWheelCircumferenceMeters;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m_driveMotor.setControl(m_driveRequest.withVelocity(RotationsPerSecond.of(wheelRps)));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@Override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void resetDrivePosition()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m_driveMotor.setPosition(0);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ModuleIOSim: the TalonFX class, plus the physics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ModuleIOSim.java — extends ModuleIOTalonFX</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Sim: the real TalonFX class, plus the physics models from Lessons 4-5/12. */</a:t>
            </a: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class ModuleIOSim extends ModuleIOTalonFX {</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m_driveSim;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m_steerSim;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CANcoderSimState m_steerEncoderSim;</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m_driveModel = new DCMotorSim(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0.025, DriveConstants.kDriveGearRatio),</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DCMotorSim m_steerModel = new DCMotorSim(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 0.004, SteerConstants.kSteerGearRatio),</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DCMotor.getKrakenX60(1));</a:t>
            </a:r>
            <a:endParaRPr lang="en-US" sz="1000" dirty="0"/>
          </a:p>
          <a:p>
            <a:pPr indent="0" marL="0">
              <a:lnSpc>
                <a:spcPct val="120000"/>
              </a:lnSpc>
              <a:buNone/>
            </a:pP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  public ModuleIOSim(int driveId, int steerId, int cancoderId, double magnetOffsetRotations)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super(driveId, steerId, cancoderId, magnetOffsetRotations); // build motors, CANcoder, configs</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m_driveSim = m_driveMotor.getSimState();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m_steerSim = m_steerMotor.getSimState();</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m_steerEncoderSim = m_steerEncoder.getSimState();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Physics first, then read — same order every tick</a:t>
            </a:r>
            <a:endParaRPr lang="en-US" sz="3000" dirty="0"/>
          </a:p>
        </p:txBody>
      </p:sp>
      <p:sp>
        <p:nvSpPr>
          <p:cNvPr id="6" name="Shape 3"/>
          <p:cNvSpPr/>
          <p:nvPr/>
        </p:nvSpPr>
        <p:spPr>
          <a:xfrm>
            <a:off x="640080" y="1188720"/>
            <a:ext cx="10881360" cy="2286000"/>
          </a:xfrm>
          <a:prstGeom prst="roundRect">
            <a:avLst>
              <a:gd name="adj" fmla="val 48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ModuleIOSim</a:t>
            </a:r>
            <a:endParaRPr lang="en-US" sz="1500" dirty="0"/>
          </a:p>
        </p:txBody>
      </p:sp>
      <p:sp>
        <p:nvSpPr>
          <p:cNvPr id="11" name="Text 8"/>
          <p:cNvSpPr/>
          <p:nvPr/>
        </p:nvSpPr>
        <p:spPr>
          <a:xfrm>
            <a:off x="914400" y="1645920"/>
            <a:ext cx="10195560" cy="162763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@Override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public void updateInputs(ModuleIOInputs inputs)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stepSim(); // advance the physics one tick...</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super.updateInputs(inputs); // ...then read the sensors like the real class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3566160"/>
            <a:ext cx="10881360" cy="2788920"/>
          </a:xfrm>
          <a:prstGeom prst="roundRect">
            <a:avLst>
              <a:gd name="adj" fmla="val 3934"/>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712464"/>
            <a:ext cx="128016" cy="128016"/>
          </a:xfrm>
          <a:prstGeom prst="ellipse">
            <a:avLst/>
          </a:prstGeom>
          <a:solidFill>
            <a:srgbClr val="FF6B6B"/>
          </a:solidFill>
          <a:ln/>
        </p:spPr>
      </p:sp>
      <p:sp>
        <p:nvSpPr>
          <p:cNvPr id="14" name="Shape 11"/>
          <p:cNvSpPr/>
          <p:nvPr/>
        </p:nvSpPr>
        <p:spPr>
          <a:xfrm>
            <a:off x="11210544" y="3913632"/>
            <a:ext cx="128016" cy="128016"/>
          </a:xfrm>
          <a:prstGeom prst="ellipse">
            <a:avLst/>
          </a:prstGeom>
          <a:solidFill>
            <a:srgbClr val="FFD166"/>
          </a:solidFill>
          <a:ln/>
        </p:spPr>
      </p:sp>
      <p:sp>
        <p:nvSpPr>
          <p:cNvPr id="15" name="Shape 12"/>
          <p:cNvSpPr/>
          <p:nvPr/>
        </p:nvSpPr>
        <p:spPr>
          <a:xfrm>
            <a:off x="11210544" y="4114800"/>
            <a:ext cx="128016" cy="128016"/>
          </a:xfrm>
          <a:prstGeom prst="ellipse">
            <a:avLst/>
          </a:prstGeom>
          <a:solidFill>
            <a:srgbClr val="2EC4B6"/>
          </a:solidFill>
          <a:ln/>
        </p:spPr>
      </p:sp>
      <p:sp>
        <p:nvSpPr>
          <p:cNvPr id="16" name="Text 13"/>
          <p:cNvSpPr/>
          <p:nvPr/>
        </p:nvSpPr>
        <p:spPr>
          <a:xfrm>
            <a:off x="914400" y="369417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drive-motor half — one tick of pretend reality</a:t>
            </a:r>
            <a:endParaRPr lang="en-US" sz="1500" dirty="0"/>
          </a:p>
        </p:txBody>
      </p:sp>
      <p:sp>
        <p:nvSpPr>
          <p:cNvPr id="17" name="Text 14"/>
          <p:cNvSpPr/>
          <p:nvPr/>
        </p:nvSpPr>
        <p:spPr>
          <a:xfrm>
            <a:off x="914400" y="4023360"/>
            <a:ext cx="10195560" cy="213055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stepSim()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m_driveSim.setSupplyVoltage(RobotController.getBatteryVoltage());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m_driveModel.setInputVoltage(m_driveSim.getMotorVoltage());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m_driveModel.update(0.020);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m_driveSim.setRawRotorPosition(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m_driveModel.getAngularPosition() / (2 * Math.PI) * DriveConstants.kDriveGearRatio);</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m_driveSim.setRotorVelocity(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m_driveModel.getAngularVelocity() / (2 * Math.PI) * DriveConstants.kDriveGearRatio);</a:t>
            </a: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...steer motor and CANcoder feeds continue on the next slide...</a:t>
            </a:r>
            <a:endParaRPr lang="en-US" sz="12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CANcoder needs its own honest feed too</a:t>
            </a:r>
            <a:endParaRPr lang="en-US" sz="3000" dirty="0"/>
          </a:p>
        </p:txBody>
      </p:sp>
      <p:sp>
        <p:nvSpPr>
          <p:cNvPr id="6" name="Shape 3"/>
          <p:cNvSpPr/>
          <p:nvPr/>
        </p:nvSpPr>
        <p:spPr>
          <a:xfrm>
            <a:off x="640080" y="118872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continued — steer motor, through the 25:1 reduction</a:t>
            </a:r>
            <a:endParaRPr lang="en-US" sz="1500" dirty="0"/>
          </a:p>
        </p:txBody>
      </p:sp>
      <p:sp>
        <p:nvSpPr>
          <p:cNvPr id="11" name="Text 8"/>
          <p:cNvSpPr/>
          <p:nvPr/>
        </p:nvSpPr>
        <p:spPr>
          <a:xfrm>
            <a:off x="914400" y="1645920"/>
            <a:ext cx="10195560" cy="2084832"/>
          </a:xfrm>
          <a:prstGeom prst="rect">
            <a:avLst/>
          </a:prstGeom>
          <a:noFill/>
          <a:ln/>
        </p:spPr>
        <p:txBody>
          <a:bodyPr wrap="square" lIns="0" tIns="0" rIns="0" bIns="0" rtlCol="0" anchor="t"/>
          <a:lstStyle/>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m_steerSim.setSupplyVoltage(RobotController.getBatteryVoltage());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m_steerModel.setInputVoltage(m_steerSim.getMotorVoltage());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m_steerModel.update(0.020);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m_steerSim.setRawRotorPosition(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m_steerModel.getAngularPosition() / (2 * Math.PI) * SteerConstants.kSteerGearRatio);</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m_steerSim.setRotorVelocity(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m_steerModel.getAngularVelocity() / (2 * Math.PI) * SteerConstants.kSteerGearRatio);</a:t>
            </a:r>
            <a:endParaRPr lang="en-US" sz="1200" dirty="0"/>
          </a:p>
        </p:txBody>
      </p:sp>
      <p:sp>
        <p:nvSpPr>
          <p:cNvPr id="12" name="Shape 9"/>
          <p:cNvSpPr/>
          <p:nvPr/>
        </p:nvSpPr>
        <p:spPr>
          <a:xfrm>
            <a:off x="640080" y="4160520"/>
            <a:ext cx="10881360" cy="1691640"/>
          </a:xfrm>
          <a:prstGeom prst="roundRect">
            <a:avLst>
              <a:gd name="adj" fmla="val 648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4306824"/>
            <a:ext cx="128016" cy="128016"/>
          </a:xfrm>
          <a:prstGeom prst="ellipse">
            <a:avLst/>
          </a:prstGeom>
          <a:solidFill>
            <a:srgbClr val="FF6B6B"/>
          </a:solidFill>
          <a:ln/>
        </p:spPr>
      </p:sp>
      <p:sp>
        <p:nvSpPr>
          <p:cNvPr id="14" name="Shape 11"/>
          <p:cNvSpPr/>
          <p:nvPr/>
        </p:nvSpPr>
        <p:spPr>
          <a:xfrm>
            <a:off x="11210544" y="4507992"/>
            <a:ext cx="128016" cy="128016"/>
          </a:xfrm>
          <a:prstGeom prst="ellipse">
            <a:avLst/>
          </a:prstGeom>
          <a:solidFill>
            <a:srgbClr val="FFD166"/>
          </a:solidFill>
          <a:ln/>
        </p:spPr>
      </p:sp>
      <p:sp>
        <p:nvSpPr>
          <p:cNvPr id="15" name="Shape 12"/>
          <p:cNvSpPr/>
          <p:nvPr/>
        </p:nvSpPr>
        <p:spPr>
          <a:xfrm>
            <a:off x="11210544" y="4709160"/>
            <a:ext cx="128016" cy="128016"/>
          </a:xfrm>
          <a:prstGeom prst="ellipse">
            <a:avLst/>
          </a:prstGeom>
          <a:solidFill>
            <a:srgbClr val="2EC4B6"/>
          </a:solidFill>
          <a:ln/>
        </p:spPr>
      </p:sp>
      <p:sp>
        <p:nvSpPr>
          <p:cNvPr id="16" name="Text 13"/>
          <p:cNvSpPr/>
          <p:nvPr/>
        </p:nvSpPr>
        <p:spPr>
          <a:xfrm>
            <a:off x="914400" y="42885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stepSim(), closing out — CANcoder: mechanism-side, no gear multiply</a:t>
            </a:r>
            <a:endParaRPr lang="en-US" sz="1500" dirty="0"/>
          </a:p>
        </p:txBody>
      </p:sp>
      <p:sp>
        <p:nvSpPr>
          <p:cNvPr id="17" name="Text 14"/>
          <p:cNvSpPr/>
          <p:nvPr/>
        </p:nvSpPr>
        <p:spPr>
          <a:xfrm>
            <a:off x="914400" y="4617720"/>
            <a:ext cx="10195560" cy="103327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m_steerEncoderSim.setRawPosition(m_steerModel.getAngularPosition() / (2 * Math.PI));</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m_steerEncoderSim.setVelocity(m_steerModel.getAngularVelocity() / (2 * Math.PI));</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Hardware-free: an IO, a bundle, its targets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Rewrite SwerveModule.java — fields, constructor, periodic()</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class SwerveModule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Position of this module relative to robot center, in meters.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public final Translation2d location;</a:t>
            </a:r>
            <a:endParaRPr lang="en-US" sz="1100" dirty="0"/>
          </a:p>
          <a:p>
            <a:pPr indent="0" marL="0">
              <a:lnSpc>
                <a:spcPct val="120000"/>
              </a:lnSpc>
              <a:buNone/>
            </a:pP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 m_io;</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ModuleIO.ModuleIOInputs m_inputs = new ModuleIO.ModuleIOInputs();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private final String m_logKey; // e.g. "Drivetrain/Module0"</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SwerveModule(ModuleIO io, String logKey, Translation2d location)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m_io = 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m_logKey = logKey;</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this.location = location;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One tick of sensing: read the hardware into the bundle and log it.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  public void periodic()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m_io.updateInputs(m_inputs);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SmartDashboard.putNumber(m_logKey + "/SteerAngleDegrees", m_inputs.steerAngleDegrees);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SmartDashboard.putNumber(m_logKey + "/DrivePositionMeters", m_inputs.drivePositionMeters);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SmartDashboard.putNumber(m_logKey + "/DriveVelocityMetersPerSec", m_inputs.driveVelocityMetersPerSec);</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ressarrows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Question-methods read the bundle, not the hardware</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Rewrite SwerveModule.java — setDesiredState() and the getters, closing the class</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One tick of control: hand the IO its targets. Called by a command each tick. */</a:t>
            </a: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void setDesiredState(SwerveModuleVelocity state)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targetDegrees = state.angle.getDegrees();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m_io.setSteerAngleDegrees(targetDegrees);</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Cosine compensation (Lesson 9) — a decision, so it stays in our code.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error = targetDegrees - m_inputs.steerAngleDegrees;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double alignment = Math.cos(Math.toRadians(error));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m_io.setDriveVelocityMetersPerSec(state.velocity * alignment);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getSteerAngleDegrees() { return m_inputs.steerAngleDegrees;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getDistanceMeters() { return m_inputs.drivePositionMeters;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double getDriveVelocityMetersPerSec() { return m_inputs.driveVelocityMetersPerSec; }</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SwerveModulePosition getPosition()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return new SwerveModulePosition(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m_inputs.drivePositionMeters, Rotation2d.fromDegrees(m_inputs.steerAngleDegrees));</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public void resetDrivePosition() { m_io.resetDrivePosition(); }</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ta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fixed menu of values — you can't typo a mode that doesn't exist</a:t>
            </a:r>
            <a:endParaRPr lang="en-US" sz="3000" dirty="0"/>
          </a:p>
        </p:txBody>
      </p:sp>
      <p:sp>
        <p:nvSpPr>
          <p:cNvPr id="6" name="Shape 3"/>
          <p:cNvSpPr/>
          <p:nvPr/>
        </p:nvSpPr>
        <p:spPr>
          <a:xfrm>
            <a:off x="640080" y="13716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the top of Constants.java</a:t>
            </a:r>
            <a:endParaRPr lang="en-US" sz="1500" dirty="0"/>
          </a:p>
        </p:txBody>
      </p:sp>
      <p:sp>
        <p:nvSpPr>
          <p:cNvPr id="11" name="Text 8"/>
          <p:cNvSpPr/>
          <p:nvPr/>
        </p:nvSpPr>
        <p:spPr>
          <a:xfrm>
            <a:off x="914400" y="1828800"/>
            <a:ext cx="10195560" cy="208483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final class Constants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enum Mode { REAL, SIM, REPLAY }</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Change kSimMode to Mode.REPLAY to re-run a log file instead of simulating fresh.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kSimMode = Mode.SIM;</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Mode kCurrentMode = RobotBase.isReal() ? Mode.REAL : kSimMode;</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...the nested constants classes stay...</a:t>
            </a:r>
            <a:endParaRPr lang="en-US" sz="1300" dirty="0"/>
          </a:p>
        </p:txBody>
      </p:sp>
      <p:sp>
        <p:nvSpPr>
          <p:cNvPr id="12" name="Shape 9"/>
          <p:cNvSpPr/>
          <p:nvPr/>
        </p:nvSpPr>
        <p:spPr>
          <a:xfrm>
            <a:off x="640080" y="4251960"/>
            <a:ext cx="10881360" cy="2057400"/>
          </a:xfrm>
          <a:prstGeom prst="roundRect">
            <a:avLst>
              <a:gd name="adj" fmla="val 4444"/>
            </a:avLst>
          </a:prstGeom>
          <a:solidFill>
            <a:srgbClr val="F3F6FA"/>
          </a:solidFill>
          <a:ln/>
        </p:spPr>
      </p:sp>
      <p:sp>
        <p:nvSpPr>
          <p:cNvPr id="13" name="Text 10"/>
          <p:cNvSpPr/>
          <p:nvPr/>
        </p:nvSpPr>
        <p:spPr>
          <a:xfrm>
            <a:off x="868680" y="4480560"/>
            <a:ext cx="10424160" cy="1600200"/>
          </a:xfrm>
          <a:prstGeom prst="rect">
            <a:avLst/>
          </a:prstGeom>
          <a:noFill/>
          <a:ln/>
        </p:spPr>
        <p:txBody>
          <a:bodyPr wrap="square" lIns="0" tIns="0" rIns="0" bIns="0" rtlCol="0" anchor="t"/>
          <a:lstStyle/>
          <a:p>
            <a:pPr indent="0" marL="0">
              <a:lnSpc>
                <a:spcPct val="125000"/>
              </a:lnSpc>
              <a:buNone/>
            </a:pPr>
            <a:r>
              <a:rPr lang="en-US" sz="1900" dirty="0">
                <a:solidFill>
                  <a:srgbClr val="13294B"/>
                </a:solidFill>
                <a:latin typeface="Calibri" pitchFamily="34" charset="0"/>
                <a:ea typeface="Calibri" pitchFamily="34" charset="-122"/>
                <a:cs typeface="Calibri" pitchFamily="34" charset="-120"/>
              </a:rPr>
              <a:t>Needs import org.wpilib.framework.RobotBase; — a question-method deciding a constant. That comment on kSimMode is honest about where this is going, even though flipping it to REPLAY today buys nothing yet but a dormant, empty implementation.</a:t>
            </a:r>
            <a:endParaRPr lang="en-US" sz="19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Finally wiring in the per-corner constants</a:t>
            </a:r>
            <a:endParaRPr lang="en-US" sz="3000" dirty="0"/>
          </a:p>
        </p:txBody>
      </p:sp>
      <p:sp>
        <p:nvSpPr>
          <p:cNvPr id="6" name="Shape 3"/>
          <p:cNvSpPr/>
          <p:nvPr/>
        </p:nvSpPr>
        <p:spPr>
          <a:xfrm>
            <a:off x="640080" y="109728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m_modules field in Drivetrain</a:t>
            </a:r>
            <a:endParaRPr lang="en-US" sz="1500" dirty="0"/>
          </a:p>
        </p:txBody>
      </p:sp>
      <p:sp>
        <p:nvSpPr>
          <p:cNvPr id="11" name="Text 8"/>
          <p:cNvSpPr/>
          <p:nvPr/>
        </p:nvSpPr>
        <p:spPr>
          <a:xfrm>
            <a:off x="914400" y="1554480"/>
            <a:ext cx="10195560" cy="4370832"/>
          </a:xfrm>
          <a:prstGeom prst="rect">
            <a:avLst/>
          </a:prstGeom>
          <a:noFill/>
          <a:ln/>
        </p:spPr>
        <p:txBody>
          <a:bodyPr wrap="square" lIns="0" tIns="0" rIns="0" bIns="0" rtlCol="0" anchor="t"/>
          <a:lstStyle/>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private final SwerveModule[] m_modules = new SwerveModule[] {</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makeModule(0, DriveConstants.kFrontLeftDrivePort, DriveConstants.kFrontLeftSteerPort,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DriveConstants.kFrontLeftCancoderPort, DriveConstants.kFrontLeftMagnetOffset,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DriveConstants.kFrontLeft),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makeModule(1, DriveConstants.kFrontRightDrivePort, DriveConstants.kFrontRightSteerPort,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DriveConstants.kFrontRightCancoderPort, DriveConstants.kFrontRightMagnetOffset,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DriveConstants.kFrontRight),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makeModule(2, DriveConstants.kBackLeftDrivePort, DriveConstants.kBackLeftSteerPort,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DriveConstants.kBackLeftCancoderPort, DriveConstants.kBackLeftMagnetOffset,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DriveConstants.kBackLeft),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makeModule(3, DriveConstants.kBackRightDrivePort, DriveConstants.kBackRightSteerPort,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DriveConstants.kBackRightCancoderPort, DriveConstants.kBackRightMagnetOffset,</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DriveConstants.kBackRight)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objectgrou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switch, three worlds</a:t>
            </a:r>
            <a:endParaRPr lang="en-US" sz="3000" dirty="0"/>
          </a:p>
        </p:txBody>
      </p:sp>
      <p:sp>
        <p:nvSpPr>
          <p:cNvPr id="6" name="Shape 3"/>
          <p:cNvSpPr/>
          <p:nvPr/>
        </p:nvSpPr>
        <p:spPr>
          <a:xfrm>
            <a:off x="640080" y="1188720"/>
            <a:ext cx="10881360" cy="3566160"/>
          </a:xfrm>
          <a:prstGeom prst="roundRect">
            <a:avLst>
              <a:gd name="adj" fmla="val 307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builder, next to makeModule</a:t>
            </a:r>
            <a:endParaRPr lang="en-US" sz="1500" dirty="0"/>
          </a:p>
        </p:txBody>
      </p:sp>
      <p:sp>
        <p:nvSpPr>
          <p:cNvPr id="11" name="Text 8"/>
          <p:cNvSpPr/>
          <p:nvPr/>
        </p:nvSpPr>
        <p:spPr>
          <a:xfrm>
            <a:off x="914400" y="1645920"/>
            <a:ext cx="10195560" cy="2907792"/>
          </a:xfrm>
          <a:prstGeom prst="rect">
            <a:avLst/>
          </a:prstGeom>
          <a:noFill/>
          <a:ln/>
        </p:spPr>
        <p:txBody>
          <a:bodyPr wrap="square" lIns="0" tIns="0" rIns="0" bIns="0" rtlCol="0" anchor="t"/>
          <a:lstStyle/>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Builds the right ModuleIO for the current mode, then wraps it in a SwerveModule. */</a:t>
            </a:r>
            <a:endParaRPr lang="en-US" sz="1200" dirty="0"/>
          </a:p>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static SwerveModule makeModule(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int driveId, int steerId, int cancoderId, double magnetOffsetRotations,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Translation2d location)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ModuleIO io = switch (Constants.kCurrentMode)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REAL -&gt; new ModuleIOTalonFX(driveId, steerId, cancoderId, magnetOffsetRotations);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SIM -&gt; new ModuleIOSim(driveId, steerId, cancoderId, magnetOffsetRotations);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case REPLAY -&gt; new ModuleIO() {}; // nothing feeds this yet</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new SwerveModule(io, "Drivetrain/Module" + index, location);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937760"/>
            <a:ext cx="10881360" cy="1188720"/>
          </a:xfrm>
          <a:prstGeom prst="roundRect">
            <a:avLst>
              <a:gd name="adj" fmla="val 7692"/>
            </a:avLst>
          </a:prstGeom>
          <a:solidFill>
            <a:srgbClr val="F3F6FA"/>
          </a:solidFill>
          <a:ln/>
        </p:spPr>
      </p:sp>
      <p:sp>
        <p:nvSpPr>
          <p:cNvPr id="13" name="Text 10"/>
          <p:cNvSpPr/>
          <p:nvPr/>
        </p:nvSpPr>
        <p:spPr>
          <a:xfrm>
            <a:off x="777240" y="5074920"/>
            <a:ext cx="10607040" cy="91440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Drivetrain needs import first.robot.Constants; alongside its existing DriveConstants/HeadingConstants imports — importing a nested class doesn't let you refer to the outer one by its bare name.</a:t>
            </a:r>
            <a:endParaRPr lang="en-US" sz="17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uzzlepiec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6 · NEW MODULEIO() {}</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Ten characters for "hardware that doesn't exist"</a:t>
            </a:r>
            <a:endParaRPr lang="en-US" sz="3000" dirty="0"/>
          </a:p>
        </p:txBody>
      </p:sp>
      <p:sp>
        <p:nvSpPr>
          <p:cNvPr id="6" name="Shape 3"/>
          <p:cNvSpPr/>
          <p:nvPr/>
        </p:nvSpPr>
        <p:spPr>
          <a:xfrm>
            <a:off x="640080" y="1691640"/>
            <a:ext cx="10881360" cy="2743200"/>
          </a:xfrm>
          <a:prstGeom prst="roundRect">
            <a:avLst>
              <a:gd name="adj" fmla="val 4000"/>
            </a:avLst>
          </a:prstGeom>
          <a:solidFill>
            <a:srgbClr val="132A4C"/>
          </a:solidFill>
          <a:ln/>
        </p:spPr>
      </p:sp>
      <p:sp>
        <p:nvSpPr>
          <p:cNvPr id="7" name="Text 4"/>
          <p:cNvSpPr/>
          <p:nvPr/>
        </p:nvSpPr>
        <p:spPr>
          <a:xfrm>
            <a:off x="914400" y="1920240"/>
            <a:ext cx="10332720" cy="777240"/>
          </a:xfrm>
          <a:prstGeom prst="rect">
            <a:avLst/>
          </a:prstGeom>
          <a:noFill/>
          <a:ln/>
        </p:spPr>
        <p:txBody>
          <a:bodyPr wrap="square" lIns="0" tIns="0" rIns="0" bIns="0" rtlCol="0" anchor="t"/>
          <a:lstStyle/>
          <a:p>
            <a:pPr indent="0" marL="0">
              <a:lnSpc>
                <a:spcPct val="120000"/>
              </a:lnSpc>
              <a:buNone/>
            </a:pPr>
            <a:r>
              <a:rPr lang="en-US" sz="2200" b="1" dirty="0">
                <a:solidFill>
                  <a:srgbClr val="FF5010"/>
                </a:solidFill>
                <a:latin typeface="Cambria" pitchFamily="34" charset="0"/>
                <a:ea typeface="Cambria" pitchFamily="34" charset="-122"/>
                <a:cs typeface="Cambria" pitchFamily="34" charset="-120"/>
              </a:rPr>
              <a:t>A nameless class implementing ModuleIO, overriding nothing.</a:t>
            </a:r>
            <a:endParaRPr lang="en-US" sz="2200" dirty="0"/>
          </a:p>
        </p:txBody>
      </p:sp>
      <p:sp>
        <p:nvSpPr>
          <p:cNvPr id="8" name="Text 5"/>
          <p:cNvSpPr/>
          <p:nvPr/>
        </p:nvSpPr>
        <p:spPr>
          <a:xfrm>
            <a:off x="914400" y="2743200"/>
            <a:ext cx="10332720" cy="155448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Every method keeps its default do-nothing body: reads leave the inputs sitting at whatever they were (0.0, since nothing has ever touched them), writes go nowhere — there are no motors.</a:t>
            </a:r>
            <a:endParaRPr lang="en-US" sz="2000" dirty="0"/>
          </a:p>
        </p:txBody>
      </p:sp>
      <p:sp>
        <p:nvSpPr>
          <p:cNvPr id="9" name="Text 6"/>
          <p:cNvSpPr/>
          <p:nvPr/>
        </p:nvSpPr>
        <p:spPr>
          <a:xfrm>
            <a:off x="640080" y="47091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This is exactly why the interface's methods got default bodies in section 2: without them, new ModuleIO() {} wouldn't compile — you'd owe the compiler four method bodies for a class that's supposed to do nothing at all.</a:t>
            </a:r>
            <a:endParaRPr lang="en-US" sz="2000" dirty="0"/>
          </a:p>
        </p:txBody>
      </p:sp>
      <p:sp>
        <p:nvSpPr>
          <p:cNvPr id="10" name="Text 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11" name="Text 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12"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gyro gets the same treatment</a:t>
            </a:r>
            <a:endParaRPr lang="en-US" sz="3000" dirty="0"/>
          </a:p>
        </p:txBody>
      </p:sp>
      <p:sp>
        <p:nvSpPr>
          <p:cNvPr id="6" name="Shape 3"/>
          <p:cNvSpPr/>
          <p:nvPr/>
        </p:nvSpPr>
        <p:spPr>
          <a:xfrm>
            <a:off x="640080" y="1371600"/>
            <a:ext cx="10881360" cy="3749040"/>
          </a:xfrm>
          <a:prstGeom prst="roundRect">
            <a:avLst>
              <a:gd name="adj" fmla="val 292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GyroIO.java — the whole file</a:t>
            </a:r>
            <a:endParaRPr lang="en-US" sz="1500" dirty="0"/>
          </a:p>
        </p:txBody>
      </p:sp>
      <p:sp>
        <p:nvSpPr>
          <p:cNvPr id="11" name="Text 8"/>
          <p:cNvSpPr/>
          <p:nvPr/>
        </p:nvSpPr>
        <p:spPr>
          <a:xfrm>
            <a:off x="914400" y="1828800"/>
            <a:ext cx="10195560" cy="3090672"/>
          </a:xfrm>
          <a:prstGeom prst="rect">
            <a:avLst/>
          </a:prstGeom>
          <a:noFill/>
          <a:ln/>
        </p:spPr>
        <p:txBody>
          <a:bodyPr wrap="square" lIns="0" tIns="0" rIns="0" bIns="0" rtlCol="0" anchor="t"/>
          <a:lstStyle/>
          <a:p>
            <a:pPr indent="0" marL="0">
              <a:lnSpc>
                <a:spcPct val="120000"/>
              </a:lnSpc>
              <a:buNone/>
            </a:pPr>
            <a:r>
              <a:rPr lang="en-US" sz="1300" dirty="0">
                <a:solidFill>
                  <a:srgbClr val="7FD1D9"/>
                </a:solidFill>
                <a:latin typeface="Courier New" pitchFamily="34" charset="0"/>
                <a:ea typeface="Courier New" pitchFamily="34" charset="-122"/>
                <a:cs typeface="Courier New" pitchFamily="34" charset="-120"/>
              </a:rPr>
              <a:t>package first.robot.subsystems;</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interface GyroIO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public static class GyroIOInputs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double yawDegrees = 0.0;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updateInputs(GyroIOInputs inputs) {}</a:t>
            </a:r>
            <a:endParaRPr lang="en-US" sz="1300" dirty="0"/>
          </a:p>
          <a:p>
            <a:pPr indent="0" marL="0">
              <a:lnSpc>
                <a:spcPct val="120000"/>
              </a:lnSpc>
              <a:buNone/>
            </a:pP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Sim bookkeeping: the commanded rotation rate, in revolutions per second.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default void setSimRotationRate(double omegaRevPerSec)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GyroIOPigeon2 — the shortest class in the course</a:t>
            </a:r>
            <a:endParaRPr lang="en-US" sz="3000" dirty="0"/>
          </a:p>
        </p:txBody>
      </p:sp>
      <p:sp>
        <p:nvSpPr>
          <p:cNvPr id="6" name="Shape 3"/>
          <p:cNvSpPr/>
          <p:nvPr/>
        </p:nvSpPr>
        <p:spPr>
          <a:xfrm>
            <a:off x="640080" y="1371600"/>
            <a:ext cx="10881360" cy="2834640"/>
          </a:xfrm>
          <a:prstGeom prst="roundRect">
            <a:avLst>
              <a:gd name="adj" fmla="val 38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GyroIOPigeon2.java — the whole file</a:t>
            </a:r>
            <a:endParaRPr lang="en-US" sz="1500" dirty="0"/>
          </a:p>
        </p:txBody>
      </p:sp>
      <p:sp>
        <p:nvSpPr>
          <p:cNvPr id="11" name="Text 8"/>
          <p:cNvSpPr/>
          <p:nvPr/>
        </p:nvSpPr>
        <p:spPr>
          <a:xfrm>
            <a:off x="914400" y="1828800"/>
            <a:ext cx="10195560" cy="217627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GyroIOPigeon2 implements GyroIO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final Pigeon2 m_gyro = new Pigeon2(0, CANBus.systemcore(0)); // CAN ID 0</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m_gyro.getYaw().getValue().in(Degrees);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434840"/>
            <a:ext cx="10881360" cy="1874520"/>
          </a:xfrm>
          <a:prstGeom prst="roundRect">
            <a:avLst>
              <a:gd name="adj" fmla="val 4878"/>
            </a:avLst>
          </a:prstGeom>
          <a:solidFill>
            <a:srgbClr val="F3F6FA"/>
          </a:solidFill>
          <a:ln/>
        </p:spPr>
      </p:sp>
      <p:sp>
        <p:nvSpPr>
          <p:cNvPr id="13" name="Text 10"/>
          <p:cNvSpPr/>
          <p:nvPr/>
        </p:nvSpPr>
        <p:spPr>
          <a:xfrm>
            <a:off x="822960" y="4617720"/>
            <a:ext cx="10515600" cy="1508760"/>
          </a:xfrm>
          <a:prstGeom prst="rect">
            <a:avLst/>
          </a:prstGeom>
          <a:noFill/>
          <a:ln/>
        </p:spPr>
        <p:txBody>
          <a:bodyPr wrap="square" lIns="0" tIns="0" rIns="0" bIns="0" rtlCol="0" anchor="t"/>
          <a:lstStyle/>
          <a:p>
            <a:pPr indent="0" marL="0">
              <a:lnSpc>
                <a:spcPct val="125000"/>
              </a:lnSpc>
              <a:buNone/>
            </a:pPr>
            <a:r>
              <a:rPr lang="en-US" sz="1800" dirty="0">
                <a:solidFill>
                  <a:srgbClr val="13294B"/>
                </a:solidFill>
                <a:latin typeface="Calibri" pitchFamily="34" charset="0"/>
                <a:ea typeface="Calibri" pitchFamily="34" charset="-122"/>
                <a:cs typeface="Calibri" pitchFamily="34" charset="-120"/>
              </a:rPr>
              <a:t>Notice it doesn't override setSimRotationRate at all — the real robot has no use for it, so the default no-op body is exactly right. That's the interface earning its keep from the other direction.</a:t>
            </a:r>
            <a:endParaRPr lang="en-US" sz="18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las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7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GyroIOSim: no hardware at all — arithmetic only</a:t>
            </a:r>
            <a:endParaRPr lang="en-US" sz="3000" dirty="0"/>
          </a:p>
        </p:txBody>
      </p:sp>
      <p:sp>
        <p:nvSpPr>
          <p:cNvPr id="6" name="Shape 3"/>
          <p:cNvSpPr/>
          <p:nvPr/>
        </p:nvSpPr>
        <p:spPr>
          <a:xfrm>
            <a:off x="640080" y="1188720"/>
            <a:ext cx="10881360" cy="5029200"/>
          </a:xfrm>
          <a:prstGeom prst="roundRect">
            <a:avLst>
              <a:gd name="adj" fmla="val 21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335024"/>
            <a:ext cx="128016" cy="128016"/>
          </a:xfrm>
          <a:prstGeom prst="ellipse">
            <a:avLst/>
          </a:prstGeom>
          <a:solidFill>
            <a:srgbClr val="FF6B6B"/>
          </a:solidFill>
          <a:ln/>
        </p:spPr>
      </p:sp>
      <p:sp>
        <p:nvSpPr>
          <p:cNvPr id="8" name="Shape 5"/>
          <p:cNvSpPr/>
          <p:nvPr/>
        </p:nvSpPr>
        <p:spPr>
          <a:xfrm>
            <a:off x="11210544" y="1536192"/>
            <a:ext cx="128016" cy="128016"/>
          </a:xfrm>
          <a:prstGeom prst="ellipse">
            <a:avLst/>
          </a:prstGeom>
          <a:solidFill>
            <a:srgbClr val="FFD166"/>
          </a:solidFill>
          <a:ln/>
        </p:spPr>
      </p:sp>
      <p:sp>
        <p:nvSpPr>
          <p:cNvPr id="9" name="Shape 6"/>
          <p:cNvSpPr/>
          <p:nvPr/>
        </p:nvSpPr>
        <p:spPr>
          <a:xfrm>
            <a:off x="11210544" y="1737360"/>
            <a:ext cx="128016" cy="128016"/>
          </a:xfrm>
          <a:prstGeom prst="ellipse">
            <a:avLst/>
          </a:prstGeom>
          <a:solidFill>
            <a:srgbClr val="2EC4B6"/>
          </a:solidFill>
          <a:ln/>
        </p:spPr>
      </p:sp>
      <p:sp>
        <p:nvSpPr>
          <p:cNvPr id="10" name="Text 7"/>
          <p:cNvSpPr/>
          <p:nvPr/>
        </p:nvSpPr>
        <p:spPr>
          <a:xfrm>
            <a:off x="914400" y="13167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Create GyroIOSim.java — the whole file</a:t>
            </a:r>
            <a:endParaRPr lang="en-US" sz="1500" dirty="0"/>
          </a:p>
        </p:txBody>
      </p:sp>
      <p:sp>
        <p:nvSpPr>
          <p:cNvPr id="11" name="Text 8"/>
          <p:cNvSpPr/>
          <p:nvPr/>
        </p:nvSpPr>
        <p:spPr>
          <a:xfrm>
            <a:off x="914400" y="1645920"/>
            <a:ext cx="10195560" cy="437083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class GyroIOSim implements GyroIO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m_lastCommandedOmega = 0.0;</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private double m_simHeadingDegrees = 0.0;</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updateInputs(GyroIOInputs inputs) {</a:t>
            </a:r>
            <a:endParaRPr lang="en-US" sz="1400" dirty="0"/>
          </a:p>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 Lesson 8's integration: add rate x time, every tick.</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m_simHeadingDegrees += m_lastCommandedOmega * 360.0 * 0.020;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inputs.yawDegrees = m_simHeadingDegrees;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  @Override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public void setSimRotationRate(double omegaRevPerSec) {</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m_lastCommandedOmega = omegaRevPerSec;</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Wire the gyro in with the same three-arm switch</a:t>
            </a:r>
            <a:endParaRPr lang="en-US" sz="3000" dirty="0"/>
          </a:p>
        </p:txBody>
      </p:sp>
      <p:sp>
        <p:nvSpPr>
          <p:cNvPr id="6" name="Shape 3"/>
          <p:cNvSpPr/>
          <p:nvPr/>
        </p:nvSpPr>
        <p:spPr>
          <a:xfrm>
            <a:off x="640080" y="1371600"/>
            <a:ext cx="10881360" cy="2011680"/>
          </a:xfrm>
          <a:prstGeom prst="roundRect">
            <a:avLst>
              <a:gd name="adj" fmla="val 545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Drivetrain's gyro field with</a:t>
            </a:r>
            <a:endParaRPr lang="en-US" sz="1500" dirty="0"/>
          </a:p>
        </p:txBody>
      </p:sp>
      <p:sp>
        <p:nvSpPr>
          <p:cNvPr id="11" name="Text 8"/>
          <p:cNvSpPr/>
          <p:nvPr/>
        </p:nvSpPr>
        <p:spPr>
          <a:xfrm>
            <a:off x="914400" y="1828800"/>
            <a:ext cx="10195560" cy="13533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final GyroIO m_gyroIO = switch (Constants.kCurrentMode)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REAL -&gt; new GyroIOPigeon2();</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SIM -&gt; new GyroIOSim();</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case REPLAY -&gt; new GyroIO() {}; // nothing feeds this yet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private final GyroIO.GyroIOInputs m_gyroInputs = new GyroIO.GyroIOInputs();</a:t>
            </a:r>
            <a:endParaRPr lang="en-US" sz="1300" dirty="0"/>
          </a:p>
        </p:txBody>
      </p:sp>
      <p:sp>
        <p:nvSpPr>
          <p:cNvPr id="12" name="Shape 9"/>
          <p:cNvSpPr/>
          <p:nvPr/>
        </p:nvSpPr>
        <p:spPr>
          <a:xfrm>
            <a:off x="640080" y="3657600"/>
            <a:ext cx="10881360" cy="1737360"/>
          </a:xfrm>
          <a:prstGeom prst="roundRect">
            <a:avLst>
              <a:gd name="adj" fmla="val 6316"/>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803904"/>
            <a:ext cx="128016" cy="128016"/>
          </a:xfrm>
          <a:prstGeom prst="ellipse">
            <a:avLst/>
          </a:prstGeom>
          <a:solidFill>
            <a:srgbClr val="FF6B6B"/>
          </a:solidFill>
          <a:ln/>
        </p:spPr>
      </p:sp>
      <p:sp>
        <p:nvSpPr>
          <p:cNvPr id="14" name="Shape 11"/>
          <p:cNvSpPr/>
          <p:nvPr/>
        </p:nvSpPr>
        <p:spPr>
          <a:xfrm>
            <a:off x="11210544" y="4005072"/>
            <a:ext cx="128016" cy="128016"/>
          </a:xfrm>
          <a:prstGeom prst="ellipse">
            <a:avLst/>
          </a:prstGeom>
          <a:solidFill>
            <a:srgbClr val="FFD166"/>
          </a:solidFill>
          <a:ln/>
        </p:spPr>
      </p:sp>
      <p:sp>
        <p:nvSpPr>
          <p:cNvPr id="15" name="Shape 12"/>
          <p:cNvSpPr/>
          <p:nvPr/>
        </p:nvSpPr>
        <p:spPr>
          <a:xfrm>
            <a:off x="11210544" y="4206240"/>
            <a:ext cx="128016" cy="128016"/>
          </a:xfrm>
          <a:prstGeom prst="ellipse">
            <a:avLst/>
          </a:prstGeom>
          <a:solidFill>
            <a:srgbClr val="2EC4B6"/>
          </a:solidFill>
          <a:ln/>
        </p:spPr>
      </p:sp>
      <p:sp>
        <p:nvSpPr>
          <p:cNvPr id="16" name="Text 13"/>
          <p:cNvSpPr/>
          <p:nvPr/>
        </p:nvSpPr>
        <p:spPr>
          <a:xfrm>
            <a:off x="914400" y="3785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getHeadingDegrees() — it now reads the bundle</a:t>
            </a:r>
            <a:endParaRPr lang="en-US" sz="1500" dirty="0"/>
          </a:p>
        </p:txBody>
      </p:sp>
      <p:sp>
        <p:nvSpPr>
          <p:cNvPr id="17" name="Text 14"/>
          <p:cNvSpPr/>
          <p:nvPr/>
        </p:nvSpPr>
        <p:spPr>
          <a:xfrm>
            <a:off x="914400" y="4114800"/>
            <a:ext cx="10195560" cy="107899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Robot heading in degrees (CCW positive). */</a:t>
            </a:r>
            <a:endParaRPr lang="en-US" sz="1500" dirty="0"/>
          </a:p>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public double getHeadingDegrees()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return m_gyroInputs.yawDegrees;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8" name="Text 15"/>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9" name="Text 16"/>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20"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two places that fed the old bookkeeping</a:t>
            </a:r>
            <a:endParaRPr lang="en-US" sz="3000" dirty="0"/>
          </a:p>
        </p:txBody>
      </p:sp>
      <p:sp>
        <p:nvSpPr>
          <p:cNvPr id="6" name="Shape 3"/>
          <p:cNvSpPr/>
          <p:nvPr/>
        </p:nvSpPr>
        <p:spPr>
          <a:xfrm>
            <a:off x="640080" y="146304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In applyChassisSpeeds, replace the m_lastCommandedOmega assignment with</a:t>
            </a:r>
            <a:endParaRPr lang="en-US" sz="1500" dirty="0"/>
          </a:p>
        </p:txBody>
      </p:sp>
      <p:sp>
        <p:nvSpPr>
          <p:cNvPr id="11" name="Text 8"/>
          <p:cNvSpPr/>
          <p:nvPr/>
        </p:nvSpPr>
        <p:spPr>
          <a:xfrm>
            <a:off x="914400" y="1920240"/>
            <a:ext cx="10195560" cy="7132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m_gyroIO.setSimRotationRate(speeds.omega / (2 * Math.PI));</a:t>
            </a:r>
            <a:endParaRPr lang="en-US" sz="1500" dirty="0"/>
          </a:p>
        </p:txBody>
      </p:sp>
      <p:sp>
        <p:nvSpPr>
          <p:cNvPr id="12" name="Shape 9"/>
          <p:cNvSpPr/>
          <p:nvPr/>
        </p:nvSpPr>
        <p:spPr>
          <a:xfrm>
            <a:off x="640080" y="3200400"/>
            <a:ext cx="10881360" cy="1371600"/>
          </a:xfrm>
          <a:prstGeom prst="roundRect">
            <a:avLst>
              <a:gd name="adj" fmla="val 8000"/>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346704"/>
            <a:ext cx="128016" cy="128016"/>
          </a:xfrm>
          <a:prstGeom prst="ellipse">
            <a:avLst/>
          </a:prstGeom>
          <a:solidFill>
            <a:srgbClr val="FF6B6B"/>
          </a:solidFill>
          <a:ln/>
        </p:spPr>
      </p:sp>
      <p:sp>
        <p:nvSpPr>
          <p:cNvPr id="14" name="Shape 11"/>
          <p:cNvSpPr/>
          <p:nvPr/>
        </p:nvSpPr>
        <p:spPr>
          <a:xfrm>
            <a:off x="11210544" y="3547872"/>
            <a:ext cx="128016" cy="128016"/>
          </a:xfrm>
          <a:prstGeom prst="ellipse">
            <a:avLst/>
          </a:prstGeom>
          <a:solidFill>
            <a:srgbClr val="FFD166"/>
          </a:solidFill>
          <a:ln/>
        </p:spPr>
      </p:sp>
      <p:sp>
        <p:nvSpPr>
          <p:cNvPr id="15" name="Shape 12"/>
          <p:cNvSpPr/>
          <p:nvPr/>
        </p:nvSpPr>
        <p:spPr>
          <a:xfrm>
            <a:off x="11210544" y="3749040"/>
            <a:ext cx="128016" cy="128016"/>
          </a:xfrm>
          <a:prstGeom prst="ellipse">
            <a:avLst/>
          </a:prstGeom>
          <a:solidFill>
            <a:srgbClr val="2EC4B6"/>
          </a:solidFill>
          <a:ln/>
        </p:spPr>
      </p:sp>
      <p:sp>
        <p:nvSpPr>
          <p:cNvPr id="16" name="Text 13"/>
          <p:cNvSpPr/>
          <p:nvPr/>
        </p:nvSpPr>
        <p:spPr>
          <a:xfrm>
            <a:off x="914400" y="33284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And driveDistance's zero line does the same, with</a:t>
            </a:r>
            <a:endParaRPr lang="en-US" sz="1500" dirty="0"/>
          </a:p>
        </p:txBody>
      </p:sp>
      <p:sp>
        <p:nvSpPr>
          <p:cNvPr id="17" name="Text 14"/>
          <p:cNvSpPr/>
          <p:nvPr/>
        </p:nvSpPr>
        <p:spPr>
          <a:xfrm>
            <a:off x="914400" y="3657600"/>
            <a:ext cx="10195560" cy="713232"/>
          </a:xfrm>
          <a:prstGeom prst="rect">
            <a:avLst/>
          </a:prstGeom>
          <a:noFill/>
          <a:ln/>
        </p:spPr>
        <p:txBody>
          <a:bodyPr wrap="square" lIns="0" tIns="0" rIns="0" bIns="0" rtlCol="0" anchor="t"/>
          <a:lstStyle/>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m_gyroIO.setSimRotationRate(0.0);</a:t>
            </a:r>
            <a:endParaRPr lang="en-US" sz="1500" dirty="0"/>
          </a:p>
        </p:txBody>
      </p:sp>
      <p:sp>
        <p:nvSpPr>
          <p:cNvPr id="18" name="Shape 15"/>
          <p:cNvSpPr/>
          <p:nvPr/>
        </p:nvSpPr>
        <p:spPr>
          <a:xfrm>
            <a:off x="640080" y="4937760"/>
            <a:ext cx="10881360" cy="1188720"/>
          </a:xfrm>
          <a:prstGeom prst="roundRect">
            <a:avLst>
              <a:gd name="adj" fmla="val 7692"/>
            </a:avLst>
          </a:prstGeom>
          <a:solidFill>
            <a:srgbClr val="F3F6FA"/>
          </a:solidFill>
          <a:ln/>
        </p:spPr>
      </p:sp>
      <p:sp>
        <p:nvSpPr>
          <p:cNvPr id="19" name="Text 16"/>
          <p:cNvSpPr/>
          <p:nvPr/>
        </p:nvSpPr>
        <p:spPr>
          <a:xfrm>
            <a:off x="777240" y="5074920"/>
            <a:ext cx="10607040" cy="91440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applyChassisSpeeds sets the rate every tick it runs; driveDistance zeros it the same way — both used to assign m_lastCommandedOmega directly, and both now call the IO instead.</a:t>
            </a:r>
            <a:endParaRPr lang="en-US" sz="17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22</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roadcasttow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Now something has to ask each module to refresh</a:t>
            </a:r>
            <a:endParaRPr lang="en-US" sz="3000" dirty="0"/>
          </a:p>
        </p:txBody>
      </p:sp>
      <p:sp>
        <p:nvSpPr>
          <p:cNvPr id="6" name="Shape 3"/>
          <p:cNvSpPr/>
          <p:nvPr/>
        </p:nvSpPr>
        <p:spPr>
          <a:xfrm>
            <a:off x="640080" y="1097280"/>
            <a:ext cx="10881360" cy="4206240"/>
          </a:xfrm>
          <a:prstGeom prst="roundRect">
            <a:avLst>
              <a:gd name="adj" fmla="val 260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243584"/>
            <a:ext cx="128016" cy="128016"/>
          </a:xfrm>
          <a:prstGeom prst="ellipse">
            <a:avLst/>
          </a:prstGeom>
          <a:solidFill>
            <a:srgbClr val="FF6B6B"/>
          </a:solidFill>
          <a:ln/>
        </p:spPr>
      </p:sp>
      <p:sp>
        <p:nvSpPr>
          <p:cNvPr id="8" name="Shape 5"/>
          <p:cNvSpPr/>
          <p:nvPr/>
        </p:nvSpPr>
        <p:spPr>
          <a:xfrm>
            <a:off x="11210544" y="1444752"/>
            <a:ext cx="128016" cy="128016"/>
          </a:xfrm>
          <a:prstGeom prst="ellipse">
            <a:avLst/>
          </a:prstGeom>
          <a:solidFill>
            <a:srgbClr val="FFD166"/>
          </a:solidFill>
          <a:ln/>
        </p:spPr>
      </p:sp>
      <p:sp>
        <p:nvSpPr>
          <p:cNvPr id="9" name="Shape 6"/>
          <p:cNvSpPr/>
          <p:nvPr/>
        </p:nvSpPr>
        <p:spPr>
          <a:xfrm>
            <a:off x="11210544" y="1645920"/>
            <a:ext cx="128016" cy="128016"/>
          </a:xfrm>
          <a:prstGeom prst="ellipse">
            <a:avLst/>
          </a:prstGeom>
          <a:solidFill>
            <a:srgbClr val="2EC4B6"/>
          </a:solidFill>
          <a:ln/>
        </p:spPr>
      </p:sp>
      <p:sp>
        <p:nvSpPr>
          <p:cNvPr id="10" name="Text 7"/>
          <p:cNvSpPr/>
          <p:nvPr/>
        </p:nvSpPr>
        <p:spPr>
          <a:xfrm>
            <a:off x="914400" y="122529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gyro read to the top of logTelemetry(), and give each module its own read a line above</a:t>
            </a:r>
            <a:endParaRPr lang="en-US" sz="1500" dirty="0"/>
          </a:p>
        </p:txBody>
      </p:sp>
      <p:sp>
        <p:nvSpPr>
          <p:cNvPr id="11" name="Text 8"/>
          <p:cNvSpPr/>
          <p:nvPr/>
        </p:nvSpPr>
        <p:spPr>
          <a:xfrm>
            <a:off x="914400" y="1554480"/>
            <a:ext cx="10195560" cy="354787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void logTelemetry()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m_gyroIO.updateInputs(m_gyroInputs);</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SmartDashboard.putNumber("Drivetrain/Gyro/YawDegrees", m_gyroInputs.yawDegrees);</a:t>
            </a:r>
            <a:endParaRPr lang="en-US" sz="1200" dirty="0"/>
          </a:p>
          <a:p>
            <a:pPr indent="0" marL="0">
              <a:lnSpc>
                <a:spcPct val="120000"/>
              </a:lnSpc>
              <a:buNone/>
            </a:pP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SwerveModuleVelocity[] states = new SwerveModuleVelocity[4];</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int index = 0;</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module.periodic(); // refresh + log this module's inputs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states[index] = new SwerveModuleVelocity(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module.getDriveVelocityMetersPerSec(),</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Rotation2d.fromDegrees(module.getSteerAngleDegrees()));</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index++;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m_moduleStatesPublisher.set(states);</a:t>
            </a:r>
            <a:endParaRPr lang="en-US" sz="1200" dirty="0"/>
          </a:p>
          <a:p>
            <a:pPr indent="0" marL="0">
              <a:lnSpc>
                <a:spcPct val="120000"/>
              </a:lnSpc>
              <a:buNone/>
            </a:pPr>
            <a:endParaRPr lang="en-US" sz="1200" dirty="0"/>
          </a:p>
          <a:p>
            <a:pPr indent="0" marL="0">
              <a:lnSpc>
                <a:spcPct val="120000"/>
              </a:lnSpc>
              <a:buNone/>
            </a:pPr>
            <a:r>
              <a:rPr lang="en-US" sz="1200" dirty="0">
                <a:solidFill>
                  <a:srgbClr val="7FA8C9"/>
                </a:solidFill>
                <a:latin typeface="Courier New" pitchFamily="34" charset="0"/>
                <a:ea typeface="Courier New" pitchFamily="34" charset="-122"/>
                <a:cs typeface="Courier New" pitchFamily="34" charset="-120"/>
              </a:rPr>
              <a:t>  // ...Heading/Pose publishing, odometry update, Field2d — unchanged...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8 · DRIVETRAIN.JAVA &amp;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real behavior change, not a formality</a:t>
            </a:r>
            <a:endParaRPr lang="en-US" sz="3000" dirty="0"/>
          </a:p>
        </p:txBody>
      </p:sp>
      <p:sp>
        <p:nvSpPr>
          <p:cNvPr id="6" name="Shape 3"/>
          <p:cNvSpPr/>
          <p:nvPr/>
        </p:nvSpPr>
        <p:spPr>
          <a:xfrm>
            <a:off x="640080" y="1280160"/>
            <a:ext cx="10881360" cy="1874520"/>
          </a:xfrm>
          <a:prstGeom prst="roundRect">
            <a:avLst>
              <a:gd name="adj" fmla="val 4878"/>
            </a:avLst>
          </a:prstGeom>
          <a:solidFill>
            <a:srgbClr val="F3F6FA"/>
          </a:solidFill>
          <a:ln/>
        </p:spPr>
      </p:sp>
      <p:sp>
        <p:nvSpPr>
          <p:cNvPr id="7" name="Text 4"/>
          <p:cNvSpPr/>
          <p:nvPr/>
        </p:nvSpPr>
        <p:spPr>
          <a:xfrm>
            <a:off x="914400" y="155448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Delete Drivetrain.simulatePeriodic() entirely.</a:t>
            </a:r>
            <a:endParaRPr lang="en-US" sz="2200" dirty="0"/>
          </a:p>
        </p:txBody>
      </p:sp>
      <p:sp>
        <p:nvSpPr>
          <p:cNvPr id="8" name="Text 5"/>
          <p:cNvSpPr/>
          <p:nvPr/>
        </p:nvSpPr>
        <p:spPr>
          <a:xfrm>
            <a:off x="914400" y="2132330"/>
            <a:ext cx="10332720" cy="7480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Every scrap of sim-only code now lives inside an IO implementation, chosen once at construction instead of re-run from a method every tick.</a:t>
            </a:r>
            <a:endParaRPr lang="en-US" sz="2000" dirty="0"/>
          </a:p>
        </p:txBody>
      </p:sp>
      <p:sp>
        <p:nvSpPr>
          <p:cNvPr id="9" name="Shape 6"/>
          <p:cNvSpPr/>
          <p:nvPr/>
        </p:nvSpPr>
        <p:spPr>
          <a:xfrm>
            <a:off x="640080" y="3246120"/>
            <a:ext cx="10881360" cy="1554480"/>
          </a:xfrm>
          <a:prstGeom prst="roundRect">
            <a:avLst>
              <a:gd name="adj" fmla="val 7059"/>
            </a:avLst>
          </a:prstGeom>
          <a:solidFill>
            <a:srgbClr val="0B1F3A"/>
          </a:solidFill>
          <a:ln/>
          <a:effectLst>
            <a:outerShdw sx="100000" sy="100000" kx="0" ky="0" algn="bl" rotWithShape="0" blurRad="101600" dist="38100" dir="5400000">
              <a:srgbClr val="0B1F3A">
                <a:alpha val="35000"/>
              </a:srgbClr>
            </a:outerShdw>
          </a:effectLst>
        </p:spPr>
      </p:sp>
      <p:sp>
        <p:nvSpPr>
          <p:cNvPr id="10" name="Shape 7"/>
          <p:cNvSpPr/>
          <p:nvPr/>
        </p:nvSpPr>
        <p:spPr>
          <a:xfrm>
            <a:off x="11210544" y="3392424"/>
            <a:ext cx="128016" cy="128016"/>
          </a:xfrm>
          <a:prstGeom prst="ellipse">
            <a:avLst/>
          </a:prstGeom>
          <a:solidFill>
            <a:srgbClr val="FF6B6B"/>
          </a:solidFill>
          <a:ln/>
        </p:spPr>
      </p:sp>
      <p:sp>
        <p:nvSpPr>
          <p:cNvPr id="11" name="Shape 8"/>
          <p:cNvSpPr/>
          <p:nvPr/>
        </p:nvSpPr>
        <p:spPr>
          <a:xfrm>
            <a:off x="11210544" y="3593592"/>
            <a:ext cx="128016" cy="128016"/>
          </a:xfrm>
          <a:prstGeom prst="ellipse">
            <a:avLst/>
          </a:prstGeom>
          <a:solidFill>
            <a:srgbClr val="FFD166"/>
          </a:solidFill>
          <a:ln/>
        </p:spPr>
      </p:sp>
      <p:sp>
        <p:nvSpPr>
          <p:cNvPr id="12" name="Shape 9"/>
          <p:cNvSpPr/>
          <p:nvPr/>
        </p:nvSpPr>
        <p:spPr>
          <a:xfrm>
            <a:off x="11210544" y="3794760"/>
            <a:ext cx="128016" cy="128016"/>
          </a:xfrm>
          <a:prstGeom prst="ellipse">
            <a:avLst/>
          </a:prstGeom>
          <a:solidFill>
            <a:srgbClr val="2EC4B6"/>
          </a:solidFill>
          <a:ln/>
        </p:spPr>
      </p:sp>
      <p:sp>
        <p:nvSpPr>
          <p:cNvPr id="13" name="Text 10"/>
          <p:cNvSpPr/>
          <p:nvPr/>
        </p:nvSpPr>
        <p:spPr>
          <a:xfrm>
            <a:off x="914400" y="337413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Empty out simulationPeriodic() in Robot.java</a:t>
            </a:r>
            <a:endParaRPr lang="en-US" sz="1500" dirty="0"/>
          </a:p>
        </p:txBody>
      </p:sp>
      <p:sp>
        <p:nvSpPr>
          <p:cNvPr id="14" name="Text 11"/>
          <p:cNvSpPr/>
          <p:nvPr/>
        </p:nvSpPr>
        <p:spPr>
          <a:xfrm>
            <a:off x="914400" y="3703320"/>
            <a:ext cx="10195560" cy="89611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Runs every tick, but only while the code is running in simulation. */</a:t>
            </a:r>
            <a:endParaRPr lang="en-US" sz="1400" dirty="0"/>
          </a:p>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@Override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public void simulationPeriodic() {}</a:t>
            </a:r>
            <a:endParaRPr lang="en-US" sz="1400" dirty="0"/>
          </a:p>
        </p:txBody>
      </p:sp>
      <p:sp>
        <p:nvSpPr>
          <p:cNvPr id="15" name="Shape 12"/>
          <p:cNvSpPr/>
          <p:nvPr/>
        </p:nvSpPr>
        <p:spPr>
          <a:xfrm>
            <a:off x="640080" y="4983480"/>
            <a:ext cx="10881360" cy="1280160"/>
          </a:xfrm>
          <a:prstGeom prst="roundRect">
            <a:avLst>
              <a:gd name="adj" fmla="val 7143"/>
            </a:avLst>
          </a:prstGeom>
          <a:solidFill>
            <a:srgbClr val="F3F6FA"/>
          </a:solidFill>
          <a:ln/>
        </p:spPr>
      </p:sp>
      <p:sp>
        <p:nvSpPr>
          <p:cNvPr id="16" name="Text 13"/>
          <p:cNvSpPr/>
          <p:nvPr/>
        </p:nvSpPr>
        <p:spPr>
          <a:xfrm>
            <a:off x="777240" y="5120640"/>
            <a:ext cx="10607040" cy="1005840"/>
          </a:xfrm>
          <a:prstGeom prst="rect">
            <a:avLst/>
          </a:prstGeom>
          <a:noFill/>
          <a:ln/>
        </p:spPr>
        <p:txBody>
          <a:bodyPr wrap="square" lIns="0" tIns="0" rIns="0" bIns="0" rtlCol="0" anchor="t"/>
          <a:lstStyle/>
          <a:p>
            <a:pPr indent="0" marL="0">
              <a:lnSpc>
                <a:spcPct val="125000"/>
              </a:lnSpc>
              <a:buNone/>
            </a:pPr>
            <a:r>
              <a:rPr lang="en-US" sz="1700" dirty="0">
                <a:solidFill>
                  <a:srgbClr val="13294B"/>
                </a:solidFill>
                <a:latin typeface="Calibri" pitchFamily="34" charset="0"/>
                <a:ea typeface="Calibri" pitchFamily="34" charset="-122"/>
                <a:cs typeface="Calibri" pitchFamily="34" charset="-120"/>
              </a:rPr>
              <a:t>A genuinely different shape than every earlier lesson used: physics now happens as a side effect of which class got constructed. Nothing to opt into each tick, nothing to forget.</a:t>
            </a:r>
            <a:endParaRPr lang="en-US" sz="1700" dirty="0"/>
          </a:p>
        </p:txBody>
      </p:sp>
      <p:sp>
        <p:nvSpPr>
          <p:cNvPr id="17" name="Text 1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8" name="Text 1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24</a:t>
            </a:r>
            <a:endParaRPr lang="en-US" sz="2000" dirty="0"/>
          </a:p>
        </p:txBody>
      </p:sp>
      <p:pic>
        <p:nvPicPr>
          <p:cNvPr id="19"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Watch the empty doorway</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Flip kSimMode to Mode.REPLAY. Everything on the Swerve tab sits frozen at 0.0 forever — that's the honest state of an open, empty door.</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Corrupt a sensor on purpose</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Multiply drivePositionMeters by 1.1 in ModuleIOTalonFX. Odometry disagrees by a consistent 10%.</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Cut the cord</a:t>
            </a:r>
            <a:endParaRPr lang="en-US" sz="2000" dirty="0"/>
          </a:p>
        </p:txBody>
      </p:sp>
      <p:sp>
        <p:nvSpPr>
          <p:cNvPr id="24" name="Shape 21"/>
          <p:cNvSpPr/>
          <p:nvPr/>
        </p:nvSpPr>
        <p:spPr>
          <a:xfrm>
            <a:off x="4206240" y="4334256"/>
            <a:ext cx="1417320" cy="292608"/>
          </a:xfrm>
          <a:prstGeom prst="roundRect">
            <a:avLst>
              <a:gd name="adj" fmla="val 18750"/>
            </a:avLst>
          </a:prstGeom>
          <a:solidFill>
            <a:srgbClr val="FF5010"/>
          </a:solidFill>
          <a:ln/>
        </p:spPr>
      </p:sp>
      <p:sp>
        <p:nvSpPr>
          <p:cNvPr id="25" name="Text 22"/>
          <p:cNvSpPr/>
          <p:nvPr/>
        </p:nvSpPr>
        <p:spPr>
          <a:xfrm>
            <a:off x="4206240" y="433425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26" name="Text 23"/>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Rebuild ModuleIOSim standalone: implements ModuleIO directly, a DCMotorSim and a PIDController, no Phoenix at all.</a:t>
            </a:r>
            <a:endParaRPr lang="en-US" sz="2000" dirty="0"/>
          </a:p>
        </p:txBody>
      </p:sp>
      <p:sp>
        <p:nvSpPr>
          <p:cNvPr id="27" name="Text 24"/>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IO LAYERS</a:t>
            </a:r>
            <a:endParaRPr lang="en-US" sz="2000" dirty="0"/>
          </a:p>
        </p:txBody>
      </p:sp>
      <p:sp>
        <p:nvSpPr>
          <p:cNvPr id="28" name="Text 25"/>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25</a:t>
            </a:r>
            <a:endParaRPr lang="en-US" sz="2000" dirty="0"/>
          </a:p>
        </p:txBody>
      </p:sp>
      <p:pic>
        <p:nvPicPr>
          <p:cNvPr id="29"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Hardware behind a door, everywhere</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default do-nothing methods make "hardware that doesn't exist" ten characters of anonymous class, not four method bodies you owe the compiler.</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One implementation per world — real hardware, and sim extending the real one to borrow its firmware — chosen once, at construction, by an enum and a switch expression.</a:t>
            </a:r>
            <a:endParaRPr lang="en-US" sz="1900" dirty="0"/>
          </a:p>
          <a:p>
            <a:pPr marL="342900" indent="-342900">
              <a:lnSpc>
                <a:spcPct val="115000"/>
              </a:lnSpc>
              <a:spcAft>
                <a:spcPts val="1000"/>
              </a:spcAft>
              <a:buSzPct val="100000"/>
              <a:buChar char="•"/>
            </a:pPr>
            <a:r>
              <a:rPr lang="en-US" sz="1900" dirty="0">
                <a:solidFill>
                  <a:srgbClr val="13294B"/>
                </a:solidFill>
                <a:latin typeface="Calibri" pitchFamily="34" charset="0"/>
                <a:ea typeface="Calibri" pitchFamily="34" charset="-122"/>
                <a:cs typeface="Calibri" pitchFamily="34" charset="-120"/>
              </a:rPr>
              <a:t>SwerveModule and Drivetrain never touch a motor or a gyro anymore; they touch the bundle an IO filled in.</a:t>
            </a:r>
            <a:endParaRPr lang="en-US" sz="19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14</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The Pose Estimator</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A localizer fused from many sources, closing the drift odometry leaves open.</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IO LAYERS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26</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13 — IO Layers</dc:title>
  <dc:subject>PptxGenJS Presentation</dc:subject>
  <dc:creator>Learn Java + Robot Programming</dc:creator>
  <cp:lastModifiedBy>Learn Java + Robot Programming</cp:lastModifiedBy>
  <cp:revision>1</cp:revision>
  <dcterms:created xsi:type="dcterms:W3CDTF">2026-09-17T14:37:41Z</dcterms:created>
  <dcterms:modified xsi:type="dcterms:W3CDTF">2026-09-17T14:37:41Z</dcterms:modified>
</cp:coreProperties>
</file>