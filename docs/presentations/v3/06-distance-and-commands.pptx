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getPosition() gives rotor rotations, and "the rotor turned 47 times" means nothing to a driver — the question that matters is how far did the robot go. This lesson converts rotor turns into meters, then builds the course's first command that finishes on its own, rather than running until something else kills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physical facts stand between the rotor and the floor. The gear ratio: the rotor doesn't turn the wheel directly, it turns a gearbox, and the gearbox trades speed for strength — on an SDS MK4 module at "L2" the ratio is 6.75:1, so the rotor spins 6.75 times for one wheel turn. The wheel circumference: one wheel turn rolls the robot exactly one circumference along the floor, π × diameter — a 4-inch (0.1016 m) wheel travels about 0.319 m per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numbers describe the hardware, which makes them constants, so they go in Constants.java alongside the CAN IDs from Lesson 5. Point out that kWheelCircumferenceMeters is computed from kWheelDiameterMeters, not typed in as a rounded decimal — constants can be built from other constants, and letting Java do the multiplication is both less error-prone and self-documenting about where the number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getDistanceMeters() as a pipeline: rotor turns ÷ gear ratio = wheel turns; wheel turns × circumference = meters. This is why the constants get names instead of 6.75 sprinkled through the code: when you swap modules next season, you change one line in Constants.java and everything downstream is correct. Log it from the same place the other readings have been logging since Lesson 3 — DriveModule/DistanceMeters joins the logs from Lessons 3 and 5 in logTelemetry() — and now there's a live odometer on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in Lesson 4 the sim was built with gearing = 1.0 — a rotor spinning against a tiny inertia, no gearbox. Now that a real 6.75:1 reduction exists in the distance math, the sim has to learn about it too, or "one wheel turn" in sim won't mean the same physical motion as on the real robot. Two things changed: inertia grew from 0.001 to 0.025 (kg·m² at the wheel) — a rotor pulling a wheel through a gearbox has more to move than a bare rotor, and 0.025 gives a visible ramp without dragging; and gearing is now kDriveGearRatio instead of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subtlety worth slowing down for: because DCMotorSim now models a gearbox, getAngularPosition/getAngularVelocity report the wheel (output) motion, not the rotor — but the TalonFX's fake encoder still lives on the rotor, since the sensor is physically on the motor, gearbox or not. So simulatePeriodic() has to convert wheel-side back to rotor-side by multiplying by the ratio, on top of the radians-to-rotations conversion from Lesson 4 which still has to happen too. Now the whole chain is honest: applied volts spin the rotor, the wheel moves 1/6.75 as fast, getDistanceMeters() divides getPosition() by that same ratio, and the number of meters on the plot matches what the real robot would roll. If sim distances ever come out off by a suspiciously round factor, this chain — a gear ratio applied twice, or not at all — is the classic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and notice something about every command written so far: none of them ever finishes. driveAtSpeed parks forever; driveWithJoystick and steerToAngle recompute every tick, forever. They run until something else kills them — a button release, a rival command. That was fine for "spin while I hold a button," but "drive exactly one meter" is a different kind of job: the command itself is the only thing that knows when the job is done, so it has to decide for itself when to end. The idea is smaller than it sounds: a coroutine body is just code, top to bottom, like any method. driveAtSpeed's body never ends because it calls coroutine.park(), which means "suspend here forever." Leave that call out, and once the body's last line runs, the coroutine is done — same as a method returning — and the command finishes right along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top to bottom as four steps. 1: m_driveMotor.setPosition(0) tells the encoder "call right here zero," so getDistanceMeters() measures from the start of this command, not since boot. 2: setThrottle(speed) starts the wheel moving, once. 3: coroutine.waitUntil(condition) is new — it suspends the command right here, checking the condition every tick, and only lets execution continue once it's true; the condition is a lambda answering true or false, the same trick as Lesson 2's DoubleSupplier but yes/no instead of a number. 4: once waitUntil returns, the distance check is true, so the next line stops the motor — then the lambda has nothing left to do, falls off the end, and the coroutine (and command) is done. One method, four lines, and it sets up, works, waits for done, and cleans up — no separate decorators needed, because it's just code running in order. This is the shape students will write constantly from here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there's no new decorator here at all — run(...), .whenCanceled(...), .named(...) are all things already had from Lesson 1. What's new is entirely inside the lambda: a while-shaped wait (waitUntil) sitting between two motor commands, in a body that's allowed to just... end. That's the payoff of a coroutine body: "do this, then wait, then do that" IS Java's normal control flow, not something bolted on with chained decorators.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here: .whenCanceled(() -&gt; m_driveMotor.setThrottle(0)) does NOT fire when the coroutine body finishes on its own — only when something else interrupts this command before it gets there, the same button-swap situation Lesson 5 already used it for. Every earlier command in this course only had one of these endings — driveAtSpeed and steerToAngle never finish on their own, so .whenCanceled(...) was the only ending that ever happened, and it was enough by itself. driveDistance is the first command that can end either way, which is why it's also the first one that needs cleanup written twice: once for "got there," inline in the body, and once for "got interrupted," in .whenCanceled(...). Miss either one and the motor keeps spinning in exactly that scenario — Lesson 1's rule, still true, just now with two doors it can sneak out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dpadUp() is a new button family worth naming: the D-pad reports its four directions separately, and dpadUp() fires on the up direction — handy once the face buttons fill up, which they have by this point in the course. Worth mentioning as an aside, since this deck doesn't give it its own slide: with steerToAngle from Lesson 5 (point the wheel) and driveDistance now (roll it forward), students have the two ingredients for turning the robot — steer to an angle, then drive an arc length, sequenced with .andThen(...) (e.g. steerToAngle(90).andThen(driveDistance(1.0, 0.4)).named("Turn And Drive")). Lesson 7 builds the real four-module version and Lesson 8 does the clean gyro version, but the two bricks already exist to experiment with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reverse exercise is a genuine bug students should hit before being told the fix: driveDistance(1.0, -0.4) never finishes because getDistanceMeters() &gt;= meters never becomes true — distance goes negative while meters stays positive. Wrapping both sides in Math.abs is the fix, and the point is explicitly "this is why you test edge cases," not just a syntax exercise. The ease-in exercise reuses Lesson 5's P control pattern on a new quantity — kP × (meters − getDistanceMeters()) — worth naming that this is the same control idea, just applied somewhere new. The watch-both-endings exercise is meant to be run for real, not just reasoned about: a print after waitUntil returns and a different print inside .whenCanceled(...), then tap D-pad up and let it finish, then tap again and interrupt it with a different button — exactly one print should appear each time, never both, confirming section 3's split by watching it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ideas carried this lesson. First: units are yours to build — gear ratio and wheel circumference turn rotor rotations into meters, setPosition(0) rezeros the encoder so distance means "since this command started," and named constants keep the conversion honest in one place. Second, and bigger: commands can finish, and in this framework that just means the coroutine body runs out of lines — no park(), no more code, done. The sharper edge underneath that: a command can end finished or canceled, they're genuinely different events, and only driveDistance has needed to handle both. That distinction is easy to miss and expensive to get wrong, so it's worth carrying forward deliberately. Lesson 7 turns the one module into four, and Lesson 9 strings finishing commands into a full autonomous routine. If the gearbox math felt dense, let the plot reassure you — when the trace stops at exactly 1.0 meters, every conversion in the chain earned its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pic>
        <p:nvPicPr>
          <p:cNvPr id="2" name="Image 0" descr="/home/user/BasicRobotLessons/docs/presentations/v3/template/assets/logo/team5010-logo-onnavy.png">    </p:cNvPr>
          <p:cNvPicPr>
            <a:picLocks noChangeAspect="1"/>
          </p:cNvPicPr>
          <p:nvPr/>
        </p:nvPicPr>
        <p:blipFill>
          <a:blip r:embed="rId1"/>
          <a:stretch>
            <a:fillRect/>
          </a:stretch>
        </p:blipFill>
        <p:spPr>
          <a:xfrm>
            <a:off x="8351215" y="3834811"/>
            <a:ext cx="3291840" cy="2565989"/>
          </a:xfrm>
          <a:prstGeom prst="rect">
            <a:avLst/>
          </a:prstGeom>
        </p:spPr>
      </p:pic>
      <p:sp>
        <p:nvSpPr>
          <p:cNvPr id="3" name="Text 0"/>
          <p:cNvSpPr/>
          <p:nvPr/>
        </p:nvSpPr>
        <p:spPr>
          <a:xfrm>
            <a:off x="822960" y="1371600"/>
            <a:ext cx="9144000" cy="365760"/>
          </a:xfrm>
          <a:prstGeom prst="rect">
            <a:avLst/>
          </a:prstGeom>
          <a:noFill/>
          <a:ln/>
        </p:spPr>
        <p:txBody>
          <a:bodyPr wrap="square" lIns="0" tIns="0" rIns="0" bIns="0" rtlCol="0" anchor="ctr"/>
          <a:lstStyle/>
          <a:p>
            <a:pPr indent="0" marL="0">
              <a:buNone/>
            </a:pPr>
            <a:r>
              <a:rPr lang="en-US" sz="2000" b="1" spc="300" kern="0" dirty="0">
                <a:solidFill>
                  <a:srgbClr val="1B9AAA"/>
                </a:solidFill>
                <a:latin typeface="Calibri" pitchFamily="34" charset="0"/>
                <a:ea typeface="Calibri" pitchFamily="34" charset="-122"/>
                <a:cs typeface="Calibri" pitchFamily="34" charset="-120"/>
              </a:rPr>
              <a:t>LEARN JAVA + ROBOT PROGRAMMING</a:t>
            </a:r>
            <a:endParaRPr lang="en-US" sz="2000" dirty="0"/>
          </a:p>
        </p:txBody>
      </p:sp>
      <p:sp>
        <p:nvSpPr>
          <p:cNvPr id="4" name="Text 1"/>
          <p:cNvSpPr/>
          <p:nvPr/>
        </p:nvSpPr>
        <p:spPr>
          <a:xfrm>
            <a:off x="777240" y="1874520"/>
            <a:ext cx="7315200" cy="502920"/>
          </a:xfrm>
          <a:prstGeom prst="rect">
            <a:avLst/>
          </a:prstGeom>
          <a:noFill/>
          <a:ln/>
        </p:spPr>
        <p:txBody>
          <a:bodyPr wrap="square" lIns="0" tIns="0" rIns="0" bIns="0" rtlCol="0" anchor="ctr"/>
          <a:lstStyle/>
          <a:p>
            <a:pPr indent="0" marL="0">
              <a:buNone/>
            </a:pPr>
            <a:r>
              <a:rPr lang="en-US" sz="2200" b="1" spc="200" kern="0" dirty="0">
                <a:solidFill>
                  <a:srgbClr val="FF5010"/>
                </a:solidFill>
                <a:latin typeface="Calibri" pitchFamily="34" charset="0"/>
                <a:ea typeface="Calibri" pitchFamily="34" charset="-122"/>
                <a:cs typeface="Calibri" pitchFamily="34" charset="-120"/>
              </a:rPr>
              <a:t>LESSON 6</a:t>
            </a:r>
            <a:endParaRPr lang="en-US" sz="2200" dirty="0"/>
          </a:p>
        </p:txBody>
      </p:sp>
      <p:sp>
        <p:nvSpPr>
          <p:cNvPr id="5" name="Text 2"/>
          <p:cNvSpPr/>
          <p:nvPr/>
        </p:nvSpPr>
        <p:spPr>
          <a:xfrm>
            <a:off x="731520" y="2331720"/>
            <a:ext cx="10515600" cy="13716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Distance &amp; Commands</a:t>
            </a:r>
            <a:endParaRPr lang="en-US" sz="6000" dirty="0"/>
          </a:p>
        </p:txBody>
      </p:sp>
      <p:sp>
        <p:nvSpPr>
          <p:cNvPr id="6" name="Text 3"/>
          <p:cNvSpPr/>
          <p:nvPr/>
        </p:nvSpPr>
        <p:spPr>
          <a:xfrm>
            <a:off x="777240" y="3611880"/>
            <a:ext cx="8686800" cy="640080"/>
          </a:xfrm>
          <a:prstGeom prst="rect">
            <a:avLst/>
          </a:prstGeom>
          <a:noFill/>
          <a:ln/>
        </p:spPr>
        <p:txBody>
          <a:bodyPr wrap="square" lIns="0" tIns="0" rIns="0" bIns="0" rtlCol="0" anchor="ctr"/>
          <a:lstStyle/>
          <a:p>
            <a:pPr indent="0" marL="0">
              <a:buNone/>
            </a:pPr>
            <a:r>
              <a:rPr lang="en-US" sz="2600" i="1" dirty="0">
                <a:solidFill>
                  <a:srgbClr val="CADCE8"/>
                </a:solidFill>
                <a:latin typeface="Cambria" pitchFamily="34" charset="0"/>
                <a:ea typeface="Cambria" pitchFamily="34" charset="-122"/>
                <a:cs typeface="Cambria" pitchFamily="34" charset="-120"/>
              </a:rPr>
              <a:t>Drive an exact distance, then stop on your own</a:t>
            </a:r>
            <a:endParaRPr lang="en-US" sz="2600" dirty="0"/>
          </a:p>
        </p:txBody>
      </p:sp>
      <p:sp>
        <p:nvSpPr>
          <p:cNvPr id="7" name="Text 4"/>
          <p:cNvSpPr/>
          <p:nvPr/>
        </p:nvSpPr>
        <p:spPr>
          <a:xfrm>
            <a:off x="777240" y="6126480"/>
            <a:ext cx="9144000" cy="365760"/>
          </a:xfrm>
          <a:prstGeom prst="rect">
            <a:avLst/>
          </a:prstGeom>
          <a:noFill/>
          <a:ln/>
        </p:spPr>
        <p:txBody>
          <a:bodyPr wrap="square" lIns="0" tIns="0" rIns="0" bIns="0" rtlCol="0" anchor="ctr"/>
          <a:lstStyle/>
          <a:p>
            <a:pPr indent="0" marL="0">
              <a:buNone/>
            </a:pPr>
            <a:r>
              <a:rPr lang="en-US" sz="2000" spc="100" kern="0" dirty="0">
                <a:solidFill>
                  <a:srgbClr val="89A0BE"/>
                </a:solidFill>
                <a:latin typeface="Calibri" pitchFamily="34" charset="0"/>
                <a:ea typeface="Calibri" pitchFamily="34" charset="-122"/>
                <a:cs typeface="Calibri" pitchFamily="34" charset="-120"/>
              </a:rPr>
              <a:t>WPILib 2027 Alpha  ·  Commands V3</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bullsey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THE GOAL</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A command that finishes on its own</a:t>
            </a:r>
            <a:endParaRPr lang="en-US" sz="3000" dirty="0"/>
          </a:p>
        </p:txBody>
      </p:sp>
      <p:sp>
        <p:nvSpPr>
          <p:cNvPr id="6" name="Shape 3"/>
          <p:cNvSpPr/>
          <p:nvPr/>
        </p:nvSpPr>
        <p:spPr>
          <a:xfrm>
            <a:off x="640080" y="1600200"/>
            <a:ext cx="10881360" cy="1280160"/>
          </a:xfrm>
          <a:prstGeom prst="roundRect">
            <a:avLst>
              <a:gd name="adj" fmla="val 7143"/>
            </a:avLst>
          </a:prstGeom>
          <a:solidFill>
            <a:srgbClr val="F3F6FA"/>
          </a:solidFill>
          <a:ln/>
        </p:spPr>
      </p:sp>
      <p:sp>
        <p:nvSpPr>
          <p:cNvPr id="7" name="Text 4"/>
          <p:cNvSpPr/>
          <p:nvPr/>
        </p:nvSpPr>
        <p:spPr>
          <a:xfrm>
            <a:off x="960120" y="1737360"/>
            <a:ext cx="10241280" cy="1005840"/>
          </a:xfrm>
          <a:prstGeom prst="rect">
            <a:avLst/>
          </a:prstGeom>
          <a:noFill/>
          <a:ln/>
        </p:spPr>
        <p:txBody>
          <a:bodyPr wrap="square" lIns="0" tIns="0" rIns="0" bIns="0" rtlCol="0" anchor="ctr"/>
          <a:lstStyle/>
          <a:p>
            <a:pPr indent="0" marL="0">
              <a:lnSpc>
                <a:spcPct val="125000"/>
              </a:lnSpc>
              <a:buNone/>
            </a:pPr>
            <a:r>
              <a:rPr lang="en-US" sz="2200" i="1" dirty="0">
                <a:solidFill>
                  <a:srgbClr val="13294B"/>
                </a:solidFill>
                <a:latin typeface="Cambria" pitchFamily="34" charset="0"/>
                <a:ea typeface="Cambria" pitchFamily="34" charset="-122"/>
                <a:cs typeface="Cambria" pitchFamily="34" charset="-120"/>
              </a:rPr>
              <a:t>Turn motor rotations into meters, then build a command that drives a set distance and stops — your first command that finishes.</a:t>
            </a:r>
            <a:endParaRPr lang="en-US" sz="2200" dirty="0"/>
          </a:p>
        </p:txBody>
      </p:sp>
      <p:sp>
        <p:nvSpPr>
          <p:cNvPr id="8" name="Shape 5"/>
          <p:cNvSpPr/>
          <p:nvPr/>
        </p:nvSpPr>
        <p:spPr>
          <a:xfrm>
            <a:off x="640080" y="3108960"/>
            <a:ext cx="457200" cy="457200"/>
          </a:xfrm>
          <a:prstGeom prst="ellipse">
            <a:avLst/>
          </a:prstGeom>
          <a:solidFill>
            <a:srgbClr val="1B9AAA"/>
          </a:solidFill>
          <a:ln/>
        </p:spPr>
      </p:sp>
      <p:pic>
        <p:nvPicPr>
          <p:cNvPr id="9" name="Image 1" descr="/home/user/BasicRobotLessons/docs/presentations/v3/template/assets/icons/code_white.png">    </p:cNvPr>
          <p:cNvPicPr>
            <a:picLocks noChangeAspect="1"/>
          </p:cNvPicPr>
          <p:nvPr/>
        </p:nvPicPr>
        <p:blipFill>
          <a:blip r:embed="rId2"/>
          <a:stretch>
            <a:fillRect/>
          </a:stretch>
        </p:blipFill>
        <p:spPr>
          <a:xfrm>
            <a:off x="749808" y="3218688"/>
            <a:ext cx="237744" cy="237744"/>
          </a:xfrm>
          <a:prstGeom prst="rect">
            <a:avLst/>
          </a:prstGeom>
        </p:spPr>
      </p:pic>
      <p:sp>
        <p:nvSpPr>
          <p:cNvPr id="10" name="Text 6"/>
          <p:cNvSpPr/>
          <p:nvPr/>
        </p:nvSpPr>
        <p:spPr>
          <a:xfrm>
            <a:off x="1234440" y="3136392"/>
            <a:ext cx="4572000" cy="365760"/>
          </a:xfrm>
          <a:prstGeom prst="rect">
            <a:avLst/>
          </a:prstGeom>
          <a:noFill/>
          <a:ln/>
        </p:spPr>
        <p:txBody>
          <a:bodyPr wrap="square" lIns="0" tIns="0" rIns="0" bIns="0" rtlCol="0" anchor="ctr"/>
          <a:lstStyle/>
          <a:p>
            <a:pPr indent="0" marL="0">
              <a:buNone/>
            </a:pPr>
            <a:r>
              <a:rPr lang="en-US" sz="2000" b="1" spc="50" kern="0" dirty="0">
                <a:solidFill>
                  <a:srgbClr val="13294B"/>
                </a:solidFill>
                <a:latin typeface="Calibri" pitchFamily="34" charset="0"/>
                <a:ea typeface="Calibri" pitchFamily="34" charset="-122"/>
                <a:cs typeface="Calibri" pitchFamily="34" charset="-120"/>
              </a:rPr>
              <a:t>NEW JAVA CONCEPTS</a:t>
            </a:r>
            <a:endParaRPr lang="en-US" sz="2000" dirty="0"/>
          </a:p>
        </p:txBody>
      </p:sp>
      <p:sp>
        <p:nvSpPr>
          <p:cNvPr id="11" name="Text 7"/>
          <p:cNvSpPr/>
          <p:nvPr/>
        </p:nvSpPr>
        <p:spPr>
          <a:xfrm>
            <a:off x="685800" y="3675888"/>
            <a:ext cx="5257800" cy="283464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Unit conversion with named constants</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A coroutine body that runs out, not forever</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Two endings: finished vs. canceled</a:t>
            </a:r>
            <a:endParaRPr lang="en-US" sz="2000" dirty="0"/>
          </a:p>
        </p:txBody>
      </p:sp>
      <p:sp>
        <p:nvSpPr>
          <p:cNvPr id="12" name="Shape 8"/>
          <p:cNvSpPr/>
          <p:nvPr/>
        </p:nvSpPr>
        <p:spPr>
          <a:xfrm>
            <a:off x="6309360" y="3108960"/>
            <a:ext cx="457200" cy="457200"/>
          </a:xfrm>
          <a:prstGeom prst="ellipse">
            <a:avLst/>
          </a:prstGeom>
          <a:solidFill>
            <a:srgbClr val="FF5010"/>
          </a:solidFill>
          <a:ln/>
        </p:spPr>
      </p:sp>
      <p:pic>
        <p:nvPicPr>
          <p:cNvPr id="13" name="Image 2" descr="/home/user/BasicRobotLessons/docs/presentations/v3/template/assets/icons/ruler_white.png">    </p:cNvPr>
          <p:cNvPicPr>
            <a:picLocks noChangeAspect="1"/>
          </p:cNvPicPr>
          <p:nvPr/>
        </p:nvPicPr>
        <p:blipFill>
          <a:blip r:embed="rId3"/>
          <a:stretch>
            <a:fillRect/>
          </a:stretch>
        </p:blipFill>
        <p:spPr>
          <a:xfrm>
            <a:off x="6419088" y="3218688"/>
            <a:ext cx="237744" cy="237744"/>
          </a:xfrm>
          <a:prstGeom prst="rect">
            <a:avLst/>
          </a:prstGeom>
        </p:spPr>
      </p:pic>
      <p:sp>
        <p:nvSpPr>
          <p:cNvPr id="14" name="Text 9"/>
          <p:cNvSpPr/>
          <p:nvPr/>
        </p:nvSpPr>
        <p:spPr>
          <a:xfrm>
            <a:off x="6903720" y="3136392"/>
            <a:ext cx="4572000" cy="365760"/>
          </a:xfrm>
          <a:prstGeom prst="rect">
            <a:avLst/>
          </a:prstGeom>
          <a:noFill/>
          <a:ln/>
        </p:spPr>
        <p:txBody>
          <a:bodyPr wrap="square" lIns="0" tIns="0" rIns="0" bIns="0" rtlCol="0" anchor="ctr"/>
          <a:lstStyle/>
          <a:p>
            <a:pPr indent="0" marL="0">
              <a:buNone/>
            </a:pPr>
            <a:r>
              <a:rPr lang="en-US" sz="2000" b="1" spc="50" kern="0" dirty="0">
                <a:solidFill>
                  <a:srgbClr val="13294B"/>
                </a:solidFill>
                <a:latin typeface="Calibri" pitchFamily="34" charset="0"/>
                <a:ea typeface="Calibri" pitchFamily="34" charset="-122"/>
                <a:cs typeface="Calibri" pitchFamily="34" charset="-120"/>
              </a:rPr>
              <a:t>NEW ROBOT CONCEPTS</a:t>
            </a:r>
            <a:endParaRPr lang="en-US" sz="2000" dirty="0"/>
          </a:p>
        </p:txBody>
      </p:sp>
      <p:sp>
        <p:nvSpPr>
          <p:cNvPr id="15" name="Text 10"/>
          <p:cNvSpPr/>
          <p:nvPr/>
        </p:nvSpPr>
        <p:spPr>
          <a:xfrm>
            <a:off x="6355080" y="3675888"/>
            <a:ext cx="5257800" cy="283464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Gear ratio and wheel circumference</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Resetting the encoder for a relative distance</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A command's finish condition</a:t>
            </a:r>
            <a:endParaRPr lang="en-US" sz="2000" dirty="0"/>
          </a:p>
        </p:txBody>
      </p:sp>
      <p:sp>
        <p:nvSpPr>
          <p:cNvPr id="16"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DISTANCE &amp; COMMANDS</a:t>
            </a:r>
            <a:endParaRPr lang="en-US" sz="2000" dirty="0"/>
          </a:p>
        </p:txBody>
      </p:sp>
      <p:sp>
        <p:nvSpPr>
          <p:cNvPr id="17"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a:t>
            </a:r>
            <a:endParaRPr lang="en-US" sz="2000" dirty="0"/>
          </a:p>
        </p:txBody>
      </p:sp>
      <p:pic>
        <p:nvPicPr>
          <p:cNvPr id="18" name="Image 3" descr="/home/user/BasicRobotLessons/docs/presentations/v3/template/assets/logo/team5010-logo-onwhite.png">    </p:cNvPr>
          <p:cNvPicPr>
            <a:picLocks noChangeAspect="1"/>
          </p:cNvPicPr>
          <p:nvPr/>
        </p:nvPicPr>
        <p:blipFill>
          <a:blip r:embed="rId4"/>
          <a:stretch>
            <a:fillRect/>
          </a:stretch>
        </p:blipFill>
        <p:spPr>
          <a:xfrm>
            <a:off x="10957255" y="164592"/>
            <a:ext cx="777240" cy="60585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ruler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1 · CONSTANTS.JAVA</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Two hardware facts become named constants</a:t>
            </a:r>
            <a:endParaRPr lang="en-US" sz="3000" dirty="0"/>
          </a:p>
        </p:txBody>
      </p:sp>
      <p:sp>
        <p:nvSpPr>
          <p:cNvPr id="6" name="Shape 3"/>
          <p:cNvSpPr/>
          <p:nvPr/>
        </p:nvSpPr>
        <p:spPr>
          <a:xfrm>
            <a:off x="640080" y="1600200"/>
            <a:ext cx="10881360" cy="3063240"/>
          </a:xfrm>
          <a:prstGeom prst="roundRect">
            <a:avLst>
              <a:gd name="adj" fmla="val 3582"/>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DriveConstants in Constants.java</a:t>
            </a:r>
            <a:endParaRPr lang="en-US" sz="1500" dirty="0"/>
          </a:p>
        </p:txBody>
      </p:sp>
      <p:sp>
        <p:nvSpPr>
          <p:cNvPr id="11" name="Text 8"/>
          <p:cNvSpPr/>
          <p:nvPr/>
        </p:nvSpPr>
        <p:spPr>
          <a:xfrm>
            <a:off x="914400" y="2057400"/>
            <a:ext cx="10195560" cy="2404872"/>
          </a:xfrm>
          <a:prstGeom prst="rect">
            <a:avLst/>
          </a:prstGeom>
          <a:noFill/>
          <a:ln/>
        </p:spPr>
        <p:txBody>
          <a:bodyPr wrap="square" lIns="0" tIns="0" rIns="0" bIns="0" rtlCol="0" anchor="t"/>
          <a:lstStyle/>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public static final class DriveConstants {</a:t>
            </a: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public static final int kDriveMotorPort = 1;</a:t>
            </a: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 ...kSteerMotorPort, kCancoderPort stay...</a:t>
            </a:r>
            <a:endParaRPr lang="en-US" sz="1300" dirty="0"/>
          </a:p>
          <a:p>
            <a:pPr indent="0" marL="0">
              <a:lnSpc>
                <a:spcPct val="120000"/>
              </a:lnSpc>
              <a:buNone/>
            </a:pP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public static final double kDriveGearRatio = 6.75;        // rotor : wheel</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public static final double kWheelDiameterMeters = 0.1016; // 4 inch wheel</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public static final double kWheelCircumferenceMeters =</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Math.PI * kWheelDiameterMeters;                      // ≈ 0.319 m</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p:txBody>
      </p:sp>
      <p:sp>
        <p:nvSpPr>
          <p:cNvPr id="12" name="Shape 9"/>
          <p:cNvSpPr/>
          <p:nvPr/>
        </p:nvSpPr>
        <p:spPr>
          <a:xfrm>
            <a:off x="640080" y="4846320"/>
            <a:ext cx="10881360" cy="1554480"/>
          </a:xfrm>
          <a:prstGeom prst="roundRect">
            <a:avLst>
              <a:gd name="adj" fmla="val 5882"/>
            </a:avLst>
          </a:prstGeom>
          <a:solidFill>
            <a:srgbClr val="F3F6FA"/>
          </a:solidFill>
          <a:ln/>
        </p:spPr>
      </p:sp>
      <p:sp>
        <p:nvSpPr>
          <p:cNvPr id="13" name="Text 10"/>
          <p:cNvSpPr/>
          <p:nvPr/>
        </p:nvSpPr>
        <p:spPr>
          <a:xfrm>
            <a:off x="822960" y="5029200"/>
            <a:ext cx="10515600" cy="118872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kWheelCircumferenceMeters is computed from kWheelDiameterMeters — constants can be built from other constants, and letting Java multiply beats typing a rounded decimal.</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DISTANCE &amp; COMMANDS</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3</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ilecode_teal.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1 · DRIVEMODULE.JAVA</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Rotor turns ÷ gear ratio × circumference = meters</a:t>
            </a:r>
            <a:endParaRPr lang="en-US" sz="3000" dirty="0"/>
          </a:p>
        </p:txBody>
      </p:sp>
      <p:sp>
        <p:nvSpPr>
          <p:cNvPr id="6" name="Shape 3"/>
          <p:cNvSpPr/>
          <p:nvPr/>
        </p:nvSpPr>
        <p:spPr>
          <a:xfrm>
            <a:off x="640080" y="1463040"/>
            <a:ext cx="10881360" cy="2286000"/>
          </a:xfrm>
          <a:prstGeom prst="roundRect">
            <a:avLst>
              <a:gd name="adj" fmla="val 48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609344"/>
            <a:ext cx="128016" cy="128016"/>
          </a:xfrm>
          <a:prstGeom prst="ellipse">
            <a:avLst/>
          </a:prstGeom>
          <a:solidFill>
            <a:srgbClr val="FF6B6B"/>
          </a:solidFill>
          <a:ln/>
        </p:spPr>
      </p:sp>
      <p:sp>
        <p:nvSpPr>
          <p:cNvPr id="8" name="Shape 5"/>
          <p:cNvSpPr/>
          <p:nvPr/>
        </p:nvSpPr>
        <p:spPr>
          <a:xfrm>
            <a:off x="11210544" y="1810512"/>
            <a:ext cx="128016" cy="128016"/>
          </a:xfrm>
          <a:prstGeom prst="ellipse">
            <a:avLst/>
          </a:prstGeom>
          <a:solidFill>
            <a:srgbClr val="FFD166"/>
          </a:solidFill>
          <a:ln/>
        </p:spPr>
      </p:sp>
      <p:sp>
        <p:nvSpPr>
          <p:cNvPr id="9" name="Shape 6"/>
          <p:cNvSpPr/>
          <p:nvPr/>
        </p:nvSpPr>
        <p:spPr>
          <a:xfrm>
            <a:off x="11210544" y="2011680"/>
            <a:ext cx="128016" cy="128016"/>
          </a:xfrm>
          <a:prstGeom prst="ellipse">
            <a:avLst/>
          </a:prstGeom>
          <a:solidFill>
            <a:srgbClr val="2EC4B6"/>
          </a:solidFill>
          <a:ln/>
        </p:spPr>
      </p:sp>
      <p:sp>
        <p:nvSpPr>
          <p:cNvPr id="10" name="Text 7"/>
          <p:cNvSpPr/>
          <p:nvPr/>
        </p:nvSpPr>
        <p:spPr>
          <a:xfrm>
            <a:off x="914400" y="159105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DriveModule, with your other public methods</a:t>
            </a:r>
            <a:endParaRPr lang="en-US" sz="1500" dirty="0"/>
          </a:p>
        </p:txBody>
      </p:sp>
      <p:sp>
        <p:nvSpPr>
          <p:cNvPr id="11" name="Text 8"/>
          <p:cNvSpPr/>
          <p:nvPr/>
        </p:nvSpPr>
        <p:spPr>
          <a:xfrm>
            <a:off x="914400" y="1920240"/>
            <a:ext cx="10195560" cy="1627632"/>
          </a:xfrm>
          <a:prstGeom prst="rect">
            <a:avLst/>
          </a:prstGeom>
          <a:noFill/>
          <a:ln/>
        </p:spPr>
        <p:txBody>
          <a:bodyPr wrap="square" lIns="0" tIns="0" rIns="0" bIns="0" rtlCol="0" anchor="t"/>
          <a:lstStyle/>
          <a:p>
            <a:pPr indent="0" marL="0">
              <a:lnSpc>
                <a:spcPct val="120000"/>
              </a:lnSpc>
              <a:buNone/>
            </a:pPr>
            <a:r>
              <a:rPr lang="en-US" sz="1400" dirty="0">
                <a:solidFill>
                  <a:srgbClr val="7FA8C9"/>
                </a:solidFill>
                <a:latin typeface="Courier New" pitchFamily="34" charset="0"/>
                <a:ea typeface="Courier New" pitchFamily="34" charset="-122"/>
                <a:cs typeface="Courier New" pitchFamily="34" charset="-120"/>
              </a:rPr>
              <a:t>/** How far this module's wheel has driven, in meters, since the last reset. */</a:t>
            </a:r>
            <a:endParaRPr lang="en-US" sz="1400" dirty="0"/>
          </a:p>
          <a:p>
            <a:pPr indent="0" marL="0">
              <a:lnSpc>
                <a:spcPct val="120000"/>
              </a:lnSpc>
              <a:buNone/>
            </a:pPr>
            <a:r>
              <a:rPr lang="en-US" sz="1400" dirty="0">
                <a:solidFill>
                  <a:srgbClr val="FFD166"/>
                </a:solidFill>
                <a:latin typeface="Courier New" pitchFamily="34" charset="0"/>
                <a:ea typeface="Courier New" pitchFamily="34" charset="-122"/>
                <a:cs typeface="Courier New" pitchFamily="34" charset="-120"/>
              </a:rPr>
              <a:t>public double getDistanceMeters() {</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double rotorRotations = m_driveMotor.getPosition().getValue().in(Rotations);</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double wheelRotations = rotorRotations / DriveConstants.kDriveGearRatio;</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return wheelRotations * DriveConstants.kWheelCircumferenceMeters;</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a:t>
            </a:r>
            <a:endParaRPr lang="en-US" sz="1400" dirty="0"/>
          </a:p>
        </p:txBody>
      </p:sp>
      <p:sp>
        <p:nvSpPr>
          <p:cNvPr id="12" name="Shape 9"/>
          <p:cNvSpPr/>
          <p:nvPr/>
        </p:nvSpPr>
        <p:spPr>
          <a:xfrm>
            <a:off x="640080" y="3931920"/>
            <a:ext cx="10881360" cy="2194560"/>
          </a:xfrm>
          <a:prstGeom prst="roundRect">
            <a:avLst>
              <a:gd name="adj" fmla="val 5000"/>
            </a:avLst>
          </a:prstGeom>
          <a:solidFill>
            <a:srgbClr val="0B1F3A"/>
          </a:solidFill>
          <a:ln/>
          <a:effectLst>
            <a:outerShdw sx="100000" sy="100000" kx="0" ky="0" algn="bl" rotWithShape="0" blurRad="101600" dist="38100" dir="5400000">
              <a:srgbClr val="0B1F3A">
                <a:alpha val="35000"/>
              </a:srgbClr>
            </a:outerShdw>
          </a:effectLst>
        </p:spPr>
      </p:sp>
      <p:sp>
        <p:nvSpPr>
          <p:cNvPr id="13" name="Shape 10"/>
          <p:cNvSpPr/>
          <p:nvPr/>
        </p:nvSpPr>
        <p:spPr>
          <a:xfrm>
            <a:off x="11210544" y="4078224"/>
            <a:ext cx="128016" cy="128016"/>
          </a:xfrm>
          <a:prstGeom prst="ellipse">
            <a:avLst/>
          </a:prstGeom>
          <a:solidFill>
            <a:srgbClr val="FF6B6B"/>
          </a:solidFill>
          <a:ln/>
        </p:spPr>
      </p:sp>
      <p:sp>
        <p:nvSpPr>
          <p:cNvPr id="14" name="Shape 11"/>
          <p:cNvSpPr/>
          <p:nvPr/>
        </p:nvSpPr>
        <p:spPr>
          <a:xfrm>
            <a:off x="11210544" y="4279392"/>
            <a:ext cx="128016" cy="128016"/>
          </a:xfrm>
          <a:prstGeom prst="ellipse">
            <a:avLst/>
          </a:prstGeom>
          <a:solidFill>
            <a:srgbClr val="FFD166"/>
          </a:solidFill>
          <a:ln/>
        </p:spPr>
      </p:sp>
      <p:sp>
        <p:nvSpPr>
          <p:cNvPr id="15" name="Shape 12"/>
          <p:cNvSpPr/>
          <p:nvPr/>
        </p:nvSpPr>
        <p:spPr>
          <a:xfrm>
            <a:off x="11210544" y="4480560"/>
            <a:ext cx="128016" cy="128016"/>
          </a:xfrm>
          <a:prstGeom prst="ellipse">
            <a:avLst/>
          </a:prstGeom>
          <a:solidFill>
            <a:srgbClr val="2EC4B6"/>
          </a:solidFill>
          <a:ln/>
        </p:spPr>
      </p:sp>
      <p:sp>
        <p:nvSpPr>
          <p:cNvPr id="16" name="Text 13"/>
          <p:cNvSpPr/>
          <p:nvPr/>
        </p:nvSpPr>
        <p:spPr>
          <a:xfrm>
            <a:off x="914400" y="405993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DriveModule's logTelemetry()</a:t>
            </a:r>
            <a:endParaRPr lang="en-US" sz="1500" dirty="0"/>
          </a:p>
        </p:txBody>
      </p:sp>
      <p:sp>
        <p:nvSpPr>
          <p:cNvPr id="17" name="Text 14"/>
          <p:cNvSpPr/>
          <p:nvPr/>
        </p:nvSpPr>
        <p:spPr>
          <a:xfrm>
            <a:off x="914400" y="4389120"/>
            <a:ext cx="10195560" cy="1536192"/>
          </a:xfrm>
          <a:prstGeom prst="rect">
            <a:avLst/>
          </a:prstGeom>
          <a:noFill/>
          <a:ln/>
        </p:spPr>
        <p:txBody>
          <a:bodyPr wrap="square" lIns="0" tIns="0" rIns="0" bIns="0" rtlCol="0" anchor="t"/>
          <a:lstStyle/>
          <a:p>
            <a:pPr indent="0" marL="0">
              <a:lnSpc>
                <a:spcPct val="120000"/>
              </a:lnSpc>
              <a:buNone/>
            </a:pPr>
            <a:r>
              <a:rPr lang="en-US" sz="1600" dirty="0">
                <a:solidFill>
                  <a:srgbClr val="FFD166"/>
                </a:solidFill>
                <a:latin typeface="Courier New" pitchFamily="34" charset="0"/>
                <a:ea typeface="Courier New" pitchFamily="34" charset="-122"/>
                <a:cs typeface="Courier New" pitchFamily="34" charset="-120"/>
              </a:rPr>
              <a:t>private void logTelemetry() {</a:t>
            </a:r>
            <a:endParaRPr lang="en-US" sz="1600" dirty="0"/>
          </a:p>
          <a:p>
            <a:pPr indent="0" marL="0">
              <a:lnSpc>
                <a:spcPct val="120000"/>
              </a:lnSpc>
              <a:buNone/>
            </a:pPr>
            <a:r>
              <a:rPr lang="en-US" sz="1600" dirty="0">
                <a:solidFill>
                  <a:srgbClr val="7FA8C9"/>
                </a:solidFill>
                <a:latin typeface="Courier New" pitchFamily="34" charset="0"/>
                <a:ea typeface="Courier New" pitchFamily="34" charset="-122"/>
                <a:cs typeface="Courier New" pitchFamily="34" charset="-120"/>
              </a:rPr>
              <a:t>  // ...the logs from Lessons 3 and 5 stay...</a:t>
            </a:r>
            <a:endParaRPr lang="en-US" sz="1600" dirty="0"/>
          </a:p>
          <a:p>
            <a:pPr indent="0" marL="0">
              <a:lnSpc>
                <a:spcPct val="120000"/>
              </a:lnSpc>
              <a:buNone/>
            </a:pPr>
            <a:r>
              <a:rPr lang="en-US" sz="1600" dirty="0">
                <a:solidFill>
                  <a:srgbClr val="9EF01A"/>
                </a:solidFill>
                <a:latin typeface="Courier New" pitchFamily="34" charset="0"/>
                <a:ea typeface="Courier New" pitchFamily="34" charset="-122"/>
                <a:cs typeface="Courier New" pitchFamily="34" charset="-120"/>
              </a:rPr>
              <a:t>  Telemetry.log("DriveModule/DistanceMeters", getDistanceMeters());</a:t>
            </a:r>
            <a:endParaRPr lang="en-US" sz="1600" dirty="0"/>
          </a:p>
          <a:p>
            <a:pPr indent="0" marL="0">
              <a:lnSpc>
                <a:spcPct val="120000"/>
              </a:lnSpc>
              <a:buNone/>
            </a:pPr>
            <a:r>
              <a:rPr lang="en-US" sz="1600" dirty="0">
                <a:solidFill>
                  <a:srgbClr val="D7E3F4"/>
                </a:solidFill>
                <a:latin typeface="Courier New" pitchFamily="34" charset="0"/>
                <a:ea typeface="Courier New" pitchFamily="34" charset="-122"/>
                <a:cs typeface="Courier New" pitchFamily="34" charset="-120"/>
              </a:rPr>
              <a:t>}</a:t>
            </a:r>
            <a:endParaRPr lang="en-US" sz="1600" dirty="0"/>
          </a:p>
        </p:txBody>
      </p:sp>
      <p:sp>
        <p:nvSpPr>
          <p:cNvPr id="18" name="Text 15"/>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DISTANCE &amp; COMMANDS</a:t>
            </a:r>
            <a:endParaRPr lang="en-US" sz="2000" dirty="0"/>
          </a:p>
        </p:txBody>
      </p:sp>
      <p:sp>
        <p:nvSpPr>
          <p:cNvPr id="19" name="Text 16"/>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4</a:t>
            </a:r>
            <a:endParaRPr lang="en-US" sz="2000" dirty="0"/>
          </a:p>
        </p:txBody>
      </p:sp>
      <p:pic>
        <p:nvPicPr>
          <p:cNvPr id="20"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g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2 · DRIVEMODULE.JAVA</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The sim needs to learn the gearbox too</a:t>
            </a:r>
            <a:endParaRPr lang="en-US" sz="3000" dirty="0"/>
          </a:p>
        </p:txBody>
      </p:sp>
      <p:sp>
        <p:nvSpPr>
          <p:cNvPr id="6" name="Shape 3"/>
          <p:cNvSpPr/>
          <p:nvPr/>
        </p:nvSpPr>
        <p:spPr>
          <a:xfrm>
            <a:off x="640080" y="1554480"/>
            <a:ext cx="10881360" cy="2103120"/>
          </a:xfrm>
          <a:prstGeom prst="roundRect">
            <a:avLst>
              <a:gd name="adj" fmla="val 5217"/>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00784"/>
            <a:ext cx="128016" cy="128016"/>
          </a:xfrm>
          <a:prstGeom prst="ellipse">
            <a:avLst/>
          </a:prstGeom>
          <a:solidFill>
            <a:srgbClr val="FF6B6B"/>
          </a:solidFill>
          <a:ln/>
        </p:spPr>
      </p:sp>
      <p:sp>
        <p:nvSpPr>
          <p:cNvPr id="8" name="Shape 5"/>
          <p:cNvSpPr/>
          <p:nvPr/>
        </p:nvSpPr>
        <p:spPr>
          <a:xfrm>
            <a:off x="11210544" y="1901952"/>
            <a:ext cx="128016" cy="128016"/>
          </a:xfrm>
          <a:prstGeom prst="ellipse">
            <a:avLst/>
          </a:prstGeom>
          <a:solidFill>
            <a:srgbClr val="FFD166"/>
          </a:solidFill>
          <a:ln/>
        </p:spPr>
      </p:sp>
      <p:sp>
        <p:nvSpPr>
          <p:cNvPr id="9" name="Shape 6"/>
          <p:cNvSpPr/>
          <p:nvPr/>
        </p:nvSpPr>
        <p:spPr>
          <a:xfrm>
            <a:off x="11210544" y="2103120"/>
            <a:ext cx="128016" cy="128016"/>
          </a:xfrm>
          <a:prstGeom prst="ellipse">
            <a:avLst/>
          </a:prstGeom>
          <a:solidFill>
            <a:srgbClr val="2EC4B6"/>
          </a:solidFill>
          <a:ln/>
        </p:spPr>
      </p:sp>
      <p:sp>
        <p:nvSpPr>
          <p:cNvPr id="10" name="Text 7"/>
          <p:cNvSpPr/>
          <p:nvPr/>
        </p:nvSpPr>
        <p:spPr>
          <a:xfrm>
            <a:off x="914400" y="168249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Replace the m_driveModel field in DriveModule</a:t>
            </a:r>
            <a:endParaRPr lang="en-US" sz="1500" dirty="0"/>
          </a:p>
        </p:txBody>
      </p:sp>
      <p:sp>
        <p:nvSpPr>
          <p:cNvPr id="11" name="Text 8"/>
          <p:cNvSpPr/>
          <p:nvPr/>
        </p:nvSpPr>
        <p:spPr>
          <a:xfrm>
            <a:off x="914400" y="2011680"/>
            <a:ext cx="10195560" cy="1444752"/>
          </a:xfrm>
          <a:prstGeom prst="rect">
            <a:avLst/>
          </a:prstGeom>
          <a:noFill/>
          <a:ln/>
        </p:spPr>
        <p:txBody>
          <a:bodyPr wrap="square" lIns="0" tIns="0" rIns="0" bIns="0" rtlCol="0" anchor="t"/>
          <a:lstStyle/>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private final DCMotorSim m_driveModel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new DCMotorSim(</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Models.singleJointedArmFromPhysicalConstants(</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DCMotor.getKrakenX60(1), 0.025, DriveConstants.kDriveGearRatio),</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DCMotor.getKrakenX60(1));</a:t>
            </a:r>
            <a:endParaRPr lang="en-US" sz="1300" dirty="0"/>
          </a:p>
        </p:txBody>
      </p:sp>
      <p:sp>
        <p:nvSpPr>
          <p:cNvPr id="12" name="Shape 9"/>
          <p:cNvSpPr/>
          <p:nvPr/>
        </p:nvSpPr>
        <p:spPr>
          <a:xfrm>
            <a:off x="640080" y="3840480"/>
            <a:ext cx="10881360" cy="2560320"/>
          </a:xfrm>
          <a:prstGeom prst="roundRect">
            <a:avLst>
              <a:gd name="adj" fmla="val 3571"/>
            </a:avLst>
          </a:prstGeom>
          <a:solidFill>
            <a:srgbClr val="F3F6FA"/>
          </a:solidFill>
          <a:ln/>
        </p:spPr>
      </p:sp>
      <p:sp>
        <p:nvSpPr>
          <p:cNvPr id="13" name="Text 10"/>
          <p:cNvSpPr/>
          <p:nvPr/>
        </p:nvSpPr>
        <p:spPr>
          <a:xfrm>
            <a:off x="914400" y="4114800"/>
            <a:ext cx="10332720" cy="561975"/>
          </a:xfrm>
          <a:prstGeom prst="rect">
            <a:avLst/>
          </a:prstGeom>
          <a:noFill/>
          <a:ln/>
        </p:spPr>
        <p:txBody>
          <a:bodyPr wrap="square" lIns="0" tIns="0" rIns="0" bIns="0" rtlCol="0" anchor="t"/>
          <a:lstStyle/>
          <a:p>
            <a:pPr indent="0" marL="0">
              <a:lnSpc>
                <a:spcPct val="120000"/>
              </a:lnSpc>
              <a:buNone/>
            </a:pPr>
            <a:r>
              <a:rPr lang="en-US" sz="2100" b="1" dirty="0">
                <a:solidFill>
                  <a:srgbClr val="13294B"/>
                </a:solidFill>
                <a:latin typeface="Cambria" pitchFamily="34" charset="0"/>
                <a:ea typeface="Cambria" pitchFamily="34" charset="-122"/>
                <a:cs typeface="Cambria" pitchFamily="34" charset="-120"/>
              </a:rPr>
              <a:t>The encoder still lives on the rotor — gearbox or not.</a:t>
            </a:r>
            <a:endParaRPr lang="en-US" sz="2100" dirty="0"/>
          </a:p>
        </p:txBody>
      </p:sp>
      <p:sp>
        <p:nvSpPr>
          <p:cNvPr id="14" name="Text 11"/>
          <p:cNvSpPr/>
          <p:nvPr/>
        </p:nvSpPr>
        <p:spPr>
          <a:xfrm>
            <a:off x="914400" y="4676775"/>
            <a:ext cx="10332720" cy="1449705"/>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DCMotorSim now reports wheel-side motion, so simulatePeriodic() has to multiply back by the gear ratio before writing the fake rotor encoder — on top of the radians-to-rotations fix from Lesson 4.</a:t>
            </a:r>
            <a:endParaRPr lang="en-US" sz="20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DISTANCE &amp; COMMANDS</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5</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syncalt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2 CONTINUED · DRIVEMODULE.JAVA</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Convert wheel-side back to rotor-side</a:t>
            </a:r>
            <a:endParaRPr lang="en-US" sz="3000" dirty="0"/>
          </a:p>
        </p:txBody>
      </p:sp>
      <p:sp>
        <p:nvSpPr>
          <p:cNvPr id="6" name="Shape 3"/>
          <p:cNvSpPr/>
          <p:nvPr/>
        </p:nvSpPr>
        <p:spPr>
          <a:xfrm>
            <a:off x="640080" y="1600200"/>
            <a:ext cx="10881360" cy="1828800"/>
          </a:xfrm>
          <a:prstGeom prst="roundRect">
            <a:avLst>
              <a:gd name="adj" fmla="val 60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Replace the last two drive-motor lines of simulatePeriodic()</a:t>
            </a:r>
            <a:endParaRPr lang="en-US" sz="1500" dirty="0"/>
          </a:p>
        </p:txBody>
      </p:sp>
      <p:sp>
        <p:nvSpPr>
          <p:cNvPr id="11" name="Text 8"/>
          <p:cNvSpPr/>
          <p:nvPr/>
        </p:nvSpPr>
        <p:spPr>
          <a:xfrm>
            <a:off x="914400" y="2057400"/>
            <a:ext cx="10195560" cy="1170432"/>
          </a:xfrm>
          <a:prstGeom prst="rect">
            <a:avLst/>
          </a:prstGeom>
          <a:noFill/>
          <a:ln/>
        </p:spPr>
        <p:txBody>
          <a:bodyPr wrap="square" lIns="0" tIns="0" rIns="0" bIns="0" rtlCol="0" anchor="t"/>
          <a:lstStyle/>
          <a:p>
            <a:pPr indent="0" marL="0">
              <a:lnSpc>
                <a:spcPct val="120000"/>
              </a:lnSpc>
              <a:buNone/>
            </a:pPr>
            <a:r>
              <a:rPr lang="en-US" sz="1400" dirty="0">
                <a:solidFill>
                  <a:srgbClr val="FFD166"/>
                </a:solidFill>
                <a:latin typeface="Courier New" pitchFamily="34" charset="0"/>
                <a:ea typeface="Courier New" pitchFamily="34" charset="-122"/>
                <a:cs typeface="Courier New" pitchFamily="34" charset="-120"/>
              </a:rPr>
              <a:t>m_driveSim.setRawRotorPosition(</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m_driveModel.getAngularPosition() / (2 * Math.PI) * DriveConstants.kDriveGearRatio);</a:t>
            </a:r>
            <a:endParaRPr lang="en-US" sz="1400" dirty="0"/>
          </a:p>
          <a:p>
            <a:pPr indent="0" marL="0">
              <a:lnSpc>
                <a:spcPct val="120000"/>
              </a:lnSpc>
              <a:buNone/>
            </a:pPr>
            <a:r>
              <a:rPr lang="en-US" sz="1400" dirty="0">
                <a:solidFill>
                  <a:srgbClr val="FFD166"/>
                </a:solidFill>
                <a:latin typeface="Courier New" pitchFamily="34" charset="0"/>
                <a:ea typeface="Courier New" pitchFamily="34" charset="-122"/>
                <a:cs typeface="Courier New" pitchFamily="34" charset="-120"/>
              </a:rPr>
              <a:t>m_driveSim.setRotorVelocity(</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m_driveModel.getAngularVelocity() / (2 * Math.PI) * DriveConstants.kDriveGearRatio);</a:t>
            </a:r>
            <a:endParaRPr lang="en-US" sz="1400" dirty="0"/>
          </a:p>
        </p:txBody>
      </p:sp>
      <p:sp>
        <p:nvSpPr>
          <p:cNvPr id="12" name="Shape 9"/>
          <p:cNvSpPr/>
          <p:nvPr/>
        </p:nvSpPr>
        <p:spPr>
          <a:xfrm>
            <a:off x="640080" y="3611880"/>
            <a:ext cx="10881360" cy="2743200"/>
          </a:xfrm>
          <a:prstGeom prst="roundRect">
            <a:avLst>
              <a:gd name="adj" fmla="val 3333"/>
            </a:avLst>
          </a:prstGeom>
          <a:solidFill>
            <a:srgbClr val="F3F6FA"/>
          </a:solidFill>
          <a:ln/>
        </p:spPr>
      </p:sp>
      <p:sp>
        <p:nvSpPr>
          <p:cNvPr id="13" name="Text 10"/>
          <p:cNvSpPr/>
          <p:nvPr/>
        </p:nvSpPr>
        <p:spPr>
          <a:xfrm>
            <a:off x="914400" y="3886200"/>
            <a:ext cx="10332720" cy="561975"/>
          </a:xfrm>
          <a:prstGeom prst="rect">
            <a:avLst/>
          </a:prstGeom>
          <a:noFill/>
          <a:ln/>
        </p:spPr>
        <p:txBody>
          <a:bodyPr wrap="square" lIns="0" tIns="0" rIns="0" bIns="0" rtlCol="0" anchor="t"/>
          <a:lstStyle/>
          <a:p>
            <a:pPr indent="0" marL="0">
              <a:lnSpc>
                <a:spcPct val="120000"/>
              </a:lnSpc>
              <a:buNone/>
            </a:pPr>
            <a:r>
              <a:rPr lang="en-US" sz="2100" b="1" dirty="0">
                <a:solidFill>
                  <a:srgbClr val="13294B"/>
                </a:solidFill>
                <a:latin typeface="Cambria" pitchFamily="34" charset="0"/>
                <a:ea typeface="Cambria" pitchFamily="34" charset="-122"/>
                <a:cs typeface="Cambria" pitchFamily="34" charset="-120"/>
              </a:rPr>
              <a:t>The encoder still lives on the rotor — gearbox or not.</a:t>
            </a:r>
            <a:endParaRPr lang="en-US" sz="2100" dirty="0"/>
          </a:p>
        </p:txBody>
      </p:sp>
      <p:sp>
        <p:nvSpPr>
          <p:cNvPr id="14" name="Text 11"/>
          <p:cNvSpPr/>
          <p:nvPr/>
        </p:nvSpPr>
        <p:spPr>
          <a:xfrm>
            <a:off x="914400" y="4448175"/>
            <a:ext cx="10332720" cy="1632585"/>
          </a:xfrm>
          <a:prstGeom prst="rect">
            <a:avLst/>
          </a:prstGeom>
          <a:noFill/>
          <a:ln/>
        </p:spPr>
        <p:txBody>
          <a:bodyPr wrap="square" lIns="0" tIns="0" rIns="0" bIns="0" rtlCol="0" anchor="t"/>
          <a:lstStyle/>
          <a:p>
            <a:pPr indent="0" marL="0">
              <a:lnSpc>
                <a:spcPct val="125000"/>
              </a:lnSpc>
              <a:buNone/>
            </a:pPr>
            <a:r>
              <a:rPr lang="en-US" sz="1900" dirty="0">
                <a:solidFill>
                  <a:srgbClr val="13294B"/>
                </a:solidFill>
                <a:latin typeface="Calibri" pitchFamily="34" charset="0"/>
                <a:ea typeface="Calibri" pitchFamily="34" charset="-122"/>
                <a:cs typeface="Calibri" pitchFamily="34" charset="-120"/>
              </a:rPr>
              <a:t>DCMotorSim now reports wheel-side motion, so this multiplies back by the gear ratio, on top of the radians-to-rotations fix from Lesson 4. The chain stays honest end to end: applied volts spin the rotor, the wheel moves 1/6.75 as fast, getDistanceMeters() divides by that same ratio.</a:t>
            </a:r>
            <a:endParaRPr lang="en-US" sz="19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DISTANCE &amp; COMMANDS</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6</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flagcheckered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3 · A NEW KIND OF COMMAND</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Every command so far has run forever</a:t>
            </a:r>
            <a:endParaRPr lang="en-US" sz="3000" dirty="0"/>
          </a:p>
        </p:txBody>
      </p:sp>
      <p:sp>
        <p:nvSpPr>
          <p:cNvPr id="6" name="Shape 3"/>
          <p:cNvSpPr/>
          <p:nvPr/>
        </p:nvSpPr>
        <p:spPr>
          <a:xfrm>
            <a:off x="640080" y="1691640"/>
            <a:ext cx="5349240" cy="4160520"/>
          </a:xfrm>
          <a:prstGeom prst="roundRect">
            <a:avLst>
              <a:gd name="adj" fmla="val 2637"/>
            </a:avLst>
          </a:prstGeom>
          <a:solidFill>
            <a:srgbClr val="132A4C"/>
          </a:solidFill>
          <a:ln/>
        </p:spPr>
      </p:sp>
      <p:sp>
        <p:nvSpPr>
          <p:cNvPr id="7" name="Text 4"/>
          <p:cNvSpPr/>
          <p:nvPr/>
        </p:nvSpPr>
        <p:spPr>
          <a:xfrm>
            <a:off x="914400" y="1920240"/>
            <a:ext cx="4800600" cy="777240"/>
          </a:xfrm>
          <a:prstGeom prst="rect">
            <a:avLst/>
          </a:prstGeom>
          <a:noFill/>
          <a:ln/>
        </p:spPr>
        <p:txBody>
          <a:bodyPr wrap="square" lIns="0" tIns="0" rIns="0" bIns="0" rtlCol="0" anchor="t"/>
          <a:lstStyle/>
          <a:p>
            <a:pPr indent="0" marL="0">
              <a:lnSpc>
                <a:spcPct val="120000"/>
              </a:lnSpc>
              <a:buNone/>
            </a:pPr>
            <a:r>
              <a:rPr lang="en-US" sz="2100" b="1" dirty="0">
                <a:solidFill>
                  <a:srgbClr val="FF5010"/>
                </a:solidFill>
                <a:latin typeface="Cambria" pitchFamily="34" charset="0"/>
                <a:ea typeface="Cambria" pitchFamily="34" charset="-122"/>
                <a:cs typeface="Cambria" pitchFamily="34" charset="-120"/>
              </a:rPr>
              <a:t>driveAtSpeed, driveWithJoystick, steerToAngle</a:t>
            </a:r>
            <a:endParaRPr lang="en-US" sz="2100" dirty="0"/>
          </a:p>
        </p:txBody>
      </p:sp>
      <p:sp>
        <p:nvSpPr>
          <p:cNvPr id="8" name="Text 5"/>
          <p:cNvSpPr/>
          <p:nvPr/>
        </p:nvSpPr>
        <p:spPr>
          <a:xfrm>
            <a:off x="914400" y="2743200"/>
            <a:ext cx="4800600" cy="2926080"/>
          </a:xfrm>
          <a:prstGeom prst="rect">
            <a:avLst/>
          </a:prstGeom>
          <a:noFill/>
          <a:ln/>
        </p:spPr>
        <p:txBody>
          <a:bodyPr wrap="square" lIns="0" tIns="0" rIns="0" bIns="0" rtlCol="0" anchor="t"/>
          <a:lstStyle/>
          <a:p>
            <a:pPr indent="0" marL="0">
              <a:lnSpc>
                <a:spcPct val="130000"/>
              </a:lnSpc>
              <a:buNone/>
            </a:pPr>
            <a:r>
              <a:rPr lang="en-US" sz="2000" dirty="0">
                <a:solidFill>
                  <a:srgbClr val="D7E3F4"/>
                </a:solidFill>
                <a:latin typeface="Calibri" pitchFamily="34" charset="0"/>
                <a:ea typeface="Calibri" pitchFamily="34" charset="-122"/>
                <a:cs typeface="Calibri" pitchFamily="34" charset="-120"/>
              </a:rPr>
              <a:t>None of them ever finish. They park or loop forever, and run until something else kills them — a button release, a rival command.</a:t>
            </a:r>
            <a:endParaRPr lang="en-US" sz="2000" dirty="0"/>
          </a:p>
        </p:txBody>
      </p:sp>
      <p:sp>
        <p:nvSpPr>
          <p:cNvPr id="9" name="Shape 6"/>
          <p:cNvSpPr/>
          <p:nvPr/>
        </p:nvSpPr>
        <p:spPr>
          <a:xfrm>
            <a:off x="6172200" y="1691640"/>
            <a:ext cx="5349240" cy="4160520"/>
          </a:xfrm>
          <a:prstGeom prst="roundRect">
            <a:avLst>
              <a:gd name="adj" fmla="val 2637"/>
            </a:avLst>
          </a:prstGeom>
          <a:solidFill>
            <a:srgbClr val="132A4C"/>
          </a:solidFill>
          <a:ln/>
        </p:spPr>
      </p:sp>
      <p:sp>
        <p:nvSpPr>
          <p:cNvPr id="10" name="Text 7"/>
          <p:cNvSpPr/>
          <p:nvPr/>
        </p:nvSpPr>
        <p:spPr>
          <a:xfrm>
            <a:off x="6446520" y="1920240"/>
            <a:ext cx="4800600" cy="777240"/>
          </a:xfrm>
          <a:prstGeom prst="rect">
            <a:avLst/>
          </a:prstGeom>
          <a:noFill/>
          <a:ln/>
        </p:spPr>
        <p:txBody>
          <a:bodyPr wrap="square" lIns="0" tIns="0" rIns="0" bIns="0" rtlCol="0" anchor="t"/>
          <a:lstStyle/>
          <a:p>
            <a:pPr indent="0" marL="0">
              <a:lnSpc>
                <a:spcPct val="120000"/>
              </a:lnSpc>
              <a:buNone/>
            </a:pPr>
            <a:r>
              <a:rPr lang="en-US" sz="2100" b="1" dirty="0">
                <a:solidFill>
                  <a:srgbClr val="FF5010"/>
                </a:solidFill>
                <a:latin typeface="Cambria" pitchFamily="34" charset="0"/>
                <a:ea typeface="Cambria" pitchFamily="34" charset="-122"/>
                <a:cs typeface="Cambria" pitchFamily="34" charset="-120"/>
              </a:rPr>
              <a:t>"Drive exactly one meter" is different.</a:t>
            </a:r>
            <a:endParaRPr lang="en-US" sz="2100" dirty="0"/>
          </a:p>
        </p:txBody>
      </p:sp>
      <p:sp>
        <p:nvSpPr>
          <p:cNvPr id="11" name="Text 8"/>
          <p:cNvSpPr/>
          <p:nvPr/>
        </p:nvSpPr>
        <p:spPr>
          <a:xfrm>
            <a:off x="6446520" y="2743200"/>
            <a:ext cx="4800600" cy="2926080"/>
          </a:xfrm>
          <a:prstGeom prst="rect">
            <a:avLst/>
          </a:prstGeom>
          <a:noFill/>
          <a:ln/>
        </p:spPr>
        <p:txBody>
          <a:bodyPr wrap="square" lIns="0" tIns="0" rIns="0" bIns="0" rtlCol="0" anchor="t"/>
          <a:lstStyle/>
          <a:p>
            <a:pPr indent="0" marL="0">
              <a:lnSpc>
                <a:spcPct val="130000"/>
              </a:lnSpc>
              <a:buNone/>
            </a:pPr>
            <a:r>
              <a:rPr lang="en-US" sz="2000" dirty="0">
                <a:solidFill>
                  <a:srgbClr val="D7E3F4"/>
                </a:solidFill>
                <a:latin typeface="Calibri" pitchFamily="34" charset="0"/>
                <a:ea typeface="Calibri" pitchFamily="34" charset="-122"/>
                <a:cs typeface="Calibri" pitchFamily="34" charset="-120"/>
              </a:rPr>
              <a:t>The command is the only thing that knows when the job is done — so it has to decide, for itself, when to end. Leave out coroutine.park() and once the body's last line runs, the command finishes right along with it.</a:t>
            </a:r>
            <a:endParaRPr lang="en-US" sz="20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DISTANCE &amp; COMMANDS</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7</a:t>
            </a:r>
            <a:endParaRPr lang="en-US" sz="2000" dirty="0"/>
          </a:p>
        </p:txBody>
      </p:sp>
      <p:pic>
        <p:nvPicPr>
          <p:cNvPr id="14"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ilecode_teal.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DRIVEMODULE.JAVA</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Set up, work, wait for done, clean up</a:t>
            </a:r>
            <a:endParaRPr lang="en-US" sz="3000" dirty="0"/>
          </a:p>
        </p:txBody>
      </p:sp>
      <p:sp>
        <p:nvSpPr>
          <p:cNvPr id="6" name="Shape 3"/>
          <p:cNvSpPr/>
          <p:nvPr/>
        </p:nvSpPr>
        <p:spPr>
          <a:xfrm>
            <a:off x="640080" y="1371600"/>
            <a:ext cx="10881360" cy="3794760"/>
          </a:xfrm>
          <a:prstGeom prst="roundRect">
            <a:avLst>
              <a:gd name="adj" fmla="val 2892"/>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517904"/>
            <a:ext cx="128016" cy="128016"/>
          </a:xfrm>
          <a:prstGeom prst="ellipse">
            <a:avLst/>
          </a:prstGeom>
          <a:solidFill>
            <a:srgbClr val="FF6B6B"/>
          </a:solidFill>
          <a:ln/>
        </p:spPr>
      </p:sp>
      <p:sp>
        <p:nvSpPr>
          <p:cNvPr id="8" name="Shape 5"/>
          <p:cNvSpPr/>
          <p:nvPr/>
        </p:nvSpPr>
        <p:spPr>
          <a:xfrm>
            <a:off x="11210544" y="1719072"/>
            <a:ext cx="128016" cy="128016"/>
          </a:xfrm>
          <a:prstGeom prst="ellipse">
            <a:avLst/>
          </a:prstGeom>
          <a:solidFill>
            <a:srgbClr val="FFD166"/>
          </a:solidFill>
          <a:ln/>
        </p:spPr>
      </p:sp>
      <p:sp>
        <p:nvSpPr>
          <p:cNvPr id="9" name="Shape 6"/>
          <p:cNvSpPr/>
          <p:nvPr/>
        </p:nvSpPr>
        <p:spPr>
          <a:xfrm>
            <a:off x="11210544" y="1920240"/>
            <a:ext cx="128016" cy="128016"/>
          </a:xfrm>
          <a:prstGeom prst="ellipse">
            <a:avLst/>
          </a:prstGeom>
          <a:solidFill>
            <a:srgbClr val="2EC4B6"/>
          </a:solidFill>
          <a:ln/>
        </p:spPr>
      </p:sp>
      <p:sp>
        <p:nvSpPr>
          <p:cNvPr id="10" name="Text 7"/>
          <p:cNvSpPr/>
          <p:nvPr/>
        </p:nvSpPr>
        <p:spPr>
          <a:xfrm>
            <a:off x="914400" y="14996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DriveModule, with the other command factories</a:t>
            </a:r>
            <a:endParaRPr lang="en-US" sz="1500" dirty="0"/>
          </a:p>
        </p:txBody>
      </p:sp>
      <p:sp>
        <p:nvSpPr>
          <p:cNvPr id="11" name="Text 8"/>
          <p:cNvSpPr/>
          <p:nvPr/>
        </p:nvSpPr>
        <p:spPr>
          <a:xfrm>
            <a:off x="914400" y="1828800"/>
            <a:ext cx="10195560" cy="3136392"/>
          </a:xfrm>
          <a:prstGeom prst="rect">
            <a:avLst/>
          </a:prstGeom>
          <a:noFill/>
          <a:ln/>
        </p:spPr>
        <p:txBody>
          <a:bodyPr wrap="square" lIns="0" tIns="0" rIns="0" bIns="0" rtlCol="0" anchor="t"/>
          <a:lstStyle/>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Drives forward 'meters' at 'speed', then stops. Finishes on its own. */</a:t>
            </a:r>
            <a:endParaRPr lang="en-US" sz="1300" dirty="0"/>
          </a:p>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public Command driveDistance(double meters, double speed)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return run(coroutine -&gt;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m_driveMotor.setPosition(0);                              // 1. zero it</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m_driveMotor.setThrottle(speed);                          // 2. drive...</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coroutine.waitUntil(() -&gt; getDistanceMeters() &gt;= meters); // 3. ...wait</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m_driveMotor.setThrottle(0);                              // 4. stop</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.whenCanceled(() -&gt; m_driveMotor.setThrottle(0))</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.named("Drive Distance");</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DISTANCE &amp; COMMANDS</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8</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lightbulb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WHAT WAITUNTIL DOES</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Suspend here, checking every tick, until true</a:t>
            </a:r>
            <a:endParaRPr lang="en-US" sz="3000" dirty="0"/>
          </a:p>
        </p:txBody>
      </p:sp>
      <p:sp>
        <p:nvSpPr>
          <p:cNvPr id="6" name="Shape 3"/>
          <p:cNvSpPr/>
          <p:nvPr/>
        </p:nvSpPr>
        <p:spPr>
          <a:xfrm>
            <a:off x="640080" y="1600200"/>
            <a:ext cx="5349240" cy="4251960"/>
          </a:xfrm>
          <a:prstGeom prst="roundRect">
            <a:avLst>
              <a:gd name="adj" fmla="val 2151"/>
            </a:avLst>
          </a:prstGeom>
          <a:solidFill>
            <a:srgbClr val="F3F6FA"/>
          </a:solidFill>
          <a:ln/>
        </p:spPr>
      </p:sp>
      <p:sp>
        <p:nvSpPr>
          <p:cNvPr id="7" name="Text 4"/>
          <p:cNvSpPr/>
          <p:nvPr/>
        </p:nvSpPr>
        <p:spPr>
          <a:xfrm>
            <a:off x="914400" y="1874520"/>
            <a:ext cx="4800600" cy="365760"/>
          </a:xfrm>
          <a:prstGeom prst="rect">
            <a:avLst/>
          </a:prstGeom>
          <a:noFill/>
          <a:ln/>
        </p:spPr>
        <p:txBody>
          <a:bodyPr wrap="square" lIns="0" tIns="0" rIns="0" bIns="0" rtlCol="0" anchor="ctr"/>
          <a:lstStyle/>
          <a:p>
            <a:pPr indent="0" marL="0">
              <a:buNone/>
            </a:pPr>
            <a:r>
              <a:rPr lang="en-US" sz="2000" b="1" spc="50" kern="0" dirty="0">
                <a:solidFill>
                  <a:srgbClr val="FF5010"/>
                </a:solidFill>
                <a:latin typeface="Calibri" pitchFamily="34" charset="0"/>
                <a:ea typeface="Calibri" pitchFamily="34" charset="-122"/>
                <a:cs typeface="Calibri" pitchFamily="34" charset="-120"/>
              </a:rPr>
              <a:t>COROUTINE.WAITUNTIL(CONDITION)</a:t>
            </a:r>
            <a:endParaRPr lang="en-US" sz="2000" dirty="0"/>
          </a:p>
        </p:txBody>
      </p:sp>
      <p:sp>
        <p:nvSpPr>
          <p:cNvPr id="8" name="Text 5"/>
          <p:cNvSpPr/>
          <p:nvPr/>
        </p:nvSpPr>
        <p:spPr>
          <a:xfrm>
            <a:off x="914400" y="2331720"/>
            <a:ext cx="4800600" cy="561975"/>
          </a:xfrm>
          <a:prstGeom prst="rect">
            <a:avLst/>
          </a:prstGeom>
          <a:noFill/>
          <a:ln/>
        </p:spPr>
        <p:txBody>
          <a:bodyPr wrap="square" lIns="0" tIns="0" rIns="0" bIns="0" rtlCol="0" anchor="t"/>
          <a:lstStyle/>
          <a:p>
            <a:pPr indent="0" marL="0">
              <a:lnSpc>
                <a:spcPct val="120000"/>
              </a:lnSpc>
              <a:buNone/>
            </a:pPr>
            <a:r>
              <a:rPr lang="en-US" sz="2100" b="1" dirty="0">
                <a:solidFill>
                  <a:srgbClr val="13294B"/>
                </a:solidFill>
                <a:latin typeface="Cambria" pitchFamily="34" charset="0"/>
                <a:ea typeface="Cambria" pitchFamily="34" charset="-122"/>
                <a:cs typeface="Cambria" pitchFamily="34" charset="-120"/>
              </a:rPr>
              <a:t>Suspends the command right here.</a:t>
            </a:r>
            <a:endParaRPr lang="en-US" sz="2100" dirty="0"/>
          </a:p>
        </p:txBody>
      </p:sp>
      <p:sp>
        <p:nvSpPr>
          <p:cNvPr id="9" name="Text 6"/>
          <p:cNvSpPr/>
          <p:nvPr/>
        </p:nvSpPr>
        <p:spPr>
          <a:xfrm>
            <a:off x="914400" y="2893695"/>
            <a:ext cx="4800600" cy="2684145"/>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The condition is a lambda that answers true or false, checked every tick — the same trick as Lesson 2's DoubleSupplier, but yes/no instead of a number. Once it's true, the next line runs.</a:t>
            </a:r>
            <a:endParaRPr lang="en-US" sz="2000" dirty="0"/>
          </a:p>
        </p:txBody>
      </p:sp>
      <p:sp>
        <p:nvSpPr>
          <p:cNvPr id="10" name="Shape 7"/>
          <p:cNvSpPr/>
          <p:nvPr/>
        </p:nvSpPr>
        <p:spPr>
          <a:xfrm>
            <a:off x="6172200" y="1600200"/>
            <a:ext cx="5349240" cy="4251960"/>
          </a:xfrm>
          <a:prstGeom prst="roundRect">
            <a:avLst>
              <a:gd name="adj" fmla="val 2151"/>
            </a:avLst>
          </a:prstGeom>
          <a:solidFill>
            <a:srgbClr val="0B1F3A"/>
          </a:solidFill>
          <a:ln/>
        </p:spPr>
      </p:sp>
      <p:sp>
        <p:nvSpPr>
          <p:cNvPr id="11" name="Text 8"/>
          <p:cNvSpPr/>
          <p:nvPr/>
        </p:nvSpPr>
        <p:spPr>
          <a:xfrm>
            <a:off x="6446520" y="1874520"/>
            <a:ext cx="4800600" cy="365760"/>
          </a:xfrm>
          <a:prstGeom prst="rect">
            <a:avLst/>
          </a:prstGeom>
          <a:noFill/>
          <a:ln/>
        </p:spPr>
        <p:txBody>
          <a:bodyPr wrap="square" lIns="0" tIns="0" rIns="0" bIns="0" rtlCol="0" anchor="ctr"/>
          <a:lstStyle/>
          <a:p>
            <a:pPr indent="0" marL="0">
              <a:buNone/>
            </a:pPr>
            <a:r>
              <a:rPr lang="en-US" sz="2000" b="1" spc="50" kern="0" dirty="0">
                <a:solidFill>
                  <a:srgbClr val="1B9AAA"/>
                </a:solidFill>
                <a:latin typeface="Calibri" pitchFamily="34" charset="0"/>
                <a:ea typeface="Calibri" pitchFamily="34" charset="-122"/>
                <a:cs typeface="Calibri" pitchFamily="34" charset="-120"/>
              </a:rPr>
              <a:t>THE WHOLE SHAPE</a:t>
            </a:r>
            <a:endParaRPr lang="en-US" sz="2000" dirty="0"/>
          </a:p>
        </p:txBody>
      </p:sp>
      <p:sp>
        <p:nvSpPr>
          <p:cNvPr id="12" name="Text 9"/>
          <p:cNvSpPr/>
          <p:nvPr/>
        </p:nvSpPr>
        <p:spPr>
          <a:xfrm>
            <a:off x="6446520" y="2331720"/>
            <a:ext cx="4800600" cy="895350"/>
          </a:xfrm>
          <a:prstGeom prst="rect">
            <a:avLst/>
          </a:prstGeom>
          <a:noFill/>
          <a:ln/>
        </p:spPr>
        <p:txBody>
          <a:bodyPr wrap="square" lIns="0" tIns="0" rIns="0" bIns="0" rtlCol="0" anchor="t"/>
          <a:lstStyle/>
          <a:p>
            <a:pPr indent="0" marL="0">
              <a:lnSpc>
                <a:spcPct val="120000"/>
              </a:lnSpc>
              <a:buNone/>
            </a:pPr>
            <a:r>
              <a:rPr lang="en-US" sz="2100" b="1" dirty="0">
                <a:solidFill>
                  <a:srgbClr val="FFFFFF"/>
                </a:solidFill>
                <a:latin typeface="Cambria" pitchFamily="34" charset="0"/>
                <a:ea typeface="Cambria" pitchFamily="34" charset="-122"/>
                <a:cs typeface="Cambria" pitchFamily="34" charset="-120"/>
              </a:rPr>
              <a:t>Set up, work, wait, clean up — one method, four lines.</a:t>
            </a:r>
            <a:endParaRPr lang="en-US" sz="2100" dirty="0"/>
          </a:p>
        </p:txBody>
      </p:sp>
      <p:sp>
        <p:nvSpPr>
          <p:cNvPr id="13" name="Text 10"/>
          <p:cNvSpPr/>
          <p:nvPr/>
        </p:nvSpPr>
        <p:spPr>
          <a:xfrm>
            <a:off x="6446520" y="3227070"/>
            <a:ext cx="4800600" cy="235077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"Do this, then wait, then do that" is just Java's normal control flow now. No separate decorators needed — you'll write this shape constantly from here on.</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DISTANCE &amp; COMMANDS</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9</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heckcircl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3 · TWO DIFFERENT ENDINGS</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Finished and canceled are genuinely different events</a:t>
            </a:r>
            <a:endParaRPr lang="en-US" sz="3000" dirty="0"/>
          </a:p>
        </p:txBody>
      </p:sp>
      <p:sp>
        <p:nvSpPr>
          <p:cNvPr id="6" name="Shape 3"/>
          <p:cNvSpPr/>
          <p:nvPr/>
        </p:nvSpPr>
        <p:spPr>
          <a:xfrm>
            <a:off x="640080" y="1691640"/>
            <a:ext cx="5349240" cy="3291840"/>
          </a:xfrm>
          <a:prstGeom prst="roundRect">
            <a:avLst>
              <a:gd name="adj" fmla="val 3333"/>
            </a:avLst>
          </a:prstGeom>
          <a:solidFill>
            <a:srgbClr val="132A4C"/>
          </a:solidFill>
          <a:ln/>
        </p:spPr>
      </p:sp>
      <p:sp>
        <p:nvSpPr>
          <p:cNvPr id="7" name="Text 4"/>
          <p:cNvSpPr/>
          <p:nvPr/>
        </p:nvSpPr>
        <p:spPr>
          <a:xfrm>
            <a:off x="914400" y="1965960"/>
            <a:ext cx="4800600" cy="548640"/>
          </a:xfrm>
          <a:prstGeom prst="rect">
            <a:avLst/>
          </a:prstGeom>
          <a:noFill/>
          <a:ln/>
        </p:spPr>
        <p:txBody>
          <a:bodyPr wrap="square" lIns="0" tIns="0" rIns="0" bIns="0" rtlCol="0" anchor="ctr"/>
          <a:lstStyle/>
          <a:p>
            <a:pPr indent="0" marL="0">
              <a:buNone/>
            </a:pPr>
            <a:r>
              <a:rPr lang="en-US" sz="2600" b="1" dirty="0">
                <a:solidFill>
                  <a:srgbClr val="FF5010"/>
                </a:solidFill>
                <a:latin typeface="Cambria" pitchFamily="34" charset="0"/>
                <a:ea typeface="Cambria" pitchFamily="34" charset="-122"/>
                <a:cs typeface="Cambria" pitchFamily="34" charset="-120"/>
              </a:rPr>
              <a:t>Finished</a:t>
            </a:r>
            <a:endParaRPr lang="en-US" sz="2600" dirty="0"/>
          </a:p>
        </p:txBody>
      </p:sp>
      <p:sp>
        <p:nvSpPr>
          <p:cNvPr id="8" name="Text 5"/>
          <p:cNvSpPr/>
          <p:nvPr/>
        </p:nvSpPr>
        <p:spPr>
          <a:xfrm>
            <a:off x="914400" y="2606040"/>
            <a:ext cx="4800600" cy="228600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The body ran to the end by itself. Line 4, setThrottle(0), already handled it.</a:t>
            </a:r>
            <a:endParaRPr lang="en-US" sz="2000" dirty="0"/>
          </a:p>
        </p:txBody>
      </p:sp>
      <p:sp>
        <p:nvSpPr>
          <p:cNvPr id="9" name="Shape 6"/>
          <p:cNvSpPr/>
          <p:nvPr/>
        </p:nvSpPr>
        <p:spPr>
          <a:xfrm>
            <a:off x="6172200" y="1691640"/>
            <a:ext cx="5349240" cy="3291840"/>
          </a:xfrm>
          <a:prstGeom prst="roundRect">
            <a:avLst>
              <a:gd name="adj" fmla="val 3333"/>
            </a:avLst>
          </a:prstGeom>
          <a:solidFill>
            <a:srgbClr val="132A4C"/>
          </a:solidFill>
          <a:ln/>
        </p:spPr>
      </p:sp>
      <p:sp>
        <p:nvSpPr>
          <p:cNvPr id="10" name="Text 7"/>
          <p:cNvSpPr/>
          <p:nvPr/>
        </p:nvSpPr>
        <p:spPr>
          <a:xfrm>
            <a:off x="6446520" y="1965960"/>
            <a:ext cx="4800600" cy="548640"/>
          </a:xfrm>
          <a:prstGeom prst="rect">
            <a:avLst/>
          </a:prstGeom>
          <a:noFill/>
          <a:ln/>
        </p:spPr>
        <p:txBody>
          <a:bodyPr wrap="square" lIns="0" tIns="0" rIns="0" bIns="0" rtlCol="0" anchor="ctr"/>
          <a:lstStyle/>
          <a:p>
            <a:pPr indent="0" marL="0">
              <a:buNone/>
            </a:pPr>
            <a:r>
              <a:rPr lang="en-US" sz="2600" b="1" dirty="0">
                <a:solidFill>
                  <a:srgbClr val="FF5010"/>
                </a:solidFill>
                <a:latin typeface="Cambria" pitchFamily="34" charset="0"/>
                <a:ea typeface="Cambria" pitchFamily="34" charset="-122"/>
                <a:cs typeface="Cambria" pitchFamily="34" charset="-120"/>
              </a:rPr>
              <a:t>Canceled</a:t>
            </a:r>
            <a:endParaRPr lang="en-US" sz="2600" dirty="0"/>
          </a:p>
        </p:txBody>
      </p:sp>
      <p:sp>
        <p:nvSpPr>
          <p:cNvPr id="11" name="Text 8"/>
          <p:cNvSpPr/>
          <p:nvPr/>
        </p:nvSpPr>
        <p:spPr>
          <a:xfrm>
            <a:off x="6446520" y="2606040"/>
            <a:ext cx="4800600" cy="228600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Something else took the module away first — the body's own line 4 never gets to run. That's what .whenCanceled(...) is for.</a:t>
            </a:r>
            <a:endParaRPr lang="en-US" sz="2000" dirty="0"/>
          </a:p>
        </p:txBody>
      </p:sp>
      <p:sp>
        <p:nvSpPr>
          <p:cNvPr id="12" name="Text 9"/>
          <p:cNvSpPr/>
          <p:nvPr/>
        </p:nvSpPr>
        <p:spPr>
          <a:xfrm>
            <a:off x="640080" y="5166360"/>
            <a:ext cx="10881360" cy="1051560"/>
          </a:xfrm>
          <a:prstGeom prst="rect">
            <a:avLst/>
          </a:prstGeom>
          <a:noFill/>
          <a:ln/>
        </p:spPr>
        <p:txBody>
          <a:bodyPr wrap="square" lIns="0" tIns="0" rIns="0" bIns="0" rtlCol="0" anchor="t"/>
          <a:lstStyle/>
          <a:p>
            <a:pPr indent="0" marL="0">
              <a:lnSpc>
                <a:spcPct val="125000"/>
              </a:lnSpc>
              <a:buNone/>
            </a:pPr>
            <a:r>
              <a:rPr lang="en-US" sz="2000" i="1" dirty="0">
                <a:solidFill>
                  <a:srgbClr val="CADCE8"/>
                </a:solidFill>
                <a:latin typeface="Cambria" pitchFamily="34" charset="0"/>
                <a:ea typeface="Cambria" pitchFamily="34" charset="-122"/>
                <a:cs typeface="Cambria" pitchFamily="34" charset="-120"/>
              </a:rPr>
              <a:t>Every earlier command only had one ending. driveDistance is the first with two doors the motor can sneak out of — miss either cleanup, and it keeps spinning.</a:t>
            </a:r>
            <a:endParaRPr lang="en-US" sz="2000" dirty="0"/>
          </a:p>
        </p:txBody>
      </p:sp>
      <p:sp>
        <p:nvSpPr>
          <p:cNvPr id="13" name="Text 10"/>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DISTANCE &amp; COMMANDS</a:t>
            </a:r>
            <a:endParaRPr lang="en-US" sz="2000" dirty="0"/>
          </a:p>
        </p:txBody>
      </p:sp>
      <p:sp>
        <p:nvSpPr>
          <p:cNvPr id="14" name="Text 11"/>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10</a:t>
            </a:r>
            <a:endParaRPr lang="en-US" sz="2000" dirty="0"/>
          </a:p>
        </p:txBody>
      </p:sp>
      <p:pic>
        <p:nvPicPr>
          <p:cNvPr id="15"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gamepad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5 · MYTELEOP.JAVA</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D-pad up: drive one meter, then stop</a:t>
            </a:r>
            <a:endParaRPr lang="en-US" sz="3000" dirty="0"/>
          </a:p>
        </p:txBody>
      </p:sp>
      <p:sp>
        <p:nvSpPr>
          <p:cNvPr id="6" name="Shape 3"/>
          <p:cNvSpPr/>
          <p:nvPr/>
        </p:nvSpPr>
        <p:spPr>
          <a:xfrm>
            <a:off x="640080" y="1600200"/>
            <a:ext cx="10881360" cy="1463040"/>
          </a:xfrm>
          <a:prstGeom prst="roundRect">
            <a:avLst>
              <a:gd name="adj" fmla="val 75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MyTeleop's constructor, with the rest of the wiring</a:t>
            </a:r>
            <a:endParaRPr lang="en-US" sz="1500" dirty="0"/>
          </a:p>
        </p:txBody>
      </p:sp>
      <p:sp>
        <p:nvSpPr>
          <p:cNvPr id="11" name="Text 8"/>
          <p:cNvSpPr/>
          <p:nvPr/>
        </p:nvSpPr>
        <p:spPr>
          <a:xfrm>
            <a:off x="914400" y="2057400"/>
            <a:ext cx="10195560" cy="804672"/>
          </a:xfrm>
          <a:prstGeom prst="rect">
            <a:avLst/>
          </a:prstGeom>
          <a:noFill/>
          <a:ln/>
        </p:spPr>
        <p:txBody>
          <a:bodyPr wrap="square" lIns="0" tIns="0" rIns="0" bIns="0" rtlCol="0" anchor="t"/>
          <a:lstStyle/>
          <a:p>
            <a:pPr indent="0" marL="0">
              <a:lnSpc>
                <a:spcPct val="120000"/>
              </a:lnSpc>
              <a:buNone/>
            </a:pPr>
            <a:r>
              <a:rPr lang="en-US" sz="1700" dirty="0">
                <a:solidFill>
                  <a:srgbClr val="7FA8C9"/>
                </a:solidFill>
                <a:latin typeface="Courier New" pitchFamily="34" charset="0"/>
                <a:ea typeface="Courier New" pitchFamily="34" charset="-122"/>
                <a:cs typeface="Courier New" pitchFamily="34" charset="-120"/>
              </a:rPr>
              <a:t>// Tap D-pad up to drive forward exactly 1 meter, then stop on its own.</a:t>
            </a:r>
            <a:endParaRPr lang="en-US" sz="1700" dirty="0"/>
          </a:p>
          <a:p>
            <a:pPr indent="0" marL="0">
              <a:lnSpc>
                <a:spcPct val="120000"/>
              </a:lnSpc>
              <a:buNone/>
            </a:pPr>
            <a:r>
              <a:rPr lang="en-US" sz="1700" dirty="0">
                <a:solidFill>
                  <a:srgbClr val="9EF01A"/>
                </a:solidFill>
                <a:latin typeface="Courier New" pitchFamily="34" charset="0"/>
                <a:ea typeface="Courier New" pitchFamily="34" charset="-122"/>
                <a:cs typeface="Courier New" pitchFamily="34" charset="-120"/>
              </a:rPr>
              <a:t>robot.driverController.dpadUp().onTrue(robot.module.driveDistance(1.0, 0.4));</a:t>
            </a:r>
            <a:endParaRPr lang="en-US" sz="1700" dirty="0"/>
          </a:p>
        </p:txBody>
      </p:sp>
      <p:sp>
        <p:nvSpPr>
          <p:cNvPr id="12" name="Shape 9"/>
          <p:cNvSpPr/>
          <p:nvPr/>
        </p:nvSpPr>
        <p:spPr>
          <a:xfrm>
            <a:off x="640080" y="3337560"/>
            <a:ext cx="10881360" cy="2880360"/>
          </a:xfrm>
          <a:prstGeom prst="roundRect">
            <a:avLst>
              <a:gd name="adj" fmla="val 3175"/>
            </a:avLst>
          </a:prstGeom>
          <a:solidFill>
            <a:srgbClr val="F3F6FA"/>
          </a:solidFill>
          <a:ln/>
        </p:spPr>
      </p:sp>
      <p:sp>
        <p:nvSpPr>
          <p:cNvPr id="13" name="Text 10"/>
          <p:cNvSpPr/>
          <p:nvPr/>
        </p:nvSpPr>
        <p:spPr>
          <a:xfrm>
            <a:off x="914400" y="361188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Run it, plot DriveModule/DistanceMeters, tap D-pad up.</a:t>
            </a:r>
            <a:endParaRPr lang="en-US" sz="2200" dirty="0"/>
          </a:p>
        </p:txBody>
      </p:sp>
      <p:sp>
        <p:nvSpPr>
          <p:cNvPr id="14" name="Text 11"/>
          <p:cNvSpPr/>
          <p:nvPr/>
        </p:nvSpPr>
        <p:spPr>
          <a:xfrm>
            <a:off x="914400" y="4189730"/>
            <a:ext cx="10332720" cy="175387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The trace climbs to 1.0 and flattens as the command stops itself. Change the target to 2.0 and confirm it goes twice as far — a command that accomplishes a goal and reports done, exactly what autonomous routines are made of.</a:t>
            </a:r>
            <a:endParaRPr lang="en-US" sz="20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DISTANCE &amp; COMMANDS</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11</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lipboardchec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BEFORE YOU MOVE ON</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Try it</a:t>
            </a:r>
            <a:endParaRPr lang="en-US" sz="3000" dirty="0"/>
          </a:p>
        </p:txBody>
      </p:sp>
      <p:sp>
        <p:nvSpPr>
          <p:cNvPr id="6" name="Shape 3"/>
          <p:cNvSpPr/>
          <p:nvPr/>
        </p:nvSpPr>
        <p:spPr>
          <a:xfrm>
            <a:off x="640080" y="1463040"/>
            <a:ext cx="5303520" cy="2286000"/>
          </a:xfrm>
          <a:prstGeom prst="roundRect">
            <a:avLst>
              <a:gd name="adj" fmla="val 4800"/>
            </a:avLst>
          </a:prstGeom>
          <a:solidFill>
            <a:srgbClr val="132A4C"/>
          </a:solidFill>
          <a:ln/>
        </p:spPr>
      </p:sp>
      <p:sp>
        <p:nvSpPr>
          <p:cNvPr id="7" name="Shape 4"/>
          <p:cNvSpPr/>
          <p:nvPr/>
        </p:nvSpPr>
        <p:spPr>
          <a:xfrm>
            <a:off x="960120" y="1691640"/>
            <a:ext cx="457200" cy="457200"/>
          </a:xfrm>
          <a:prstGeom prst="ellipse">
            <a:avLst/>
          </a:prstGeom>
          <a:solidFill>
            <a:srgbClr val="1B9AAA"/>
          </a:solidFill>
          <a:ln/>
        </p:spPr>
      </p:sp>
      <p:sp>
        <p:nvSpPr>
          <p:cNvPr id="8" name="Text 5"/>
          <p:cNvSpPr/>
          <p:nvPr/>
        </p:nvSpPr>
        <p:spPr>
          <a:xfrm>
            <a:off x="960120" y="169164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9" name="Text 6"/>
          <p:cNvSpPr/>
          <p:nvPr/>
        </p:nvSpPr>
        <p:spPr>
          <a:xfrm>
            <a:off x="1600200" y="169164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Reverse it</a:t>
            </a:r>
            <a:endParaRPr lang="en-US" sz="2000" dirty="0"/>
          </a:p>
        </p:txBody>
      </p:sp>
      <p:sp>
        <p:nvSpPr>
          <p:cNvPr id="10" name="Shape 7"/>
          <p:cNvSpPr/>
          <p:nvPr/>
        </p:nvSpPr>
        <p:spPr>
          <a:xfrm>
            <a:off x="4206240" y="1773936"/>
            <a:ext cx="1417320" cy="292608"/>
          </a:xfrm>
          <a:prstGeom prst="roundRect">
            <a:avLst>
              <a:gd name="adj" fmla="val 18750"/>
            </a:avLst>
          </a:prstGeom>
          <a:solidFill>
            <a:srgbClr val="FF5010"/>
          </a:solidFill>
          <a:ln/>
        </p:spPr>
      </p:sp>
      <p:sp>
        <p:nvSpPr>
          <p:cNvPr id="11" name="Text 8"/>
          <p:cNvSpPr/>
          <p:nvPr/>
        </p:nvSpPr>
        <p:spPr>
          <a:xfrm>
            <a:off x="4206240" y="177393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12" name="Text 9"/>
          <p:cNvSpPr/>
          <p:nvPr/>
        </p:nvSpPr>
        <p:spPr>
          <a:xfrm>
            <a:off x="960120" y="228600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driveDistance(1.0, -0.4) never finishes — distance goes negative. Fix the wait condition with Math.abs on both sides.</a:t>
            </a:r>
            <a:endParaRPr lang="en-US" sz="2000" dirty="0"/>
          </a:p>
        </p:txBody>
      </p:sp>
      <p:sp>
        <p:nvSpPr>
          <p:cNvPr id="13" name="Shape 10"/>
          <p:cNvSpPr/>
          <p:nvPr/>
        </p:nvSpPr>
        <p:spPr>
          <a:xfrm>
            <a:off x="6217920" y="1463040"/>
            <a:ext cx="5303520" cy="2286000"/>
          </a:xfrm>
          <a:prstGeom prst="roundRect">
            <a:avLst>
              <a:gd name="adj" fmla="val 4800"/>
            </a:avLst>
          </a:prstGeom>
          <a:solidFill>
            <a:srgbClr val="132A4C"/>
          </a:solidFill>
          <a:ln/>
        </p:spPr>
      </p:sp>
      <p:sp>
        <p:nvSpPr>
          <p:cNvPr id="14" name="Shape 11"/>
          <p:cNvSpPr/>
          <p:nvPr/>
        </p:nvSpPr>
        <p:spPr>
          <a:xfrm>
            <a:off x="6537960" y="1691640"/>
            <a:ext cx="457200" cy="457200"/>
          </a:xfrm>
          <a:prstGeom prst="ellipse">
            <a:avLst/>
          </a:prstGeom>
          <a:solidFill>
            <a:srgbClr val="1B9AAA"/>
          </a:solidFill>
          <a:ln/>
        </p:spPr>
      </p:sp>
      <p:sp>
        <p:nvSpPr>
          <p:cNvPr id="15" name="Text 12"/>
          <p:cNvSpPr/>
          <p:nvPr/>
        </p:nvSpPr>
        <p:spPr>
          <a:xfrm>
            <a:off x="6537960" y="169164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6" name="Text 13"/>
          <p:cNvSpPr/>
          <p:nvPr/>
        </p:nvSpPr>
        <p:spPr>
          <a:xfrm>
            <a:off x="7178040" y="169164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Ease in with P control</a:t>
            </a:r>
            <a:endParaRPr lang="en-US" sz="2000" dirty="0"/>
          </a:p>
        </p:txBody>
      </p:sp>
      <p:sp>
        <p:nvSpPr>
          <p:cNvPr id="17" name="Shape 14"/>
          <p:cNvSpPr/>
          <p:nvPr/>
        </p:nvSpPr>
        <p:spPr>
          <a:xfrm>
            <a:off x="9784080" y="1773936"/>
            <a:ext cx="1417320" cy="292608"/>
          </a:xfrm>
          <a:prstGeom prst="roundRect">
            <a:avLst>
              <a:gd name="adj" fmla="val 18750"/>
            </a:avLst>
          </a:prstGeom>
          <a:solidFill>
            <a:srgbClr val="FF5010"/>
          </a:solidFill>
          <a:ln/>
        </p:spPr>
      </p:sp>
      <p:sp>
        <p:nvSpPr>
          <p:cNvPr id="18" name="Text 15"/>
          <p:cNvSpPr/>
          <p:nvPr/>
        </p:nvSpPr>
        <p:spPr>
          <a:xfrm>
            <a:off x="9784080" y="177393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19" name="Text 16"/>
          <p:cNvSpPr/>
          <p:nvPr/>
        </p:nvSpPr>
        <p:spPr>
          <a:xfrm>
            <a:off x="6537960" y="228600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Drive at kP × (meters − getDistanceMeters()) instead of a constant speed — the same pattern, a new quantity.</a:t>
            </a:r>
            <a:endParaRPr lang="en-US" sz="2000" dirty="0"/>
          </a:p>
        </p:txBody>
      </p:sp>
      <p:sp>
        <p:nvSpPr>
          <p:cNvPr id="20" name="Shape 17"/>
          <p:cNvSpPr/>
          <p:nvPr/>
        </p:nvSpPr>
        <p:spPr>
          <a:xfrm>
            <a:off x="640080" y="4023360"/>
            <a:ext cx="5303520" cy="2286000"/>
          </a:xfrm>
          <a:prstGeom prst="roundRect">
            <a:avLst>
              <a:gd name="adj" fmla="val 4800"/>
            </a:avLst>
          </a:prstGeom>
          <a:solidFill>
            <a:srgbClr val="132A4C"/>
          </a:solidFill>
          <a:ln/>
        </p:spPr>
      </p:sp>
      <p:sp>
        <p:nvSpPr>
          <p:cNvPr id="21" name="Shape 18"/>
          <p:cNvSpPr/>
          <p:nvPr/>
        </p:nvSpPr>
        <p:spPr>
          <a:xfrm>
            <a:off x="960120" y="4251960"/>
            <a:ext cx="457200" cy="457200"/>
          </a:xfrm>
          <a:prstGeom prst="ellipse">
            <a:avLst/>
          </a:prstGeom>
          <a:solidFill>
            <a:srgbClr val="1B9AAA"/>
          </a:solidFill>
          <a:ln/>
        </p:spPr>
      </p:sp>
      <p:sp>
        <p:nvSpPr>
          <p:cNvPr id="22" name="Text 19"/>
          <p:cNvSpPr/>
          <p:nvPr/>
        </p:nvSpPr>
        <p:spPr>
          <a:xfrm>
            <a:off x="960120" y="425196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3" name="Text 20"/>
          <p:cNvSpPr/>
          <p:nvPr/>
        </p:nvSpPr>
        <p:spPr>
          <a:xfrm>
            <a:off x="1600200" y="425196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Watch both endings for real</a:t>
            </a:r>
            <a:endParaRPr lang="en-US" sz="2000" dirty="0"/>
          </a:p>
        </p:txBody>
      </p:sp>
      <p:sp>
        <p:nvSpPr>
          <p:cNvPr id="24" name="Shape 21"/>
          <p:cNvSpPr/>
          <p:nvPr/>
        </p:nvSpPr>
        <p:spPr>
          <a:xfrm>
            <a:off x="4206240" y="4334256"/>
            <a:ext cx="1417320" cy="292608"/>
          </a:xfrm>
          <a:prstGeom prst="roundRect">
            <a:avLst>
              <a:gd name="adj" fmla="val 18750"/>
            </a:avLst>
          </a:prstGeom>
          <a:solidFill>
            <a:srgbClr val="FF5010"/>
          </a:solidFill>
          <a:ln/>
        </p:spPr>
      </p:sp>
      <p:sp>
        <p:nvSpPr>
          <p:cNvPr id="25" name="Text 22"/>
          <p:cNvSpPr/>
          <p:nvPr/>
        </p:nvSpPr>
        <p:spPr>
          <a:xfrm>
            <a:off x="4206240" y="433425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26" name="Text 23"/>
          <p:cNvSpPr/>
          <p:nvPr/>
        </p:nvSpPr>
        <p:spPr>
          <a:xfrm>
            <a:off x="960120" y="484632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Print after waitUntil returns, and print inside .whenCanceled(...). Confirm you only ever see one, never both.</a:t>
            </a:r>
            <a:endParaRPr lang="en-US" sz="2000" dirty="0"/>
          </a:p>
        </p:txBody>
      </p:sp>
      <p:sp>
        <p:nvSpPr>
          <p:cNvPr id="27" name="Text 24"/>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DISTANCE &amp; COMMANDS</a:t>
            </a:r>
            <a:endParaRPr lang="en-US" sz="2000" dirty="0"/>
          </a:p>
        </p:txBody>
      </p:sp>
      <p:sp>
        <p:nvSpPr>
          <p:cNvPr id="28" name="Text 25"/>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12</a:t>
            </a:r>
            <a:endParaRPr lang="en-US" sz="2000" dirty="0"/>
          </a:p>
        </p:txBody>
      </p:sp>
      <p:pic>
        <p:nvPicPr>
          <p:cNvPr id="29"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graduationca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WHAT YOU LEARNED</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Units you built, and a command that ends itself</a:t>
            </a:r>
            <a:endParaRPr lang="en-US" sz="3000" dirty="0"/>
          </a:p>
        </p:txBody>
      </p:sp>
      <p:sp>
        <p:nvSpPr>
          <p:cNvPr id="6" name="Text 3"/>
          <p:cNvSpPr/>
          <p:nvPr/>
        </p:nvSpPr>
        <p:spPr>
          <a:xfrm>
            <a:off x="640080" y="1600200"/>
            <a:ext cx="6309360" cy="420624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2000" dirty="0">
                <a:solidFill>
                  <a:srgbClr val="13294B"/>
                </a:solidFill>
                <a:latin typeface="Calibri" pitchFamily="34" charset="0"/>
                <a:ea typeface="Calibri" pitchFamily="34" charset="-122"/>
                <a:cs typeface="Calibri" pitchFamily="34" charset="-120"/>
              </a:rPr>
              <a:t>Gear ratio and wheel circumference turn rotor rotations into meters; setPosition(0) rezeros the encoder for a relative distance.</a:t>
            </a:r>
            <a:endParaRPr lang="en-US" sz="2000" dirty="0"/>
          </a:p>
          <a:p>
            <a:pPr marL="342900" indent="-342900">
              <a:lnSpc>
                <a:spcPct val="115000"/>
              </a:lnSpc>
              <a:spcAft>
                <a:spcPts val="1000"/>
              </a:spcAft>
              <a:buSzPct val="100000"/>
              <a:buChar char="•"/>
            </a:pPr>
            <a:r>
              <a:rPr lang="en-US" sz="2000" dirty="0">
                <a:solidFill>
                  <a:srgbClr val="13294B"/>
                </a:solidFill>
                <a:latin typeface="Calibri" pitchFamily="34" charset="0"/>
                <a:ea typeface="Calibri" pitchFamily="34" charset="-122"/>
                <a:cs typeface="Calibri" pitchFamily="34" charset="-120"/>
              </a:rPr>
              <a:t>A coroutine body that runs out of lines finishes — no park(), no more code, done. coroutine.waitUntil(condition) is the shape.</a:t>
            </a:r>
            <a:endParaRPr lang="en-US" sz="2000" dirty="0"/>
          </a:p>
          <a:p>
            <a:pPr marL="342900" indent="-342900">
              <a:lnSpc>
                <a:spcPct val="115000"/>
              </a:lnSpc>
              <a:spcAft>
                <a:spcPts val="1000"/>
              </a:spcAft>
              <a:buSzPct val="100000"/>
              <a:buChar char="•"/>
            </a:pPr>
            <a:r>
              <a:rPr lang="en-US" sz="2000" dirty="0">
                <a:solidFill>
                  <a:srgbClr val="13294B"/>
                </a:solidFill>
                <a:latin typeface="Calibri" pitchFamily="34" charset="0"/>
                <a:ea typeface="Calibri" pitchFamily="34" charset="-122"/>
                <a:cs typeface="Calibri" pitchFamily="34" charset="-120"/>
              </a:rPr>
              <a:t>Finished and canceled are different events — driveDistance is the first command that needs cleanup written twice.</a:t>
            </a:r>
            <a:endParaRPr lang="en-US" sz="2000" dirty="0"/>
          </a:p>
        </p:txBody>
      </p:sp>
      <p:sp>
        <p:nvSpPr>
          <p:cNvPr id="7" name="Shape 4"/>
          <p:cNvSpPr/>
          <p:nvPr/>
        </p:nvSpPr>
        <p:spPr>
          <a:xfrm>
            <a:off x="7269480" y="1600200"/>
            <a:ext cx="4297680" cy="4434840"/>
          </a:xfrm>
          <a:prstGeom prst="roundRect">
            <a:avLst>
              <a:gd name="adj" fmla="val 2553"/>
            </a:avLst>
          </a:prstGeom>
          <a:solidFill>
            <a:srgbClr val="0B1F3A"/>
          </a:solidFill>
          <a:ln/>
        </p:spPr>
      </p:sp>
      <p:sp>
        <p:nvSpPr>
          <p:cNvPr id="8" name="Text 5"/>
          <p:cNvSpPr/>
          <p:nvPr/>
        </p:nvSpPr>
        <p:spPr>
          <a:xfrm>
            <a:off x="7589520" y="1920240"/>
            <a:ext cx="3657600" cy="365760"/>
          </a:xfrm>
          <a:prstGeom prst="rect">
            <a:avLst/>
          </a:prstGeom>
          <a:noFill/>
          <a:ln/>
        </p:spPr>
        <p:txBody>
          <a:bodyPr wrap="square" lIns="0" tIns="0" rIns="0" bIns="0" rtlCol="0" anchor="ctr"/>
          <a:lstStyle/>
          <a:p>
            <a:pPr indent="0" marL="0">
              <a:buNone/>
            </a:pPr>
            <a:r>
              <a:rPr lang="en-US" sz="2000" b="1" spc="150" kern="0" dirty="0">
                <a:solidFill>
                  <a:srgbClr val="1B9AAA"/>
                </a:solidFill>
                <a:latin typeface="Calibri" pitchFamily="34" charset="0"/>
                <a:ea typeface="Calibri" pitchFamily="34" charset="-122"/>
                <a:cs typeface="Calibri" pitchFamily="34" charset="-120"/>
              </a:rPr>
              <a:t>NEXT</a:t>
            </a:r>
            <a:endParaRPr lang="en-US" sz="2000" dirty="0"/>
          </a:p>
        </p:txBody>
      </p:sp>
      <p:sp>
        <p:nvSpPr>
          <p:cNvPr id="9" name="Text 6"/>
          <p:cNvSpPr/>
          <p:nvPr/>
        </p:nvSpPr>
        <p:spPr>
          <a:xfrm>
            <a:off x="7589520" y="2331720"/>
            <a:ext cx="3657600" cy="502920"/>
          </a:xfrm>
          <a:prstGeom prst="rect">
            <a:avLst/>
          </a:prstGeom>
          <a:noFill/>
          <a:ln/>
        </p:spPr>
        <p:txBody>
          <a:bodyPr wrap="square" lIns="0" tIns="0" rIns="0" bIns="0" rtlCol="0" anchor="ctr"/>
          <a:lstStyle/>
          <a:p>
            <a:pPr indent="0" marL="0">
              <a:buNone/>
            </a:pPr>
            <a:r>
              <a:rPr lang="en-US" sz="2600" b="1" dirty="0">
                <a:solidFill>
                  <a:srgbClr val="FF5010"/>
                </a:solidFill>
                <a:latin typeface="Cambria" pitchFamily="34" charset="0"/>
                <a:ea typeface="Cambria" pitchFamily="34" charset="-122"/>
                <a:cs typeface="Cambria" pitchFamily="34" charset="-120"/>
              </a:rPr>
              <a:t>Lesson 7</a:t>
            </a:r>
            <a:endParaRPr lang="en-US" sz="2600" dirty="0"/>
          </a:p>
        </p:txBody>
      </p:sp>
      <p:sp>
        <p:nvSpPr>
          <p:cNvPr id="10" name="Text 7"/>
          <p:cNvSpPr/>
          <p:nvPr/>
        </p:nvSpPr>
        <p:spPr>
          <a:xfrm>
            <a:off x="7589520" y="2834640"/>
            <a:ext cx="365760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Four Modules</a:t>
            </a:r>
            <a:endParaRPr lang="en-US" sz="2200" dirty="0"/>
          </a:p>
        </p:txBody>
      </p:sp>
      <p:sp>
        <p:nvSpPr>
          <p:cNvPr id="11" name="Text 8"/>
          <p:cNvSpPr/>
          <p:nvPr/>
        </p:nvSpPr>
        <p:spPr>
          <a:xfrm>
            <a:off x="7589520" y="3474720"/>
            <a:ext cx="3657600" cy="1554480"/>
          </a:xfrm>
          <a:prstGeom prst="rect">
            <a:avLst/>
          </a:prstGeom>
          <a:noFill/>
          <a:ln/>
        </p:spPr>
        <p:txBody>
          <a:bodyPr wrap="square" lIns="0" tIns="0" rIns="0" bIns="0" rtlCol="0" anchor="t"/>
          <a:lstStyle/>
          <a:p>
            <a:pPr indent="0" marL="0">
              <a:lnSpc>
                <a:spcPct val="130000"/>
              </a:lnSpc>
              <a:buNone/>
            </a:pPr>
            <a:r>
              <a:rPr lang="en-US" sz="2000" i="1" dirty="0">
                <a:solidFill>
                  <a:srgbClr val="CADCE8"/>
                </a:solidFill>
                <a:latin typeface="Calibri" pitchFamily="34" charset="0"/>
                <a:ea typeface="Calibri" pitchFamily="34" charset="-122"/>
                <a:cs typeface="Calibri" pitchFamily="34" charset="-120"/>
              </a:rPr>
              <a:t>Turn one module into a real four-corner swerve chassis.</a:t>
            </a:r>
            <a:endParaRPr lang="en-US" sz="2000" dirty="0"/>
          </a:p>
        </p:txBody>
      </p:sp>
      <p:sp>
        <p:nvSpPr>
          <p:cNvPr id="12" name="Shape 9"/>
          <p:cNvSpPr/>
          <p:nvPr/>
        </p:nvSpPr>
        <p:spPr>
          <a:xfrm>
            <a:off x="7589520" y="5120640"/>
            <a:ext cx="502920" cy="502920"/>
          </a:xfrm>
          <a:prstGeom prst="ellipse">
            <a:avLst/>
          </a:prstGeom>
          <a:solidFill>
            <a:srgbClr val="1B9AAA"/>
          </a:solidFill>
          <a:ln/>
        </p:spPr>
      </p:sp>
      <p:pic>
        <p:nvPicPr>
          <p:cNvPr id="13" name="Image 1" descr="/home/user/BasicRobotLessons/docs/presentations/v3/template/assets/icons/arrowright_white.png">    </p:cNvPr>
          <p:cNvPicPr>
            <a:picLocks noChangeAspect="1"/>
          </p:cNvPicPr>
          <p:nvPr/>
        </p:nvPicPr>
        <p:blipFill>
          <a:blip r:embed="rId2"/>
          <a:stretch>
            <a:fillRect/>
          </a:stretch>
        </p:blipFill>
        <p:spPr>
          <a:xfrm>
            <a:off x="7708392" y="5239512"/>
            <a:ext cx="265176" cy="265176"/>
          </a:xfrm>
          <a:prstGeom prst="rect">
            <a:avLst/>
          </a:prstGeom>
        </p:spPr>
      </p:pic>
      <p:sp>
        <p:nvSpPr>
          <p:cNvPr id="14" name="Text 10"/>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DISTANCE &amp; COMMANDS</a:t>
            </a:r>
            <a:endParaRPr lang="en-US" sz="2000" dirty="0"/>
          </a:p>
        </p:txBody>
      </p:sp>
      <p:sp>
        <p:nvSpPr>
          <p:cNvPr id="15" name="Text 11"/>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13</a:t>
            </a:r>
            <a:endParaRPr lang="en-US" sz="2000" dirty="0"/>
          </a:p>
        </p:txBody>
      </p:sp>
      <p:pic>
        <p:nvPicPr>
          <p:cNvPr id="16" name="Image 2" descr="/home/user/BasicRobotLessons/docs/presentations/v3/template/assets/logo/team5010-logo-onwhite.png">    </p:cNvPr>
          <p:cNvPicPr>
            <a:picLocks noChangeAspect="1"/>
          </p:cNvPicPr>
          <p:nvPr/>
        </p:nvPicPr>
        <p:blipFill>
          <a:blip r:embed="rId3"/>
          <a:stretch>
            <a:fillRect/>
          </a:stretch>
        </p:blipFill>
        <p:spPr>
          <a:xfrm>
            <a:off x="10957255" y="164592"/>
            <a:ext cx="777240" cy="60585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6 — Distance &amp; Commands</dc:title>
  <dc:subject>PptxGenJS Presentation</dc:subject>
  <dc:creator>Learn Java + Robot Programming</dc:creator>
  <cp:lastModifiedBy>Learn Java + Robot Programming</cp:lastModifiedBy>
  <cp:revision>1</cp:revision>
  <dcterms:created xsi:type="dcterms:W3CDTF">2026-09-21T13:29:39Z</dcterms:created>
  <dcterms:modified xsi:type="dcterms:W3CDTF">2026-09-21T13:29:39Z</dcterms:modified>
</cp:coreProperties>
</file>