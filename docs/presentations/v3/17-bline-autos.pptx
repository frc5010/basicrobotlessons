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9's autonomous was a script: drive a meter, turn, drive a meter. Today it becomes a path — points in field coordinates, drawn on a picture of the field, saved in a file you can redraw between matches — and the robot's job changes from "perform these moves in order" to "find the nearest point on that shape and chase it." That only works because Lesson 14 gave the robot a fused estimate of where it is, so this is where three lessons of localization work finally pay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B-Line's path model is a chain of Waypoints, TranslationTargets and RotationTargets, connected by straight lines rather than curves. Following a path is three separate control loops at once — distance-to-go, heading, and drift off the line. The speed limits in the path's config file aren't taste: whether the robot can stop where you asked is arithmetic you can do before it ever moves. Event markers fire an action partway along a path. And an opmode is built the moment it's selected, so an auto's path file is read — and, in the simulator, the robot set down at its start — while the robot is still disabled.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 script, and it works. But notice what it doesn't contain: any mention of where the robot is on the field. It's a sequence of relative nudges — go forward a bit, spin, go forward a bit. It's also stuck driving in straight lines and turning in place, because that's all driveDistance and turnToHeading know how to do. Lesson 10 gave this chassis the ability to translate and rotate simultaneously — full swerve freedom — and the autos have never once 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reframing is what makes the fused pose from Lesson 14 finally pay off. If you know where you are — really know, gyro and wheels and cameras all folded together — then "am I on the line?" is a question you can answer fifty times a second and fix. Most path libraries fit smooth splines through your points; B-Line connects them with lines and rounds the corners by handing off to the next segment early. You can look at a drawn path and know what the robot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ritual as Lesson 15's LimelightLib: BLine isn't in WPILib's online search list, so you install it by URL. The long URL names one exact commit, the one BLine tagged as its 2027.0.0-beta.1 release, for the same reason as Lesson 15's: BLine's own docs hand out a shorter link that follows whatever they publish next. The file it installs is BLine-Lib-2027.json — the 2027 build, written for this framework's Commands V3. BLine's 2026 build is a different file for a different command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BLine's classes live in packages under frc.robot.lib.BLine — frc.robot.lib.BLine.commands, frc.robot.lib.BLine.path, and a couple of others. So when you type import frc.robot.lib.BLine.path.Path; and it resolves to something you never wrote — in a package that isn't even your first.robot — that's not a mistake. It's just an unusual packaging choice, and it still comes from the 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B-Line drives your robot the same way a human driver does: it looks at where you are, decides on a chassis motion, and hands it over. So it needs two things from Drivetrain that aren't public yet. You've already written the reading half: Lesson 16's simulateChassis asked the kinematics the question backward — here are the four wheel velocities I'm measuring, what single chassis motion would produce them? Two callers now want the same answer, so it moves into its own method — the same "pull out a helper" move as Lesson 8's commandRotation. Both go with the other public accessors — getKinematics, getRotation, getModulePositions.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driveRobotRelative seems to do nothing: applyChassisSpeeds already exists and already does exactly this. But it's private — deliberately, since Lesson 10 — so that nothing outside Drivetrain could command the wheels without going through a command factory. A door punched in that wall on purpose, for one specific outside caller, is a normal and healthy thing to do; quietly making applyChassisSpeeds public would not be. Why isn't it a Command like everything else? Because B-Line is building the command. It needs a plain method it can call every tick from inside its own command. You write the method; the library decides when to call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 steered a module with those two lines. Lesson 8 turned to a heading. Lesson 11 drove to a pose. WPILib has had a class for this the whole time, and now you need three of them at once, so it's finally worth reaching for. A plain P loop is genuinely the right answer for path following, and I and D are a different lesson's problem. Beyond tidiness, the class remembers the previous error so it can compute a derivative, accumulates error so it can integrate, and can be told a tolerance and asked whether it's there yet. B-Line uses all of that inside its follower — you just hand it the controllers.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loops pull in different directions. Translation drives faster when there's a lot of path left and eases off as you arrive. Rotation spins the chassis toward the heading the path asked for, with no regard for the driving — because swerve. Cross-track catches what neither of the others notices: you're headed the right way at the right speed, but you're half a meter to the left of the line. That's why the numbers are all in the same ballpark despite measuring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kTranslationP is meters per second of speed for every meter of path left; kRotationP is radians per second for every radian of heading error; kCrossTrackP is meters per second of sideways push for every meter off the line. Section 5 comes back to kTranslationP, because it's half of the arithmetic that decides whether the robot can stop where you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BLine Web is a path editor that runs in your browser: drop points on a picture of the field, drag them around, and export a .json file. The 2027 build you installed has its own beta editor, which BLine's 2027 guide lists at web-beta.bline-web.pages.dev — use that one, not the 2026 editor. Whether you draw it or type it, the result is a JSON file, and you should see one so the editor stops being magic. You want to say "where" and "which way" separately instead of pretending each corner needs a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Anything under src/main/deploy/ gets copied onto the robot next to your program when you deploy — it's for the files your code needs to read rather than compile. Paths are exactly that kind of file: you want to redraw one between matches without recompiling anything. The simulator reads from the same folder, so a path you drop in works in sim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simulated robot starts at (3, 3) facing 0° — that's DriveConstants.kSimStartingPose from Lesson 16 — so this path starts there too. A t_ratio of 0.5 is "halfway along this segment": rotations get placed by fraction-of-segment rather than by coordinate, since they don't have a position of their own. The simulated field is empty — Lesson 16's chassis has no walls and nothing to bump into — so a path can cross places a real robot couldn't. When you draw paths for a real field, draw them around its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event_trigger element is for section 9 — leave it in for now. Angles here are radians, not degrees: 1.5707963 is 90° and 3.1415927 is 180°. The editor writes them for you; this is mostly a warning for when you hand-edit and wonder why 90 sent the robot somewhere strange.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"profiled_rotation": true is what makes "by halfway up the next leg" true. With it, the heading the path asks for turns gradually, in step with how far along the path you are. Leave it out and the robot turns to face the next heading as fast as it can, the moment that target becomes the next one — on this path, that means it's already facing 90° before it reaches the first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config.json is not optional. B-Line reads it every time it loads a path, so a missing file is an error the moment the path loads, not a quiet default. The last number, handoff radius, is the cornering knob: how close the robot has to get to a point before it gives up on it and starts driving to the next one. The first two numbers deserve more than a glance, because they're not taste — that's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translation loop just asks for kTranslationP × distance left, capped at the max speed, and the acceleration limit decides how fast the robot is allowed to change what it's doing. The loop starts slowing the robot when 5.0 × distance left drops below the top speed — at 2 m/s, that's 0.4 m from the end. Stopping from 2 m/s at 6 m/s² takes 0.33 m. 0.33 m of stopping fits inside 0.4 m of warning, so the robot arrives. At 3 m/s it wouldn't. The same limit governs corners — turning 2 m/s of "east" into 2 m/s of "north" is a change in velocity like any other — and with these numbers the robot swings roughly 5–12 cm past the first corner. If one thing from this lesson sticks, make it this: you can do this math before the robot ever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robots carry several autos, and having two here makes something visible in section 7 that one path would hide. It starts at the same place as Two Corners, then runs past the middle of the field and turns right, ending up facing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B-Line needs a handful of facts about your specific robot before it can drive it down a line, and FollowPath.Builder is where you hand them over. Once it has them, build(path) turns a Path into an ordinary Commands V3 Command. Everything about following a path lives in Autos, next to driveTurnDrive, because it's all about autonomous — so that's where the builder gets made. Nine arguments, and you've already met every idea 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argument says what kind of drivetrain this is — B-Line can drive tank and mecanum robots too, and it follows a path differently for each. The second is the mechanism the command requires — Lesson 9's mutual exclusion, so your teleop drive command steps aside while a path is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four arguments are section 3's two new doors plus Lesson 14's pose and reset, all handed over as method references. drivetrain::driveRobotRelative doesn't return anything — B-Line calls it, every tick, with the chassis motion it has decided on. localizer::resetPose is the same shape: B-Line calls it with a pose. You're not handing over a value, or even a way to get one. You're handing over a verb. The three PIDControllers come in the order the builder expects them, and they have to be three separate objects — hand the builder the same controller twice and it throws an error the moment it's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why makePathBuilder takes only the drivetrain and the localizer, and why it hands back the builder instead of a finished command. One builder means one set of controllers for every auto, and that's safe: every command the builder makes requires the drivetrain, so the scheduler guarantees only one of them is ever running. And B-Line resets the controllers each time a path starts, so each run starts clean. The telemetry — cross-track error, distance left, which point it's heading for — is what section 10 plots.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takes a Path — a path file, already read in; section 7 is where that happens. withPoseReset() asks B-Line to call localizer::resetPose with the path's starting pose the moment the path starts. On a real field that's true because a person put the robot there, which is exactly why it's worth doing — the estimate starts the auto knowing where the robot is instead of guessing. Hold on to that "because a person put it there"; section 8 is about what happens when nobody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builder needs a home that's built once and reachable from every autonomous opmode, and you already have exactly that place. It goes in Robot for the same reason the drivetrain does: opmodes are rebuilt every time they're selected, and Robot is the thing that lives for the whole program. It's a field initializer that uses drivetrain and localizer, so it has to come after both — it does, since they're declared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Lesson 9 you learned how this framework offers a choice of autos: every @Autonomous class is its own entry on the Driver Station's opmode selector. A path auto is one more of those. The class name RobotAutoFarSide appears in both places — the class line and the constructor — and the path file's name is "FarSide". It's the same pattern Lesson 9 set up with Do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 "Two Corners" is what the opmode selector shows; group = "Paths" sorts it into its own group. The robot field holds the Robot that the framework hands every opmode's constructor, the same as Lesson 9's RobotAuto.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Path("TwoCorners") opens deploy/autos/paths/TwoCorners.json, reads it, and reads config.json alongside it — the .json is added for you. The autonomous trigger is the same one Lesson 9's RobotAuto uses: it schedules the path the moment autonomous is enabled.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opmode's constructor runs the moment it's selected on the Driver Station — not when you enable. That's how Lesson 9's binding got scoped to its opmode, and it has a second consequence here: the new Path(...) line runs at selection time too. That matters more than it sounds. Reading and checking a file isn't free, and the start of autonomous is the one moment you can't afford to spend on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that promise and the robot gets told a pose it isn't at. The cameras still see where it really is, so within about a second they drag the estimate's position back to the truth. They don't fix its heading, so the robot goes on believing it faces the wrong way and drives off in strange directions. SimGUI's DS window says Red 1, and the first time you click Autonomous it tells the robot so. withDefaultShouldFlip() from section 6 does exactly its job — it mirrors the path to the red end of the field and resets the estimate there — while the simulated robot is still sitting at the blue start, most of a field away. So do the person's job in the simulator: when an auto is selected, set the simulated robot down where that auto starts. Three small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ChassisSimulation is Lesson 16's ground truth — the one place that knows where the simulated chassis really is. Setting it down means replacing its pose and zeroing its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real robot there's no m_chassisSim, because a person does this job. Nothing else needs telling, either: Lesson 16's GyroIOSim reads its heading straight off the simulated chassis, so the gyro turns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piece answers "where does this auto start?", on whichever side of the field the robot is playing. FlippingUtil.flipFieldPose comes from B-Line itself, so the robot is set down exactly where the flipped path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Lesson 15's Optional — a box that might be empty. getAuthoredStartPose() is one because a path could begin with a bare rotation and have no starting spot of its own; if you ever draw one like that, .get() crashes right there, which is what you'd want. MatchState.getAlliance() is the other: until the Driver Station says, there is no alliance. Then FlippingUtil.flipFieldPose mirrors the pose the same way B-Line mirrors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constructor is exactly the right moment, for the same reason it's the right moment to read the file: it runs when the auto is selected, while the robot is disabled — when, on a real field, someone is setting the robot down. And it runs again every time you disable after an auto has run, because the framework rebuilds the opmode then. So every run starts from the start, on whichever side of the field you're playing. Make the same change in RobotAutoFarSide.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autos do things along the way — spin up a shooter while still driving, drop an intake before arriving. The name is the link: a path file refers to a marker by lib_key, and your code registers what that key should do. Registration is static — B-Line keeps one table for the whole program, not one per path — so it happens once, and once for the whole program means the constructor of the thing that lives for the whole program. The second argument is a lambda that takes nothing and returns nothing — a plain action, which Java calls a Runnable. B-Line runs it once, on the loop after the robot passes the marker. It has to be quick: it runs inside the robot's loop. registerEventTrigger also accepts a Command, for an event that needs to keep running for a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B-Line looks the name up when the robot reaches the marker, not when the path loads, and an unknown key just logs "FollowPath: Unregistered event trigger key: Shoot" and keeps driving. So if a marker never seems to fire, check the console for that line before you go hunting in the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works too now — that's Try It #6 — but the numbers in this walkthrough are for blue. Pick Far Side and the Creating OpMode line prints again for that one; pick Two Corners back before you enable. The robot finishes within the tolerances in config.json — within 5 cm and 2° — so don't be surprised to read 178.3° rather than 180°. If you want to watch section 8's problem happen, comment out the placeSimulatedRobot line and run twice without restarting.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it the way you've watched every closed-loop lesson since Lesson 5 — asked-for against measured. Event: shoot! shows up in the console about 80% of the way up the second leg. FollowPath/crossTrackError is the cross-track loop's error and FollowPath/remainingPathDistanceMeters is the translation loop's. The cross-track error jumps right at the corner because the robot is still on the first leg's line when it starts measuring against the second's, then shrinks back toward zero as the cross-track loop pulls the robot onto the second leg.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It should be one new JSON file and one new opmode whose constructor is Two Corners' three lines with a different file name. Your path can start anywhere — the robot is set down wherever it begins. 2: In this course's sim, a 0.05 handoff swings the robot about half a meter past the first corner instead of 5–12 cm, and takes half a second longer — a later handoff means it drives into the corner at full speed before it starts turning. At 3 m/s, section 5's arithmetic says it can't stop in time: it sails roughly 30 cm past the end and about 60 cm past the first corner. Then change the acceleration so the arithmetic works again. 3: With kCrossTrackP at 0.0 the robot swings about half a meter wide at the corner, because nothing pulls it back onto the second leg. At 15.0 it swings back and forth across the line near the end — about a third of a meter each way — and is still swinging 30 seconds later. Plot FollowPath/crossTrackError for both. 4: A library-built command and one you wrote are both just Commands, so Lesson 9's Command.noRequirements(coroutine -&gt; { ... }) with two coroutine.await(...) calls is all it 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is a real code edit in registerEventTriggers; confirm on the plot that the value flips where you placed the marker. 6 needs no code: the robot is set down at the red end, (13.54, 5.07) facing 180°, and runs the same shape rotated half a turn, finishing near (10.54, 2.07) facing 0°. Nothing in your code changed — withDefaultShouldFlip() and startPose agree about which side of the field you're on. If startPose didn't flip, you'd be back to section 8's problem: a flipped path, and a robot set down at the blue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switch is only possible because of what Lesson 14 built: chasing a line requires knowing where you are, continuously and honestly. Two habits outlive B-Line entirely. Build the unchanging thing once — one FollowPath.Builder in Robot serves every path. And notice when your code runs, not just what it does. withPoseReset() is a promise about the world — "a person put the robot here" — and in the simulator you had to keep it yourself, at the same moment a person would. The drivetrain half of this course is done. Your robot drives itself along drawn paths, knows where it is from three kinds of evidence, and lives in a simulated world with real limits on grip. What it doesn't have is anything to do when it arrives. That's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17</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B-Line Autos</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A path is a shape on the field, and the robot chases it</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  ·  BLine 2027.0.0-beta.1</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hoeprint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Retire the script, follow a drawn path</a:t>
            </a:r>
            <a:endParaRPr lang="en-US" sz="3000" dirty="0"/>
          </a:p>
        </p:txBody>
      </p:sp>
      <p:sp>
        <p:nvSpPr>
          <p:cNvPr id="6" name="Shape 3"/>
          <p:cNvSpPr/>
          <p:nvPr/>
        </p:nvSpPr>
        <p:spPr>
          <a:xfrm>
            <a:off x="640080" y="1463040"/>
            <a:ext cx="10881360" cy="1600200"/>
          </a:xfrm>
          <a:prstGeom prst="roundRect">
            <a:avLst>
              <a:gd name="adj" fmla="val 5714"/>
            </a:avLst>
          </a:prstGeom>
          <a:solidFill>
            <a:srgbClr val="F3F6FA"/>
          </a:solidFill>
          <a:ln/>
        </p:spPr>
      </p:sp>
      <p:sp>
        <p:nvSpPr>
          <p:cNvPr id="7" name="Text 4"/>
          <p:cNvSpPr/>
          <p:nvPr/>
        </p:nvSpPr>
        <p:spPr>
          <a:xfrm>
            <a:off x="960120" y="1581912"/>
            <a:ext cx="10241280" cy="1371600"/>
          </a:xfrm>
          <a:prstGeom prst="rect">
            <a:avLst/>
          </a:prstGeom>
          <a:noFill/>
          <a:ln/>
        </p:spPr>
        <p:txBody>
          <a:bodyPr wrap="square" lIns="0" tIns="0" rIns="0" bIns="0" rtlCol="0" anchor="ctr"/>
          <a:lstStyle/>
          <a:p>
            <a:pPr indent="0" marL="0">
              <a:lnSpc>
                <a:spcPct val="120000"/>
              </a:lnSpc>
              <a:buNone/>
            </a:pPr>
            <a:r>
              <a:rPr lang="en-US" sz="1800" i="1" dirty="0">
                <a:solidFill>
                  <a:srgbClr val="13294B"/>
                </a:solidFill>
                <a:latin typeface="Cambria" pitchFamily="34" charset="0"/>
                <a:ea typeface="Cambria" pitchFamily="34" charset="-122"/>
                <a:cs typeface="Cambria" pitchFamily="34" charset="-120"/>
              </a:rPr>
              <a:t>Replace hand-composed drive-turn-drive autos with a real path — drawn as points on a picture of the field, saved as a file, and followed continuously against Lesson 14's fused pose — with one autonomous opmode per path.</a:t>
            </a:r>
            <a:endParaRPr lang="en-US" sz="1800" dirty="0"/>
          </a:p>
        </p:txBody>
      </p:sp>
      <p:sp>
        <p:nvSpPr>
          <p:cNvPr id="8" name="Shape 5"/>
          <p:cNvSpPr/>
          <p:nvPr/>
        </p:nvSpPr>
        <p:spPr>
          <a:xfrm>
            <a:off x="640080" y="324612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355848"/>
            <a:ext cx="237744" cy="237744"/>
          </a:xfrm>
          <a:prstGeom prst="rect">
            <a:avLst/>
          </a:prstGeom>
        </p:spPr>
      </p:pic>
      <p:sp>
        <p:nvSpPr>
          <p:cNvPr id="10" name="Text 6"/>
          <p:cNvSpPr/>
          <p:nvPr/>
        </p:nvSpPr>
        <p:spPr>
          <a:xfrm>
            <a:off x="1234440" y="327355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813048"/>
            <a:ext cx="5257800" cy="24688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PIDController — the class behind the P control you've written by hand</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Method references as actions, not just values</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The deploy folder — files the robot reads, not code</a:t>
            </a:r>
            <a:endParaRPr lang="en-US" sz="1900" dirty="0"/>
          </a:p>
        </p:txBody>
      </p:sp>
      <p:sp>
        <p:nvSpPr>
          <p:cNvPr id="12" name="Shape 8"/>
          <p:cNvSpPr/>
          <p:nvPr/>
        </p:nvSpPr>
        <p:spPr>
          <a:xfrm>
            <a:off x="6309360" y="3246120"/>
            <a:ext cx="457200" cy="457200"/>
          </a:xfrm>
          <a:prstGeom prst="ellipse">
            <a:avLst/>
          </a:prstGeom>
          <a:solidFill>
            <a:srgbClr val="FF5010"/>
          </a:solidFill>
          <a:ln/>
        </p:spPr>
      </p:sp>
      <p:pic>
        <p:nvPicPr>
          <p:cNvPr id="13" name="Image 2" descr="/home/user/BasicRobotLessons/docs/presentations/v3/template/assets/icons/robot_white.png">    </p:cNvPr>
          <p:cNvPicPr>
            <a:picLocks noChangeAspect="1"/>
          </p:cNvPicPr>
          <p:nvPr/>
        </p:nvPicPr>
        <p:blipFill>
          <a:blip r:embed="rId3"/>
          <a:stretch>
            <a:fillRect/>
          </a:stretch>
        </p:blipFill>
        <p:spPr>
          <a:xfrm>
            <a:off x="6419088" y="3355848"/>
            <a:ext cx="237744" cy="237744"/>
          </a:xfrm>
          <a:prstGeom prst="rect">
            <a:avLst/>
          </a:prstGeom>
        </p:spPr>
      </p:pic>
      <p:sp>
        <p:nvSpPr>
          <p:cNvPr id="14" name="Text 9"/>
          <p:cNvSpPr/>
          <p:nvPr/>
        </p:nvSpPr>
        <p:spPr>
          <a:xfrm>
            <a:off x="6903720" y="327355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813048"/>
            <a:ext cx="5257800" cy="24688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B-Line's path model: straight segments</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Three loops at once</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Speed limits are physics — can it stop?</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Event markers along a path</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An opmode is built when it's selected</a:t>
            </a:r>
            <a:endParaRPr lang="en-US" sz="19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histor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 · WHAT DRIVE-TURN-DRIVE CAN'T DO</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script of nudges, with no idea where it is</a:t>
            </a:r>
            <a:endParaRPr lang="en-US" sz="3000" dirty="0"/>
          </a:p>
        </p:txBody>
      </p:sp>
      <p:sp>
        <p:nvSpPr>
          <p:cNvPr id="6" name="Shape 3"/>
          <p:cNvSpPr/>
          <p:nvPr/>
        </p:nvSpPr>
        <p:spPr>
          <a:xfrm>
            <a:off x="640080" y="1280160"/>
            <a:ext cx="10881360" cy="2697480"/>
          </a:xfrm>
          <a:prstGeom prst="roundRect">
            <a:avLst>
              <a:gd name="adj" fmla="val 406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 this is code you already have (Autos.driveTurnDrive)</a:t>
            </a:r>
            <a:endParaRPr lang="en-US" sz="1500" dirty="0"/>
          </a:p>
        </p:txBody>
      </p:sp>
      <p:sp>
        <p:nvSpPr>
          <p:cNvPr id="11" name="Text 8"/>
          <p:cNvSpPr/>
          <p:nvPr/>
        </p:nvSpPr>
        <p:spPr>
          <a:xfrm>
            <a:off x="914400" y="1737360"/>
            <a:ext cx="10195560" cy="2039112"/>
          </a:xfrm>
          <a:prstGeom prst="rect">
            <a:avLst/>
          </a:prstGeom>
          <a:noFill/>
          <a:ln/>
        </p:spPr>
        <p:txBody>
          <a:bodyPr wrap="square" lIns="0" tIns="0" rIns="0" bIns="0" rtlCol="0" anchor="t"/>
          <a:lstStyle/>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return Command.noRequirements(coroutine -&gt;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coroutine.await(drivetrain.driveDistance(1.0));  // step 1: forward 1 meter</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coroutine.await(drivetrain.turnToHeading(90));   // step 2: face 90°</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coroutine.await(drivetrain.driveDistance(1.0));  // step 3: forward 1 meter</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.named("Drive Turn Drive");</a:t>
            </a:r>
            <a:endParaRPr lang="en-US" sz="1400" dirty="0"/>
          </a:p>
        </p:txBody>
      </p:sp>
      <p:sp>
        <p:nvSpPr>
          <p:cNvPr id="12" name="Shape 9"/>
          <p:cNvSpPr/>
          <p:nvPr/>
        </p:nvSpPr>
        <p:spPr>
          <a:xfrm>
            <a:off x="640080" y="4206240"/>
            <a:ext cx="10881360" cy="2103120"/>
          </a:xfrm>
          <a:prstGeom prst="roundRect">
            <a:avLst>
              <a:gd name="adj" fmla="val 4348"/>
            </a:avLst>
          </a:prstGeom>
          <a:solidFill>
            <a:srgbClr val="F3F6FA"/>
          </a:solidFill>
          <a:ln/>
        </p:spPr>
      </p:sp>
      <p:sp>
        <p:nvSpPr>
          <p:cNvPr id="13" name="Text 10"/>
          <p:cNvSpPr/>
          <p:nvPr/>
        </p:nvSpPr>
        <p:spPr>
          <a:xfrm>
            <a:off x="914400" y="448056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Errors don't cancel — they stack</a:t>
            </a:r>
            <a:endParaRPr lang="en-US" sz="2200" dirty="0"/>
          </a:p>
        </p:txBody>
      </p:sp>
      <p:sp>
        <p:nvSpPr>
          <p:cNvPr id="14" name="Text 11"/>
          <p:cNvSpPr/>
          <p:nvPr/>
        </p:nvSpPr>
        <p:spPr>
          <a:xfrm>
            <a:off x="914400" y="5058410"/>
            <a:ext cx="10332720" cy="97663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Each step starts wherever the last one ended. Bump the robot at the start and every step after it is wrong by that much, with nothing in the code that could notice.</a:t>
            </a:r>
            <a:endParaRPr lang="en-US" sz="19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shoeprint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THE WHOLE LESSON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 path isn't a list of moves — it's a shape</a:t>
            </a:r>
            <a:endParaRPr lang="en-US" sz="3000" dirty="0"/>
          </a:p>
        </p:txBody>
      </p:sp>
      <p:sp>
        <p:nvSpPr>
          <p:cNvPr id="6" name="Shape 3"/>
          <p:cNvSpPr/>
          <p:nvPr/>
        </p:nvSpPr>
        <p:spPr>
          <a:xfrm>
            <a:off x="640080" y="1554480"/>
            <a:ext cx="10881360" cy="2331720"/>
          </a:xfrm>
          <a:prstGeom prst="roundRect">
            <a:avLst>
              <a:gd name="adj" fmla="val 3922"/>
            </a:avLst>
          </a:prstGeom>
          <a:solidFill>
            <a:srgbClr val="132A4C"/>
          </a:solidFill>
          <a:ln/>
        </p:spPr>
      </p:sp>
      <p:sp>
        <p:nvSpPr>
          <p:cNvPr id="7" name="Text 4"/>
          <p:cNvSpPr/>
          <p:nvPr/>
        </p:nvSpPr>
        <p:spPr>
          <a:xfrm>
            <a:off x="914400" y="18288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The robot's job: chase the nearest point on the shape, continuously</a:t>
            </a:r>
            <a:endParaRPr lang="en-US" sz="2200" dirty="0"/>
          </a:p>
        </p:txBody>
      </p:sp>
      <p:sp>
        <p:nvSpPr>
          <p:cNvPr id="8" name="Text 5"/>
          <p:cNvSpPr/>
          <p:nvPr/>
        </p:nvSpPr>
        <p:spPr>
          <a:xfrm>
            <a:off x="914400" y="2406650"/>
            <a:ext cx="10332720" cy="120523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Drift off the line, for any reason, and the follower simply drives back. It doesn't need to know why you were off — it only needs to know where you are, which Lesson 14 gave you.</a:t>
            </a:r>
            <a:endParaRPr lang="en-US" sz="1900" dirty="0"/>
          </a:p>
        </p:txBody>
      </p:sp>
      <p:sp>
        <p:nvSpPr>
          <p:cNvPr id="9" name="Shape 6"/>
          <p:cNvSpPr/>
          <p:nvPr/>
        </p:nvSpPr>
        <p:spPr>
          <a:xfrm>
            <a:off x="640080" y="4069080"/>
            <a:ext cx="10881360" cy="2240280"/>
          </a:xfrm>
          <a:prstGeom prst="roundRect">
            <a:avLst>
              <a:gd name="adj" fmla="val 4082"/>
            </a:avLst>
          </a:prstGeom>
          <a:solidFill>
            <a:srgbClr val="132A4C"/>
          </a:solidFill>
          <a:ln/>
        </p:spPr>
      </p:sp>
      <p:sp>
        <p:nvSpPr>
          <p:cNvPr id="10" name="Text 7"/>
          <p:cNvSpPr/>
          <p:nvPr/>
        </p:nvSpPr>
        <p:spPr>
          <a:xfrm>
            <a:off x="914400" y="43434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B-Line connects points with straight lines</a:t>
            </a:r>
            <a:endParaRPr lang="en-US" sz="2200" dirty="0"/>
          </a:p>
        </p:txBody>
      </p:sp>
      <p:sp>
        <p:nvSpPr>
          <p:cNvPr id="11" name="Text 8"/>
          <p:cNvSpPr/>
          <p:nvPr/>
        </p:nvSpPr>
        <p:spPr>
          <a:xfrm>
            <a:off x="914400" y="4921250"/>
            <a:ext cx="10332720" cy="111379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No curves fitted through your points: corners get rounded by handing off to the next segment early. Less elegant than splines, and much easier to reason about.</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4</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downlo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INSTALL BLINE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Installed by URL, like LimelightLib</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Ctrl+Shift+P → WPILib: Manage Vendor Libraries</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Then Install new library (online) — BLine isn't in the search list.</a:t>
            </a:r>
            <a:endParaRPr lang="en-US" sz="2000" dirty="0"/>
          </a:p>
        </p:txBody>
      </p:sp>
      <p:sp>
        <p:nvSpPr>
          <p:cNvPr id="10" name="Shape 7"/>
          <p:cNvSpPr/>
          <p:nvPr/>
        </p:nvSpPr>
        <p:spPr>
          <a:xfrm>
            <a:off x="640080" y="2487168"/>
            <a:ext cx="502920" cy="502920"/>
          </a:xfrm>
          <a:prstGeom prst="ellipse">
            <a:avLst/>
          </a:prstGeom>
          <a:solidFill>
            <a:srgbClr val="1B9AAA"/>
          </a:solidFill>
          <a:ln/>
        </p:spPr>
      </p:sp>
      <p:sp>
        <p:nvSpPr>
          <p:cNvPr id="11" name="Text 8"/>
          <p:cNvSpPr/>
          <p:nvPr/>
        </p:nvSpPr>
        <p:spPr>
          <a:xfrm>
            <a:off x="640080" y="248716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41401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Paste the URL below</a:t>
            </a:r>
            <a:endParaRPr lang="en-US" sz="2000" dirty="0"/>
          </a:p>
        </p:txBody>
      </p:sp>
      <p:sp>
        <p:nvSpPr>
          <p:cNvPr id="13" name="Text 10"/>
          <p:cNvSpPr/>
          <p:nvPr/>
        </p:nvSpPr>
        <p:spPr>
          <a:xfrm>
            <a:off x="1371600" y="279806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It installs BLine-Lib-2027.json, the build for Commands V3.</a:t>
            </a:r>
            <a:endParaRPr lang="en-US" sz="2000" dirty="0"/>
          </a:p>
        </p:txBody>
      </p:sp>
      <p:sp>
        <p:nvSpPr>
          <p:cNvPr id="14" name="Shape 11"/>
          <p:cNvSpPr/>
          <p:nvPr/>
        </p:nvSpPr>
        <p:spPr>
          <a:xfrm>
            <a:off x="640080" y="3264408"/>
            <a:ext cx="502920" cy="502920"/>
          </a:xfrm>
          <a:prstGeom prst="ellipse">
            <a:avLst/>
          </a:prstGeom>
          <a:solidFill>
            <a:srgbClr val="1B9AAA"/>
          </a:solidFill>
          <a:ln/>
        </p:spPr>
      </p:sp>
      <p:sp>
        <p:nvSpPr>
          <p:cNvPr id="15" name="Text 12"/>
          <p:cNvSpPr/>
          <p:nvPr/>
        </p:nvSpPr>
        <p:spPr>
          <a:xfrm>
            <a:off x="640080" y="32644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19125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Rebuild: ./gradlew build</a:t>
            </a:r>
            <a:endParaRPr lang="en-US" sz="2000" dirty="0"/>
          </a:p>
        </p:txBody>
      </p:sp>
      <p:sp>
        <p:nvSpPr>
          <p:cNvPr id="17" name="Text 14"/>
          <p:cNvSpPr/>
          <p:nvPr/>
        </p:nvSpPr>
        <p:spPr>
          <a:xfrm>
            <a:off x="1371600" y="35753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 BLine-Lib.json in vendordeps is the 2026 build — remove it.</a:t>
            </a:r>
            <a:endParaRPr lang="en-US" sz="2000" dirty="0"/>
          </a:p>
        </p:txBody>
      </p:sp>
      <p:sp>
        <p:nvSpPr>
          <p:cNvPr id="18" name="Shape 15"/>
          <p:cNvSpPr/>
          <p:nvPr/>
        </p:nvSpPr>
        <p:spPr>
          <a:xfrm>
            <a:off x="640080" y="4114800"/>
            <a:ext cx="10881360" cy="1325880"/>
          </a:xfrm>
          <a:prstGeom prst="roundRect">
            <a:avLst>
              <a:gd name="adj" fmla="val 8276"/>
            </a:avLst>
          </a:prstGeom>
          <a:solidFill>
            <a:srgbClr val="0B1F3A"/>
          </a:solidFill>
          <a:ln/>
          <a:effectLst>
            <a:outerShdw sx="100000" sy="100000" kx="0" ky="0" algn="bl" rotWithShape="0" blurRad="101600" dist="38100" dir="5400000">
              <a:srgbClr val="0B1F3A">
                <a:alpha val="35000"/>
              </a:srgbClr>
            </a:outerShdw>
          </a:effectLst>
        </p:spPr>
      </p:sp>
      <p:sp>
        <p:nvSpPr>
          <p:cNvPr id="19" name="Shape 16"/>
          <p:cNvSpPr/>
          <p:nvPr/>
        </p:nvSpPr>
        <p:spPr>
          <a:xfrm>
            <a:off x="11210544" y="4261104"/>
            <a:ext cx="128016" cy="128016"/>
          </a:xfrm>
          <a:prstGeom prst="ellipse">
            <a:avLst/>
          </a:prstGeom>
          <a:solidFill>
            <a:srgbClr val="FF6B6B"/>
          </a:solidFill>
          <a:ln/>
        </p:spPr>
      </p:sp>
      <p:sp>
        <p:nvSpPr>
          <p:cNvPr id="20" name="Shape 17"/>
          <p:cNvSpPr/>
          <p:nvPr/>
        </p:nvSpPr>
        <p:spPr>
          <a:xfrm>
            <a:off x="11210544" y="4462272"/>
            <a:ext cx="128016" cy="128016"/>
          </a:xfrm>
          <a:prstGeom prst="ellipse">
            <a:avLst/>
          </a:prstGeom>
          <a:solidFill>
            <a:srgbClr val="FFD166"/>
          </a:solidFill>
          <a:ln/>
        </p:spPr>
      </p:sp>
      <p:sp>
        <p:nvSpPr>
          <p:cNvPr id="21" name="Shape 18"/>
          <p:cNvSpPr/>
          <p:nvPr/>
        </p:nvSpPr>
        <p:spPr>
          <a:xfrm>
            <a:off x="11210544" y="4663440"/>
            <a:ext cx="128016" cy="128016"/>
          </a:xfrm>
          <a:prstGeom prst="ellipse">
            <a:avLst/>
          </a:prstGeom>
          <a:solidFill>
            <a:srgbClr val="2EC4B6"/>
          </a:solidFill>
          <a:ln/>
        </p:spPr>
      </p:sp>
      <p:sp>
        <p:nvSpPr>
          <p:cNvPr id="22" name="Text 19"/>
          <p:cNvSpPr/>
          <p:nvPr/>
        </p:nvSpPr>
        <p:spPr>
          <a:xfrm>
            <a:off x="914400" y="42428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Paste into the dialog as ONE line</a:t>
            </a:r>
            <a:endParaRPr lang="en-US" sz="1500" dirty="0"/>
          </a:p>
        </p:txBody>
      </p:sp>
      <p:sp>
        <p:nvSpPr>
          <p:cNvPr id="23" name="Text 20"/>
          <p:cNvSpPr/>
          <p:nvPr/>
        </p:nvSpPr>
        <p:spPr>
          <a:xfrm>
            <a:off x="914400" y="4572000"/>
            <a:ext cx="10195560" cy="66751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https://raw.githubusercontent.com/edanliahovetsky/BLine-Lib/</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d9967810725ff861767ccde5c5d84981b9defc94/BLine-Lib-2027.json</a:t>
            </a:r>
            <a:endParaRPr lang="en-US" sz="1400" dirty="0"/>
          </a:p>
        </p:txBody>
      </p:sp>
      <p:sp>
        <p:nvSpPr>
          <p:cNvPr id="24" name="Shape 21"/>
          <p:cNvSpPr/>
          <p:nvPr/>
        </p:nvSpPr>
        <p:spPr>
          <a:xfrm>
            <a:off x="640080" y="5532120"/>
            <a:ext cx="10881360" cy="822960"/>
          </a:xfrm>
          <a:prstGeom prst="roundRect">
            <a:avLst>
              <a:gd name="adj" fmla="val 11111"/>
            </a:avLst>
          </a:prstGeom>
          <a:solidFill>
            <a:srgbClr val="F3F6FA"/>
          </a:solidFill>
          <a:ln/>
        </p:spPr>
      </p:sp>
      <p:sp>
        <p:nvSpPr>
          <p:cNvPr id="25" name="Text 22"/>
          <p:cNvSpPr/>
          <p:nvPr/>
        </p:nvSpPr>
        <p:spPr>
          <a:xfrm>
            <a:off x="777240" y="5669280"/>
            <a:ext cx="10607040" cy="5486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That long URL names the commit tagged 2027.0.0-beta.1. A commit can't change.</a:t>
            </a:r>
            <a:endParaRPr lang="en-US" sz="2000" dirty="0"/>
          </a:p>
        </p:txBody>
      </p:sp>
      <p:sp>
        <p:nvSpPr>
          <p:cNvPr id="26" name="Text 23"/>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27" name="Text 24"/>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28"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folde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2 · ONE THING THAT WILL LOOK WRONG</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BLine lives under frc.robot.lib.BLine</a:t>
            </a:r>
            <a:endParaRPr lang="en-US" sz="3000" dirty="0"/>
          </a:p>
        </p:txBody>
      </p:sp>
      <p:sp>
        <p:nvSpPr>
          <p:cNvPr id="6" name="Shape 3"/>
          <p:cNvSpPr/>
          <p:nvPr/>
        </p:nvSpPr>
        <p:spPr>
          <a:xfrm>
            <a:off x="640080" y="1554480"/>
            <a:ext cx="10881360" cy="2377440"/>
          </a:xfrm>
          <a:prstGeom prst="roundRect">
            <a:avLst>
              <a:gd name="adj" fmla="val 3846"/>
            </a:avLst>
          </a:prstGeom>
          <a:solidFill>
            <a:srgbClr val="132A4C"/>
          </a:solidFill>
          <a:ln/>
        </p:spPr>
      </p:sp>
      <p:sp>
        <p:nvSpPr>
          <p:cNvPr id="7" name="Text 4"/>
          <p:cNvSpPr/>
          <p:nvPr/>
        </p:nvSpPr>
        <p:spPr>
          <a:xfrm>
            <a:off x="914400" y="18288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Not your code, even though the package says frc.robot</a:t>
            </a:r>
            <a:endParaRPr lang="en-US" sz="2200" dirty="0"/>
          </a:p>
        </p:txBody>
      </p:sp>
      <p:sp>
        <p:nvSpPr>
          <p:cNvPr id="8" name="Text 5"/>
          <p:cNvSpPr/>
          <p:nvPr/>
        </p:nvSpPr>
        <p:spPr>
          <a:xfrm>
            <a:off x="914400" y="2406650"/>
            <a:ext cx="10332720" cy="125095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Every other library announced itself with a vendor's name — com.ctre.phoenix6, com.limelightvision. BLine chose frc.robot.lib.BLine. Unusual, not a mistake: it still comes from the jar.</a:t>
            </a:r>
            <a:endParaRPr lang="en-US" sz="1900" dirty="0"/>
          </a:p>
        </p:txBody>
      </p:sp>
      <p:sp>
        <p:nvSpPr>
          <p:cNvPr id="9" name="Shape 6"/>
          <p:cNvSpPr/>
          <p:nvPr/>
        </p:nvSpPr>
        <p:spPr>
          <a:xfrm>
            <a:off x="640080" y="4114800"/>
            <a:ext cx="10881360" cy="2194560"/>
          </a:xfrm>
          <a:prstGeom prst="roundRect">
            <a:avLst>
              <a:gd name="adj" fmla="val 4167"/>
            </a:avLst>
          </a:prstGeom>
          <a:solidFill>
            <a:srgbClr val="132A4C"/>
          </a:solidFill>
          <a:ln/>
        </p:spPr>
      </p:sp>
      <p:sp>
        <p:nvSpPr>
          <p:cNvPr id="10" name="Text 7"/>
          <p:cNvSpPr/>
          <p:nvPr/>
        </p:nvSpPr>
        <p:spPr>
          <a:xfrm>
            <a:off x="914400" y="438912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Four packages you'll import from</a:t>
            </a:r>
            <a:endParaRPr lang="en-US" sz="2200" dirty="0"/>
          </a:p>
        </p:txBody>
      </p:sp>
      <p:sp>
        <p:nvSpPr>
          <p:cNvPr id="11" name="Text 8"/>
          <p:cNvSpPr/>
          <p:nvPr/>
        </p:nvSpPr>
        <p:spPr>
          <a:xfrm>
            <a:off x="914400" y="4966970"/>
            <a:ext cx="10332720" cy="106807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.commands (FollowPath) · .path (Path) · .following (DriveType) · .field (FlippingUtil)</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6</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doo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Two new doors: read the motion, command a motion</a:t>
            </a:r>
            <a:endParaRPr lang="en-US" sz="3000" dirty="0"/>
          </a:p>
        </p:txBody>
      </p:sp>
      <p:sp>
        <p:nvSpPr>
          <p:cNvPr id="6" name="Shape 3"/>
          <p:cNvSpPr/>
          <p:nvPr/>
        </p:nvSpPr>
        <p:spPr>
          <a:xfrm>
            <a:off x="640080" y="1280160"/>
            <a:ext cx="10881360" cy="4983480"/>
          </a:xfrm>
          <a:prstGeom prst="roundRect">
            <a:avLst>
              <a:gd name="adj" fmla="val 220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 below getModulePositions</a:t>
            </a:r>
            <a:endParaRPr lang="en-US" sz="1500" dirty="0"/>
          </a:p>
        </p:txBody>
      </p:sp>
      <p:sp>
        <p:nvSpPr>
          <p:cNvPr id="11" name="Text 8"/>
          <p:cNvSpPr/>
          <p:nvPr/>
        </p:nvSpPr>
        <p:spPr>
          <a:xfrm>
            <a:off x="914400" y="1737360"/>
            <a:ext cx="10195560" cy="432511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How the chassis is moving right now, robot-relative — kinematics run</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backward: four measured wheel velocities in, one chassis motion out.</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ChassisVelocities getChassisVelocities()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SwerveModuleVelocity[] wheels = new SwerveModuleVelocity[m_modules.length];</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for (int i = 0; i &lt; m_modules.length; i++)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wheels[i] = new SwerveModuleVelocity(</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m_modules[i].getDriveVelocityMetersPerSec(),</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Rotation2d.fromDegrees(m_modules[i].getSteerAngleDegrees()));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return m_kinematics.toChassisVelocities(wheels);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Drive one tick from a robot-relative chassis motion. The door BLine drives through.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void driveRobotRelative(ChassisVelocities speeds)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applyChassisSpeeds(speeds);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7</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doo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simulateChassis now asks the new method</a:t>
            </a:r>
            <a:endParaRPr lang="en-US" sz="3000" dirty="0"/>
          </a:p>
        </p:txBody>
      </p:sp>
      <p:sp>
        <p:nvSpPr>
          <p:cNvPr id="6" name="Shape 3"/>
          <p:cNvSpPr/>
          <p:nvPr/>
        </p:nvSpPr>
        <p:spPr>
          <a:xfrm>
            <a:off x="640080" y="1280160"/>
            <a:ext cx="10881360" cy="2697480"/>
          </a:xfrm>
          <a:prstGeom prst="roundRect">
            <a:avLst>
              <a:gd name="adj" fmla="val 406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Then replace the body of simulateChassis below the null check</a:t>
            </a:r>
            <a:endParaRPr lang="en-US" sz="1500" dirty="0"/>
          </a:p>
        </p:txBody>
      </p:sp>
      <p:sp>
        <p:nvSpPr>
          <p:cNvPr id="11" name="Text 8"/>
          <p:cNvSpPr/>
          <p:nvPr/>
        </p:nvSpPr>
        <p:spPr>
          <a:xfrm>
            <a:off x="914400" y="1737360"/>
            <a:ext cx="10195560" cy="203911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Moves the simulated chassis the way its wheels actually turned this tick. Sim only. */</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private void simulateChassis()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if (m_chassisSim == null)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return; // a real robot moves itself</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m_chassisSim.update(getChassisVelocities(), 0.020);</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4206240"/>
            <a:ext cx="10881360" cy="2103120"/>
          </a:xfrm>
          <a:prstGeom prst="roundRect">
            <a:avLst>
              <a:gd name="adj" fmla="val 4348"/>
            </a:avLst>
          </a:prstGeom>
          <a:solidFill>
            <a:srgbClr val="F3F6FA"/>
          </a:solidFill>
          <a:ln/>
        </p:spPr>
      </p:sp>
      <p:sp>
        <p:nvSpPr>
          <p:cNvPr id="13" name="Text 10"/>
          <p:cNvSpPr/>
          <p:nvPr/>
        </p:nvSpPr>
        <p:spPr>
          <a:xfrm>
            <a:off x="914400" y="448056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A door punched on purpose, for one caller</a:t>
            </a:r>
            <a:endParaRPr lang="en-US" sz="2200" dirty="0"/>
          </a:p>
        </p:txBody>
      </p:sp>
      <p:sp>
        <p:nvSpPr>
          <p:cNvPr id="14" name="Text 11"/>
          <p:cNvSpPr/>
          <p:nvPr/>
        </p:nvSpPr>
        <p:spPr>
          <a:xfrm>
            <a:off x="914400" y="5058410"/>
            <a:ext cx="10332720" cy="97663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applyChassisSpeeds stays private. driveRobotRelative is a narrow public door with a name that says who it's for — not a visibility change.</a:t>
            </a:r>
            <a:endParaRPr lang="en-US" sz="19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MEET PIDCONTROLLER</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class behind code you've written three times</a:t>
            </a:r>
            <a:endParaRPr lang="en-US" sz="3000" dirty="0"/>
          </a:p>
        </p:txBody>
      </p:sp>
      <p:sp>
        <p:nvSpPr>
          <p:cNvPr id="6" name="Shape 3"/>
          <p:cNvSpPr/>
          <p:nvPr/>
        </p:nvSpPr>
        <p:spPr>
          <a:xfrm>
            <a:off x="640080" y="1280160"/>
            <a:ext cx="10881360" cy="1463040"/>
          </a:xfrm>
          <a:prstGeom prst="roundRect">
            <a:avLst>
              <a:gd name="adj" fmla="val 75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 Lessons 5, 8 and 11, by hand</a:t>
            </a:r>
            <a:endParaRPr lang="en-US" sz="1500" dirty="0"/>
          </a:p>
        </p:txBody>
      </p:sp>
      <p:sp>
        <p:nvSpPr>
          <p:cNvPr id="11" name="Text 8"/>
          <p:cNvSpPr/>
          <p:nvPr/>
        </p:nvSpPr>
        <p:spPr>
          <a:xfrm>
            <a:off x="914400" y="1737360"/>
            <a:ext cx="10195560" cy="804672"/>
          </a:xfrm>
          <a:prstGeom prst="rect">
            <a:avLst/>
          </a:prstGeom>
          <a:noFill/>
          <a:ln/>
        </p:spPr>
        <p:txBody>
          <a:bodyPr wrap="square" lIns="0" tIns="0" rIns="0" bIns="0" rtlCol="0" anchor="t"/>
          <a:lstStyle/>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double error = target - measured;</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double output = kP * error;</a:t>
            </a:r>
            <a:endParaRPr lang="en-US" sz="1600" dirty="0"/>
          </a:p>
        </p:txBody>
      </p:sp>
      <p:sp>
        <p:nvSpPr>
          <p:cNvPr id="12" name="Shape 9"/>
          <p:cNvSpPr/>
          <p:nvPr/>
        </p:nvSpPr>
        <p:spPr>
          <a:xfrm>
            <a:off x="640080" y="2926080"/>
            <a:ext cx="10881360" cy="1463040"/>
          </a:xfrm>
          <a:prstGeom prst="roundRect">
            <a:avLst>
              <a:gd name="adj" fmla="val 7500"/>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072384"/>
            <a:ext cx="128016" cy="128016"/>
          </a:xfrm>
          <a:prstGeom prst="ellipse">
            <a:avLst/>
          </a:prstGeom>
          <a:solidFill>
            <a:srgbClr val="FF6B6B"/>
          </a:solidFill>
          <a:ln/>
        </p:spPr>
      </p:sp>
      <p:sp>
        <p:nvSpPr>
          <p:cNvPr id="14" name="Shape 11"/>
          <p:cNvSpPr/>
          <p:nvPr/>
        </p:nvSpPr>
        <p:spPr>
          <a:xfrm>
            <a:off x="11210544" y="3273552"/>
            <a:ext cx="128016" cy="128016"/>
          </a:xfrm>
          <a:prstGeom prst="ellipse">
            <a:avLst/>
          </a:prstGeom>
          <a:solidFill>
            <a:srgbClr val="FFD166"/>
          </a:solidFill>
          <a:ln/>
        </p:spPr>
      </p:sp>
      <p:sp>
        <p:nvSpPr>
          <p:cNvPr id="15" name="Shape 12"/>
          <p:cNvSpPr/>
          <p:nvPr/>
        </p:nvSpPr>
        <p:spPr>
          <a:xfrm>
            <a:off x="11210544" y="3474720"/>
            <a:ext cx="128016" cy="128016"/>
          </a:xfrm>
          <a:prstGeom prst="ellipse">
            <a:avLst/>
          </a:prstGeom>
          <a:solidFill>
            <a:srgbClr val="2EC4B6"/>
          </a:solidFill>
          <a:ln/>
        </p:spPr>
      </p:sp>
      <p:sp>
        <p:nvSpPr>
          <p:cNvPr id="16" name="Text 13"/>
          <p:cNvSpPr/>
          <p:nvPr/>
        </p:nvSpPr>
        <p:spPr>
          <a:xfrm>
            <a:off x="914400" y="305409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 this is just how the class is used</a:t>
            </a:r>
            <a:endParaRPr lang="en-US" sz="1500" dirty="0"/>
          </a:p>
        </p:txBody>
      </p:sp>
      <p:sp>
        <p:nvSpPr>
          <p:cNvPr id="17" name="Text 14"/>
          <p:cNvSpPr/>
          <p:nvPr/>
        </p:nvSpPr>
        <p:spPr>
          <a:xfrm>
            <a:off x="914400" y="3383280"/>
            <a:ext cx="10195560" cy="804672"/>
          </a:xfrm>
          <a:prstGeom prst="rect">
            <a:avLst/>
          </a:prstGeom>
          <a:noFill/>
          <a:ln/>
        </p:spPr>
        <p:txBody>
          <a:bodyPr wrap="square" lIns="0" tIns="0" rIns="0" bIns="0" rtlCol="0" anchor="t"/>
          <a:lstStyle/>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PIDController controller = new PIDController(5.0, 0.0, 0.0);</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double output = controller.calculate(measured, target);</a:t>
            </a:r>
            <a:endParaRPr lang="en-US" sz="1600" dirty="0"/>
          </a:p>
        </p:txBody>
      </p:sp>
      <p:sp>
        <p:nvSpPr>
          <p:cNvPr id="18" name="Shape 15"/>
          <p:cNvSpPr/>
          <p:nvPr/>
        </p:nvSpPr>
        <p:spPr>
          <a:xfrm>
            <a:off x="640080" y="4572000"/>
            <a:ext cx="10881360" cy="1737360"/>
          </a:xfrm>
          <a:prstGeom prst="roundRect">
            <a:avLst>
              <a:gd name="adj" fmla="val 5263"/>
            </a:avLst>
          </a:prstGeom>
          <a:solidFill>
            <a:srgbClr val="F3F6FA"/>
          </a:solidFill>
          <a:ln/>
        </p:spPr>
      </p:sp>
      <p:sp>
        <p:nvSpPr>
          <p:cNvPr id="19" name="Text 16"/>
          <p:cNvSpPr/>
          <p:nvPr/>
        </p:nvSpPr>
        <p:spPr>
          <a:xfrm>
            <a:off x="868680" y="4800600"/>
            <a:ext cx="10424160" cy="128016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calculate(measured, target) is your two lines. The three numbers are the P, I and D gains — leave I and D at zero. What the class adds is state: it remembers past errors and knows a tolerance.</a:t>
            </a:r>
            <a:endParaRPr lang="en-US" sz="19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random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4 · WHY THREE?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Chasing a line is three separate jobs</a:t>
            </a:r>
            <a:endParaRPr lang="en-US" sz="3000" dirty="0"/>
          </a:p>
        </p:txBody>
      </p:sp>
      <p:sp>
        <p:nvSpPr>
          <p:cNvPr id="6" name="Shape 3"/>
          <p:cNvSpPr/>
          <p:nvPr/>
        </p:nvSpPr>
        <p:spPr>
          <a:xfrm>
            <a:off x="640080" y="1554480"/>
            <a:ext cx="3447288" cy="3154680"/>
          </a:xfrm>
          <a:prstGeom prst="roundRect">
            <a:avLst>
              <a:gd name="adj" fmla="val 2899"/>
            </a:avLst>
          </a:prstGeom>
          <a:solidFill>
            <a:srgbClr val="132A4C"/>
          </a:solidFill>
          <a:ln/>
        </p:spPr>
      </p:sp>
      <p:sp>
        <p:nvSpPr>
          <p:cNvPr id="7" name="Text 4"/>
          <p:cNvSpPr/>
          <p:nvPr/>
        </p:nvSpPr>
        <p:spPr>
          <a:xfrm>
            <a:off x="914400" y="1828800"/>
            <a:ext cx="2898648"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Translation</a:t>
            </a:r>
            <a:endParaRPr lang="en-US" sz="2200" dirty="0"/>
          </a:p>
        </p:txBody>
      </p:sp>
      <p:sp>
        <p:nvSpPr>
          <p:cNvPr id="8" name="Text 5"/>
          <p:cNvSpPr/>
          <p:nvPr/>
        </p:nvSpPr>
        <p:spPr>
          <a:xfrm>
            <a:off x="914400" y="2406650"/>
            <a:ext cx="2898648" cy="202819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How much path is left? Error: meters remaining. Output: meters per second.</a:t>
            </a:r>
            <a:endParaRPr lang="en-US" sz="1900" dirty="0"/>
          </a:p>
        </p:txBody>
      </p:sp>
      <p:sp>
        <p:nvSpPr>
          <p:cNvPr id="9" name="Shape 6"/>
          <p:cNvSpPr/>
          <p:nvPr/>
        </p:nvSpPr>
        <p:spPr>
          <a:xfrm>
            <a:off x="4361688" y="1554480"/>
            <a:ext cx="3447288" cy="3154680"/>
          </a:xfrm>
          <a:prstGeom prst="roundRect">
            <a:avLst>
              <a:gd name="adj" fmla="val 2899"/>
            </a:avLst>
          </a:prstGeom>
          <a:solidFill>
            <a:srgbClr val="132A4C"/>
          </a:solidFill>
          <a:ln/>
        </p:spPr>
      </p:sp>
      <p:sp>
        <p:nvSpPr>
          <p:cNvPr id="10" name="Text 7"/>
          <p:cNvSpPr/>
          <p:nvPr/>
        </p:nvSpPr>
        <p:spPr>
          <a:xfrm>
            <a:off x="4636008" y="1828800"/>
            <a:ext cx="2898648"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Rotation</a:t>
            </a:r>
            <a:endParaRPr lang="en-US" sz="2200" dirty="0"/>
          </a:p>
        </p:txBody>
      </p:sp>
      <p:sp>
        <p:nvSpPr>
          <p:cNvPr id="11" name="Text 8"/>
          <p:cNvSpPr/>
          <p:nvPr/>
        </p:nvSpPr>
        <p:spPr>
          <a:xfrm>
            <a:off x="4636008" y="2406650"/>
            <a:ext cx="2898648" cy="202819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Which way to face, independent of where you go. Error: radians. Output: rad/s.</a:t>
            </a:r>
            <a:endParaRPr lang="en-US" sz="1900" dirty="0"/>
          </a:p>
        </p:txBody>
      </p:sp>
      <p:sp>
        <p:nvSpPr>
          <p:cNvPr id="12" name="Shape 9"/>
          <p:cNvSpPr/>
          <p:nvPr/>
        </p:nvSpPr>
        <p:spPr>
          <a:xfrm>
            <a:off x="8083296" y="1554480"/>
            <a:ext cx="3447288" cy="3154680"/>
          </a:xfrm>
          <a:prstGeom prst="roundRect">
            <a:avLst>
              <a:gd name="adj" fmla="val 2899"/>
            </a:avLst>
          </a:prstGeom>
          <a:solidFill>
            <a:srgbClr val="132A4C"/>
          </a:solidFill>
          <a:ln/>
        </p:spPr>
      </p:sp>
      <p:sp>
        <p:nvSpPr>
          <p:cNvPr id="13" name="Text 10"/>
          <p:cNvSpPr/>
          <p:nvPr/>
        </p:nvSpPr>
        <p:spPr>
          <a:xfrm>
            <a:off x="8357616" y="1828800"/>
            <a:ext cx="2898648"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Cross-track</a:t>
            </a:r>
            <a:endParaRPr lang="en-US" sz="2200" dirty="0"/>
          </a:p>
        </p:txBody>
      </p:sp>
      <p:sp>
        <p:nvSpPr>
          <p:cNvPr id="14" name="Text 11"/>
          <p:cNvSpPr/>
          <p:nvPr/>
        </p:nvSpPr>
        <p:spPr>
          <a:xfrm>
            <a:off x="8357616" y="2406650"/>
            <a:ext cx="2898648" cy="202819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Half a meter left of the line? Push sideways back onto it. Meters off → m/s.</a:t>
            </a:r>
            <a:endParaRPr lang="en-US" sz="1900" dirty="0"/>
          </a:p>
        </p:txBody>
      </p:sp>
      <p:sp>
        <p:nvSpPr>
          <p:cNvPr id="15" name="Shape 12"/>
          <p:cNvSpPr/>
          <p:nvPr/>
        </p:nvSpPr>
        <p:spPr>
          <a:xfrm>
            <a:off x="640080" y="4937760"/>
            <a:ext cx="10881360" cy="1371600"/>
          </a:xfrm>
          <a:prstGeom prst="roundRect">
            <a:avLst>
              <a:gd name="adj" fmla="val 6667"/>
            </a:avLst>
          </a:prstGeom>
          <a:solidFill>
            <a:srgbClr val="132A4C"/>
          </a:solidFill>
          <a:ln/>
        </p:spPr>
      </p:sp>
      <p:sp>
        <p:nvSpPr>
          <p:cNvPr id="16" name="Text 13"/>
          <p:cNvSpPr/>
          <p:nvPr/>
        </p:nvSpPr>
        <p:spPr>
          <a:xfrm>
            <a:off x="868680" y="5166360"/>
            <a:ext cx="10424160" cy="91440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Every gain is output per unit of error, per second — 1/s — so all three sit in the same ballpark.</a:t>
            </a:r>
            <a:endParaRPr lang="en-US" sz="2000" dirty="0"/>
          </a:p>
        </p:txBody>
      </p:sp>
      <p:sp>
        <p:nvSpPr>
          <p:cNvPr id="17" name="Text 14"/>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B-LINE AUTOS</a:t>
            </a:r>
            <a:endParaRPr lang="en-US" sz="2000" dirty="0"/>
          </a:p>
        </p:txBody>
      </p:sp>
      <p:sp>
        <p:nvSpPr>
          <p:cNvPr id="18" name="Text 15"/>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10</a:t>
            </a:r>
            <a:endParaRPr lang="en-US" sz="2000" dirty="0"/>
          </a:p>
        </p:txBody>
      </p:sp>
      <p:pic>
        <p:nvPicPr>
          <p:cNvPr id="19"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ul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Three gains, one new class</a:t>
            </a:r>
            <a:endParaRPr lang="en-US" sz="3000" dirty="0"/>
          </a:p>
        </p:txBody>
      </p:sp>
      <p:sp>
        <p:nvSpPr>
          <p:cNvPr id="6" name="Shape 3"/>
          <p:cNvSpPr/>
          <p:nvPr/>
        </p:nvSpPr>
        <p:spPr>
          <a:xfrm>
            <a:off x="640080" y="1280160"/>
            <a:ext cx="10881360" cy="3200400"/>
          </a:xfrm>
          <a:prstGeom prst="roundRect">
            <a:avLst>
              <a:gd name="adj" fmla="val 342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Constants.java, as a new nested class after VisionConstants</a:t>
            </a:r>
            <a:endParaRPr lang="en-US" sz="1500" dirty="0"/>
          </a:p>
        </p:txBody>
      </p:sp>
      <p:sp>
        <p:nvSpPr>
          <p:cNvPr id="11" name="Text 8"/>
          <p:cNvSpPr/>
          <p:nvPr/>
        </p:nvSpPr>
        <p:spPr>
          <a:xfrm>
            <a:off x="914400" y="1737360"/>
            <a:ext cx="10195560" cy="254203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static final class PathConstants {</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BLine runs three P loops at once. Every gain here is "output per unit of</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error", and since error is meters (or radians) and output is per-second,</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the units all come out to 1/s.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double kTranslationP = 5.0; // m/s per meter of path left</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double kRotationP = 3.0;    // rad/s per radian of heading error</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double kCrossTrackP = 2.0;  // m/s per meter off the line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4709160"/>
            <a:ext cx="10881360" cy="1600200"/>
          </a:xfrm>
          <a:prstGeom prst="roundRect">
            <a:avLst>
              <a:gd name="adj" fmla="val 5714"/>
            </a:avLst>
          </a:prstGeom>
          <a:solidFill>
            <a:srgbClr val="F3F6FA"/>
          </a:solidFill>
          <a:ln/>
        </p:spPr>
      </p:sp>
      <p:sp>
        <p:nvSpPr>
          <p:cNvPr id="13" name="Text 10"/>
          <p:cNvSpPr/>
          <p:nvPr/>
        </p:nvSpPr>
        <p:spPr>
          <a:xfrm>
            <a:off x="868680" y="4937760"/>
            <a:ext cx="10424160" cy="11430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Gains stay bare doubles, same as kDriveKV and HeadingConstants.kP — they're ratios, not physical quantities, so there's no unit for Units to carry.</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mapmark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DRAW A PATH</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Three things you can place on the field</a:t>
            </a:r>
            <a:endParaRPr lang="en-US" sz="3000" dirty="0"/>
          </a:p>
        </p:txBody>
      </p:sp>
      <p:sp>
        <p:nvSpPr>
          <p:cNvPr id="6" name="Shape 3"/>
          <p:cNvSpPr/>
          <p:nvPr/>
        </p:nvSpPr>
        <p:spPr>
          <a:xfrm>
            <a:off x="640080" y="1463040"/>
            <a:ext cx="3447288" cy="3017520"/>
          </a:xfrm>
          <a:prstGeom prst="roundRect">
            <a:avLst>
              <a:gd name="adj" fmla="val 3030"/>
            </a:avLst>
          </a:prstGeom>
          <a:solidFill>
            <a:srgbClr val="F3F6FA"/>
          </a:solidFill>
          <a:ln/>
        </p:spPr>
      </p:sp>
      <p:sp>
        <p:nvSpPr>
          <p:cNvPr id="7" name="Text 4"/>
          <p:cNvSpPr/>
          <p:nvPr/>
        </p:nvSpPr>
        <p:spPr>
          <a:xfrm>
            <a:off x="914400" y="1737360"/>
            <a:ext cx="2898648"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Waypoint</a:t>
            </a:r>
            <a:endParaRPr lang="en-US" sz="2200" dirty="0"/>
          </a:p>
        </p:txBody>
      </p:sp>
      <p:sp>
        <p:nvSpPr>
          <p:cNvPr id="8" name="Text 5"/>
          <p:cNvSpPr/>
          <p:nvPr/>
        </p:nvSpPr>
        <p:spPr>
          <a:xfrm>
            <a:off x="914400" y="2315210"/>
            <a:ext cx="2898648" cy="189103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A position and a heading: "be here, facing this way."</a:t>
            </a:r>
            <a:endParaRPr lang="en-US" sz="2000" dirty="0"/>
          </a:p>
        </p:txBody>
      </p:sp>
      <p:sp>
        <p:nvSpPr>
          <p:cNvPr id="9" name="Shape 6"/>
          <p:cNvSpPr/>
          <p:nvPr/>
        </p:nvSpPr>
        <p:spPr>
          <a:xfrm>
            <a:off x="4361688" y="1463040"/>
            <a:ext cx="3447288" cy="3017520"/>
          </a:xfrm>
          <a:prstGeom prst="roundRect">
            <a:avLst>
              <a:gd name="adj" fmla="val 3030"/>
            </a:avLst>
          </a:prstGeom>
          <a:solidFill>
            <a:srgbClr val="F3F6FA"/>
          </a:solidFill>
          <a:ln/>
        </p:spPr>
      </p:sp>
      <p:sp>
        <p:nvSpPr>
          <p:cNvPr id="10" name="Text 7"/>
          <p:cNvSpPr/>
          <p:nvPr/>
        </p:nvSpPr>
        <p:spPr>
          <a:xfrm>
            <a:off x="4636008" y="1737360"/>
            <a:ext cx="2898648"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TranslationTarget</a:t>
            </a:r>
            <a:endParaRPr lang="en-US" sz="2200" dirty="0"/>
          </a:p>
        </p:txBody>
      </p:sp>
      <p:sp>
        <p:nvSpPr>
          <p:cNvPr id="11" name="Text 8"/>
          <p:cNvSpPr/>
          <p:nvPr/>
        </p:nvSpPr>
        <p:spPr>
          <a:xfrm>
            <a:off x="4636008" y="2315210"/>
            <a:ext cx="2898648" cy="189103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A position only: "drive through this point, any heading."</a:t>
            </a:r>
            <a:endParaRPr lang="en-US" sz="2000" dirty="0"/>
          </a:p>
        </p:txBody>
      </p:sp>
      <p:sp>
        <p:nvSpPr>
          <p:cNvPr id="12" name="Shape 9"/>
          <p:cNvSpPr/>
          <p:nvPr/>
        </p:nvSpPr>
        <p:spPr>
          <a:xfrm>
            <a:off x="8083296" y="1463040"/>
            <a:ext cx="3447288" cy="3017520"/>
          </a:xfrm>
          <a:prstGeom prst="roundRect">
            <a:avLst>
              <a:gd name="adj" fmla="val 3030"/>
            </a:avLst>
          </a:prstGeom>
          <a:solidFill>
            <a:srgbClr val="F3F6FA"/>
          </a:solidFill>
          <a:ln/>
        </p:spPr>
      </p:sp>
      <p:sp>
        <p:nvSpPr>
          <p:cNvPr id="13" name="Text 10"/>
          <p:cNvSpPr/>
          <p:nvPr/>
        </p:nvSpPr>
        <p:spPr>
          <a:xfrm>
            <a:off x="8357616" y="1737360"/>
            <a:ext cx="2898648"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RotationTarget</a:t>
            </a:r>
            <a:endParaRPr lang="en-US" sz="2200" dirty="0"/>
          </a:p>
        </p:txBody>
      </p:sp>
      <p:sp>
        <p:nvSpPr>
          <p:cNvPr id="14" name="Text 11"/>
          <p:cNvSpPr/>
          <p:nvPr/>
        </p:nvSpPr>
        <p:spPr>
          <a:xfrm>
            <a:off x="8357616" y="2315210"/>
            <a:ext cx="2898648" cy="189103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A heading only, partway along a segment: "by about here, face this way."</a:t>
            </a:r>
            <a:endParaRPr lang="en-US" sz="2000" dirty="0"/>
          </a:p>
        </p:txBody>
      </p:sp>
      <p:sp>
        <p:nvSpPr>
          <p:cNvPr id="15" name="Shape 12"/>
          <p:cNvSpPr/>
          <p:nvPr/>
        </p:nvSpPr>
        <p:spPr>
          <a:xfrm>
            <a:off x="640080" y="4663440"/>
            <a:ext cx="10881360" cy="1645920"/>
          </a:xfrm>
          <a:prstGeom prst="roundRect">
            <a:avLst>
              <a:gd name="adj" fmla="val 5556"/>
            </a:avLst>
          </a:prstGeom>
          <a:solidFill>
            <a:srgbClr val="F3F6FA"/>
          </a:solidFill>
          <a:ln/>
        </p:spPr>
      </p:sp>
      <p:sp>
        <p:nvSpPr>
          <p:cNvPr id="16" name="Text 13"/>
          <p:cNvSpPr/>
          <p:nvPr/>
        </p:nvSpPr>
        <p:spPr>
          <a:xfrm>
            <a:off x="868680" y="4892040"/>
            <a:ext cx="10424160" cy="118872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The split exists because swerve decouples the two: a robot can loop around an obstacle while slowly turning to face a target the whole time.</a:t>
            </a:r>
            <a:endParaRPr lang="en-US" sz="2000" dirty="0"/>
          </a:p>
        </p:txBody>
      </p:sp>
      <p:sp>
        <p:nvSpPr>
          <p:cNvPr id="17" name="Text 14"/>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8" name="Text 15"/>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19"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olde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NEW FILES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Paths live in the deploy folder</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src/main/deploy → New Folder: autos</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deploy folder you've had since Lesson 0 — for files the robot reads.</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autos → New Folder: paths</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One JSON file per path goes in here.</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paths → New File: TwoCorners.json, then FarSide.json</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next slides show what goes in each.</a:t>
            </a:r>
            <a:endParaRPr lang="en-US" sz="2000" dirty="0"/>
          </a:p>
        </p:txBody>
      </p:sp>
      <p:sp>
        <p:nvSpPr>
          <p:cNvPr id="18" name="Shape 15"/>
          <p:cNvSpPr/>
          <p:nvPr/>
        </p:nvSpPr>
        <p:spPr>
          <a:xfrm>
            <a:off x="640080" y="4864608"/>
            <a:ext cx="502920" cy="502920"/>
          </a:xfrm>
          <a:prstGeom prst="ellipse">
            <a:avLst/>
          </a:prstGeom>
          <a:solidFill>
            <a:srgbClr val="1B9AAA"/>
          </a:solidFill>
          <a:ln/>
        </p:spPr>
      </p:sp>
      <p:sp>
        <p:nvSpPr>
          <p:cNvPr id="19" name="Text 16"/>
          <p:cNvSpPr/>
          <p:nvPr/>
        </p:nvSpPr>
        <p:spPr>
          <a:xfrm>
            <a:off x="640080" y="4864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79145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autos → New File: config.json</a:t>
            </a:r>
            <a:endParaRPr lang="en-US" sz="2000" dirty="0"/>
          </a:p>
        </p:txBody>
      </p:sp>
      <p:sp>
        <p:nvSpPr>
          <p:cNvPr id="21" name="Text 18"/>
          <p:cNvSpPr/>
          <p:nvPr/>
        </p:nvSpPr>
        <p:spPr>
          <a:xfrm>
            <a:off x="1371600" y="5175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Speed limits shared by every path. Not optional.</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13</a:t>
            </a:r>
            <a:endParaRPr lang="en-US" sz="2000" dirty="0"/>
          </a:p>
        </p:txBody>
      </p:sp>
      <p:pic>
        <p:nvPicPr>
          <p:cNvPr id="2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hoeprint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TWOCORNERS.JSON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Start at (3, 3), through (6, 3), turning toward 90°</a:t>
            </a:r>
            <a:endParaRPr lang="en-US" sz="3000" dirty="0"/>
          </a:p>
        </p:txBody>
      </p:sp>
      <p:sp>
        <p:nvSpPr>
          <p:cNvPr id="6" name="Shape 3"/>
          <p:cNvSpPr/>
          <p:nvPr/>
        </p:nvSpPr>
        <p:spPr>
          <a:xfrm>
            <a:off x="640080" y="1280160"/>
            <a:ext cx="10881360" cy="5074920"/>
          </a:xfrm>
          <a:prstGeom prst="roundRect">
            <a:avLst>
              <a:gd name="adj" fmla="val 216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src/main/deploy/autos/paths/TwoCorners.json — part 1</a:t>
            </a:r>
            <a:endParaRPr lang="en-US" sz="1500" dirty="0"/>
          </a:p>
        </p:txBody>
      </p:sp>
      <p:sp>
        <p:nvSpPr>
          <p:cNvPr id="11" name="Text 8"/>
          <p:cNvSpPr/>
          <p:nvPr/>
        </p:nvSpPr>
        <p:spPr>
          <a:xfrm>
            <a:off x="914400" y="1737360"/>
            <a:ext cx="10195560" cy="4416552"/>
          </a:xfrm>
          <a:prstGeom prst="rect">
            <a:avLst/>
          </a:prstGeom>
          <a:noFill/>
          <a:ln/>
        </p:spPr>
        <p:txBody>
          <a:bodyPr wrap="square" lIns="0" tIns="0" rIns="0" bIns="0" rtlCol="0" anchor="t"/>
          <a:lstStyle/>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"path_elements":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"type": "waypoint",</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"translation_target": { "x_meters": 3.0, "y_meters": 3.0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"rotation_target": { "rotation_radians": 0.0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"type": "translation",</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"x_meters": 6.0,</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"y_meters": 3.0</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"type": "rotation",</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"rotation_radians": 1.5707963,</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"t_ratio": 0.5,</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"profiled_rotation": true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14</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hoeprint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TWOCORNERS.JSON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An event marker, then the end at (6, 6)</a:t>
            </a:r>
            <a:endParaRPr lang="en-US" sz="3000" dirty="0"/>
          </a:p>
        </p:txBody>
      </p:sp>
      <p:sp>
        <p:nvSpPr>
          <p:cNvPr id="6" name="Shape 3"/>
          <p:cNvSpPr/>
          <p:nvPr/>
        </p:nvSpPr>
        <p:spPr>
          <a:xfrm>
            <a:off x="640080" y="1280160"/>
            <a:ext cx="10881360" cy="3657600"/>
          </a:xfrm>
          <a:prstGeom prst="roundRect">
            <a:avLst>
              <a:gd name="adj" fmla="val 3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TwoCorners.json — part 2, finishing the file</a:t>
            </a:r>
            <a:endParaRPr lang="en-US" sz="1500" dirty="0"/>
          </a:p>
        </p:txBody>
      </p:sp>
      <p:sp>
        <p:nvSpPr>
          <p:cNvPr id="11" name="Text 8"/>
          <p:cNvSpPr/>
          <p:nvPr/>
        </p:nvSpPr>
        <p:spPr>
          <a:xfrm>
            <a:off x="914400" y="1737360"/>
            <a:ext cx="10195560" cy="2999232"/>
          </a:xfrm>
          <a:prstGeom prst="rect">
            <a:avLst/>
          </a:prstGeom>
          <a:noFill/>
          <a:ln/>
        </p:spPr>
        <p:txBody>
          <a:bodyPr wrap="square" lIns="0" tIns="0" rIns="0" bIns="0" rtlCol="0" anchor="t"/>
          <a:lstStyle/>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"type": "event_trigger",</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"t_ratio": 0.8,</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"lib_key": "shoot"</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"type": "waypoint",</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"translation_target": { "x_meters": 6.0, "y_meters": 6.0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"rotation_target": { "rotation_radians": 3.1415927, "profiled_rotation": true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40080" y="5120640"/>
            <a:ext cx="10881360" cy="1188720"/>
          </a:xfrm>
          <a:prstGeom prst="roundRect">
            <a:avLst>
              <a:gd name="adj" fmla="val 7692"/>
            </a:avLst>
          </a:prstGeom>
          <a:solidFill>
            <a:srgbClr val="F3F6FA"/>
          </a:solidFill>
          <a:ln/>
        </p:spPr>
      </p:sp>
      <p:sp>
        <p:nvSpPr>
          <p:cNvPr id="13" name="Text 10"/>
          <p:cNvSpPr/>
          <p:nvPr/>
        </p:nvSpPr>
        <p:spPr>
          <a:xfrm>
            <a:off x="822960" y="5303520"/>
            <a:ext cx="10515600" cy="82296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Read it as a sentence: start at (3, 3) facing 0°, drive through (6, 3), face 90° halfway up the next leg, end at (6, 6) facing 180°.</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ompas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5 · READING THE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Two details that change what the robot does</a:t>
            </a:r>
            <a:endParaRPr lang="en-US" sz="3000" dirty="0"/>
          </a:p>
        </p:txBody>
      </p:sp>
      <p:sp>
        <p:nvSpPr>
          <p:cNvPr id="6" name="Shape 3"/>
          <p:cNvSpPr/>
          <p:nvPr/>
        </p:nvSpPr>
        <p:spPr>
          <a:xfrm>
            <a:off x="640080" y="1554480"/>
            <a:ext cx="10881360" cy="2286000"/>
          </a:xfrm>
          <a:prstGeom prst="roundRect">
            <a:avLst>
              <a:gd name="adj" fmla="val 4000"/>
            </a:avLst>
          </a:prstGeom>
          <a:solidFill>
            <a:srgbClr val="132A4C"/>
          </a:solidFill>
          <a:ln/>
        </p:spPr>
      </p:sp>
      <p:sp>
        <p:nvSpPr>
          <p:cNvPr id="7" name="Text 4"/>
          <p:cNvSpPr/>
          <p:nvPr/>
        </p:nvSpPr>
        <p:spPr>
          <a:xfrm>
            <a:off x="914400" y="18288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"profiled_rotation": true turns the robot gradually</a:t>
            </a:r>
            <a:endParaRPr lang="en-US" sz="2200" dirty="0"/>
          </a:p>
        </p:txBody>
      </p:sp>
      <p:sp>
        <p:nvSpPr>
          <p:cNvPr id="8" name="Text 5"/>
          <p:cNvSpPr/>
          <p:nvPr/>
        </p:nvSpPr>
        <p:spPr>
          <a:xfrm>
            <a:off x="914400" y="2406650"/>
            <a:ext cx="10332720" cy="115951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The heading the path asks for turns in step with progress along the path. Leave it out and the robot faces 90° before it even reaches the first corner.</a:t>
            </a:r>
            <a:endParaRPr lang="en-US" sz="1900" dirty="0"/>
          </a:p>
        </p:txBody>
      </p:sp>
      <p:sp>
        <p:nvSpPr>
          <p:cNvPr id="9" name="Shape 6"/>
          <p:cNvSpPr/>
          <p:nvPr/>
        </p:nvSpPr>
        <p:spPr>
          <a:xfrm>
            <a:off x="640080" y="4023360"/>
            <a:ext cx="10881360" cy="2286000"/>
          </a:xfrm>
          <a:prstGeom prst="roundRect">
            <a:avLst>
              <a:gd name="adj" fmla="val 4000"/>
            </a:avLst>
          </a:prstGeom>
          <a:solidFill>
            <a:srgbClr val="132A4C"/>
          </a:solidFill>
          <a:ln/>
        </p:spPr>
      </p:sp>
      <p:sp>
        <p:nvSpPr>
          <p:cNvPr id="10" name="Text 7"/>
          <p:cNvSpPr/>
          <p:nvPr/>
        </p:nvSpPr>
        <p:spPr>
          <a:xfrm>
            <a:off x="914400" y="42976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Angles are radians, and t_ratio is a fraction</a:t>
            </a:r>
            <a:endParaRPr lang="en-US" sz="2200" dirty="0"/>
          </a:p>
        </p:txBody>
      </p:sp>
      <p:sp>
        <p:nvSpPr>
          <p:cNvPr id="11" name="Text 8"/>
          <p:cNvSpPr/>
          <p:nvPr/>
        </p:nvSpPr>
        <p:spPr>
          <a:xfrm>
            <a:off x="914400" y="4875530"/>
            <a:ext cx="10332720" cy="115951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1.5707963 is 90°. A t_ratio of 0.5 means halfway along the segment the element sits in.</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16</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CONFIG.JSON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How fast every path is allowed to go</a:t>
            </a:r>
            <a:endParaRPr lang="en-US" sz="3000" dirty="0"/>
          </a:p>
        </p:txBody>
      </p:sp>
      <p:sp>
        <p:nvSpPr>
          <p:cNvPr id="6" name="Shape 3"/>
          <p:cNvSpPr/>
          <p:nvPr/>
        </p:nvSpPr>
        <p:spPr>
          <a:xfrm>
            <a:off x="640080" y="1280160"/>
            <a:ext cx="10881360" cy="3657600"/>
          </a:xfrm>
          <a:prstGeom prst="roundRect">
            <a:avLst>
              <a:gd name="adj" fmla="val 3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src/main/deploy/autos/config.json</a:t>
            </a:r>
            <a:endParaRPr lang="en-US" sz="1500" dirty="0"/>
          </a:p>
        </p:txBody>
      </p:sp>
      <p:sp>
        <p:nvSpPr>
          <p:cNvPr id="11" name="Text 8"/>
          <p:cNvSpPr/>
          <p:nvPr/>
        </p:nvSpPr>
        <p:spPr>
          <a:xfrm>
            <a:off x="914400" y="1737360"/>
            <a:ext cx="10195560" cy="2999232"/>
          </a:xfrm>
          <a:prstGeom prst="rect">
            <a:avLst/>
          </a:prstGeom>
          <a:noFill/>
          <a:ln/>
        </p:spPr>
        <p:txBody>
          <a:bodyPr wrap="square" lIns="0" tIns="0" rIns="0" bIns="0" rtlCol="0" anchor="t"/>
          <a:lstStyle/>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"kinematic_constraints":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"default_max_velocity_meters_per_sec": 2.0,</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"default_max_acceleration_meters_per_sec2": 6.0,</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"default_max_velocity_deg_per_sec": 360.0,</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"default_max_acceleration_deg_per_sec2": 720.0,</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"default_end_translation_tolerance_meters": 0.05,</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"default_end_rotation_tolerance_deg": 2.0,</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"default_intermediate_handoff_radius_meters": 0.5</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5120640"/>
            <a:ext cx="10881360" cy="1188720"/>
          </a:xfrm>
          <a:prstGeom prst="roundRect">
            <a:avLst>
              <a:gd name="adj" fmla="val 7692"/>
            </a:avLst>
          </a:prstGeom>
          <a:solidFill>
            <a:srgbClr val="F3F6FA"/>
          </a:solidFill>
          <a:ln/>
        </p:spPr>
      </p:sp>
      <p:sp>
        <p:nvSpPr>
          <p:cNvPr id="13" name="Text 10"/>
          <p:cNvSpPr/>
          <p:nvPr/>
        </p:nvSpPr>
        <p:spPr>
          <a:xfrm>
            <a:off x="822960" y="5303520"/>
            <a:ext cx="10515600" cy="82296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Handoff radius 0.5: start turning up the next leg half a meter before the corner, instead of driving all the way in.</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17</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alculato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5 · NOT TASTE — PHYSICS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Can it stop in time? Two lines of arithmetic</a:t>
            </a:r>
            <a:endParaRPr lang="en-US" sz="3000" dirty="0"/>
          </a:p>
        </p:txBody>
      </p:sp>
      <p:sp>
        <p:nvSpPr>
          <p:cNvPr id="6" name="Shape 3"/>
          <p:cNvSpPr/>
          <p:nvPr/>
        </p:nvSpPr>
        <p:spPr>
          <a:xfrm>
            <a:off x="640080" y="1508760"/>
            <a:ext cx="5303520" cy="3657600"/>
          </a:xfrm>
          <a:prstGeom prst="roundRect">
            <a:avLst>
              <a:gd name="adj" fmla="val 3000"/>
            </a:avLst>
          </a:prstGeom>
          <a:solidFill>
            <a:srgbClr val="132A4C"/>
          </a:solidFill>
          <a:ln/>
        </p:spPr>
      </p:sp>
      <p:sp>
        <p:nvSpPr>
          <p:cNvPr id="7" name="Text 4"/>
          <p:cNvSpPr/>
          <p:nvPr/>
        </p:nvSpPr>
        <p:spPr>
          <a:xfrm>
            <a:off x="914400" y="1691640"/>
            <a:ext cx="4754880" cy="365760"/>
          </a:xfrm>
          <a:prstGeom prst="rect">
            <a:avLst/>
          </a:prstGeom>
          <a:noFill/>
          <a:ln/>
        </p:spPr>
        <p:txBody>
          <a:bodyPr wrap="square" lIns="0" tIns="0" rIns="0" bIns="0" rtlCol="0" anchor="ctr"/>
          <a:lstStyle/>
          <a:p>
            <a:pPr indent="0" marL="0">
              <a:buNone/>
            </a:pPr>
            <a:r>
              <a:rPr lang="en-US" sz="2000" b="1" spc="50" kern="0" dirty="0">
                <a:solidFill>
                  <a:srgbClr val="1B9AAA"/>
                </a:solidFill>
                <a:latin typeface="Calibri" pitchFamily="34" charset="0"/>
                <a:ea typeface="Calibri" pitchFamily="34" charset="-122"/>
                <a:cs typeface="Calibri" pitchFamily="34" charset="-120"/>
              </a:rPr>
              <a:t>AT 2 m/s — THE SHIPPED LIMIT</a:t>
            </a:r>
            <a:endParaRPr lang="en-US" sz="2000" dirty="0"/>
          </a:p>
        </p:txBody>
      </p:sp>
      <p:sp>
        <p:nvSpPr>
          <p:cNvPr id="8" name="Text 5"/>
          <p:cNvSpPr/>
          <p:nvPr/>
        </p:nvSpPr>
        <p:spPr>
          <a:xfrm>
            <a:off x="914400" y="2194560"/>
            <a:ext cx="20116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0.40 m</a:t>
            </a:r>
            <a:endParaRPr lang="en-US" sz="4000" dirty="0"/>
          </a:p>
        </p:txBody>
      </p:sp>
      <p:sp>
        <p:nvSpPr>
          <p:cNvPr id="9" name="Text 6"/>
          <p:cNvSpPr/>
          <p:nvPr/>
        </p:nvSpPr>
        <p:spPr>
          <a:xfrm>
            <a:off x="3017520" y="2286000"/>
            <a:ext cx="2743200" cy="640080"/>
          </a:xfrm>
          <a:prstGeom prst="rect">
            <a:avLst/>
          </a:prstGeom>
          <a:noFill/>
          <a:ln/>
        </p:spPr>
        <p:txBody>
          <a:bodyPr wrap="square" lIns="0" tIns="0" rIns="0" bIns="0" rtlCol="0" anchor="ctr"/>
          <a:lstStyle/>
          <a:p>
            <a:pPr indent="0" marL="0">
              <a:buNone/>
            </a:pPr>
            <a:r>
              <a:rPr lang="en-US" sz="2000" dirty="0">
                <a:solidFill>
                  <a:srgbClr val="CADCE8"/>
                </a:solidFill>
                <a:latin typeface="Calibri" pitchFamily="34" charset="0"/>
                <a:ea typeface="Calibri" pitchFamily="34" charset="-122"/>
                <a:cs typeface="Calibri" pitchFamily="34" charset="-120"/>
              </a:rPr>
              <a:t>warning: 2.0 ÷ 5.0</a:t>
            </a:r>
            <a:endParaRPr lang="en-US" sz="2000" dirty="0"/>
          </a:p>
        </p:txBody>
      </p:sp>
      <p:sp>
        <p:nvSpPr>
          <p:cNvPr id="10" name="Text 7"/>
          <p:cNvSpPr/>
          <p:nvPr/>
        </p:nvSpPr>
        <p:spPr>
          <a:xfrm>
            <a:off x="914400" y="3154680"/>
            <a:ext cx="20116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0.33 m</a:t>
            </a:r>
            <a:endParaRPr lang="en-US" sz="4000" dirty="0"/>
          </a:p>
        </p:txBody>
      </p:sp>
      <p:sp>
        <p:nvSpPr>
          <p:cNvPr id="11" name="Text 8"/>
          <p:cNvSpPr/>
          <p:nvPr/>
        </p:nvSpPr>
        <p:spPr>
          <a:xfrm>
            <a:off x="3017520" y="3246120"/>
            <a:ext cx="2743200" cy="640080"/>
          </a:xfrm>
          <a:prstGeom prst="rect">
            <a:avLst/>
          </a:prstGeom>
          <a:noFill/>
          <a:ln/>
        </p:spPr>
        <p:txBody>
          <a:bodyPr wrap="square" lIns="0" tIns="0" rIns="0" bIns="0" rtlCol="0" anchor="ctr"/>
          <a:lstStyle/>
          <a:p>
            <a:pPr indent="0" marL="0">
              <a:buNone/>
            </a:pPr>
            <a:r>
              <a:rPr lang="en-US" sz="2000" dirty="0">
                <a:solidFill>
                  <a:srgbClr val="CADCE8"/>
                </a:solidFill>
                <a:latin typeface="Calibri" pitchFamily="34" charset="0"/>
                <a:ea typeface="Calibri" pitchFamily="34" charset="-122"/>
                <a:cs typeface="Calibri" pitchFamily="34" charset="-120"/>
              </a:rPr>
              <a:t>to stop: 2² ÷ (2 × 6)</a:t>
            </a:r>
            <a:endParaRPr lang="en-US" sz="2000" dirty="0"/>
          </a:p>
        </p:txBody>
      </p:sp>
      <p:sp>
        <p:nvSpPr>
          <p:cNvPr id="12" name="Text 9"/>
          <p:cNvSpPr/>
          <p:nvPr/>
        </p:nvSpPr>
        <p:spPr>
          <a:xfrm>
            <a:off x="914400" y="4206240"/>
            <a:ext cx="4754880" cy="685800"/>
          </a:xfrm>
          <a:prstGeom prst="rect">
            <a:avLst/>
          </a:prstGeom>
          <a:noFill/>
          <a:ln/>
        </p:spPr>
        <p:txBody>
          <a:bodyPr wrap="square" lIns="0" tIns="0" rIns="0" bIns="0" rtlCol="0" anchor="ctr"/>
          <a:lstStyle/>
          <a:p>
            <a:pPr indent="0" marL="0">
              <a:buNone/>
            </a:pPr>
            <a:r>
              <a:rPr lang="en-US" sz="2400" b="1" dirty="0">
                <a:solidFill>
                  <a:srgbClr val="9EF01A"/>
                </a:solidFill>
                <a:latin typeface="Cambria" pitchFamily="34" charset="0"/>
                <a:ea typeface="Cambria" pitchFamily="34" charset="-122"/>
                <a:cs typeface="Cambria" pitchFamily="34" charset="-120"/>
              </a:rPr>
              <a:t>Fits — the robot arrives</a:t>
            </a:r>
            <a:endParaRPr lang="en-US" sz="2400" dirty="0"/>
          </a:p>
        </p:txBody>
      </p:sp>
      <p:sp>
        <p:nvSpPr>
          <p:cNvPr id="13" name="Shape 10"/>
          <p:cNvSpPr/>
          <p:nvPr/>
        </p:nvSpPr>
        <p:spPr>
          <a:xfrm>
            <a:off x="6217920" y="1508760"/>
            <a:ext cx="5303520" cy="3657600"/>
          </a:xfrm>
          <a:prstGeom prst="roundRect">
            <a:avLst>
              <a:gd name="adj" fmla="val 3000"/>
            </a:avLst>
          </a:prstGeom>
          <a:solidFill>
            <a:srgbClr val="132A4C"/>
          </a:solidFill>
          <a:ln/>
        </p:spPr>
      </p:sp>
      <p:sp>
        <p:nvSpPr>
          <p:cNvPr id="14" name="Text 11"/>
          <p:cNvSpPr/>
          <p:nvPr/>
        </p:nvSpPr>
        <p:spPr>
          <a:xfrm>
            <a:off x="6492240" y="1691640"/>
            <a:ext cx="4754880" cy="365760"/>
          </a:xfrm>
          <a:prstGeom prst="rect">
            <a:avLst/>
          </a:prstGeom>
          <a:noFill/>
          <a:ln/>
        </p:spPr>
        <p:txBody>
          <a:bodyPr wrap="square" lIns="0" tIns="0" rIns="0" bIns="0" rtlCol="0" anchor="ctr"/>
          <a:lstStyle/>
          <a:p>
            <a:pPr indent="0" marL="0">
              <a:buNone/>
            </a:pPr>
            <a:r>
              <a:rPr lang="en-US" sz="2000" b="1" spc="50" kern="0" dirty="0">
                <a:solidFill>
                  <a:srgbClr val="1B9AAA"/>
                </a:solidFill>
                <a:latin typeface="Calibri" pitchFamily="34" charset="0"/>
                <a:ea typeface="Calibri" pitchFamily="34" charset="-122"/>
                <a:cs typeface="Calibri" pitchFamily="34" charset="-120"/>
              </a:rPr>
              <a:t>AT 3 m/s</a:t>
            </a:r>
            <a:endParaRPr lang="en-US" sz="2000" dirty="0"/>
          </a:p>
        </p:txBody>
      </p:sp>
      <p:sp>
        <p:nvSpPr>
          <p:cNvPr id="15" name="Text 12"/>
          <p:cNvSpPr/>
          <p:nvPr/>
        </p:nvSpPr>
        <p:spPr>
          <a:xfrm>
            <a:off x="6492240" y="2194560"/>
            <a:ext cx="20116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0.60 m</a:t>
            </a:r>
            <a:endParaRPr lang="en-US" sz="4000" dirty="0"/>
          </a:p>
        </p:txBody>
      </p:sp>
      <p:sp>
        <p:nvSpPr>
          <p:cNvPr id="16" name="Text 13"/>
          <p:cNvSpPr/>
          <p:nvPr/>
        </p:nvSpPr>
        <p:spPr>
          <a:xfrm>
            <a:off x="8595360" y="2286000"/>
            <a:ext cx="2743200" cy="640080"/>
          </a:xfrm>
          <a:prstGeom prst="rect">
            <a:avLst/>
          </a:prstGeom>
          <a:noFill/>
          <a:ln/>
        </p:spPr>
        <p:txBody>
          <a:bodyPr wrap="square" lIns="0" tIns="0" rIns="0" bIns="0" rtlCol="0" anchor="ctr"/>
          <a:lstStyle/>
          <a:p>
            <a:pPr indent="0" marL="0">
              <a:buNone/>
            </a:pPr>
            <a:r>
              <a:rPr lang="en-US" sz="2000" dirty="0">
                <a:solidFill>
                  <a:srgbClr val="CADCE8"/>
                </a:solidFill>
                <a:latin typeface="Calibri" pitchFamily="34" charset="0"/>
                <a:ea typeface="Calibri" pitchFamily="34" charset="-122"/>
                <a:cs typeface="Calibri" pitchFamily="34" charset="-120"/>
              </a:rPr>
              <a:t>warning: 3.0 ÷ 5.0</a:t>
            </a:r>
            <a:endParaRPr lang="en-US" sz="2000" dirty="0"/>
          </a:p>
        </p:txBody>
      </p:sp>
      <p:sp>
        <p:nvSpPr>
          <p:cNvPr id="17" name="Text 14"/>
          <p:cNvSpPr/>
          <p:nvPr/>
        </p:nvSpPr>
        <p:spPr>
          <a:xfrm>
            <a:off x="6492240" y="3154680"/>
            <a:ext cx="20116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0.75 m</a:t>
            </a:r>
            <a:endParaRPr lang="en-US" sz="4000" dirty="0"/>
          </a:p>
        </p:txBody>
      </p:sp>
      <p:sp>
        <p:nvSpPr>
          <p:cNvPr id="18" name="Text 15"/>
          <p:cNvSpPr/>
          <p:nvPr/>
        </p:nvSpPr>
        <p:spPr>
          <a:xfrm>
            <a:off x="8595360" y="3246120"/>
            <a:ext cx="2743200" cy="640080"/>
          </a:xfrm>
          <a:prstGeom prst="rect">
            <a:avLst/>
          </a:prstGeom>
          <a:noFill/>
          <a:ln/>
        </p:spPr>
        <p:txBody>
          <a:bodyPr wrap="square" lIns="0" tIns="0" rIns="0" bIns="0" rtlCol="0" anchor="ctr"/>
          <a:lstStyle/>
          <a:p>
            <a:pPr indent="0" marL="0">
              <a:buNone/>
            </a:pPr>
            <a:r>
              <a:rPr lang="en-US" sz="2000" dirty="0">
                <a:solidFill>
                  <a:srgbClr val="CADCE8"/>
                </a:solidFill>
                <a:latin typeface="Calibri" pitchFamily="34" charset="0"/>
                <a:ea typeface="Calibri" pitchFamily="34" charset="-122"/>
                <a:cs typeface="Calibri" pitchFamily="34" charset="-120"/>
              </a:rPr>
              <a:t>to stop: 3² ÷ (2 × 6)</a:t>
            </a:r>
            <a:endParaRPr lang="en-US" sz="2000" dirty="0"/>
          </a:p>
        </p:txBody>
      </p:sp>
      <p:sp>
        <p:nvSpPr>
          <p:cNvPr id="19" name="Text 16"/>
          <p:cNvSpPr/>
          <p:nvPr/>
        </p:nvSpPr>
        <p:spPr>
          <a:xfrm>
            <a:off x="6492240" y="4206240"/>
            <a:ext cx="4754880" cy="685800"/>
          </a:xfrm>
          <a:prstGeom prst="rect">
            <a:avLst/>
          </a:prstGeom>
          <a:noFill/>
          <a:ln/>
        </p:spPr>
        <p:txBody>
          <a:bodyPr wrap="square" lIns="0" tIns="0" rIns="0" bIns="0" rtlCol="0" anchor="ctr"/>
          <a:lstStyle/>
          <a:p>
            <a:pPr indent="0" marL="0">
              <a:buNone/>
            </a:pPr>
            <a:r>
              <a:rPr lang="en-US" sz="2400" b="1" dirty="0">
                <a:solidFill>
                  <a:srgbClr val="FF8B8B"/>
                </a:solidFill>
                <a:latin typeface="Cambria" pitchFamily="34" charset="0"/>
                <a:ea typeface="Cambria" pitchFamily="34" charset="-122"/>
                <a:cs typeface="Cambria" pitchFamily="34" charset="-120"/>
              </a:rPr>
              <a:t>Doesn't fit — it sails past</a:t>
            </a:r>
            <a:endParaRPr lang="en-US" sz="2400" dirty="0"/>
          </a:p>
        </p:txBody>
      </p:sp>
      <p:sp>
        <p:nvSpPr>
          <p:cNvPr id="20" name="Shape 17"/>
          <p:cNvSpPr/>
          <p:nvPr/>
        </p:nvSpPr>
        <p:spPr>
          <a:xfrm>
            <a:off x="640080" y="5349240"/>
            <a:ext cx="10881360" cy="960120"/>
          </a:xfrm>
          <a:prstGeom prst="roundRect">
            <a:avLst>
              <a:gd name="adj" fmla="val 9524"/>
            </a:avLst>
          </a:prstGeom>
          <a:solidFill>
            <a:srgbClr val="132A4C"/>
          </a:solidFill>
          <a:ln/>
        </p:spPr>
      </p:sp>
      <p:sp>
        <p:nvSpPr>
          <p:cNvPr id="21" name="Text 18"/>
          <p:cNvSpPr/>
          <p:nvPr/>
        </p:nvSpPr>
        <p:spPr>
          <a:xfrm>
            <a:off x="822960" y="5532120"/>
            <a:ext cx="10515600" cy="59436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B-Line plans nothing ahead: acceleration alone decides if it can stop.</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B-LINE AUTOS</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18</a:t>
            </a:r>
            <a:endParaRPr lang="en-US" sz="2000" dirty="0"/>
          </a:p>
        </p:txBody>
      </p:sp>
      <p:pic>
        <p:nvPicPr>
          <p:cNvPr id="2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hoeprint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FARSIDE.JSON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second path, from the same start</a:t>
            </a:r>
            <a:endParaRPr lang="en-US" sz="3000" dirty="0"/>
          </a:p>
        </p:txBody>
      </p:sp>
      <p:sp>
        <p:nvSpPr>
          <p:cNvPr id="6" name="Shape 3"/>
          <p:cNvSpPr/>
          <p:nvPr/>
        </p:nvSpPr>
        <p:spPr>
          <a:xfrm>
            <a:off x="640080" y="1280160"/>
            <a:ext cx="10881360" cy="4709160"/>
          </a:xfrm>
          <a:prstGeom prst="roundRect">
            <a:avLst>
              <a:gd name="adj" fmla="val 233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src/main/deploy/autos/paths/FarSide.json</a:t>
            </a:r>
            <a:endParaRPr lang="en-US" sz="1500" dirty="0"/>
          </a:p>
        </p:txBody>
      </p:sp>
      <p:sp>
        <p:nvSpPr>
          <p:cNvPr id="11" name="Text 8"/>
          <p:cNvSpPr/>
          <p:nvPr/>
        </p:nvSpPr>
        <p:spPr>
          <a:xfrm>
            <a:off x="914400" y="1737360"/>
            <a:ext cx="10195560" cy="4050792"/>
          </a:xfrm>
          <a:prstGeom prst="rect">
            <a:avLst/>
          </a:prstGeom>
          <a:noFill/>
          <a:ln/>
        </p:spPr>
        <p:txBody>
          <a:bodyPr wrap="square" lIns="0" tIns="0" rIns="0" bIns="0" rtlCol="0" anchor="t"/>
          <a:lstStyle/>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"path_elements":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"type": "waypoint",</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"translation_target": { "x_meters": 3.0, "y_meters": 3.0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"rotation_target": { "rotation_radians": 0.0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"type": "translation",</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"x_meters": 9.0,</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"y_meters": 3.0</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      "type": "waypoint",</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"translation_target": { "x_meters": 9.0, "y_meters": 1.0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"rotation_target": { "rotation_radians": -1.5707963, "profiled_rotation": true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19</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item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AUTOS.JAVA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FollowPath.Builder: everything about this robot</a:t>
            </a:r>
            <a:endParaRPr lang="en-US" sz="3000" dirty="0"/>
          </a:p>
        </p:txBody>
      </p:sp>
      <p:sp>
        <p:nvSpPr>
          <p:cNvPr id="6" name="Shape 3"/>
          <p:cNvSpPr/>
          <p:nvPr/>
        </p:nvSpPr>
        <p:spPr>
          <a:xfrm>
            <a:off x="640080" y="1280160"/>
            <a:ext cx="10881360" cy="4983480"/>
          </a:xfrm>
          <a:prstGeom prst="roundRect">
            <a:avLst>
              <a:gd name="adj" fmla="val 220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Autos, below driveTurnDrive</a:t>
            </a:r>
            <a:endParaRPr lang="en-US" sz="1500" dirty="0"/>
          </a:p>
        </p:txBody>
      </p:sp>
      <p:sp>
        <p:nvSpPr>
          <p:cNvPr id="11" name="Text 8"/>
          <p:cNvSpPr/>
          <p:nvPr/>
        </p:nvSpPr>
        <p:spPr>
          <a:xfrm>
            <a:off x="914400" y="1737360"/>
            <a:ext cx="10195560" cy="4325112"/>
          </a:xfrm>
          <a:prstGeom prst="rect">
            <a:avLst/>
          </a:prstGeom>
          <a:noFill/>
          <a:ln/>
        </p:spPr>
        <p:txBody>
          <a:bodyPr wrap="square" lIns="0" tIns="0" rIns="0" bIns="0" rtlCol="0" anchor="t"/>
          <a:lstStyle/>
          <a:p>
            <a:pPr indent="0" marL="0">
              <a:lnSpc>
                <a:spcPct val="120000"/>
              </a:lnSpc>
              <a:buNone/>
            </a:pPr>
            <a:r>
              <a:rPr lang="en-US" sz="1150" dirty="0">
                <a:solidFill>
                  <a:srgbClr val="7FA8C9"/>
                </a:solidFill>
                <a:latin typeface="Courier New" pitchFamily="34" charset="0"/>
                <a:ea typeface="Courier New" pitchFamily="34" charset="-122"/>
                <a:cs typeface="Courier New" pitchFamily="34" charset="-120"/>
              </a:rPr>
              <a:t>/** Everything about following a path that doesn't depend on which path it is. */</a:t>
            </a:r>
            <a:endParaRPr lang="en-US" sz="1150" dirty="0"/>
          </a:p>
          <a:p>
            <a:pPr indent="0" marL="0">
              <a:lnSpc>
                <a:spcPct val="120000"/>
              </a:lnSpc>
              <a:buNone/>
            </a:pPr>
            <a:r>
              <a:rPr lang="en-US" sz="1150" dirty="0">
                <a:solidFill>
                  <a:srgbClr val="FFD166"/>
                </a:solidFill>
                <a:latin typeface="Courier New" pitchFamily="34" charset="0"/>
                <a:ea typeface="Courier New" pitchFamily="34" charset="-122"/>
                <a:cs typeface="Courier New" pitchFamily="34" charset="-120"/>
              </a:rPr>
              <a:t>public static FollowPath.Builder makePathBuilder(Drivetrain drivetrain, Localizer localizer) {</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return new FollowPath.Builder(</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DriveType.SWERVE,                  // what kind of drivetrain this is</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drivetrain,                        // the mechanism the command will require</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localizer::getPose,                // where we are (fused, Lesson 14)</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localizer::resetPose,              // how to tell the estimate where we are</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drivetrain::getChassisVelocities,  // how fast we're going, robot-relative</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drivetrain::driveRobotRelative,    // how to make the robot move</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new PIDController(PathConstants.kTranslationP, 0, 0),</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new PIDController(PathConstants.kRotationP, 0, 0),</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new PIDController(PathConstants.kCrossTrackP, 0, 0))</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.withDefaultShouldFlip()           // mirror the path for the red alliance</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.withTelemetry(Telemetry.getTable()); // log what the follower is doing</a:t>
            </a:r>
            <a:endParaRPr lang="en-US" sz="1150" dirty="0"/>
          </a:p>
          <a:p>
            <a:pPr indent="0" marL="0">
              <a:lnSpc>
                <a:spcPct val="120000"/>
              </a:lnSpc>
              <a:buNone/>
            </a:pPr>
            <a:r>
              <a:rPr lang="en-US" sz="1150" dirty="0">
                <a:solidFill>
                  <a:srgbClr val="D7E3F4"/>
                </a:solidFill>
                <a:latin typeface="Courier New" pitchFamily="34" charset="0"/>
                <a:ea typeface="Courier New" pitchFamily="34" charset="-122"/>
                <a:cs typeface="Courier New" pitchFamily="34" charset="-120"/>
              </a:rPr>
              <a:t>}</a:t>
            </a:r>
            <a:endParaRPr lang="en-US" sz="115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20</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listol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AUTOS.JAVA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Imports, and the first two arguments</a:t>
            </a:r>
            <a:endParaRPr lang="en-US" sz="3000" dirty="0"/>
          </a:p>
        </p:txBody>
      </p:sp>
      <p:sp>
        <p:nvSpPr>
          <p:cNvPr id="6" name="Shape 3"/>
          <p:cNvSpPr/>
          <p:nvPr/>
        </p:nvSpPr>
        <p:spPr>
          <a:xfrm>
            <a:off x="640080" y="1280160"/>
            <a:ext cx="10881360" cy="2697480"/>
          </a:xfrm>
          <a:prstGeom prst="roundRect">
            <a:avLst>
              <a:gd name="adj" fmla="val 406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Autos's imports</a:t>
            </a:r>
            <a:endParaRPr lang="en-US" sz="1500" dirty="0"/>
          </a:p>
        </p:txBody>
      </p:sp>
      <p:sp>
        <p:nvSpPr>
          <p:cNvPr id="11" name="Text 8"/>
          <p:cNvSpPr/>
          <p:nvPr/>
        </p:nvSpPr>
        <p:spPr>
          <a:xfrm>
            <a:off x="914400" y="1737360"/>
            <a:ext cx="10195560" cy="203911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org.wpilib.math.controller.PIDController;</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org.wpilib.telemetry.Telemetry;</a:t>
            </a:r>
            <a:endParaRPr lang="en-US" sz="1400" dirty="0"/>
          </a:p>
          <a:p>
            <a:pPr indent="0" marL="0">
              <a:lnSpc>
                <a:spcPct val="120000"/>
              </a:lnSpc>
              <a:buNone/>
            </a:pP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first.robot.Constants.PathConstants;</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first.robot.subsystems.Localizer;</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frc.robot.lib.BLine.commands.FollowPath;</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frc.robot.lib.BLine.following.DriveType;</a:t>
            </a:r>
            <a:endParaRPr lang="en-US" sz="1400" dirty="0"/>
          </a:p>
        </p:txBody>
      </p:sp>
      <p:sp>
        <p:nvSpPr>
          <p:cNvPr id="12" name="Shape 9"/>
          <p:cNvSpPr/>
          <p:nvPr/>
        </p:nvSpPr>
        <p:spPr>
          <a:xfrm>
            <a:off x="640080" y="4206240"/>
            <a:ext cx="10881360" cy="2103120"/>
          </a:xfrm>
          <a:prstGeom prst="roundRect">
            <a:avLst>
              <a:gd name="adj" fmla="val 4348"/>
            </a:avLst>
          </a:prstGeom>
          <a:solidFill>
            <a:srgbClr val="F3F6FA"/>
          </a:solidFill>
          <a:ln/>
        </p:spPr>
      </p:sp>
      <p:sp>
        <p:nvSpPr>
          <p:cNvPr id="13" name="Text 10"/>
          <p:cNvSpPr/>
          <p:nvPr/>
        </p:nvSpPr>
        <p:spPr>
          <a:xfrm>
            <a:off x="914400" y="448056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DriveType.SWERVE, then the mechanism it requires</a:t>
            </a:r>
            <a:endParaRPr lang="en-US" sz="2200" dirty="0"/>
          </a:p>
        </p:txBody>
      </p:sp>
      <p:sp>
        <p:nvSpPr>
          <p:cNvPr id="14" name="Text 11"/>
          <p:cNvSpPr/>
          <p:nvPr/>
        </p:nvSpPr>
        <p:spPr>
          <a:xfrm>
            <a:off x="914400" y="5058410"/>
            <a:ext cx="10332720" cy="97663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B-Line drives tank and mecanum too. The drivetrain argument is Lesson 9's mutual exclusion: teleop driving steps aside while a path runs.</a:t>
            </a:r>
            <a:endParaRPr lang="en-US" sz="19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21</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objectgrou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6 · METHOD REFERENCES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Two of them fetch a value; two of them are verbs</a:t>
            </a:r>
            <a:endParaRPr lang="en-US" sz="3000" dirty="0"/>
          </a:p>
        </p:txBody>
      </p:sp>
      <p:sp>
        <p:nvSpPr>
          <p:cNvPr id="6" name="Shape 3"/>
          <p:cNvSpPr/>
          <p:nvPr/>
        </p:nvSpPr>
        <p:spPr>
          <a:xfrm>
            <a:off x="640080" y="1554480"/>
            <a:ext cx="5303520" cy="3520440"/>
          </a:xfrm>
          <a:prstGeom prst="roundRect">
            <a:avLst>
              <a:gd name="adj" fmla="val 2597"/>
            </a:avLst>
          </a:prstGeom>
          <a:solidFill>
            <a:srgbClr val="132A4C"/>
          </a:solidFill>
          <a:ln/>
        </p:spPr>
      </p:sp>
      <p:sp>
        <p:nvSpPr>
          <p:cNvPr id="7" name="Text 4"/>
          <p:cNvSpPr/>
          <p:nvPr/>
        </p:nvSpPr>
        <p:spPr>
          <a:xfrm>
            <a:off x="914400" y="1828800"/>
            <a:ext cx="4754880" cy="365760"/>
          </a:xfrm>
          <a:prstGeom prst="rect">
            <a:avLst/>
          </a:prstGeom>
          <a:noFill/>
          <a:ln/>
        </p:spPr>
        <p:txBody>
          <a:bodyPr wrap="square" lIns="0" tIns="0" rIns="0" bIns="0" rtlCol="0" anchor="ctr"/>
          <a:lstStyle/>
          <a:p>
            <a:pPr indent="0" marL="0">
              <a:buNone/>
            </a:pPr>
            <a:r>
              <a:rPr lang="en-US" sz="2000" b="1" spc="50" kern="0" dirty="0">
                <a:solidFill>
                  <a:srgbClr val="1B9AAA"/>
                </a:solidFill>
                <a:latin typeface="Calibri" pitchFamily="34" charset="0"/>
                <a:ea typeface="Calibri" pitchFamily="34" charset="-122"/>
                <a:cs typeface="Calibri" pitchFamily="34" charset="-120"/>
              </a:rPr>
              <a:t>SUPPLIERS</a:t>
            </a:r>
            <a:endParaRPr lang="en-US" sz="2000" dirty="0"/>
          </a:p>
        </p:txBody>
      </p:sp>
      <p:sp>
        <p:nvSpPr>
          <p:cNvPr id="8" name="Text 5"/>
          <p:cNvSpPr/>
          <p:nvPr/>
        </p:nvSpPr>
        <p:spPr>
          <a:xfrm>
            <a:off x="914400" y="2286000"/>
            <a:ext cx="4754880" cy="863600"/>
          </a:xfrm>
          <a:prstGeom prst="rect">
            <a:avLst/>
          </a:prstGeom>
          <a:noFill/>
          <a:ln/>
        </p:spPr>
        <p:txBody>
          <a:bodyPr wrap="square" lIns="0" tIns="0" rIns="0" bIns="0" rtlCol="0" anchor="t"/>
          <a:lstStyle/>
          <a:p>
            <a:pPr indent="0" marL="0">
              <a:lnSpc>
                <a:spcPct val="120000"/>
              </a:lnSpc>
              <a:buNone/>
            </a:pPr>
            <a:r>
              <a:rPr lang="en-US" sz="2000" b="1" dirty="0">
                <a:solidFill>
                  <a:srgbClr val="FFFFFF"/>
                </a:solidFill>
                <a:latin typeface="Cambria" pitchFamily="34" charset="0"/>
                <a:ea typeface="Cambria" pitchFamily="34" charset="-122"/>
                <a:cs typeface="Cambria" pitchFamily="34" charset="-120"/>
              </a:rPr>
              <a:t>localizer::getPose, drivetrain::getChassisVelocities</a:t>
            </a:r>
            <a:endParaRPr lang="en-US" sz="2000" dirty="0"/>
          </a:p>
        </p:txBody>
      </p:sp>
      <p:sp>
        <p:nvSpPr>
          <p:cNvPr id="9" name="Text 6"/>
          <p:cNvSpPr/>
          <p:nvPr/>
        </p:nvSpPr>
        <p:spPr>
          <a:xfrm>
            <a:off x="914400" y="3149600"/>
            <a:ext cx="4754880" cy="165100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Fetch a value when asked — like the joystick suppliers back in Lesson 2.</a:t>
            </a:r>
            <a:endParaRPr lang="en-US" sz="1900" dirty="0"/>
          </a:p>
        </p:txBody>
      </p:sp>
      <p:sp>
        <p:nvSpPr>
          <p:cNvPr id="10" name="Shape 7"/>
          <p:cNvSpPr/>
          <p:nvPr/>
        </p:nvSpPr>
        <p:spPr>
          <a:xfrm>
            <a:off x="6217920" y="1554480"/>
            <a:ext cx="5303520" cy="3520440"/>
          </a:xfrm>
          <a:prstGeom prst="roundRect">
            <a:avLst>
              <a:gd name="adj" fmla="val 2597"/>
            </a:avLst>
          </a:prstGeom>
          <a:solidFill>
            <a:srgbClr val="132A4C"/>
          </a:solidFill>
          <a:ln/>
        </p:spPr>
      </p:sp>
      <p:sp>
        <p:nvSpPr>
          <p:cNvPr id="11" name="Text 8"/>
          <p:cNvSpPr/>
          <p:nvPr/>
        </p:nvSpPr>
        <p:spPr>
          <a:xfrm>
            <a:off x="6492240" y="1828800"/>
            <a:ext cx="475488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VERBS</a:t>
            </a:r>
            <a:endParaRPr lang="en-US" sz="2000" dirty="0"/>
          </a:p>
        </p:txBody>
      </p:sp>
      <p:sp>
        <p:nvSpPr>
          <p:cNvPr id="12" name="Text 9"/>
          <p:cNvSpPr/>
          <p:nvPr/>
        </p:nvSpPr>
        <p:spPr>
          <a:xfrm>
            <a:off x="6492240" y="2286000"/>
            <a:ext cx="4754880" cy="863600"/>
          </a:xfrm>
          <a:prstGeom prst="rect">
            <a:avLst/>
          </a:prstGeom>
          <a:noFill/>
          <a:ln/>
        </p:spPr>
        <p:txBody>
          <a:bodyPr wrap="square" lIns="0" tIns="0" rIns="0" bIns="0" rtlCol="0" anchor="t"/>
          <a:lstStyle/>
          <a:p>
            <a:pPr indent="0" marL="0">
              <a:lnSpc>
                <a:spcPct val="120000"/>
              </a:lnSpc>
              <a:buNone/>
            </a:pPr>
            <a:r>
              <a:rPr lang="en-US" sz="2000" b="1" dirty="0">
                <a:solidFill>
                  <a:srgbClr val="FFFFFF"/>
                </a:solidFill>
                <a:latin typeface="Cambria" pitchFamily="34" charset="0"/>
                <a:ea typeface="Cambria" pitchFamily="34" charset="-122"/>
                <a:cs typeface="Cambria" pitchFamily="34" charset="-120"/>
              </a:rPr>
              <a:t>drivetrain::driveRobotRelative, localizer::resetPose</a:t>
            </a:r>
            <a:endParaRPr lang="en-US" sz="2000" dirty="0"/>
          </a:p>
        </p:txBody>
      </p:sp>
      <p:sp>
        <p:nvSpPr>
          <p:cNvPr id="13" name="Text 10"/>
          <p:cNvSpPr/>
          <p:nvPr/>
        </p:nvSpPr>
        <p:spPr>
          <a:xfrm>
            <a:off x="6492240" y="3149600"/>
            <a:ext cx="4754880" cy="165100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Return nothing. B-Line calls them — every tick with a motion, or once with a pose.</a:t>
            </a:r>
            <a:endParaRPr lang="en-US" sz="1900" dirty="0"/>
          </a:p>
        </p:txBody>
      </p:sp>
      <p:sp>
        <p:nvSpPr>
          <p:cNvPr id="14" name="Shape 11"/>
          <p:cNvSpPr/>
          <p:nvPr/>
        </p:nvSpPr>
        <p:spPr>
          <a:xfrm>
            <a:off x="640080" y="5257800"/>
            <a:ext cx="10881360" cy="1051560"/>
          </a:xfrm>
          <a:prstGeom prst="roundRect">
            <a:avLst>
              <a:gd name="adj" fmla="val 8696"/>
            </a:avLst>
          </a:prstGeom>
          <a:solidFill>
            <a:srgbClr val="132A4C"/>
          </a:solidFill>
          <a:ln/>
        </p:spPr>
      </p:sp>
      <p:sp>
        <p:nvSpPr>
          <p:cNvPr id="15" name="Text 12"/>
          <p:cNvSpPr/>
          <p:nvPr/>
        </p:nvSpPr>
        <p:spPr>
          <a:xfrm>
            <a:off x="822960" y="5440680"/>
            <a:ext cx="10515600" cy="68580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Then three separate PIDControllers: translation, rotation, cross-track.</a:t>
            </a:r>
            <a:endParaRPr lang="en-US" sz="2000" dirty="0"/>
          </a:p>
        </p:txBody>
      </p:sp>
      <p:sp>
        <p:nvSpPr>
          <p:cNvPr id="16" name="Text 13"/>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B-LINE AUTOS</a:t>
            </a:r>
            <a:endParaRPr lang="en-US" sz="2000" dirty="0"/>
          </a:p>
        </p:txBody>
      </p:sp>
      <p:sp>
        <p:nvSpPr>
          <p:cNvPr id="17" name="Text 14"/>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22</a:t>
            </a:r>
            <a:endParaRPr lang="en-US" sz="2000" dirty="0"/>
          </a:p>
        </p:txBody>
      </p:sp>
      <p:pic>
        <p:nvPicPr>
          <p:cNvPr id="18"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layergrou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6 · NOTICE WHAT'S MISSING</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path isn't in it — one builder serves every path</a:t>
            </a:r>
            <a:endParaRPr lang="en-US" sz="3000" dirty="0"/>
          </a:p>
        </p:txBody>
      </p:sp>
      <p:sp>
        <p:nvSpPr>
          <p:cNvPr id="6" name="Shape 3"/>
          <p:cNvSpPr/>
          <p:nvPr/>
        </p:nvSpPr>
        <p:spPr>
          <a:xfrm>
            <a:off x="640080" y="1554480"/>
            <a:ext cx="10881360" cy="2240280"/>
          </a:xfrm>
          <a:prstGeom prst="roundRect">
            <a:avLst>
              <a:gd name="adj" fmla="val 4082"/>
            </a:avLst>
          </a:prstGeom>
          <a:solidFill>
            <a:srgbClr val="132A4C"/>
          </a:solidFill>
          <a:ln/>
        </p:spPr>
      </p:sp>
      <p:sp>
        <p:nvSpPr>
          <p:cNvPr id="7" name="Text 4"/>
          <p:cNvSpPr/>
          <p:nvPr/>
        </p:nvSpPr>
        <p:spPr>
          <a:xfrm>
            <a:off x="914400" y="18288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Two settings chained on the end</a:t>
            </a:r>
            <a:endParaRPr lang="en-US" sz="2200" dirty="0"/>
          </a:p>
        </p:txBody>
      </p:sp>
      <p:sp>
        <p:nvSpPr>
          <p:cNvPr id="8" name="Text 5"/>
          <p:cNvSpPr/>
          <p:nvPr/>
        </p:nvSpPr>
        <p:spPr>
          <a:xfrm>
            <a:off x="914400" y="2406650"/>
            <a:ext cx="10332720" cy="111379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withDefaultShouldFlip() mirrors the path for the red alliance — draw once, works on both. withTelemetry(...) logs what B-Line is doing under FollowPath/.</a:t>
            </a:r>
            <a:endParaRPr lang="en-US" sz="1900" dirty="0"/>
          </a:p>
        </p:txBody>
      </p:sp>
      <p:sp>
        <p:nvSpPr>
          <p:cNvPr id="9" name="Shape 6"/>
          <p:cNvSpPr/>
          <p:nvPr/>
        </p:nvSpPr>
        <p:spPr>
          <a:xfrm>
            <a:off x="640080" y="3977640"/>
            <a:ext cx="10881360" cy="2331720"/>
          </a:xfrm>
          <a:prstGeom prst="roundRect">
            <a:avLst>
              <a:gd name="adj" fmla="val 3922"/>
            </a:avLst>
          </a:prstGeom>
          <a:solidFill>
            <a:srgbClr val="132A4C"/>
          </a:solidFill>
          <a:ln/>
        </p:spPr>
      </p:sp>
      <p:sp>
        <p:nvSpPr>
          <p:cNvPr id="10" name="Text 7"/>
          <p:cNvSpPr/>
          <p:nvPr/>
        </p:nvSpPr>
        <p:spPr>
          <a:xfrm>
            <a:off x="914400" y="425196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Every argument describes this robot, not one line</a:t>
            </a:r>
            <a:endParaRPr lang="en-US" sz="2200" dirty="0"/>
          </a:p>
        </p:txBody>
      </p:sp>
      <p:sp>
        <p:nvSpPr>
          <p:cNvPr id="11" name="Text 8"/>
          <p:cNvSpPr/>
          <p:nvPr/>
        </p:nvSpPr>
        <p:spPr>
          <a:xfrm>
            <a:off x="914400" y="4829810"/>
            <a:ext cx="10332720" cy="120523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So one builder can serve every path you'll ever draw. Sharing its controllers is safe: every command it makes requires the drivetrain.</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23</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AUTOS.JAVA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Turning a path into something you can schedule</a:t>
            </a:r>
            <a:endParaRPr lang="en-US" sz="3000" dirty="0"/>
          </a:p>
        </p:txBody>
      </p:sp>
      <p:sp>
        <p:nvSpPr>
          <p:cNvPr id="6" name="Shape 3"/>
          <p:cNvSpPr/>
          <p:nvPr/>
        </p:nvSpPr>
        <p:spPr>
          <a:xfrm>
            <a:off x="640080" y="1280160"/>
            <a:ext cx="10881360" cy="2194560"/>
          </a:xfrm>
          <a:prstGeom prst="roundRect">
            <a:avLst>
              <a:gd name="adj" fmla="val 5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Autos, below makePathBuilder</a:t>
            </a:r>
            <a:endParaRPr lang="en-US" sz="1500" dirty="0"/>
          </a:p>
        </p:txBody>
      </p:sp>
      <p:sp>
        <p:nvSpPr>
          <p:cNvPr id="11" name="Text 8"/>
          <p:cNvSpPr/>
          <p:nvPr/>
        </p:nvSpPr>
        <p:spPr>
          <a:xfrm>
            <a:off x="914400" y="1737360"/>
            <a:ext cx="10195560" cy="153619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One drawn path, as a command. */</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static Command followPath(FollowPath.Builder pathBuilder, Path path)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return pathBuilder.build(path)</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.withPoseReset(); // start by telling the estimate we're at the path's start</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3657600"/>
            <a:ext cx="10881360" cy="1097280"/>
          </a:xfrm>
          <a:prstGeom prst="roundRect">
            <a:avLst>
              <a:gd name="adj" fmla="val 10000"/>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803904"/>
            <a:ext cx="128016" cy="128016"/>
          </a:xfrm>
          <a:prstGeom prst="ellipse">
            <a:avLst/>
          </a:prstGeom>
          <a:solidFill>
            <a:srgbClr val="FF6B6B"/>
          </a:solidFill>
          <a:ln/>
        </p:spPr>
      </p:sp>
      <p:sp>
        <p:nvSpPr>
          <p:cNvPr id="14" name="Shape 11"/>
          <p:cNvSpPr/>
          <p:nvPr/>
        </p:nvSpPr>
        <p:spPr>
          <a:xfrm>
            <a:off x="11210544" y="4005072"/>
            <a:ext cx="128016" cy="128016"/>
          </a:xfrm>
          <a:prstGeom prst="ellipse">
            <a:avLst/>
          </a:prstGeom>
          <a:solidFill>
            <a:srgbClr val="FFD166"/>
          </a:solidFill>
          <a:ln/>
        </p:spPr>
      </p:sp>
      <p:sp>
        <p:nvSpPr>
          <p:cNvPr id="15" name="Shape 12"/>
          <p:cNvSpPr/>
          <p:nvPr/>
        </p:nvSpPr>
        <p:spPr>
          <a:xfrm>
            <a:off x="11210544" y="4206240"/>
            <a:ext cx="128016" cy="128016"/>
          </a:xfrm>
          <a:prstGeom prst="ellipse">
            <a:avLst/>
          </a:prstGeom>
          <a:solidFill>
            <a:srgbClr val="2EC4B6"/>
          </a:solidFill>
          <a:ln/>
        </p:spPr>
      </p:sp>
      <p:sp>
        <p:nvSpPr>
          <p:cNvPr id="16" name="Text 13"/>
          <p:cNvSpPr/>
          <p:nvPr/>
        </p:nvSpPr>
        <p:spPr>
          <a:xfrm>
            <a:off x="914400" y="3785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Autos's imports</a:t>
            </a:r>
            <a:endParaRPr lang="en-US" sz="1500" dirty="0"/>
          </a:p>
        </p:txBody>
      </p:sp>
      <p:sp>
        <p:nvSpPr>
          <p:cNvPr id="17" name="Text 14"/>
          <p:cNvSpPr/>
          <p:nvPr/>
        </p:nvSpPr>
        <p:spPr>
          <a:xfrm>
            <a:off x="914400" y="4114800"/>
            <a:ext cx="10195560" cy="43891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frc.robot.lib.BLine.path.Path;</a:t>
            </a:r>
            <a:endParaRPr lang="en-US" sz="1400" dirty="0"/>
          </a:p>
        </p:txBody>
      </p:sp>
      <p:sp>
        <p:nvSpPr>
          <p:cNvPr id="18" name="Shape 15"/>
          <p:cNvSpPr/>
          <p:nvPr/>
        </p:nvSpPr>
        <p:spPr>
          <a:xfrm>
            <a:off x="640080" y="4937760"/>
            <a:ext cx="10881360" cy="1371600"/>
          </a:xfrm>
          <a:prstGeom prst="roundRect">
            <a:avLst>
              <a:gd name="adj" fmla="val 6667"/>
            </a:avLst>
          </a:prstGeom>
          <a:solidFill>
            <a:srgbClr val="F3F6FA"/>
          </a:solidFill>
          <a:ln/>
        </p:spPr>
      </p:sp>
      <p:sp>
        <p:nvSpPr>
          <p:cNvPr id="19" name="Text 16"/>
          <p:cNvSpPr/>
          <p:nvPr/>
        </p:nvSpPr>
        <p:spPr>
          <a:xfrm>
            <a:off x="868680" y="5166360"/>
            <a:ext cx="10424160" cy="91440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withPoseReset(): "we're at the start of the path, trust me." True on a real field because a person put the robot there.</a:t>
            </a:r>
            <a:endParaRPr lang="en-US" sz="19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24</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obo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ROBOT.JAVA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Built once, where the drivetrain lives</a:t>
            </a:r>
            <a:endParaRPr lang="en-US" sz="3000" dirty="0"/>
          </a:p>
        </p:txBody>
      </p:sp>
      <p:sp>
        <p:nvSpPr>
          <p:cNvPr id="6" name="Shape 3"/>
          <p:cNvSpPr/>
          <p:nvPr/>
        </p:nvSpPr>
        <p:spPr>
          <a:xfrm>
            <a:off x="640080" y="1280160"/>
            <a:ext cx="10881360" cy="2514600"/>
          </a:xfrm>
          <a:prstGeom prst="roundRect">
            <a:avLst>
              <a:gd name="adj" fmla="val 436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Robot, below the camera fields</a:t>
            </a:r>
            <a:endParaRPr lang="en-US" sz="1500" dirty="0"/>
          </a:p>
        </p:txBody>
      </p:sp>
      <p:sp>
        <p:nvSpPr>
          <p:cNvPr id="11" name="Text 8"/>
          <p:cNvSpPr/>
          <p:nvPr/>
        </p:nvSpPr>
        <p:spPr>
          <a:xfrm>
            <a:off x="914400" y="1737360"/>
            <a:ext cx="10195560" cy="1856232"/>
          </a:xfrm>
          <a:prstGeom prst="rect">
            <a:avLst/>
          </a:prstGeom>
          <a:noFill/>
          <a:ln/>
        </p:spPr>
        <p:txBody>
          <a:bodyPr wrap="square" lIns="0" tIns="0" rIns="0" bIns="0" rtlCol="0" anchor="t"/>
          <a:lstStyle/>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public final LimelightPoseProvider frontCamera;</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public final LimelightPoseProvider backCamera;</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How this robot follows a path. It's the same for every path, so it's</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built once, here, and every autonomous opmode reaches in and uses it.</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public final FollowPath.Builder pathBuilder = Autos.makePathBuilder(drivetrain, localizer);</a:t>
            </a:r>
            <a:endParaRPr lang="en-US" sz="1300" dirty="0"/>
          </a:p>
        </p:txBody>
      </p:sp>
      <p:sp>
        <p:nvSpPr>
          <p:cNvPr id="12" name="Shape 9"/>
          <p:cNvSpPr/>
          <p:nvPr/>
        </p:nvSpPr>
        <p:spPr>
          <a:xfrm>
            <a:off x="640080" y="3977640"/>
            <a:ext cx="10881360" cy="1325880"/>
          </a:xfrm>
          <a:prstGeom prst="roundRect">
            <a:avLst>
              <a:gd name="adj" fmla="val 8276"/>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4123944"/>
            <a:ext cx="128016" cy="128016"/>
          </a:xfrm>
          <a:prstGeom prst="ellipse">
            <a:avLst/>
          </a:prstGeom>
          <a:solidFill>
            <a:srgbClr val="FF6B6B"/>
          </a:solidFill>
          <a:ln/>
        </p:spPr>
      </p:sp>
      <p:sp>
        <p:nvSpPr>
          <p:cNvPr id="14" name="Shape 11"/>
          <p:cNvSpPr/>
          <p:nvPr/>
        </p:nvSpPr>
        <p:spPr>
          <a:xfrm>
            <a:off x="11210544" y="4325112"/>
            <a:ext cx="128016" cy="128016"/>
          </a:xfrm>
          <a:prstGeom prst="ellipse">
            <a:avLst/>
          </a:prstGeom>
          <a:solidFill>
            <a:srgbClr val="FFD166"/>
          </a:solidFill>
          <a:ln/>
        </p:spPr>
      </p:sp>
      <p:sp>
        <p:nvSpPr>
          <p:cNvPr id="15" name="Shape 12"/>
          <p:cNvSpPr/>
          <p:nvPr/>
        </p:nvSpPr>
        <p:spPr>
          <a:xfrm>
            <a:off x="11210544" y="4526280"/>
            <a:ext cx="128016" cy="128016"/>
          </a:xfrm>
          <a:prstGeom prst="ellipse">
            <a:avLst/>
          </a:prstGeom>
          <a:solidFill>
            <a:srgbClr val="2EC4B6"/>
          </a:solidFill>
          <a:ln/>
        </p:spPr>
      </p:sp>
      <p:sp>
        <p:nvSpPr>
          <p:cNvPr id="16" name="Text 13"/>
          <p:cNvSpPr/>
          <p:nvPr/>
        </p:nvSpPr>
        <p:spPr>
          <a:xfrm>
            <a:off x="914400" y="41056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Robot's imports</a:t>
            </a:r>
            <a:endParaRPr lang="en-US" sz="1500" dirty="0"/>
          </a:p>
        </p:txBody>
      </p:sp>
      <p:sp>
        <p:nvSpPr>
          <p:cNvPr id="17" name="Text 14"/>
          <p:cNvSpPr/>
          <p:nvPr/>
        </p:nvSpPr>
        <p:spPr>
          <a:xfrm>
            <a:off x="914400" y="4434840"/>
            <a:ext cx="10195560" cy="66751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first.robot.commands.Autos;</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frc.robot.lib.BLine.commands.FollowPath;</a:t>
            </a:r>
            <a:endParaRPr lang="en-US" sz="1400" dirty="0"/>
          </a:p>
        </p:txBody>
      </p:sp>
      <p:sp>
        <p:nvSpPr>
          <p:cNvPr id="18" name="Shape 15"/>
          <p:cNvSpPr/>
          <p:nvPr/>
        </p:nvSpPr>
        <p:spPr>
          <a:xfrm>
            <a:off x="640080" y="5486400"/>
            <a:ext cx="10881360" cy="822960"/>
          </a:xfrm>
          <a:prstGeom prst="roundRect">
            <a:avLst>
              <a:gd name="adj" fmla="val 11111"/>
            </a:avLst>
          </a:prstGeom>
          <a:solidFill>
            <a:srgbClr val="F3F6FA"/>
          </a:solidFill>
          <a:ln/>
        </p:spPr>
      </p:sp>
      <p:sp>
        <p:nvSpPr>
          <p:cNvPr id="19" name="Text 16"/>
          <p:cNvSpPr/>
          <p:nvPr/>
        </p:nvSpPr>
        <p:spPr>
          <a:xfrm>
            <a:off x="777240" y="5623560"/>
            <a:ext cx="10607040" cy="5486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Robot lives for the whole program; opmodes are rebuilt on every selection.</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25</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olde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NEW FILES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opmode per path</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opmode → New File: RobotAutoTwoCorners.java</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next two slides show the whole file.</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opmode → New File: RobotAutoFarSide.java</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Same file, three words changed: the class name, "Far Side", "FarSide".</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Both say group = "Paths"</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 group of their own on the opmode selector, apart from Lesson 9's.</a:t>
            </a:r>
            <a:endParaRPr lang="en-US" sz="2000" dirty="0"/>
          </a:p>
        </p:txBody>
      </p:sp>
      <p:sp>
        <p:nvSpPr>
          <p:cNvPr id="18" name="Shape 15"/>
          <p:cNvSpPr/>
          <p:nvPr/>
        </p:nvSpPr>
        <p:spPr>
          <a:xfrm>
            <a:off x="640080" y="4937760"/>
            <a:ext cx="10881360" cy="1371600"/>
          </a:xfrm>
          <a:prstGeom prst="roundRect">
            <a:avLst>
              <a:gd name="adj" fmla="val 6667"/>
            </a:avLst>
          </a:prstGeom>
          <a:solidFill>
            <a:srgbClr val="F3F6FA"/>
          </a:solidFill>
          <a:ln/>
        </p:spPr>
      </p:sp>
      <p:sp>
        <p:nvSpPr>
          <p:cNvPr id="19" name="Text 16"/>
          <p:cNvSpPr/>
          <p:nvPr/>
        </p:nvSpPr>
        <p:spPr>
          <a:xfrm>
            <a:off x="868680" y="5166360"/>
            <a:ext cx="10424160" cy="91440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Why not one opmode with a menu inside it? Because the Driver Station already is the menu — each auto is one small file, no chooser code.</a:t>
            </a:r>
            <a:endParaRPr lang="en-US" sz="19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26</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ROBOTAUTOTWOCORNERS.JAVA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top of the file</a:t>
            </a:r>
            <a:endParaRPr lang="en-US" sz="3000" dirty="0"/>
          </a:p>
        </p:txBody>
      </p:sp>
      <p:sp>
        <p:nvSpPr>
          <p:cNvPr id="6" name="Shape 3"/>
          <p:cNvSpPr/>
          <p:nvPr/>
        </p:nvSpPr>
        <p:spPr>
          <a:xfrm>
            <a:off x="640080" y="1280160"/>
            <a:ext cx="10881360" cy="4983480"/>
          </a:xfrm>
          <a:prstGeom prst="roundRect">
            <a:avLst>
              <a:gd name="adj" fmla="val 220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Create opmode/RobotAutoTwoCorners.java — part 1</a:t>
            </a:r>
            <a:endParaRPr lang="en-US" sz="1500" dirty="0"/>
          </a:p>
        </p:txBody>
      </p:sp>
      <p:sp>
        <p:nvSpPr>
          <p:cNvPr id="11" name="Text 8"/>
          <p:cNvSpPr/>
          <p:nvPr/>
        </p:nvSpPr>
        <p:spPr>
          <a:xfrm>
            <a:off x="914400" y="1737360"/>
            <a:ext cx="10195560" cy="432511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Copyright (c) FIRST and other WPILib contributors.</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Open Source Software; you can modify and/or share it under the terms of</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the WPILib BSD license file in the root directory of this project.</a:t>
            </a:r>
            <a:endParaRPr lang="en-US" sz="1300" dirty="0"/>
          </a:p>
          <a:p>
            <a:pPr indent="0" marL="0">
              <a:lnSpc>
                <a:spcPct val="120000"/>
              </a:lnSpc>
              <a:buNone/>
            </a:pP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package first.robot.opmode;</a:t>
            </a:r>
            <a:endParaRPr lang="en-US" sz="1300" dirty="0"/>
          </a:p>
          <a:p>
            <a:pPr indent="0" marL="0">
              <a:lnSpc>
                <a:spcPct val="120000"/>
              </a:lnSpc>
              <a:buNone/>
            </a:pP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org.wpilib.command3.button.RobotModeTriggers;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org.wpilib.opmode.Autonomous;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org.wpilib.opmode.PeriodicOpMode;</a:t>
            </a:r>
            <a:endParaRPr lang="en-US" sz="1300" dirty="0"/>
          </a:p>
          <a:p>
            <a:pPr indent="0" marL="0">
              <a:lnSpc>
                <a:spcPct val="120000"/>
              </a:lnSpc>
              <a:buNone/>
            </a:pP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first.robot.Robot;</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first.robot.commands.Autos;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import frc.robot.lib.BLine.path.Path;</a:t>
            </a:r>
            <a:endParaRPr lang="en-US" sz="1300" dirty="0"/>
          </a:p>
          <a:p>
            <a:pPr indent="0" marL="0">
              <a:lnSpc>
                <a:spcPct val="120000"/>
              </a:lnSpc>
              <a:buNone/>
            </a:pP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@Autonomous(name = "Two Corners", group = "Paths")</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class RobotAutoTwoCorners extends PeriodicOpMode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private final Robot robot;</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27</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ROBOTAUTOTWOCORNERS.JAVA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Read the file now; run it on enable</a:t>
            </a:r>
            <a:endParaRPr lang="en-US" sz="3000" dirty="0"/>
          </a:p>
        </p:txBody>
      </p:sp>
      <p:sp>
        <p:nvSpPr>
          <p:cNvPr id="6" name="Shape 3"/>
          <p:cNvSpPr/>
          <p:nvPr/>
        </p:nvSpPr>
        <p:spPr>
          <a:xfrm>
            <a:off x="640080" y="1280160"/>
            <a:ext cx="10881360" cy="4754880"/>
          </a:xfrm>
          <a:prstGeom prst="roundRect">
            <a:avLst>
              <a:gd name="adj" fmla="val 230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RobotAutoTwoCorners.java — part 2, finishing the class</a:t>
            </a:r>
            <a:endParaRPr lang="en-US" sz="1500" dirty="0"/>
          </a:p>
        </p:txBody>
      </p:sp>
      <p:sp>
        <p:nvSpPr>
          <p:cNvPr id="11" name="Text 8"/>
          <p:cNvSpPr/>
          <p:nvPr/>
        </p:nvSpPr>
        <p:spPr>
          <a:xfrm>
            <a:off x="914400" y="1737360"/>
            <a:ext cx="10195560" cy="409651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  public RobotAutoTwoCorners(Robot robot)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this.robot = robot;</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Read the path file now, while the robot is still disabled.</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Path path = new Path("TwoCorners");</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Runs on enable.</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RobotModeTriggers.autonomous().onTrue(Autos.followPath(robot.pathBuilder, path));</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  @Override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public void periodic() {</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Called periodically (set time interval) while the robot is enabled.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28</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histor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7 · THE PART WORTH UNDERSTANDING</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An opmode's constructor runs when it's selected</a:t>
            </a:r>
            <a:endParaRPr lang="en-US" sz="3000" dirty="0"/>
          </a:p>
        </p:txBody>
      </p:sp>
      <p:sp>
        <p:nvSpPr>
          <p:cNvPr id="6" name="Shape 3"/>
          <p:cNvSpPr/>
          <p:nvPr/>
        </p:nvSpPr>
        <p:spPr>
          <a:xfrm>
            <a:off x="640080" y="1554480"/>
            <a:ext cx="10881360" cy="2331720"/>
          </a:xfrm>
          <a:prstGeom prst="roundRect">
            <a:avLst>
              <a:gd name="adj" fmla="val 3922"/>
            </a:avLst>
          </a:prstGeom>
          <a:solidFill>
            <a:srgbClr val="132A4C"/>
          </a:solidFill>
          <a:ln/>
        </p:spPr>
      </p:sp>
      <p:sp>
        <p:nvSpPr>
          <p:cNvPr id="7" name="Text 4"/>
          <p:cNvSpPr/>
          <p:nvPr/>
        </p:nvSpPr>
        <p:spPr>
          <a:xfrm>
            <a:off x="914400" y="18288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The path file is read while the robot sits disabled</a:t>
            </a:r>
            <a:endParaRPr lang="en-US" sz="2200" dirty="0"/>
          </a:p>
        </p:txBody>
      </p:sp>
      <p:sp>
        <p:nvSpPr>
          <p:cNvPr id="8" name="Text 5"/>
          <p:cNvSpPr/>
          <p:nvPr/>
        </p:nvSpPr>
        <p:spPr>
          <a:xfrm>
            <a:off x="914400" y="2406650"/>
            <a:ext cx="10332720" cy="120523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Minutes before the match — so when autonomous starts, the command is already built and just has to run.</a:t>
            </a:r>
            <a:endParaRPr lang="en-US" sz="1900" dirty="0"/>
          </a:p>
        </p:txBody>
      </p:sp>
      <p:sp>
        <p:nvSpPr>
          <p:cNvPr id="9" name="Shape 6"/>
          <p:cNvSpPr/>
          <p:nvPr/>
        </p:nvSpPr>
        <p:spPr>
          <a:xfrm>
            <a:off x="640080" y="4069080"/>
            <a:ext cx="10881360" cy="2240280"/>
          </a:xfrm>
          <a:prstGeom prst="roundRect">
            <a:avLst>
              <a:gd name="adj" fmla="val 4082"/>
            </a:avLst>
          </a:prstGeom>
          <a:solidFill>
            <a:srgbClr val="132A4C"/>
          </a:solidFill>
          <a:ln/>
        </p:spPr>
      </p:sp>
      <p:sp>
        <p:nvSpPr>
          <p:cNvPr id="10" name="Text 7"/>
          <p:cNvSpPr/>
          <p:nvPr/>
        </p:nvSpPr>
        <p:spPr>
          <a:xfrm>
            <a:off x="914400" y="43434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A mistake shows up in the pits, not on the field</a:t>
            </a:r>
            <a:endParaRPr lang="en-US" sz="2200" dirty="0"/>
          </a:p>
        </p:txBody>
      </p:sp>
      <p:sp>
        <p:nvSpPr>
          <p:cNvPr id="11" name="Text 8"/>
          <p:cNvSpPr/>
          <p:nvPr/>
        </p:nvSpPr>
        <p:spPr>
          <a:xfrm>
            <a:off x="914400" y="4921250"/>
            <a:ext cx="10332720" cy="111379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Misspell "TwoCorner" and new Path(...) throws an IllegalArgumentException naming the missing file — the moment you select the auto.</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29</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mapmark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8 · PUT THE ROBOT WHERE THE PATH STARTS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withPoseReset() makes a promise on your behalf</a:t>
            </a:r>
            <a:endParaRPr lang="en-US" sz="3000" dirty="0"/>
          </a:p>
        </p:txBody>
      </p:sp>
      <p:sp>
        <p:nvSpPr>
          <p:cNvPr id="6" name="Shape 3"/>
          <p:cNvSpPr/>
          <p:nvPr/>
        </p:nvSpPr>
        <p:spPr>
          <a:xfrm>
            <a:off x="640080" y="1554480"/>
            <a:ext cx="10881360" cy="2103120"/>
          </a:xfrm>
          <a:prstGeom prst="roundRect">
            <a:avLst>
              <a:gd name="adj" fmla="val 4348"/>
            </a:avLst>
          </a:prstGeom>
          <a:solidFill>
            <a:srgbClr val="132A4C"/>
          </a:solidFill>
          <a:ln/>
        </p:spPr>
      </p:sp>
      <p:sp>
        <p:nvSpPr>
          <p:cNvPr id="7" name="Text 4"/>
          <p:cNvSpPr/>
          <p:nvPr/>
        </p:nvSpPr>
        <p:spPr>
          <a:xfrm>
            <a:off x="914400" y="18288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On a real field, a person keeps it</a:t>
            </a:r>
            <a:endParaRPr lang="en-US" sz="2200" dirty="0"/>
          </a:p>
        </p:txBody>
      </p:sp>
      <p:sp>
        <p:nvSpPr>
          <p:cNvPr id="8" name="Text 5"/>
          <p:cNvSpPr/>
          <p:nvPr/>
        </p:nvSpPr>
        <p:spPr>
          <a:xfrm>
            <a:off x="914400" y="2406650"/>
            <a:ext cx="10332720" cy="97663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Someone carries the robot out and sets it down at the start. In the simulator, nobody does.</a:t>
            </a:r>
            <a:endParaRPr lang="en-US" sz="1900" dirty="0"/>
          </a:p>
        </p:txBody>
      </p:sp>
      <p:sp>
        <p:nvSpPr>
          <p:cNvPr id="9" name="Shape 6"/>
          <p:cNvSpPr/>
          <p:nvPr/>
        </p:nvSpPr>
        <p:spPr>
          <a:xfrm>
            <a:off x="640080" y="3840480"/>
            <a:ext cx="10881360" cy="2468880"/>
          </a:xfrm>
          <a:prstGeom prst="roundRect">
            <a:avLst>
              <a:gd name="adj" fmla="val 3704"/>
            </a:avLst>
          </a:prstGeom>
          <a:solidFill>
            <a:srgbClr val="132A4C"/>
          </a:solidFill>
          <a:ln/>
        </p:spPr>
      </p:sp>
      <p:sp>
        <p:nvSpPr>
          <p:cNvPr id="10" name="Text 7"/>
          <p:cNvSpPr/>
          <p:nvPr/>
        </p:nvSpPr>
        <p:spPr>
          <a:xfrm>
            <a:off x="914400" y="41148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Broken twice in the simulator</a:t>
            </a:r>
            <a:endParaRPr lang="en-US" sz="2200" dirty="0"/>
          </a:p>
        </p:txBody>
      </p:sp>
      <p:sp>
        <p:nvSpPr>
          <p:cNvPr id="11" name="Text 8"/>
          <p:cNvSpPr/>
          <p:nvPr/>
        </p:nvSpPr>
        <p:spPr>
          <a:xfrm>
            <a:off x="914400" y="4692650"/>
            <a:ext cx="10332720" cy="134239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Run an auto a second time: the robot is where the last run ended. Or first time: SimGUI starts on Red 1, so the path flips while the robot sits at the blue start.</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30</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ub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CHASSISSIMULATION.JAVA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Piece 1: set the chassis down, at rest</a:t>
            </a:r>
            <a:endParaRPr lang="en-US" sz="3000" dirty="0"/>
          </a:p>
        </p:txBody>
      </p:sp>
      <p:sp>
        <p:nvSpPr>
          <p:cNvPr id="6" name="Shape 3"/>
          <p:cNvSpPr/>
          <p:nvPr/>
        </p:nvSpPr>
        <p:spPr>
          <a:xfrm>
            <a:off x="640080" y="1280160"/>
            <a:ext cx="10881360" cy="2194560"/>
          </a:xfrm>
          <a:prstGeom prst="roundRect">
            <a:avLst>
              <a:gd name="adj" fmla="val 5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ChassisSimulation, above getPose</a:t>
            </a:r>
            <a:endParaRPr lang="en-US" sz="1500" dirty="0"/>
          </a:p>
        </p:txBody>
      </p:sp>
      <p:sp>
        <p:nvSpPr>
          <p:cNvPr id="11" name="Text 8"/>
          <p:cNvSpPr/>
          <p:nvPr/>
        </p:nvSpPr>
        <p:spPr>
          <a:xfrm>
            <a:off x="914400" y="1737360"/>
            <a:ext cx="10195560" cy="153619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Set the chassis down at 'pose', at rest — what a person does before a match. */</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void placeAt(Pose2d pose)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m_pose = pose;</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m_velocity = new ChassisVelocities();</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3703320"/>
            <a:ext cx="10881360" cy="1463040"/>
          </a:xfrm>
          <a:prstGeom prst="roundRect">
            <a:avLst>
              <a:gd name="adj" fmla="val 6250"/>
            </a:avLst>
          </a:prstGeom>
          <a:solidFill>
            <a:srgbClr val="F3F6FA"/>
          </a:solidFill>
          <a:ln/>
        </p:spPr>
      </p:sp>
      <p:sp>
        <p:nvSpPr>
          <p:cNvPr id="13" name="Text 10"/>
          <p:cNvSpPr/>
          <p:nvPr/>
        </p:nvSpPr>
        <p:spPr>
          <a:xfrm>
            <a:off x="868680" y="3931920"/>
            <a:ext cx="10424160" cy="10058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"At rest" is the second line: a robot you've just set down isn't moving, so whatever velocity the chassis was carrying goes too.</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31</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obo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Piece 2: a sim-only door that does nothing for real</a:t>
            </a:r>
            <a:endParaRPr lang="en-US" sz="3000" dirty="0"/>
          </a:p>
        </p:txBody>
      </p:sp>
      <p:sp>
        <p:nvSpPr>
          <p:cNvPr id="6" name="Shape 3"/>
          <p:cNvSpPr/>
          <p:nvPr/>
        </p:nvSpPr>
        <p:spPr>
          <a:xfrm>
            <a:off x="640080" y="1280160"/>
            <a:ext cx="10881360" cy="3063240"/>
          </a:xfrm>
          <a:prstGeom prst="roundRect">
            <a:avLst>
              <a:gd name="adj" fmla="val 35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 below getSimulatedPose</a:t>
            </a:r>
            <a:endParaRPr lang="en-US" sz="1500" dirty="0"/>
          </a:p>
        </p:txBody>
      </p:sp>
      <p:sp>
        <p:nvSpPr>
          <p:cNvPr id="11" name="Text 8"/>
          <p:cNvSpPr/>
          <p:nvPr/>
        </p:nvSpPr>
        <p:spPr>
          <a:xfrm>
            <a:off x="914400" y="1737360"/>
            <a:ext cx="10195560" cy="240487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a:t>
            </a: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 Sim only: set the simulated chassis down at 'pose', the job a person does</a:t>
            </a: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 before a real match. Does nothing on a real robot.</a:t>
            </a: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void placeSimulatedRobot(Pose2d pose)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if (m_chassisSim != null) {</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m_chassisSim.placeAt(pose);</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4572000"/>
            <a:ext cx="10881360" cy="1737360"/>
          </a:xfrm>
          <a:prstGeom prst="roundRect">
            <a:avLst>
              <a:gd name="adj" fmla="val 5263"/>
            </a:avLst>
          </a:prstGeom>
          <a:solidFill>
            <a:srgbClr val="F3F6FA"/>
          </a:solidFill>
          <a:ln/>
        </p:spPr>
      </p:sp>
      <p:sp>
        <p:nvSpPr>
          <p:cNvPr id="13" name="Text 10"/>
          <p:cNvSpPr/>
          <p:nvPr/>
        </p:nvSpPr>
        <p:spPr>
          <a:xfrm>
            <a:off x="868680" y="4800600"/>
            <a:ext cx="10424160" cy="128016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The same null check as simulateChassis: a real robot has no m_chassisSim. The gyro turns with it — Lesson 16's GyroIOSim reads its heading off the chassis.</a:t>
            </a:r>
            <a:endParaRPr lang="en-US" sz="19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32</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mpas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AUTOS.JAVA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Piece 3: where does this auto start, on our side?</a:t>
            </a:r>
            <a:endParaRPr lang="en-US" sz="3000" dirty="0"/>
          </a:p>
        </p:txBody>
      </p:sp>
      <p:sp>
        <p:nvSpPr>
          <p:cNvPr id="6" name="Shape 3"/>
          <p:cNvSpPr/>
          <p:nvPr/>
        </p:nvSpPr>
        <p:spPr>
          <a:xfrm>
            <a:off x="640080" y="1280160"/>
            <a:ext cx="10881360" cy="2331720"/>
          </a:xfrm>
          <a:prstGeom prst="roundRect">
            <a:avLst>
              <a:gd name="adj" fmla="val 4706"/>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Autos, below followPath</a:t>
            </a:r>
            <a:endParaRPr lang="en-US" sz="1500" dirty="0"/>
          </a:p>
        </p:txBody>
      </p:sp>
      <p:sp>
        <p:nvSpPr>
          <p:cNvPr id="11" name="Text 8"/>
          <p:cNvSpPr/>
          <p:nvPr/>
        </p:nvSpPr>
        <p:spPr>
          <a:xfrm>
            <a:off x="914400" y="1737360"/>
            <a:ext cx="10195560" cy="1673352"/>
          </a:xfrm>
          <a:prstGeom prst="rect">
            <a:avLst/>
          </a:prstGeom>
          <a:noFill/>
          <a:ln/>
        </p:spPr>
        <p:txBody>
          <a:bodyPr wrap="square" lIns="0" tIns="0" rIns="0" bIns="0" rtlCol="0" anchor="t"/>
          <a:lstStyle/>
          <a:p>
            <a:pPr indent="0" marL="0">
              <a:lnSpc>
                <a:spcPct val="120000"/>
              </a:lnSpc>
              <a:buNone/>
            </a:pPr>
            <a:r>
              <a:rPr lang="en-US" sz="1150" dirty="0">
                <a:solidFill>
                  <a:srgbClr val="7FA8C9"/>
                </a:solidFill>
                <a:latin typeface="Courier New" pitchFamily="34" charset="0"/>
                <a:ea typeface="Courier New" pitchFamily="34" charset="-122"/>
                <a:cs typeface="Courier New" pitchFamily="34" charset="-120"/>
              </a:rPr>
              <a:t>/** Where a path starts, on this alliance's side of the field — the same flip BLine makes. */</a:t>
            </a:r>
            <a:endParaRPr lang="en-US" sz="1150" dirty="0"/>
          </a:p>
          <a:p>
            <a:pPr indent="0" marL="0">
              <a:lnSpc>
                <a:spcPct val="120000"/>
              </a:lnSpc>
              <a:buNone/>
            </a:pPr>
            <a:r>
              <a:rPr lang="en-US" sz="1150" dirty="0">
                <a:solidFill>
                  <a:srgbClr val="FFD166"/>
                </a:solidFill>
                <a:latin typeface="Courier New" pitchFamily="34" charset="0"/>
                <a:ea typeface="Courier New" pitchFamily="34" charset="-122"/>
                <a:cs typeface="Courier New" pitchFamily="34" charset="-120"/>
              </a:rPr>
              <a:t>public static Pose2d startPose(Path path) {</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Pose2d start = path.getAuthoredStartPose().get(); // every path here starts with a waypoint</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boolean red = MatchState.getAlliance().orElse(Alliance.BLUE) == Alliance.RED;</a:t>
            </a:r>
            <a:endParaRPr lang="en-US" sz="1150" dirty="0"/>
          </a:p>
          <a:p>
            <a:pPr indent="0" marL="0">
              <a:lnSpc>
                <a:spcPct val="120000"/>
              </a:lnSpc>
              <a:buNone/>
            </a:pPr>
            <a:r>
              <a:rPr lang="en-US" sz="1150" dirty="0">
                <a:solidFill>
                  <a:srgbClr val="9EF01A"/>
                </a:solidFill>
                <a:latin typeface="Courier New" pitchFamily="34" charset="0"/>
                <a:ea typeface="Courier New" pitchFamily="34" charset="-122"/>
                <a:cs typeface="Courier New" pitchFamily="34" charset="-120"/>
              </a:rPr>
              <a:t>  return red ? FlippingUtil.flipFieldPose(start) : start;</a:t>
            </a:r>
            <a:endParaRPr lang="en-US" sz="1150" dirty="0"/>
          </a:p>
          <a:p>
            <a:pPr indent="0" marL="0">
              <a:lnSpc>
                <a:spcPct val="120000"/>
              </a:lnSpc>
              <a:buNone/>
            </a:pPr>
            <a:r>
              <a:rPr lang="en-US" sz="1150" dirty="0">
                <a:solidFill>
                  <a:srgbClr val="D7E3F4"/>
                </a:solidFill>
                <a:latin typeface="Courier New" pitchFamily="34" charset="0"/>
                <a:ea typeface="Courier New" pitchFamily="34" charset="-122"/>
                <a:cs typeface="Courier New" pitchFamily="34" charset="-120"/>
              </a:rPr>
              <a:t>}</a:t>
            </a:r>
            <a:endParaRPr lang="en-US" sz="1150" dirty="0"/>
          </a:p>
        </p:txBody>
      </p:sp>
      <p:sp>
        <p:nvSpPr>
          <p:cNvPr id="12" name="Shape 9"/>
          <p:cNvSpPr/>
          <p:nvPr/>
        </p:nvSpPr>
        <p:spPr>
          <a:xfrm>
            <a:off x="640080" y="3794760"/>
            <a:ext cx="10881360" cy="2194560"/>
          </a:xfrm>
          <a:prstGeom prst="roundRect">
            <a:avLst>
              <a:gd name="adj" fmla="val 5000"/>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941064"/>
            <a:ext cx="128016" cy="128016"/>
          </a:xfrm>
          <a:prstGeom prst="ellipse">
            <a:avLst/>
          </a:prstGeom>
          <a:solidFill>
            <a:srgbClr val="FF6B6B"/>
          </a:solidFill>
          <a:ln/>
        </p:spPr>
      </p:sp>
      <p:sp>
        <p:nvSpPr>
          <p:cNvPr id="14" name="Shape 11"/>
          <p:cNvSpPr/>
          <p:nvPr/>
        </p:nvSpPr>
        <p:spPr>
          <a:xfrm>
            <a:off x="11210544" y="4142232"/>
            <a:ext cx="128016" cy="128016"/>
          </a:xfrm>
          <a:prstGeom prst="ellipse">
            <a:avLst/>
          </a:prstGeom>
          <a:solidFill>
            <a:srgbClr val="FFD166"/>
          </a:solidFill>
          <a:ln/>
        </p:spPr>
      </p:sp>
      <p:sp>
        <p:nvSpPr>
          <p:cNvPr id="15" name="Shape 12"/>
          <p:cNvSpPr/>
          <p:nvPr/>
        </p:nvSpPr>
        <p:spPr>
          <a:xfrm>
            <a:off x="11210544" y="4343400"/>
            <a:ext cx="128016" cy="128016"/>
          </a:xfrm>
          <a:prstGeom prst="ellipse">
            <a:avLst/>
          </a:prstGeom>
          <a:solidFill>
            <a:srgbClr val="2EC4B6"/>
          </a:solidFill>
          <a:ln/>
        </p:spPr>
      </p:sp>
      <p:sp>
        <p:nvSpPr>
          <p:cNvPr id="16" name="Text 13"/>
          <p:cNvSpPr/>
          <p:nvPr/>
        </p:nvSpPr>
        <p:spPr>
          <a:xfrm>
            <a:off x="914400" y="39227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Autos's imports</a:t>
            </a:r>
            <a:endParaRPr lang="en-US" sz="1500" dirty="0"/>
          </a:p>
        </p:txBody>
      </p:sp>
      <p:sp>
        <p:nvSpPr>
          <p:cNvPr id="17" name="Text 14"/>
          <p:cNvSpPr/>
          <p:nvPr/>
        </p:nvSpPr>
        <p:spPr>
          <a:xfrm>
            <a:off x="914400" y="4251960"/>
            <a:ext cx="10195560" cy="153619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org.wpilib.driverstation.Alliance;</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org.wpilib.driverstation.MatchState;</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org.wpilib.math.geometry.Pose2d;</a:t>
            </a:r>
            <a:endParaRPr lang="en-US" sz="1400" dirty="0"/>
          </a:p>
          <a:p>
            <a:pPr indent="0" marL="0">
              <a:lnSpc>
                <a:spcPct val="120000"/>
              </a:lnSpc>
              <a:buNone/>
            </a:pP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frc.robot.lib.BLine.field.FlippingUtil;</a:t>
            </a:r>
            <a:endParaRPr lang="en-US" sz="14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33</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puzzlepiec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8 · READING STARTPOSE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Two Optionals, and the mirror B-Line uses</a:t>
            </a:r>
            <a:endParaRPr lang="en-US" sz="3000" dirty="0"/>
          </a:p>
        </p:txBody>
      </p:sp>
      <p:sp>
        <p:nvSpPr>
          <p:cNvPr id="6" name="Shape 3"/>
          <p:cNvSpPr/>
          <p:nvPr/>
        </p:nvSpPr>
        <p:spPr>
          <a:xfrm>
            <a:off x="640080" y="1554480"/>
            <a:ext cx="10881360" cy="2286000"/>
          </a:xfrm>
          <a:prstGeom prst="roundRect">
            <a:avLst>
              <a:gd name="adj" fmla="val 4000"/>
            </a:avLst>
          </a:prstGeom>
          <a:solidFill>
            <a:srgbClr val="132A4C"/>
          </a:solidFill>
          <a:ln/>
        </p:spPr>
      </p:sp>
      <p:sp>
        <p:nvSpPr>
          <p:cNvPr id="7" name="Text 4"/>
          <p:cNvSpPr/>
          <p:nvPr/>
        </p:nvSpPr>
        <p:spPr>
          <a:xfrm>
            <a:off x="914400" y="18288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getAuthoredStartPose().get()</a:t>
            </a:r>
            <a:endParaRPr lang="en-US" sz="2200" dirty="0"/>
          </a:p>
        </p:txBody>
      </p:sp>
      <p:sp>
        <p:nvSpPr>
          <p:cNvPr id="8" name="Text 5"/>
          <p:cNvSpPr/>
          <p:nvPr/>
        </p:nvSpPr>
        <p:spPr>
          <a:xfrm>
            <a:off x="914400" y="2406650"/>
            <a:ext cx="10332720" cy="115951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A path could begin with a bare rotation and have no start of its own. Yours begin with a waypoint, so .get() is safe — and crashes loudly if not.</a:t>
            </a:r>
            <a:endParaRPr lang="en-US" sz="1900" dirty="0"/>
          </a:p>
        </p:txBody>
      </p:sp>
      <p:sp>
        <p:nvSpPr>
          <p:cNvPr id="9" name="Shape 6"/>
          <p:cNvSpPr/>
          <p:nvPr/>
        </p:nvSpPr>
        <p:spPr>
          <a:xfrm>
            <a:off x="640080" y="4023360"/>
            <a:ext cx="10881360" cy="2286000"/>
          </a:xfrm>
          <a:prstGeom prst="roundRect">
            <a:avLst>
              <a:gd name="adj" fmla="val 4000"/>
            </a:avLst>
          </a:prstGeom>
          <a:solidFill>
            <a:srgbClr val="132A4C"/>
          </a:solidFill>
          <a:ln/>
        </p:spPr>
      </p:sp>
      <p:sp>
        <p:nvSpPr>
          <p:cNvPr id="10" name="Text 7"/>
          <p:cNvSpPr/>
          <p:nvPr/>
        </p:nvSpPr>
        <p:spPr>
          <a:xfrm>
            <a:off x="914400" y="42976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getAlliance().orElse(Alliance.BLUE)</a:t>
            </a:r>
            <a:endParaRPr lang="en-US" sz="2200" dirty="0"/>
          </a:p>
        </p:txBody>
      </p:sp>
      <p:sp>
        <p:nvSpPr>
          <p:cNvPr id="11" name="Text 8"/>
          <p:cNvSpPr/>
          <p:nvPr/>
        </p:nvSpPr>
        <p:spPr>
          <a:xfrm>
            <a:off x="914400" y="4875530"/>
            <a:ext cx="10332720" cy="1159510"/>
          </a:xfrm>
          <a:prstGeom prst="rect">
            <a:avLst/>
          </a:prstGeom>
          <a:noFill/>
          <a:ln/>
        </p:spPr>
        <p:txBody>
          <a:bodyPr wrap="square" lIns="0" tIns="0" rIns="0" bIns="0" rtlCol="0" anchor="t"/>
          <a:lstStyle/>
          <a:p>
            <a:pPr indent="0" marL="0">
              <a:lnSpc>
                <a:spcPct val="125000"/>
              </a:lnSpc>
              <a:buNone/>
            </a:pPr>
            <a:r>
              <a:rPr lang="en-US" sz="1900" dirty="0">
                <a:solidFill>
                  <a:srgbClr val="D7E3F4"/>
                </a:solidFill>
                <a:latin typeface="Calibri" pitchFamily="34" charset="0"/>
                <a:ea typeface="Calibri" pitchFamily="34" charset="-122"/>
                <a:cs typeface="Calibri" pitchFamily="34" charset="-120"/>
              </a:rPr>
              <a:t>Until the Driver Station says, there is no alliance. orElse takes what's in the box, or blue if it's empty — the rule B-Line's flip follows.</a:t>
            </a:r>
            <a:endParaRPr lang="en-US" sz="19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B-LINE AUTOS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34</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mapmark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BOTH AUTO OPMODES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Set the robot down when the auto is selected</a:t>
            </a:r>
            <a:endParaRPr lang="en-US" sz="3000" dirty="0"/>
          </a:p>
        </p:txBody>
      </p:sp>
      <p:sp>
        <p:nvSpPr>
          <p:cNvPr id="6" name="Shape 3"/>
          <p:cNvSpPr/>
          <p:nvPr/>
        </p:nvSpPr>
        <p:spPr>
          <a:xfrm>
            <a:off x="640080" y="1280160"/>
            <a:ext cx="10881360" cy="4251960"/>
          </a:xfrm>
          <a:prstGeom prst="roundRect">
            <a:avLst>
              <a:gd name="adj" fmla="val 258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the placement to both auto opmodes' constructors, between the two lines you have</a:t>
            </a:r>
            <a:endParaRPr lang="en-US" sz="1500" dirty="0"/>
          </a:p>
        </p:txBody>
      </p:sp>
      <p:sp>
        <p:nvSpPr>
          <p:cNvPr id="11" name="Text 8"/>
          <p:cNvSpPr/>
          <p:nvPr/>
        </p:nvSpPr>
        <p:spPr>
          <a:xfrm>
            <a:off x="914400" y="1737360"/>
            <a:ext cx="10195560" cy="359359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RobotAutoTwoCorners(Robot robot)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this.robot = robot;</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Read the path file now, while the robot is still disabled.</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Path path = new Path("TwoCorners");</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In the simulator, set the robot down at the path's start — the job a</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person does on a real field. On a real robot this does nothing.</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robot.drivetrain.placeSimulatedRobot(Autos.startPose(path));</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Runs on enable.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RobotModeTriggers.autonomous().onTrue(Autos.followPath(robot.pathBuilder, path));</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5623560"/>
            <a:ext cx="10881360" cy="685800"/>
          </a:xfrm>
          <a:prstGeom prst="roundRect">
            <a:avLst>
              <a:gd name="adj" fmla="val 13333"/>
            </a:avLst>
          </a:prstGeom>
          <a:solidFill>
            <a:srgbClr val="F3F6FA"/>
          </a:solidFill>
          <a:ln/>
        </p:spPr>
      </p:sp>
      <p:sp>
        <p:nvSpPr>
          <p:cNvPr id="13" name="Text 10"/>
          <p:cNvSpPr/>
          <p:nvPr/>
        </p:nvSpPr>
        <p:spPr>
          <a:xfrm>
            <a:off x="777240" y="5760720"/>
            <a:ext cx="10607040" cy="41148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Selected: set down. Disabled after a run: rebuilt, and set down again.</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ta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9 · EVENT MARKERS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named point on the path that fires an action</a:t>
            </a:r>
            <a:endParaRPr lang="en-US" sz="3000" dirty="0"/>
          </a:p>
        </p:txBody>
      </p:sp>
      <p:sp>
        <p:nvSpPr>
          <p:cNvPr id="6" name="Shape 3"/>
          <p:cNvSpPr/>
          <p:nvPr/>
        </p:nvSpPr>
        <p:spPr>
          <a:xfrm>
            <a:off x="640080" y="1280160"/>
            <a:ext cx="10881360" cy="2194560"/>
          </a:xfrm>
          <a:prstGeom prst="roundRect">
            <a:avLst>
              <a:gd name="adj" fmla="val 5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Autos, below startPose</a:t>
            </a:r>
            <a:endParaRPr lang="en-US" sz="1500" dirty="0"/>
          </a:p>
        </p:txBody>
      </p:sp>
      <p:sp>
        <p:nvSpPr>
          <p:cNvPr id="11" name="Text 8"/>
          <p:cNvSpPr/>
          <p:nvPr/>
        </p:nvSpPr>
        <p:spPr>
          <a:xfrm>
            <a:off x="914400" y="1737360"/>
            <a:ext cx="10195560" cy="153619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Names a path file can fire with lib_key. BLine keeps them for the whole program.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static void registerEventTriggers() {</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Nothing on this robot can shoot yet, so it just says so in the console.</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FollowPath.registerEventTrigger("shoot", () -&gt; System.out.println("Event: shoot!"));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3657600"/>
            <a:ext cx="10881360" cy="2651760"/>
          </a:xfrm>
          <a:prstGeom prst="roundRect">
            <a:avLst>
              <a:gd name="adj" fmla="val 4138"/>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803904"/>
            <a:ext cx="128016" cy="128016"/>
          </a:xfrm>
          <a:prstGeom prst="ellipse">
            <a:avLst/>
          </a:prstGeom>
          <a:solidFill>
            <a:srgbClr val="FF6B6B"/>
          </a:solidFill>
          <a:ln/>
        </p:spPr>
      </p:sp>
      <p:sp>
        <p:nvSpPr>
          <p:cNvPr id="14" name="Shape 11"/>
          <p:cNvSpPr/>
          <p:nvPr/>
        </p:nvSpPr>
        <p:spPr>
          <a:xfrm>
            <a:off x="11210544" y="4005072"/>
            <a:ext cx="128016" cy="128016"/>
          </a:xfrm>
          <a:prstGeom prst="ellipse">
            <a:avLst/>
          </a:prstGeom>
          <a:solidFill>
            <a:srgbClr val="FFD166"/>
          </a:solidFill>
          <a:ln/>
        </p:spPr>
      </p:sp>
      <p:sp>
        <p:nvSpPr>
          <p:cNvPr id="15" name="Shape 12"/>
          <p:cNvSpPr/>
          <p:nvPr/>
        </p:nvSpPr>
        <p:spPr>
          <a:xfrm>
            <a:off x="11210544" y="4206240"/>
            <a:ext cx="128016" cy="128016"/>
          </a:xfrm>
          <a:prstGeom prst="ellipse">
            <a:avLst/>
          </a:prstGeom>
          <a:solidFill>
            <a:srgbClr val="2EC4B6"/>
          </a:solidFill>
          <a:ln/>
        </p:spPr>
      </p:sp>
      <p:sp>
        <p:nvSpPr>
          <p:cNvPr id="16" name="Text 13"/>
          <p:cNvSpPr/>
          <p:nvPr/>
        </p:nvSpPr>
        <p:spPr>
          <a:xfrm>
            <a:off x="914400" y="3785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Robot's constructor, after the addEventListener line</a:t>
            </a:r>
            <a:endParaRPr lang="en-US" sz="1500" dirty="0"/>
          </a:p>
        </p:txBody>
      </p:sp>
      <p:sp>
        <p:nvSpPr>
          <p:cNvPr id="17" name="Text 14"/>
          <p:cNvSpPr/>
          <p:nvPr/>
        </p:nvSpPr>
        <p:spPr>
          <a:xfrm>
            <a:off x="914400" y="4114800"/>
            <a:ext cx="10195560" cy="199339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Robot()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DataLogManager.start(); // saves every published value to a .wpilog file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Scheduler.getDefault().addEventListener(this::logCommandStart);</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Autos.registerEventTriggers(); // once, for the whole program</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36</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ta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9 · THE PATH SIDE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Already in your file since section 5</a:t>
            </a:r>
            <a:endParaRPr lang="en-US" sz="3000" dirty="0"/>
          </a:p>
        </p:txBody>
      </p:sp>
      <p:sp>
        <p:nvSpPr>
          <p:cNvPr id="6" name="Shape 3"/>
          <p:cNvSpPr/>
          <p:nvPr/>
        </p:nvSpPr>
        <p:spPr>
          <a:xfrm>
            <a:off x="640080" y="1280160"/>
            <a:ext cx="10881360" cy="2148840"/>
          </a:xfrm>
          <a:prstGeom prst="roundRect">
            <a:avLst>
              <a:gd name="adj" fmla="val 5106"/>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 this is already in TwoCorners.json</a:t>
            </a:r>
            <a:endParaRPr lang="en-US" sz="1500" dirty="0"/>
          </a:p>
        </p:txBody>
      </p:sp>
      <p:sp>
        <p:nvSpPr>
          <p:cNvPr id="11" name="Text 8"/>
          <p:cNvSpPr/>
          <p:nvPr/>
        </p:nvSpPr>
        <p:spPr>
          <a:xfrm>
            <a:off x="914400" y="1737360"/>
            <a:ext cx="10195560" cy="1490472"/>
          </a:xfrm>
          <a:prstGeom prst="rect">
            <a:avLst/>
          </a:prstGeom>
          <a:noFill/>
          <a:ln/>
        </p:spPr>
        <p:txBody>
          <a:bodyPr wrap="square" lIns="0" tIns="0" rIns="0" bIns="0" rtlCol="0" anchor="t"/>
          <a:lstStyle/>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"type": "event_trigger",</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"t_ratio": 0.8,</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"lib_key": "shoot"</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3657600"/>
            <a:ext cx="5303520" cy="2651760"/>
          </a:xfrm>
          <a:prstGeom prst="roundRect">
            <a:avLst>
              <a:gd name="adj" fmla="val 3448"/>
            </a:avLst>
          </a:prstGeom>
          <a:solidFill>
            <a:srgbClr val="F3F6FA"/>
          </a:solidFill>
          <a:ln/>
        </p:spPr>
      </p:sp>
      <p:sp>
        <p:nvSpPr>
          <p:cNvPr id="13" name="Text 10"/>
          <p:cNvSpPr/>
          <p:nvPr/>
        </p:nvSpPr>
        <p:spPr>
          <a:xfrm>
            <a:off x="914400" y="3931920"/>
            <a:ext cx="475488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80% along its own segment</a:t>
            </a:r>
            <a:endParaRPr lang="en-US" sz="2200" dirty="0"/>
          </a:p>
        </p:txBody>
      </p:sp>
      <p:sp>
        <p:nvSpPr>
          <p:cNvPr id="14" name="Text 11"/>
          <p:cNvSpPr/>
          <p:nvPr/>
        </p:nvSpPr>
        <p:spPr>
          <a:xfrm>
            <a:off x="914400" y="4509770"/>
            <a:ext cx="4754880" cy="152527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The second leg, from (6, 3) to (6, 6) — the same fraction idea rotations use.</a:t>
            </a:r>
            <a:endParaRPr lang="en-US" sz="1900" dirty="0"/>
          </a:p>
        </p:txBody>
      </p:sp>
      <p:sp>
        <p:nvSpPr>
          <p:cNvPr id="15" name="Shape 12"/>
          <p:cNvSpPr/>
          <p:nvPr/>
        </p:nvSpPr>
        <p:spPr>
          <a:xfrm>
            <a:off x="6217920" y="3657600"/>
            <a:ext cx="5303520" cy="2651760"/>
          </a:xfrm>
          <a:prstGeom prst="roundRect">
            <a:avLst>
              <a:gd name="adj" fmla="val 3448"/>
            </a:avLst>
          </a:prstGeom>
          <a:solidFill>
            <a:srgbClr val="F3F6FA"/>
          </a:solidFill>
          <a:ln/>
        </p:spPr>
      </p:sp>
      <p:sp>
        <p:nvSpPr>
          <p:cNvPr id="16" name="Text 13"/>
          <p:cNvSpPr/>
          <p:nvPr/>
        </p:nvSpPr>
        <p:spPr>
          <a:xfrm>
            <a:off x="6492240" y="3931920"/>
            <a:ext cx="475488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A misspelled key won't crash</a:t>
            </a:r>
            <a:endParaRPr lang="en-US" sz="2200" dirty="0"/>
          </a:p>
        </p:txBody>
      </p:sp>
      <p:sp>
        <p:nvSpPr>
          <p:cNvPr id="17" name="Text 14"/>
          <p:cNvSpPr/>
          <p:nvPr/>
        </p:nvSpPr>
        <p:spPr>
          <a:xfrm>
            <a:off x="6492240" y="4509770"/>
            <a:ext cx="4754880" cy="1525270"/>
          </a:xfrm>
          <a:prstGeom prst="rect">
            <a:avLst/>
          </a:prstGeom>
          <a:noFill/>
          <a:ln/>
        </p:spPr>
        <p:txBody>
          <a:bodyPr wrap="square" lIns="0" tIns="0" rIns="0" bIns="0" rtlCol="0" anchor="t"/>
          <a:lstStyle/>
          <a:p>
            <a:pPr indent="0" marL="0">
              <a:lnSpc>
                <a:spcPct val="125000"/>
              </a:lnSpc>
              <a:buNone/>
            </a:pPr>
            <a:r>
              <a:rPr lang="en-US" sz="1900" dirty="0">
                <a:solidFill>
                  <a:srgbClr val="13294B"/>
                </a:solidFill>
                <a:latin typeface="Calibri" pitchFamily="34" charset="0"/>
                <a:ea typeface="Calibri" pitchFamily="34" charset="-122"/>
                <a:cs typeface="Calibri" pitchFamily="34" charset="-120"/>
              </a:rPr>
              <a:t>B-Line logs "Unregistered event trigger key: Shoot" and keeps driving. Check the console first.</a:t>
            </a:r>
            <a:endParaRPr lang="en-US" sz="19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37</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10 · RUN IT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Blue 1 first, then pick the auto and enable</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./gradlew simulateJava → DS window: Alliance Station = Blue 1</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Editable only while Disconnected. SimGUI starts on Red 1 every time.</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Click Autonomous, pick Two Corners</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Console: Creating OpMode Two Corners — path read, robot set down.</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Set state to Enabled</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About 4 s: out along X, up the second leg, settling at (6, 6).</a:t>
            </a:r>
            <a:endParaRPr lang="en-US" sz="2000" dirty="0"/>
          </a:p>
        </p:txBody>
      </p:sp>
      <p:sp>
        <p:nvSpPr>
          <p:cNvPr id="18" name="Shape 15"/>
          <p:cNvSpPr/>
          <p:nvPr/>
        </p:nvSpPr>
        <p:spPr>
          <a:xfrm>
            <a:off x="640080" y="4864608"/>
            <a:ext cx="502920" cy="502920"/>
          </a:xfrm>
          <a:prstGeom prst="ellipse">
            <a:avLst/>
          </a:prstGeom>
          <a:solidFill>
            <a:srgbClr val="1B9AAA"/>
          </a:solidFill>
          <a:ln/>
        </p:spPr>
      </p:sp>
      <p:sp>
        <p:nvSpPr>
          <p:cNvPr id="19" name="Text 16"/>
          <p:cNvSpPr/>
          <p:nvPr/>
        </p:nvSpPr>
        <p:spPr>
          <a:xfrm>
            <a:off x="640080" y="4864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79145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To run again: Disabled, then Enabled</a:t>
            </a:r>
            <a:endParaRPr lang="en-US" sz="2000" dirty="0"/>
          </a:p>
        </p:txBody>
      </p:sp>
      <p:sp>
        <p:nvSpPr>
          <p:cNvPr id="21" name="Text 18"/>
          <p:cNvSpPr/>
          <p:nvPr/>
        </p:nvSpPr>
        <p:spPr>
          <a:xfrm>
            <a:off x="1371600" y="5175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opmode is rebuilt and the robot set back down at (3, 3).</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38</a:t>
            </a:r>
            <a:endParaRPr lang="en-US" sz="2000" dirty="0"/>
          </a:p>
        </p:txBody>
      </p:sp>
      <p:pic>
        <p:nvPicPr>
          <p:cNvPr id="2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10 · WHAT TO WATCH</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line, the belief, and the truth</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Odometry tab: Localizer/Pose</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An actual shape — the corner rounded, 90° partway up, 180° at the end.</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Add Drivetrain/SimulatedPose</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Where the robot thinks it is and where it is, within a couple of cm.</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Plot FollowPath/crossTrackError</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Jumps to about 0.5 m at the corner — the handoff radius — then shrinks.</a:t>
            </a:r>
            <a:endParaRPr lang="en-US" sz="2000" dirty="0"/>
          </a:p>
        </p:txBody>
      </p:sp>
      <p:sp>
        <p:nvSpPr>
          <p:cNvPr id="18" name="Shape 15"/>
          <p:cNvSpPr/>
          <p:nvPr/>
        </p:nvSpPr>
        <p:spPr>
          <a:xfrm>
            <a:off x="640080" y="4937760"/>
            <a:ext cx="10881360" cy="1371600"/>
          </a:xfrm>
          <a:prstGeom prst="roundRect">
            <a:avLst>
              <a:gd name="adj" fmla="val 6667"/>
            </a:avLst>
          </a:prstGeom>
          <a:solidFill>
            <a:srgbClr val="F3F6FA"/>
          </a:solidFill>
          <a:ln/>
        </p:spPr>
      </p:sp>
      <p:sp>
        <p:nvSpPr>
          <p:cNvPr id="19" name="Text 16"/>
          <p:cNvSpPr/>
          <p:nvPr/>
        </p:nvSpPr>
        <p:spPr>
          <a:xfrm>
            <a:off x="868680" y="5166360"/>
            <a:ext cx="10424160" cy="9144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Nothing told the follower it was off the line. Correcting is the only thing it ever does.</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39</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508760"/>
            <a:ext cx="5303520" cy="2286000"/>
          </a:xfrm>
          <a:prstGeom prst="roundRect">
            <a:avLst>
              <a:gd name="adj" fmla="val 4800"/>
            </a:avLst>
          </a:prstGeom>
          <a:solidFill>
            <a:srgbClr val="132A4C"/>
          </a:solidFill>
          <a:ln/>
        </p:spPr>
      </p:sp>
      <p:sp>
        <p:nvSpPr>
          <p:cNvPr id="7" name="Shape 4"/>
          <p:cNvSpPr/>
          <p:nvPr/>
        </p:nvSpPr>
        <p:spPr>
          <a:xfrm>
            <a:off x="960120" y="1737360"/>
            <a:ext cx="457200" cy="457200"/>
          </a:xfrm>
          <a:prstGeom prst="ellipse">
            <a:avLst/>
          </a:prstGeom>
          <a:solidFill>
            <a:srgbClr val="1B9AAA"/>
          </a:solidFill>
          <a:ln/>
        </p:spPr>
      </p:sp>
      <p:sp>
        <p:nvSpPr>
          <p:cNvPr id="8" name="Text 5"/>
          <p:cNvSpPr/>
          <p:nvPr/>
        </p:nvSpPr>
        <p:spPr>
          <a:xfrm>
            <a:off x="960120" y="17373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7373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Add a third path</a:t>
            </a:r>
            <a:endParaRPr lang="en-US" sz="2000" dirty="0"/>
          </a:p>
        </p:txBody>
      </p:sp>
      <p:sp>
        <p:nvSpPr>
          <p:cNvPr id="10" name="Shape 7"/>
          <p:cNvSpPr/>
          <p:nvPr/>
        </p:nvSpPr>
        <p:spPr>
          <a:xfrm>
            <a:off x="4206240" y="1819656"/>
            <a:ext cx="1417320" cy="292608"/>
          </a:xfrm>
          <a:prstGeom prst="roundRect">
            <a:avLst>
              <a:gd name="adj" fmla="val 18750"/>
            </a:avLst>
          </a:prstGeom>
          <a:solidFill>
            <a:srgbClr val="FF5010"/>
          </a:solidFill>
          <a:ln/>
        </p:spPr>
      </p:sp>
      <p:sp>
        <p:nvSpPr>
          <p:cNvPr id="11" name="Text 8"/>
          <p:cNvSpPr/>
          <p:nvPr/>
        </p:nvSpPr>
        <p:spPr>
          <a:xfrm>
            <a:off x="4206240" y="18196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3317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One JSON file and one opmode. Building a second Builder? Re-read section 6.</a:t>
            </a:r>
            <a:endParaRPr lang="en-US" sz="2000" dirty="0"/>
          </a:p>
        </p:txBody>
      </p:sp>
      <p:sp>
        <p:nvSpPr>
          <p:cNvPr id="13" name="Shape 10"/>
          <p:cNvSpPr/>
          <p:nvPr/>
        </p:nvSpPr>
        <p:spPr>
          <a:xfrm>
            <a:off x="6217920" y="1508760"/>
            <a:ext cx="5303520" cy="2286000"/>
          </a:xfrm>
          <a:prstGeom prst="roundRect">
            <a:avLst>
              <a:gd name="adj" fmla="val 4800"/>
            </a:avLst>
          </a:prstGeom>
          <a:solidFill>
            <a:srgbClr val="132A4C"/>
          </a:solidFill>
          <a:ln/>
        </p:spPr>
      </p:sp>
      <p:sp>
        <p:nvSpPr>
          <p:cNvPr id="14" name="Shape 11"/>
          <p:cNvSpPr/>
          <p:nvPr/>
        </p:nvSpPr>
        <p:spPr>
          <a:xfrm>
            <a:off x="6537960" y="1737360"/>
            <a:ext cx="457200" cy="457200"/>
          </a:xfrm>
          <a:prstGeom prst="ellipse">
            <a:avLst/>
          </a:prstGeom>
          <a:solidFill>
            <a:srgbClr val="1B9AAA"/>
          </a:solidFill>
          <a:ln/>
        </p:spPr>
      </p:sp>
      <p:sp>
        <p:nvSpPr>
          <p:cNvPr id="15" name="Text 12"/>
          <p:cNvSpPr/>
          <p:nvPr/>
        </p:nvSpPr>
        <p:spPr>
          <a:xfrm>
            <a:off x="6537960" y="17373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7373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Break the math</a:t>
            </a:r>
            <a:endParaRPr lang="en-US" sz="2000" dirty="0"/>
          </a:p>
        </p:txBody>
      </p:sp>
      <p:sp>
        <p:nvSpPr>
          <p:cNvPr id="17" name="Shape 14"/>
          <p:cNvSpPr/>
          <p:nvPr/>
        </p:nvSpPr>
        <p:spPr>
          <a:xfrm>
            <a:off x="9784080" y="1819656"/>
            <a:ext cx="1417320" cy="292608"/>
          </a:xfrm>
          <a:prstGeom prst="roundRect">
            <a:avLst>
              <a:gd name="adj" fmla="val 18750"/>
            </a:avLst>
          </a:prstGeom>
          <a:solidFill>
            <a:srgbClr val="FF5010"/>
          </a:solidFill>
          <a:ln/>
        </p:spPr>
      </p:sp>
      <p:sp>
        <p:nvSpPr>
          <p:cNvPr id="18" name="Text 15"/>
          <p:cNvSpPr/>
          <p:nvPr/>
        </p:nvSpPr>
        <p:spPr>
          <a:xfrm>
            <a:off x="9784080" y="18196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3317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Handoff 0.05: tighter or wider corner? Predict, run. Then try 3 m/s.</a:t>
            </a:r>
            <a:endParaRPr lang="en-US" sz="2000" dirty="0"/>
          </a:p>
        </p:txBody>
      </p:sp>
      <p:sp>
        <p:nvSpPr>
          <p:cNvPr id="20" name="Shape 17"/>
          <p:cNvSpPr/>
          <p:nvPr/>
        </p:nvSpPr>
        <p:spPr>
          <a:xfrm>
            <a:off x="640080" y="4069080"/>
            <a:ext cx="5303520" cy="2286000"/>
          </a:xfrm>
          <a:prstGeom prst="roundRect">
            <a:avLst>
              <a:gd name="adj" fmla="val 4800"/>
            </a:avLst>
          </a:prstGeom>
          <a:solidFill>
            <a:srgbClr val="132A4C"/>
          </a:solidFill>
          <a:ln/>
        </p:spPr>
      </p:sp>
      <p:sp>
        <p:nvSpPr>
          <p:cNvPr id="21" name="Shape 18"/>
          <p:cNvSpPr/>
          <p:nvPr/>
        </p:nvSpPr>
        <p:spPr>
          <a:xfrm>
            <a:off x="960120" y="4297680"/>
            <a:ext cx="457200" cy="457200"/>
          </a:xfrm>
          <a:prstGeom prst="ellipse">
            <a:avLst/>
          </a:prstGeom>
          <a:solidFill>
            <a:srgbClr val="1B9AAA"/>
          </a:solidFill>
          <a:ln/>
        </p:spPr>
      </p:sp>
      <p:sp>
        <p:nvSpPr>
          <p:cNvPr id="22" name="Text 19"/>
          <p:cNvSpPr/>
          <p:nvPr/>
        </p:nvSpPr>
        <p:spPr>
          <a:xfrm>
            <a:off x="960120" y="429768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0"/>
          <p:cNvSpPr/>
          <p:nvPr/>
        </p:nvSpPr>
        <p:spPr>
          <a:xfrm>
            <a:off x="1600200" y="429768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Mistune a gain</a:t>
            </a:r>
            <a:endParaRPr lang="en-US" sz="2000" dirty="0"/>
          </a:p>
        </p:txBody>
      </p:sp>
      <p:sp>
        <p:nvSpPr>
          <p:cNvPr id="24" name="Shape 21"/>
          <p:cNvSpPr/>
          <p:nvPr/>
        </p:nvSpPr>
        <p:spPr>
          <a:xfrm>
            <a:off x="4206240" y="4379976"/>
            <a:ext cx="1417320" cy="292608"/>
          </a:xfrm>
          <a:prstGeom prst="roundRect">
            <a:avLst>
              <a:gd name="adj" fmla="val 18750"/>
            </a:avLst>
          </a:prstGeom>
          <a:solidFill>
            <a:srgbClr val="FF5010"/>
          </a:solidFill>
          <a:ln/>
        </p:spPr>
      </p:sp>
      <p:sp>
        <p:nvSpPr>
          <p:cNvPr id="25" name="Text 22"/>
          <p:cNvSpPr/>
          <p:nvPr/>
        </p:nvSpPr>
        <p:spPr>
          <a:xfrm>
            <a:off x="4206240" y="437997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6" name="Text 23"/>
          <p:cNvSpPr/>
          <p:nvPr/>
        </p:nvSpPr>
        <p:spPr>
          <a:xfrm>
            <a:off x="960120" y="489204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kCrossTrackP 0.0 swings wide; 15.0 oscillates and never finishes.</a:t>
            </a:r>
            <a:endParaRPr lang="en-US" sz="2000" dirty="0"/>
          </a:p>
        </p:txBody>
      </p:sp>
      <p:sp>
        <p:nvSpPr>
          <p:cNvPr id="27" name="Shape 24"/>
          <p:cNvSpPr/>
          <p:nvPr/>
        </p:nvSpPr>
        <p:spPr>
          <a:xfrm>
            <a:off x="6217920" y="4069080"/>
            <a:ext cx="5303520" cy="2286000"/>
          </a:xfrm>
          <a:prstGeom prst="roundRect">
            <a:avLst>
              <a:gd name="adj" fmla="val 4800"/>
            </a:avLst>
          </a:prstGeom>
          <a:solidFill>
            <a:srgbClr val="132A4C"/>
          </a:solidFill>
          <a:ln/>
        </p:spPr>
      </p:sp>
      <p:sp>
        <p:nvSpPr>
          <p:cNvPr id="28" name="Shape 25"/>
          <p:cNvSpPr/>
          <p:nvPr/>
        </p:nvSpPr>
        <p:spPr>
          <a:xfrm>
            <a:off x="6537960" y="4297680"/>
            <a:ext cx="457200" cy="457200"/>
          </a:xfrm>
          <a:prstGeom prst="ellipse">
            <a:avLst/>
          </a:prstGeom>
          <a:solidFill>
            <a:srgbClr val="1B9AAA"/>
          </a:solidFill>
          <a:ln/>
        </p:spPr>
      </p:sp>
      <p:sp>
        <p:nvSpPr>
          <p:cNvPr id="29" name="Text 26"/>
          <p:cNvSpPr/>
          <p:nvPr/>
        </p:nvSpPr>
        <p:spPr>
          <a:xfrm>
            <a:off x="6537960" y="429768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30" name="Text 27"/>
          <p:cNvSpPr/>
          <p:nvPr/>
        </p:nvSpPr>
        <p:spPr>
          <a:xfrm>
            <a:off x="7178040" y="429768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Path, then script</a:t>
            </a:r>
            <a:endParaRPr lang="en-US" sz="2000" dirty="0"/>
          </a:p>
        </p:txBody>
      </p:sp>
      <p:sp>
        <p:nvSpPr>
          <p:cNvPr id="31" name="Shape 28"/>
          <p:cNvSpPr/>
          <p:nvPr/>
        </p:nvSpPr>
        <p:spPr>
          <a:xfrm>
            <a:off x="9784080" y="4379976"/>
            <a:ext cx="1417320" cy="292608"/>
          </a:xfrm>
          <a:prstGeom prst="roundRect">
            <a:avLst>
              <a:gd name="adj" fmla="val 18750"/>
            </a:avLst>
          </a:prstGeom>
          <a:solidFill>
            <a:srgbClr val="FF5010"/>
          </a:solidFill>
          <a:ln/>
        </p:spPr>
      </p:sp>
      <p:sp>
        <p:nvSpPr>
          <p:cNvPr id="32" name="Text 29"/>
          <p:cNvSpPr/>
          <p:nvPr/>
        </p:nvSpPr>
        <p:spPr>
          <a:xfrm>
            <a:off x="9784080" y="437997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33" name="Text 30"/>
          <p:cNvSpPr/>
          <p:nvPr/>
        </p:nvSpPr>
        <p:spPr>
          <a:xfrm>
            <a:off x="6537960" y="489204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Follow TwoCorners, then turnToHeading(0): two coroutine.await calls.</a:t>
            </a:r>
            <a:endParaRPr lang="en-US" sz="2000" dirty="0"/>
          </a:p>
        </p:txBody>
      </p:sp>
      <p:sp>
        <p:nvSpPr>
          <p:cNvPr id="34" name="Text 3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B-LINE AUTOS</a:t>
            </a:r>
            <a:endParaRPr lang="en-US" sz="2000" dirty="0"/>
          </a:p>
        </p:txBody>
      </p:sp>
      <p:sp>
        <p:nvSpPr>
          <p:cNvPr id="35" name="Text 3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40</a:t>
            </a:r>
            <a:endParaRPr lang="en-US" sz="2000" dirty="0"/>
          </a:p>
        </p:txBody>
      </p:sp>
      <p:pic>
        <p:nvPicPr>
          <p:cNvPr id="36"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 continued</a:t>
            </a:r>
            <a:endParaRPr lang="en-US" sz="3000" dirty="0"/>
          </a:p>
        </p:txBody>
      </p:sp>
      <p:sp>
        <p:nvSpPr>
          <p:cNvPr id="6" name="Shape 3"/>
          <p:cNvSpPr/>
          <p:nvPr/>
        </p:nvSpPr>
        <p:spPr>
          <a:xfrm>
            <a:off x="640080" y="1508760"/>
            <a:ext cx="5303520" cy="3840480"/>
          </a:xfrm>
          <a:prstGeom prst="roundRect">
            <a:avLst>
              <a:gd name="adj" fmla="val 2857"/>
            </a:avLst>
          </a:prstGeom>
          <a:solidFill>
            <a:srgbClr val="132A4C"/>
          </a:solidFill>
          <a:ln/>
        </p:spPr>
      </p:sp>
      <p:sp>
        <p:nvSpPr>
          <p:cNvPr id="7" name="Shape 4"/>
          <p:cNvSpPr/>
          <p:nvPr/>
        </p:nvSpPr>
        <p:spPr>
          <a:xfrm>
            <a:off x="960120" y="1737360"/>
            <a:ext cx="457200" cy="457200"/>
          </a:xfrm>
          <a:prstGeom prst="ellipse">
            <a:avLst/>
          </a:prstGeom>
          <a:solidFill>
            <a:srgbClr val="1B9AAA"/>
          </a:solidFill>
          <a:ln/>
        </p:spPr>
      </p:sp>
      <p:sp>
        <p:nvSpPr>
          <p:cNvPr id="8" name="Text 5"/>
          <p:cNvSpPr/>
          <p:nvPr/>
        </p:nvSpPr>
        <p:spPr>
          <a:xfrm>
            <a:off x="960120" y="17373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9" name="Text 6"/>
          <p:cNvSpPr/>
          <p:nvPr/>
        </p:nvSpPr>
        <p:spPr>
          <a:xfrm>
            <a:off x="1600200" y="17373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 real marker job</a:t>
            </a:r>
            <a:endParaRPr lang="en-US" sz="2000" dirty="0"/>
          </a:p>
        </p:txBody>
      </p:sp>
      <p:sp>
        <p:nvSpPr>
          <p:cNvPr id="10" name="Shape 7"/>
          <p:cNvSpPr/>
          <p:nvPr/>
        </p:nvSpPr>
        <p:spPr>
          <a:xfrm>
            <a:off x="4206240" y="1819656"/>
            <a:ext cx="1417320" cy="292608"/>
          </a:xfrm>
          <a:prstGeom prst="roundRect">
            <a:avLst>
              <a:gd name="adj" fmla="val 18750"/>
            </a:avLst>
          </a:prstGeom>
          <a:solidFill>
            <a:srgbClr val="FF5010"/>
          </a:solidFill>
          <a:ln/>
        </p:spPr>
      </p:sp>
      <p:sp>
        <p:nvSpPr>
          <p:cNvPr id="11" name="Text 8"/>
          <p:cNvSpPr/>
          <p:nvPr/>
        </p:nvSpPr>
        <p:spPr>
          <a:xfrm>
            <a:off x="4206240" y="18196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331720"/>
            <a:ext cx="4663440" cy="274320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Swap the println for Telemetry.log("Auto/ShootFired", true). Check it fires where you placed it, then move the t_ratio and watch the timing move.</a:t>
            </a:r>
            <a:endParaRPr lang="en-US" sz="2000" dirty="0"/>
          </a:p>
        </p:txBody>
      </p:sp>
      <p:sp>
        <p:nvSpPr>
          <p:cNvPr id="13" name="Shape 10"/>
          <p:cNvSpPr/>
          <p:nvPr/>
        </p:nvSpPr>
        <p:spPr>
          <a:xfrm>
            <a:off x="6217920" y="1508760"/>
            <a:ext cx="5303520" cy="3840480"/>
          </a:xfrm>
          <a:prstGeom prst="roundRect">
            <a:avLst>
              <a:gd name="adj" fmla="val 2857"/>
            </a:avLst>
          </a:prstGeom>
          <a:solidFill>
            <a:srgbClr val="132A4C"/>
          </a:solidFill>
          <a:ln/>
        </p:spPr>
      </p:sp>
      <p:sp>
        <p:nvSpPr>
          <p:cNvPr id="14" name="Shape 11"/>
          <p:cNvSpPr/>
          <p:nvPr/>
        </p:nvSpPr>
        <p:spPr>
          <a:xfrm>
            <a:off x="6537960" y="1737360"/>
            <a:ext cx="457200" cy="457200"/>
          </a:xfrm>
          <a:prstGeom prst="ellipse">
            <a:avLst/>
          </a:prstGeom>
          <a:solidFill>
            <a:srgbClr val="1B9AAA"/>
          </a:solidFill>
          <a:ln/>
        </p:spPr>
      </p:sp>
      <p:sp>
        <p:nvSpPr>
          <p:cNvPr id="15" name="Text 12"/>
          <p:cNvSpPr/>
          <p:nvPr/>
        </p:nvSpPr>
        <p:spPr>
          <a:xfrm>
            <a:off x="6537960" y="17373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16" name="Text 13"/>
          <p:cNvSpPr/>
          <p:nvPr/>
        </p:nvSpPr>
        <p:spPr>
          <a:xfrm>
            <a:off x="7178040" y="173736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Run it on red</a:t>
            </a:r>
            <a:endParaRPr lang="en-US" sz="2000" dirty="0"/>
          </a:p>
        </p:txBody>
      </p:sp>
      <p:sp>
        <p:nvSpPr>
          <p:cNvPr id="17" name="Text 14"/>
          <p:cNvSpPr/>
          <p:nvPr/>
        </p:nvSpPr>
        <p:spPr>
          <a:xfrm>
            <a:off x="6537960" y="2331720"/>
            <a:ext cx="4663440" cy="274320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Disconnected, Alliance Station Red 1, Autonomous, Two Corners. The robot is set down at (13.54, 5.07) and runs the mirrored path. Predict: what if startPose didn't flip?</a:t>
            </a:r>
            <a:endParaRPr lang="en-US" sz="20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B-LINE AUTOS</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41</a:t>
            </a:r>
            <a:endParaRPr lang="en-US" sz="2000" dirty="0"/>
          </a:p>
        </p:txBody>
      </p:sp>
      <p:pic>
        <p:nvPicPr>
          <p:cNvPr id="20"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Autonomous stopped being a script</a:t>
            </a:r>
            <a:endParaRPr lang="en-US" sz="3000" dirty="0"/>
          </a:p>
        </p:txBody>
      </p:sp>
      <p:sp>
        <p:nvSpPr>
          <p:cNvPr id="6" name="Text 3"/>
          <p:cNvSpPr/>
          <p:nvPr/>
        </p:nvSpPr>
        <p:spPr>
          <a:xfrm>
            <a:off x="640080" y="1600200"/>
            <a:ext cx="6309360" cy="44348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A path is a shape in a file, and the follower's only job is to chase it — so drifting off the line no longer ruins the auto.</a:t>
            </a:r>
            <a:endParaRPr lang="en-US" sz="1800" dirty="0"/>
          </a:p>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Three PIDControllers, three separate jobs: distance-to-go, heading, and drift off the line.</a:t>
            </a:r>
            <a:endParaRPr lang="en-US" sz="1800" dirty="0"/>
          </a:p>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Speed limits are arithmetic: where slowing starts, and how far stopping takes.</a:t>
            </a:r>
            <a:endParaRPr lang="en-US" sz="1800" dirty="0"/>
          </a:p>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Notice when code runs: the opmode's constructor reads the path, and sets the sim robot down, at selection.</a:t>
            </a:r>
            <a:endParaRPr lang="en-US" sz="18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18</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Scoring Elevator</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Holding a position, not just reaching one.</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B-LINE AUTOS</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42</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17 — B-Line Autos: Following a Drawn Path</dc:title>
  <dc:subject>PptxGenJS Presentation</dc:subject>
  <dc:creator>Learn Java + Robot Programming</dc:creator>
  <cp:lastModifiedBy>Learn Java + Robot Programming</cp:lastModifiedBy>
  <cp:revision>1</cp:revision>
  <dcterms:created xsi:type="dcterms:W3CDTF">2026-10-11T21:51:42Z</dcterms:created>
  <dcterms:modified xsi:type="dcterms:W3CDTF">2026-10-11T21:51:42Z</dcterms:modified>
</cp:coreProperties>
</file>