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14 ended with a promise: "Add a real vision provider next season and Localizer doesn't change by a line." Today that gets cashed in — a real PhotonCamera reading actual AprilTags through a PhotonPoseEstimator, with as many simulated cameras as you want, behind the same VisionIO treatment ModuleIO and GyroIO got in Lesson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vision setup has one more computer than met so far: a coprocessor runs PhotonVision, which watches a camera feed, finds AprilTags, and does the geometry. Your robot code never touches pixels — it asks PhotonVision's Java library, PhotonLib, for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14 ended with a promise: "Add a real vision provider next season and Localizer doesn't change by a line." Today that gets cashed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fallback URL: https://raw.githubusercontent.com/wpilibsuite/vendor-json-repo/main/2027_alpha5/photonlib-v2027.0.0-alpha-2.json — PhotonVision's own docs hand out a moving link that serves whatever build is newest, which can silently be built for a different season than this project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PhotonPoseEstimator needs to know two things to turn "I see tag 7" into a field position: where tag 7 actually is on the field, and where the camera is on your robot. The first one is a solved problem — WPILib ships the official tag layout for the current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Transform3d bundles a Translation3d (the position offset) with a Rotation3d (the orientation offset) — the 3D sibling of the Translation2d used since Lesson 7. Front and back, facing opposite directions, is a common real layout: two cameras double your chance of seeing a tag and cover each other's blind spot. Measure this for real on an actual robot — a wrong transform doesn't crash anything, it just quietly reports a robot position offset from the truth by exactly however wrong the measurement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PhotonPoseEstimator doesn't watch a camera continuously on its own — you hand it one frame's worth of detections at a time, and it hands back a candidate pose, if it could compute one. estimateCoprocMultiTagPose needs "Do Multi-Target Estimation" turned on in the PhotonVision web UI's pipeline settings — robot code can't turn it on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pose" has to be a real, distinct answer from "here's a pose" — not a fake Pose2d with a sentinel value crossing your fingers nobody checks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default do-nothing method and the nested Inputs class are exactly what ModuleIO and GyroIO already taught you. What's new is the input itself: a single tick of vision isn't one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protected instead of private is the same pattern as ModuleIOTalonFX's motors in Lesson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what it doesn't do: it never touches the pose estimator this file's own name doesn't belong to (Localizer's), never decides whether a correction is good enough to trust. Reading is the only job an IO class has; deciding what to do with what it read belongs one layer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VisionIOPhotonVisionSim ever constructed finds visionSim still null, builds the shared fake field, and populates it with tags; every camera built after that finds it already there. That's the whole multi-camera feature, and there's no varargs, no collection, no extra class to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updateInputs layers cleanly on top of super: step the fake field forward with the robot's current pose, then let VisionIOPhotonVision's already-written logic read whatever the camera now reports — the same "physics first, then read" order ModuleIOSim used back in Lesson 13. PhotonCameraSim feeds its fake detections into the exact same PhotonCamera object VisionIOPhotonVision already reads, over NetworkTables, the same pipe a real coprocessor would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private static VisionSystemSim visionSim slowly, because it's new. Each camera you construct registers itself, because static state remembers who's already shown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real work already happened in VisionIO, so the provider itself is almost nothing — the same shape SwerveModule has had since Lesson 13: own an IO, own an inputs bundle, read the bundle.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m_io.updateInputs(m_inputs) reads (and, via the publisher, logs) whatever the camera saw this tick — live hardware or the simulated one, updatePoseEstimate can't tell which. Only after that read runs does the loop over poseObservations fire the corrections into the estimator. Notice what's missing compared to SwerveModule: no separate periodic() and setDesiredState(). A camera only ever reports; nothing here commands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Supplier&lt;Pose2d&gt; poseSupplier parameter is only ever read by the SIM arm — VisionIOPhotonVisionSim needs to know where the robot is so it knows what a camera there would see. It has to be a supplier, not a plain Pose2d, because the robot's pose changes every 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cameras join Robot's fields, as blank finals, and get built in the constructor — the same pattern Lesson 14 used for localizer itself: a field needs a value assigned by the time the constructor returns, but that value doesn't have to come from the field's own declaration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localizer::getPose is a method reference — shorthand for () -&gt; localizer.getPose() — and there's nothing subtle about it this time. localizer isn't a promise to look something up later; it's an already-built object sitting right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run it: ./gradlew simulateJava → RobotTeleop, and open the VisionSim/DebugField widget in SimGUI alongside the usual Field. AprilTags live around the edges of the field, so drive toward any boundary — the debug field shows every tag and a wedge for each camera's field of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Try Its involve real code edits. The third is the deepest one: robotToCamera feeds both sides of this simulation — the fake camera's placement AND the math that turns its detections back into a robot pose — so a wrong number cancels itself out. A real robot has no such luck: the physical mount doesn't know what constant you typed into VisionConstants, so this exact mistake would quietly and permanently offset every vision correction it makes.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ran head-first into a real limit of this course's simulator: because VisionIOPhotonVisionSim renders what the fake camera sees from the same estimate vision then corrects, this sim can confirm a good pose but can't demonstrate rescuing a bad one, and can't expose a miscalibrated camera mount either — both need an independent "actual" position to check against, which doesn't exist yet. A future lesson hands the whole thing a physics engine, and with it, the ground truth this lesson's callouts kept pointing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home/user/BasicRobotLessons/docs/presentations/v3/template/assets/logo/team5010-logo-onnavy.png">    </p:cNvPr>
          <p:cNvPicPr>
            <a:picLocks noChangeAspect="1"/>
          </p:cNvPicPr>
          <p:nvPr/>
        </p:nvPicPr>
        <p:blipFill>
          <a:blip r:embed="rId1"/>
          <a:stretch>
            <a:fillRect/>
          </a:stretch>
        </p:blipFill>
        <p:spPr>
          <a:xfrm>
            <a:off x="8351215" y="3834811"/>
            <a:ext cx="3291840" cy="2565989"/>
          </a:xfrm>
          <a:prstGeom prst="rect">
            <a:avLst/>
          </a:prstGeom>
        </p:spPr>
      </p:pic>
      <p:sp>
        <p:nvSpPr>
          <p:cNvPr id="3"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2000" b="1" spc="300" kern="0" dirty="0">
                <a:solidFill>
                  <a:srgbClr val="1B9AAA"/>
                </a:solidFill>
                <a:latin typeface="Calibri" pitchFamily="34" charset="0"/>
                <a:ea typeface="Calibri" pitchFamily="34" charset="-122"/>
                <a:cs typeface="Calibri" pitchFamily="34" charset="-120"/>
              </a:rPr>
              <a:t>LEARN JAVA + ROBOT PROGRAMMING</a:t>
            </a:r>
            <a:endParaRPr lang="en-US" sz="2000" dirty="0"/>
          </a:p>
        </p:txBody>
      </p:sp>
      <p:sp>
        <p:nvSpPr>
          <p:cNvPr id="4" name="Text 1"/>
          <p:cNvSpPr/>
          <p:nvPr/>
        </p:nvSpPr>
        <p:spPr>
          <a:xfrm>
            <a:off x="777240" y="1874520"/>
            <a:ext cx="7315200" cy="502920"/>
          </a:xfrm>
          <a:prstGeom prst="rect">
            <a:avLst/>
          </a:prstGeom>
          <a:noFill/>
          <a:ln/>
        </p:spPr>
        <p:txBody>
          <a:bodyPr wrap="square" lIns="0" tIns="0" rIns="0" bIns="0" rtlCol="0" anchor="ctr"/>
          <a:lstStyle/>
          <a:p>
            <a:pPr indent="0" marL="0">
              <a:buNone/>
            </a:pPr>
            <a:r>
              <a:rPr lang="en-US" sz="2200" b="1" spc="200" kern="0" dirty="0">
                <a:solidFill>
                  <a:srgbClr val="FF5010"/>
                </a:solidFill>
                <a:latin typeface="Calibri" pitchFamily="34" charset="0"/>
                <a:ea typeface="Calibri" pitchFamily="34" charset="-122"/>
                <a:cs typeface="Calibri" pitchFamily="34" charset="-120"/>
              </a:rPr>
              <a:t>LESSON 15</a:t>
            </a:r>
            <a:endParaRPr lang="en-US" sz="2200" dirty="0"/>
          </a:p>
        </p:txBody>
      </p:sp>
      <p:sp>
        <p:nvSpPr>
          <p:cNvPr id="5" name="Text 2"/>
          <p:cNvSpPr/>
          <p:nvPr/>
        </p:nvSpPr>
        <p:spPr>
          <a:xfrm>
            <a:off x="731520" y="2331720"/>
            <a:ext cx="105156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Real Vision: PhotonVision</a:t>
            </a:r>
            <a:endParaRPr lang="en-US" sz="6000" dirty="0"/>
          </a:p>
        </p:txBody>
      </p:sp>
      <p:sp>
        <p:nvSpPr>
          <p:cNvPr id="6" name="Text 3"/>
          <p:cNvSpPr/>
          <p:nvPr/>
        </p:nvSpPr>
        <p:spPr>
          <a:xfrm>
            <a:off x="777240" y="3611880"/>
            <a:ext cx="8686800" cy="640080"/>
          </a:xfrm>
          <a:prstGeom prst="rect">
            <a:avLst/>
          </a:prstGeom>
          <a:noFill/>
          <a:ln/>
        </p:spPr>
        <p:txBody>
          <a:bodyPr wrap="square" lIns="0" tIns="0" rIns="0" bIns="0" rtlCol="0" anchor="ctr"/>
          <a:lstStyle/>
          <a:p>
            <a:pPr indent="0" marL="0">
              <a:buNone/>
            </a:pPr>
            <a:r>
              <a:rPr lang="en-US" sz="2600" i="1" dirty="0">
                <a:solidFill>
                  <a:srgbClr val="CADCE8"/>
                </a:solidFill>
                <a:latin typeface="Cambria" pitchFamily="34" charset="0"/>
                <a:ea typeface="Cambria" pitchFamily="34" charset="-122"/>
                <a:cs typeface="Cambria" pitchFamily="34" charset="-120"/>
              </a:rPr>
              <a:t>A real camera, and multi-camera simulation</a:t>
            </a:r>
            <a:endParaRPr lang="en-US" sz="2600" dirty="0"/>
          </a:p>
        </p:txBody>
      </p:sp>
      <p:sp>
        <p:nvSpPr>
          <p:cNvPr id="7" name="Text 4"/>
          <p:cNvSpPr/>
          <p:nvPr/>
        </p:nvSpPr>
        <p:spPr>
          <a:xfrm>
            <a:off x="777240" y="6126480"/>
            <a:ext cx="9144000" cy="365760"/>
          </a:xfrm>
          <a:prstGeom prst="rect">
            <a:avLst/>
          </a:prstGeom>
          <a:noFill/>
          <a:ln/>
        </p:spPr>
        <p:txBody>
          <a:bodyPr wrap="square" lIns="0" tIns="0" rIns="0" bIns="0" rtlCol="0" anchor="ctr"/>
          <a:lstStyle/>
          <a:p>
            <a:pPr indent="0" marL="0">
              <a:buNone/>
            </a:pPr>
            <a:r>
              <a:rPr lang="en-US" sz="2000" spc="100" kern="0" dirty="0">
                <a:solidFill>
                  <a:srgbClr val="89A0BE"/>
                </a:solidFill>
                <a:latin typeface="Calibri" pitchFamily="34" charset="0"/>
                <a:ea typeface="Calibri" pitchFamily="34" charset="-122"/>
                <a:cs typeface="Calibri" pitchFamily="34" charset="-120"/>
              </a:rPr>
              <a:t>WPILib 2027 Alpha  ·  Commands V3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bullsey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THE GOAL</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A real camera, behind the same IO treatment</a:t>
            </a:r>
            <a:endParaRPr lang="en-US" sz="3000" dirty="0"/>
          </a:p>
        </p:txBody>
      </p:sp>
      <p:sp>
        <p:nvSpPr>
          <p:cNvPr id="6" name="Shape 3"/>
          <p:cNvSpPr/>
          <p:nvPr/>
        </p:nvSpPr>
        <p:spPr>
          <a:xfrm>
            <a:off x="640080" y="1600200"/>
            <a:ext cx="10881360" cy="1463040"/>
          </a:xfrm>
          <a:prstGeom prst="roundRect">
            <a:avLst>
              <a:gd name="adj" fmla="val 6250"/>
            </a:avLst>
          </a:prstGeom>
          <a:solidFill>
            <a:srgbClr val="F3F6FA"/>
          </a:solidFill>
          <a:ln/>
        </p:spPr>
      </p:sp>
      <p:sp>
        <p:nvSpPr>
          <p:cNvPr id="7" name="Text 4"/>
          <p:cNvSpPr/>
          <p:nvPr/>
        </p:nvSpPr>
        <p:spPr>
          <a:xfrm>
            <a:off x="960120" y="1737360"/>
            <a:ext cx="10241280" cy="1234440"/>
          </a:xfrm>
          <a:prstGeom prst="rect">
            <a:avLst/>
          </a:prstGeom>
          <a:noFill/>
          <a:ln/>
        </p:spPr>
        <p:txBody>
          <a:bodyPr wrap="square" lIns="0" tIns="0" rIns="0" bIns="0" rtlCol="0" anchor="ctr"/>
          <a:lstStyle/>
          <a:p>
            <a:pPr indent="0" marL="0">
              <a:lnSpc>
                <a:spcPct val="120000"/>
              </a:lnSpc>
              <a:buNone/>
            </a:pPr>
            <a:r>
              <a:rPr lang="en-US" sz="2000" i="1" dirty="0">
                <a:solidFill>
                  <a:srgbClr val="13294B"/>
                </a:solidFill>
                <a:latin typeface="Cambria" pitchFamily="34" charset="0"/>
                <a:ea typeface="Cambria" pitchFamily="34" charset="-122"/>
                <a:cs typeface="Cambria" pitchFamily="34" charset="-120"/>
              </a:rPr>
              <a:t>Replace Lesson 14's fake vision provider with a real one — a PhotonCamera reading actual AprilTags — give it as many simulated cameras as you want, and put it behind the same VisionIO treatment ModuleIO and GyroIO got.</a:t>
            </a:r>
            <a:endParaRPr lang="en-US" sz="2000" dirty="0"/>
          </a:p>
        </p:txBody>
      </p:sp>
      <p:sp>
        <p:nvSpPr>
          <p:cNvPr id="8" name="Shape 5"/>
          <p:cNvSpPr/>
          <p:nvPr/>
        </p:nvSpPr>
        <p:spPr>
          <a:xfrm>
            <a:off x="640080" y="3291840"/>
            <a:ext cx="457200" cy="457200"/>
          </a:xfrm>
          <a:prstGeom prst="ellipse">
            <a:avLst/>
          </a:prstGeom>
          <a:solidFill>
            <a:srgbClr val="1B9AAA"/>
          </a:solidFill>
          <a:ln/>
        </p:spPr>
      </p:sp>
      <p:pic>
        <p:nvPicPr>
          <p:cNvPr id="9" name="Image 1" descr="/home/user/BasicRobotLessons/docs/presentations/v3/template/assets/icons/code_white.png">    </p:cNvPr>
          <p:cNvPicPr>
            <a:picLocks noChangeAspect="1"/>
          </p:cNvPicPr>
          <p:nvPr/>
        </p:nvPicPr>
        <p:blipFill>
          <a:blip r:embed="rId2"/>
          <a:stretch>
            <a:fillRect/>
          </a:stretch>
        </p:blipFill>
        <p:spPr>
          <a:xfrm>
            <a:off x="749808" y="3401568"/>
            <a:ext cx="237744" cy="237744"/>
          </a:xfrm>
          <a:prstGeom prst="rect">
            <a:avLst/>
          </a:prstGeom>
        </p:spPr>
      </p:pic>
      <p:sp>
        <p:nvSpPr>
          <p:cNvPr id="10" name="Text 6"/>
          <p:cNvSpPr/>
          <p:nvPr/>
        </p:nvSpPr>
        <p:spPr>
          <a:xfrm>
            <a:off x="1234440" y="331927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JAVA CONCEPTS</a:t>
            </a:r>
            <a:endParaRPr lang="en-US" sz="2000" dirty="0"/>
          </a:p>
        </p:txBody>
      </p:sp>
      <p:sp>
        <p:nvSpPr>
          <p:cNvPr id="11" name="Text 7"/>
          <p:cNvSpPr/>
          <p:nvPr/>
        </p:nvSpPr>
        <p:spPr>
          <a:xfrm>
            <a:off x="685800" y="3858768"/>
            <a:ext cx="5257800" cy="265176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Optional&lt;T&gt; — a value that might not be there</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A static field — shared by every instance</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A blank final — assigned in the constructor</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record — a small, structured data bundle</a:t>
            </a:r>
            <a:endParaRPr lang="en-US" sz="1900" dirty="0"/>
          </a:p>
        </p:txBody>
      </p:sp>
      <p:sp>
        <p:nvSpPr>
          <p:cNvPr id="12" name="Shape 8"/>
          <p:cNvSpPr/>
          <p:nvPr/>
        </p:nvSpPr>
        <p:spPr>
          <a:xfrm>
            <a:off x="6309360" y="3291840"/>
            <a:ext cx="457200" cy="457200"/>
          </a:xfrm>
          <a:prstGeom prst="ellipse">
            <a:avLst/>
          </a:prstGeom>
          <a:solidFill>
            <a:srgbClr val="FF5010"/>
          </a:solidFill>
          <a:ln/>
        </p:spPr>
      </p:sp>
      <p:pic>
        <p:nvPicPr>
          <p:cNvPr id="13" name="Image 2" descr="/home/user/BasicRobotLessons/docs/presentations/v3/template/assets/icons/camera_white.png">    </p:cNvPr>
          <p:cNvPicPr>
            <a:picLocks noChangeAspect="1"/>
          </p:cNvPicPr>
          <p:nvPr/>
        </p:nvPicPr>
        <p:blipFill>
          <a:blip r:embed="rId3"/>
          <a:stretch>
            <a:fillRect/>
          </a:stretch>
        </p:blipFill>
        <p:spPr>
          <a:xfrm>
            <a:off x="6419088" y="3401568"/>
            <a:ext cx="237744" cy="237744"/>
          </a:xfrm>
          <a:prstGeom prst="rect">
            <a:avLst/>
          </a:prstGeom>
        </p:spPr>
      </p:pic>
      <p:sp>
        <p:nvSpPr>
          <p:cNvPr id="14" name="Text 9"/>
          <p:cNvSpPr/>
          <p:nvPr/>
        </p:nvSpPr>
        <p:spPr>
          <a:xfrm>
            <a:off x="6903720" y="331927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ROBOT CONCEPTS</a:t>
            </a:r>
            <a:endParaRPr lang="en-US" sz="2000" dirty="0"/>
          </a:p>
        </p:txBody>
      </p:sp>
      <p:sp>
        <p:nvSpPr>
          <p:cNvPr id="15" name="Text 10"/>
          <p:cNvSpPr/>
          <p:nvPr/>
        </p:nvSpPr>
        <p:spPr>
          <a:xfrm>
            <a:off x="6355080" y="3858768"/>
            <a:ext cx="5257800" cy="265176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PhotonCamera and PhotonPoseEstimator</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AprilTagFieldLayout — the season's tag positions</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Multi-tag vs. single-tag pose strategies</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Transform3d, and +Z is up</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VisionSystemSim / PhotonCameraSim</a:t>
            </a:r>
            <a:endParaRPr lang="en-US" sz="1900" dirty="0"/>
          </a:p>
        </p:txBody>
      </p:sp>
      <p:sp>
        <p:nvSpPr>
          <p:cNvPr id="16"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PHOTONVISION</a:t>
            </a:r>
            <a:endParaRPr lang="en-US" sz="2000" dirty="0"/>
          </a:p>
        </p:txBody>
      </p:sp>
      <p:sp>
        <p:nvSpPr>
          <p:cNvPr id="17"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a:t>
            </a:r>
            <a:endParaRPr lang="en-US" sz="2000" dirty="0"/>
          </a:p>
        </p:txBody>
      </p:sp>
      <p:pic>
        <p:nvPicPr>
          <p:cNvPr id="18" name="Image 3" descr="/home/user/BasicRobotLessons/docs/presentations/v3/template/assets/logo/team5010-logo-onwhite.png">    </p:cNvPr>
          <p:cNvPicPr>
            <a:picLocks noChangeAspect="1"/>
          </p:cNvPicPr>
          <p:nvPr/>
        </p:nvPicPr>
        <p:blipFill>
          <a:blip r:embed="rId4"/>
          <a:stretch>
            <a:fillRect/>
          </a:stretch>
        </p:blipFill>
        <p:spPr>
          <a:xfrm>
            <a:off x="10957255" y="164592"/>
            <a:ext cx="777240" cy="6058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amera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1 · WHAT CHANGES</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Localizer was never told there was a difference</a:t>
            </a:r>
            <a:endParaRPr lang="en-US" sz="3000" dirty="0"/>
          </a:p>
        </p:txBody>
      </p:sp>
      <p:sp>
        <p:nvSpPr>
          <p:cNvPr id="6" name="Shape 3"/>
          <p:cNvSpPr/>
          <p:nvPr/>
        </p:nvSpPr>
        <p:spPr>
          <a:xfrm>
            <a:off x="640080" y="1691640"/>
            <a:ext cx="10881360" cy="2743200"/>
          </a:xfrm>
          <a:prstGeom prst="roundRect">
            <a:avLst>
              <a:gd name="adj" fmla="val 4000"/>
            </a:avLst>
          </a:prstGeom>
          <a:solidFill>
            <a:srgbClr val="132A4C"/>
          </a:solidFill>
          <a:ln/>
        </p:spPr>
      </p:sp>
      <p:sp>
        <p:nvSpPr>
          <p:cNvPr id="7" name="Text 4"/>
          <p:cNvSpPr/>
          <p:nvPr/>
        </p:nvSpPr>
        <p:spPr>
          <a:xfrm>
            <a:off x="914400" y="1920240"/>
            <a:ext cx="10332720" cy="1371600"/>
          </a:xfrm>
          <a:prstGeom prst="rect">
            <a:avLst/>
          </a:prstGeom>
          <a:noFill/>
          <a:ln/>
        </p:spPr>
        <p:txBody>
          <a:bodyPr wrap="square" lIns="0" tIns="0" rIns="0" bIns="0" rtlCol="0" anchor="t"/>
          <a:lstStyle/>
          <a:p>
            <a:pPr indent="0" marL="0">
              <a:lnSpc>
                <a:spcPct val="120000"/>
              </a:lnSpc>
              <a:buNone/>
            </a:pPr>
            <a:r>
              <a:rPr lang="en-US" sz="2200" b="1" dirty="0">
                <a:solidFill>
                  <a:srgbClr val="FF5010"/>
                </a:solidFill>
                <a:latin typeface="Cambria" pitchFamily="34" charset="0"/>
                <a:ea typeface="Cambria" pitchFamily="34" charset="-122"/>
                <a:cs typeface="Cambria" pitchFamily="34" charset="-120"/>
              </a:rPr>
              <a:t>The shape your code needs — a Pose2d and a timestamp — was already exactly what PoseProvider.updatePoseEstimate expects.</a:t>
            </a:r>
            <a:endParaRPr lang="en-US" sz="2200" dirty="0"/>
          </a:p>
        </p:txBody>
      </p:sp>
      <p:sp>
        <p:nvSpPr>
          <p:cNvPr id="8" name="Text 5"/>
          <p:cNvSpPr/>
          <p:nvPr/>
        </p:nvSpPr>
        <p:spPr>
          <a:xfrm>
            <a:off x="914400" y="3200400"/>
            <a:ext cx="10332720" cy="109728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A button press satisfied that shape in Lesson 14. A real camera satisfies the same shape today.</a:t>
            </a:r>
            <a:endParaRPr lang="en-US" sz="2000" dirty="0"/>
          </a:p>
        </p:txBody>
      </p:sp>
      <p:sp>
        <p:nvSpPr>
          <p:cNvPr id="9" name="Text 6"/>
          <p:cNvSpPr/>
          <p:nvPr/>
        </p:nvSpPr>
        <p:spPr>
          <a:xfrm>
            <a:off x="640080" y="4709160"/>
            <a:ext cx="10881360" cy="1097280"/>
          </a:xfrm>
          <a:prstGeom prst="rect">
            <a:avLst/>
          </a:prstGeom>
          <a:noFill/>
          <a:ln/>
        </p:spPr>
        <p:txBody>
          <a:bodyPr wrap="square" lIns="0" tIns="0" rIns="0" bIns="0" rtlCol="0" anchor="t"/>
          <a:lstStyle/>
          <a:p>
            <a:pPr indent="0" marL="0">
              <a:lnSpc>
                <a:spcPct val="125000"/>
              </a:lnSpc>
              <a:buNone/>
            </a:pPr>
            <a:r>
              <a:rPr lang="en-US" sz="2000" i="1" dirty="0">
                <a:solidFill>
                  <a:srgbClr val="CADCE8"/>
                </a:solidFill>
                <a:latin typeface="Cambria" pitchFamily="34" charset="0"/>
                <a:ea typeface="Cambria" pitchFamily="34" charset="-122"/>
                <a:cs typeface="Cambria" pitchFamily="34" charset="-120"/>
              </a:rPr>
              <a:t>A coprocessor runs PhotonVision, watching a camera feed, finding AprilTags, and publishing the answer over NetworkTables — the same pipe every published value already travels over.</a:t>
            </a:r>
            <a:endParaRPr lang="en-US" sz="2000" dirty="0"/>
          </a:p>
        </p:txBody>
      </p:sp>
      <p:sp>
        <p:nvSpPr>
          <p:cNvPr id="10" name="Text 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PHOTONVISION</a:t>
            </a:r>
            <a:endParaRPr lang="en-US" sz="2000" dirty="0"/>
          </a:p>
        </p:txBody>
      </p:sp>
      <p:sp>
        <p:nvSpPr>
          <p:cNvPr id="11" name="Text 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a:t>
            </a:r>
            <a:endParaRPr lang="en-US" sz="2000" dirty="0"/>
          </a:p>
        </p:txBody>
      </p:sp>
      <p:pic>
        <p:nvPicPr>
          <p:cNvPr id="12"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download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INSTALL PHOTONLIB</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Same ritual as Lesson 1's Phoenix 6 install</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WPILib: Manage Vendor Libraries → Install new library (online search)</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Search for photonlib and install it.</a:t>
            </a:r>
            <a:endParaRPr lang="en-US" sz="2000" dirty="0"/>
          </a:p>
        </p:txBody>
      </p:sp>
      <p:sp>
        <p:nvSpPr>
          <p:cNvPr id="10" name="Shape 7"/>
          <p:cNvSpPr/>
          <p:nvPr/>
        </p:nvSpPr>
        <p:spPr>
          <a:xfrm>
            <a:off x="640080" y="2624328"/>
            <a:ext cx="502920" cy="502920"/>
          </a:xfrm>
          <a:prstGeom prst="ellipse">
            <a:avLst/>
          </a:prstGeom>
          <a:solidFill>
            <a:srgbClr val="1B9AAA"/>
          </a:solidFill>
          <a:ln/>
        </p:spPr>
      </p:sp>
      <p:sp>
        <p:nvSpPr>
          <p:cNvPr id="11" name="Text 8"/>
          <p:cNvSpPr/>
          <p:nvPr/>
        </p:nvSpPr>
        <p:spPr>
          <a:xfrm>
            <a:off x="640080" y="26243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5511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Search scoped to this project's pinned WPILib version</a:t>
            </a:r>
            <a:endParaRPr lang="en-US" sz="2000" dirty="0"/>
          </a:p>
        </p:txBody>
      </p:sp>
      <p:sp>
        <p:nvSpPr>
          <p:cNvPr id="13" name="Text 10"/>
          <p:cNvSpPr/>
          <p:nvPr/>
        </p:nvSpPr>
        <p:spPr>
          <a:xfrm>
            <a:off x="1371600" y="29352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It offers a matching 2027 alpha build.</a:t>
            </a:r>
            <a:endParaRPr lang="en-US" sz="2000" dirty="0"/>
          </a:p>
        </p:txBody>
      </p:sp>
      <p:sp>
        <p:nvSpPr>
          <p:cNvPr id="14" name="Shape 11"/>
          <p:cNvSpPr/>
          <p:nvPr/>
        </p:nvSpPr>
        <p:spPr>
          <a:xfrm>
            <a:off x="640080" y="3538728"/>
            <a:ext cx="502920" cy="502920"/>
          </a:xfrm>
          <a:prstGeom prst="ellipse">
            <a:avLst/>
          </a:prstGeom>
          <a:solidFill>
            <a:srgbClr val="1B9AAA"/>
          </a:solidFill>
          <a:ln/>
        </p:spPr>
      </p:sp>
      <p:sp>
        <p:nvSpPr>
          <p:cNvPr id="15" name="Text 12"/>
          <p:cNvSpPr/>
          <p:nvPr/>
        </p:nvSpPr>
        <p:spPr>
          <a:xfrm>
            <a:off x="640080" y="35387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4655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If the search comes up empty, install by URL instead</a:t>
            </a:r>
            <a:endParaRPr lang="en-US" sz="2000" dirty="0"/>
          </a:p>
        </p:txBody>
      </p:sp>
      <p:sp>
        <p:nvSpPr>
          <p:cNvPr id="17" name="Text 14"/>
          <p:cNvSpPr/>
          <p:nvPr/>
        </p:nvSpPr>
        <p:spPr>
          <a:xfrm>
            <a:off x="1371600" y="38496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WPILib's own pinned copy — see below.</a:t>
            </a:r>
            <a:endParaRPr lang="en-US" sz="2000" dirty="0"/>
          </a:p>
        </p:txBody>
      </p:sp>
      <p:sp>
        <p:nvSpPr>
          <p:cNvPr id="18" name="Shape 15"/>
          <p:cNvSpPr/>
          <p:nvPr/>
        </p:nvSpPr>
        <p:spPr>
          <a:xfrm>
            <a:off x="640080" y="4453128"/>
            <a:ext cx="502920" cy="502920"/>
          </a:xfrm>
          <a:prstGeom prst="ellipse">
            <a:avLst/>
          </a:prstGeom>
          <a:solidFill>
            <a:srgbClr val="1B9AAA"/>
          </a:solidFill>
          <a:ln/>
        </p:spPr>
      </p:sp>
      <p:sp>
        <p:nvSpPr>
          <p:cNvPr id="19" name="Text 16"/>
          <p:cNvSpPr/>
          <p:nvPr/>
        </p:nvSpPr>
        <p:spPr>
          <a:xfrm>
            <a:off x="640080" y="44531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7"/>
          <p:cNvSpPr/>
          <p:nvPr/>
        </p:nvSpPr>
        <p:spPr>
          <a:xfrm>
            <a:off x="1371600" y="43799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Rebuild to confirm</a:t>
            </a:r>
            <a:endParaRPr lang="en-US" sz="2000" dirty="0"/>
          </a:p>
        </p:txBody>
      </p:sp>
      <p:sp>
        <p:nvSpPr>
          <p:cNvPr id="21" name="Text 18"/>
          <p:cNvSpPr/>
          <p:nvPr/>
        </p:nvSpPr>
        <p:spPr>
          <a:xfrm>
            <a:off x="1371600" y="47640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./gradlew build</a:t>
            </a:r>
            <a:endParaRPr lang="en-US" sz="2000" dirty="0"/>
          </a:p>
        </p:txBody>
      </p:sp>
      <p:sp>
        <p:nvSpPr>
          <p:cNvPr id="22" name="Shape 19"/>
          <p:cNvSpPr/>
          <p:nvPr/>
        </p:nvSpPr>
        <p:spPr>
          <a:xfrm>
            <a:off x="640080" y="5212080"/>
            <a:ext cx="10881360" cy="960120"/>
          </a:xfrm>
          <a:prstGeom prst="roundRect">
            <a:avLst>
              <a:gd name="adj" fmla="val 9524"/>
            </a:avLst>
          </a:prstGeom>
          <a:solidFill>
            <a:srgbClr val="F3F6FA"/>
          </a:solidFill>
          <a:ln/>
        </p:spPr>
      </p:sp>
      <p:sp>
        <p:nvSpPr>
          <p:cNvPr id="23" name="Text 20"/>
          <p:cNvSpPr/>
          <p:nvPr/>
        </p:nvSpPr>
        <p:spPr>
          <a:xfrm>
            <a:off x="777240" y="5349240"/>
            <a:ext cx="10607040" cy="685800"/>
          </a:xfrm>
          <a:prstGeom prst="rect">
            <a:avLst/>
          </a:prstGeom>
          <a:noFill/>
          <a:ln/>
        </p:spPr>
        <p:txBody>
          <a:bodyPr wrap="square" lIns="0" tIns="0" rIns="0" bIns="0" rtlCol="0" anchor="t"/>
          <a:lstStyle/>
          <a:p>
            <a:pPr indent="0" marL="0">
              <a:lnSpc>
                <a:spcPct val="125000"/>
              </a:lnSpc>
              <a:buNone/>
            </a:pPr>
            <a:r>
              <a:rPr lang="en-US" sz="1600" dirty="0">
                <a:solidFill>
                  <a:srgbClr val="13294B"/>
                </a:solidFill>
                <a:latin typeface="Calibri" pitchFamily="34" charset="0"/>
                <a:ea typeface="Calibri" pitchFamily="34" charset="-122"/>
                <a:cs typeface="Calibri" pitchFamily="34" charset="-120"/>
              </a:rPr>
              <a:t>Take the version pin seriously: PhotonVision's own docs hand out a moving URL. WPILib's own pinned copy can't drift — same trick works for any vendordep.</a:t>
            </a:r>
            <a:endParaRPr lang="en-US" sz="1600" dirty="0"/>
          </a:p>
        </p:txBody>
      </p:sp>
      <p:sp>
        <p:nvSpPr>
          <p:cNvPr id="24" name="Text 2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PHOTONVISION</a:t>
            </a:r>
            <a:endParaRPr lang="en-US" sz="2000" dirty="0"/>
          </a:p>
        </p:txBody>
      </p:sp>
      <p:sp>
        <p:nvSpPr>
          <p:cNvPr id="25" name="Text 2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4</a:t>
            </a:r>
            <a:endParaRPr lang="en-US" sz="2000" dirty="0"/>
          </a:p>
        </p:txBody>
      </p:sp>
      <p:pic>
        <p:nvPicPr>
          <p:cNvPr id="2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mapmark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CONSTANTS.JAVA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Where the tags actually are — a solved problem</a:t>
            </a:r>
            <a:endParaRPr lang="en-US" sz="3000" dirty="0"/>
          </a:p>
        </p:txBody>
      </p:sp>
      <p:sp>
        <p:nvSpPr>
          <p:cNvPr id="6" name="Shape 3"/>
          <p:cNvSpPr/>
          <p:nvPr/>
        </p:nvSpPr>
        <p:spPr>
          <a:xfrm>
            <a:off x="640080" y="1600200"/>
            <a:ext cx="10881360" cy="1828800"/>
          </a:xfrm>
          <a:prstGeom prst="roundRect">
            <a:avLst>
              <a:gd name="adj" fmla="val 6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Constants.java</a:t>
            </a:r>
            <a:endParaRPr lang="en-US" sz="1500" dirty="0"/>
          </a:p>
        </p:txBody>
      </p:sp>
      <p:sp>
        <p:nvSpPr>
          <p:cNvPr id="11" name="Text 8"/>
          <p:cNvSpPr/>
          <p:nvPr/>
        </p:nvSpPr>
        <p:spPr>
          <a:xfrm>
            <a:off x="914400" y="2057400"/>
            <a:ext cx="10195560" cy="1170432"/>
          </a:xfrm>
          <a:prstGeom prst="rect">
            <a:avLst/>
          </a:prstGeom>
          <a:noFill/>
          <a:ln/>
        </p:spPr>
        <p:txBody>
          <a:bodyPr wrap="square" lIns="0" tIns="0" rIns="0" bIns="0" rtlCol="0" anchor="t"/>
          <a:lstStyle/>
          <a:p>
            <a:pPr indent="0" marL="0">
              <a:lnSpc>
                <a:spcPct val="120000"/>
              </a:lnSpc>
              <a:buNone/>
            </a:pPr>
            <a:r>
              <a:rPr lang="en-US" sz="1600" dirty="0">
                <a:solidFill>
                  <a:srgbClr val="FFD166"/>
                </a:solidFill>
                <a:latin typeface="Courier New" pitchFamily="34" charset="0"/>
                <a:ea typeface="Courier New" pitchFamily="34" charset="-122"/>
                <a:cs typeface="Courier New" pitchFamily="34" charset="-120"/>
              </a:rPr>
              <a:t>public static final class VisionConstants {</a:t>
            </a:r>
            <a:endParaRPr lang="en-US" sz="1600" dirty="0"/>
          </a:p>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  public static final AprilTagFieldLayout kTagLayout =</a:t>
            </a:r>
            <a:endParaRPr lang="en-US" sz="1600" dirty="0"/>
          </a:p>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      AprilTagFieldLayout.loadField(AprilTagFields.kDefaultField);</a:t>
            </a:r>
            <a:endParaRPr lang="en-US" sz="1600" dirty="0"/>
          </a:p>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a:t>
            </a:r>
            <a:endParaRPr lang="en-US" sz="1600" dirty="0"/>
          </a:p>
        </p:txBody>
      </p:sp>
      <p:sp>
        <p:nvSpPr>
          <p:cNvPr id="12" name="Shape 9"/>
          <p:cNvSpPr/>
          <p:nvPr/>
        </p:nvSpPr>
        <p:spPr>
          <a:xfrm>
            <a:off x="640080" y="3749040"/>
            <a:ext cx="10881360" cy="2468880"/>
          </a:xfrm>
          <a:prstGeom prst="roundRect">
            <a:avLst>
              <a:gd name="adj" fmla="val 3704"/>
            </a:avLst>
          </a:prstGeom>
          <a:solidFill>
            <a:srgbClr val="F3F6FA"/>
          </a:solidFill>
          <a:ln/>
        </p:spPr>
      </p:sp>
      <p:sp>
        <p:nvSpPr>
          <p:cNvPr id="13" name="Text 10"/>
          <p:cNvSpPr/>
          <p:nvPr/>
        </p:nvSpPr>
        <p:spPr>
          <a:xfrm>
            <a:off x="868680" y="3977640"/>
            <a:ext cx="10424160" cy="201168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AprilTagFields is an enum with one entry per season's field — kDefaultField is a standing alias to whichever one is current, so this line never goes stale when the calendar turns over. If your specific event uses a field built by a different manufacturer, swap in that season's exact constant instead, e.g. AprilTagFields.k2026RebuiltWelded.</a:t>
            </a:r>
            <a:endParaRPr lang="en-US" sz="19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PHOTONVISION</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5</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mapmark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CONSTANTS.JAVA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+Z is up — the third axis of Lesson 7's rule</a:t>
            </a:r>
            <a:endParaRPr lang="en-US" sz="3000" dirty="0"/>
          </a:p>
        </p:txBody>
      </p:sp>
      <p:sp>
        <p:nvSpPr>
          <p:cNvPr id="6" name="Shape 3"/>
          <p:cNvSpPr/>
          <p:nvPr/>
        </p:nvSpPr>
        <p:spPr>
          <a:xfrm>
            <a:off x="640080" y="1097280"/>
            <a:ext cx="10881360" cy="5029200"/>
          </a:xfrm>
          <a:prstGeom prst="roundRect">
            <a:avLst>
              <a:gd name="adj" fmla="val 218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243584"/>
            <a:ext cx="128016" cy="128016"/>
          </a:xfrm>
          <a:prstGeom prst="ellipse">
            <a:avLst/>
          </a:prstGeom>
          <a:solidFill>
            <a:srgbClr val="FF6B6B"/>
          </a:solidFill>
          <a:ln/>
        </p:spPr>
      </p:sp>
      <p:sp>
        <p:nvSpPr>
          <p:cNvPr id="8" name="Shape 5"/>
          <p:cNvSpPr/>
          <p:nvPr/>
        </p:nvSpPr>
        <p:spPr>
          <a:xfrm>
            <a:off x="11210544" y="1444752"/>
            <a:ext cx="128016" cy="128016"/>
          </a:xfrm>
          <a:prstGeom prst="ellipse">
            <a:avLst/>
          </a:prstGeom>
          <a:solidFill>
            <a:srgbClr val="FFD166"/>
          </a:solidFill>
          <a:ln/>
        </p:spPr>
      </p:sp>
      <p:sp>
        <p:nvSpPr>
          <p:cNvPr id="9" name="Shape 6"/>
          <p:cNvSpPr/>
          <p:nvPr/>
        </p:nvSpPr>
        <p:spPr>
          <a:xfrm>
            <a:off x="11210544" y="1645920"/>
            <a:ext cx="128016" cy="128016"/>
          </a:xfrm>
          <a:prstGeom prst="ellipse">
            <a:avLst/>
          </a:prstGeom>
          <a:solidFill>
            <a:srgbClr val="2EC4B6"/>
          </a:solidFill>
          <a:ln/>
        </p:spPr>
      </p:sp>
      <p:sp>
        <p:nvSpPr>
          <p:cNvPr id="10" name="Text 7"/>
          <p:cNvSpPr/>
          <p:nvPr/>
        </p:nvSpPr>
        <p:spPr>
          <a:xfrm>
            <a:off x="914400" y="12252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VisionConstants, next to the tag layout</a:t>
            </a:r>
            <a:endParaRPr lang="en-US" sz="1500" dirty="0"/>
          </a:p>
        </p:txBody>
      </p:sp>
      <p:sp>
        <p:nvSpPr>
          <p:cNvPr id="11" name="Text 8"/>
          <p:cNvSpPr/>
          <p:nvPr/>
        </p:nvSpPr>
        <p:spPr>
          <a:xfrm>
            <a:off x="914400" y="1554480"/>
            <a:ext cx="10195560" cy="4370832"/>
          </a:xfrm>
          <a:prstGeom prst="rect">
            <a:avLst/>
          </a:prstGeom>
          <a:noFill/>
          <a:ln/>
        </p:spPr>
        <p:txBody>
          <a:bodyPr wrap="square" lIns="0" tIns="0" rIns="0" bIns="0" rtlCol="0" anchor="t"/>
          <a:lstStyle/>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Camera mount positions: robot center → camera lens.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public static final String kFrontCameraName = "Front"; // must match PhotonVision UI</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public static final Transform3d kFrontRobotToCamera = new Transform3d(</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new Translation3d(0.3, 0.0, 0.2), // 30 cm forward, centered, 20 cm up</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new Rotation3d(0, 0, 0));         // facing straight forward</a:t>
            </a:r>
            <a:endParaRPr lang="en-US" sz="1200" dirty="0"/>
          </a:p>
          <a:p>
            <a:pPr indent="0" marL="0">
              <a:lnSpc>
                <a:spcPct val="120000"/>
              </a:lnSpc>
              <a:buNone/>
            </a:pP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public static final String kBackCameraName = "Back";</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public static final Transform3d kBackRobotToCamera = new Transform3d(</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new Translation3d(-0.3, 0.0, 0.2), // 30 cm back, 20 cm up</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new Rotation3d(0, 0, Math.PI));    // facing straight backward</a:t>
            </a:r>
            <a:endParaRPr lang="en-US" sz="12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PHOTONVISION</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6</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rosshair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5 · PICKING A POSE STRATEGY</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Multi-tag first, single-tag fallback</a:t>
            </a:r>
            <a:endParaRPr lang="en-US" sz="3000" dirty="0"/>
          </a:p>
        </p:txBody>
      </p:sp>
      <p:sp>
        <p:nvSpPr>
          <p:cNvPr id="6" name="Shape 3"/>
          <p:cNvSpPr/>
          <p:nvPr/>
        </p:nvSpPr>
        <p:spPr>
          <a:xfrm>
            <a:off x="640080" y="1691640"/>
            <a:ext cx="5349240" cy="4160520"/>
          </a:xfrm>
          <a:prstGeom prst="roundRect">
            <a:avLst>
              <a:gd name="adj" fmla="val 2637"/>
            </a:avLst>
          </a:prstGeom>
          <a:solidFill>
            <a:srgbClr val="132A4C"/>
          </a:solidFill>
          <a:ln/>
        </p:spPr>
      </p:sp>
      <p:sp>
        <p:nvSpPr>
          <p:cNvPr id="7" name="Text 4"/>
          <p:cNvSpPr/>
          <p:nvPr/>
        </p:nvSpPr>
        <p:spPr>
          <a:xfrm>
            <a:off x="914400" y="1920240"/>
            <a:ext cx="4800600" cy="777240"/>
          </a:xfrm>
          <a:prstGeom prst="rect">
            <a:avLst/>
          </a:prstGeom>
          <a:noFill/>
          <a:ln/>
        </p:spPr>
        <p:txBody>
          <a:bodyPr wrap="square" lIns="0" tIns="0" rIns="0" bIns="0" rtlCol="0" anchor="t"/>
          <a:lstStyle/>
          <a:p>
            <a:pPr indent="0" marL="0">
              <a:lnSpc>
                <a:spcPct val="115000"/>
              </a:lnSpc>
              <a:buNone/>
            </a:pPr>
            <a:r>
              <a:rPr lang="en-US" sz="1900" b="1" dirty="0">
                <a:solidFill>
                  <a:srgbClr val="FF5010"/>
                </a:solidFill>
                <a:latin typeface="Courier New" pitchFamily="34" charset="0"/>
                <a:ea typeface="Courier New" pitchFamily="34" charset="-122"/>
                <a:cs typeface="Courier New" pitchFamily="34" charset="-120"/>
              </a:rPr>
              <a:t>estimateCoprocMultiTagPose(result)</a:t>
            </a:r>
            <a:endParaRPr lang="en-US" sz="1900" dirty="0"/>
          </a:p>
        </p:txBody>
      </p:sp>
      <p:sp>
        <p:nvSpPr>
          <p:cNvPr id="8" name="Text 5"/>
          <p:cNvSpPr/>
          <p:nvPr/>
        </p:nvSpPr>
        <p:spPr>
          <a:xfrm>
            <a:off x="914400" y="2743200"/>
            <a:ext cx="4800600" cy="292608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When the coprocessor sees multiple tags in one frame, it solves using all of them at once — dramatically more accurate than any single tag alone. One tag has an inherent ambiguity; a second from a different angle kills it almost completely.</a:t>
            </a:r>
            <a:endParaRPr lang="en-US" sz="1900" dirty="0"/>
          </a:p>
        </p:txBody>
      </p:sp>
      <p:sp>
        <p:nvSpPr>
          <p:cNvPr id="9" name="Shape 6"/>
          <p:cNvSpPr/>
          <p:nvPr/>
        </p:nvSpPr>
        <p:spPr>
          <a:xfrm>
            <a:off x="6172200" y="1691640"/>
            <a:ext cx="5349240" cy="4160520"/>
          </a:xfrm>
          <a:prstGeom prst="roundRect">
            <a:avLst>
              <a:gd name="adj" fmla="val 2637"/>
            </a:avLst>
          </a:prstGeom>
          <a:solidFill>
            <a:srgbClr val="132A4C"/>
          </a:solidFill>
          <a:ln/>
        </p:spPr>
      </p:sp>
      <p:sp>
        <p:nvSpPr>
          <p:cNvPr id="10" name="Text 7"/>
          <p:cNvSpPr/>
          <p:nvPr/>
        </p:nvSpPr>
        <p:spPr>
          <a:xfrm>
            <a:off x="6446520" y="1920240"/>
            <a:ext cx="4800600" cy="777240"/>
          </a:xfrm>
          <a:prstGeom prst="rect">
            <a:avLst/>
          </a:prstGeom>
          <a:noFill/>
          <a:ln/>
        </p:spPr>
        <p:txBody>
          <a:bodyPr wrap="square" lIns="0" tIns="0" rIns="0" bIns="0" rtlCol="0" anchor="t"/>
          <a:lstStyle/>
          <a:p>
            <a:pPr indent="0" marL="0">
              <a:lnSpc>
                <a:spcPct val="115000"/>
              </a:lnSpc>
              <a:buNone/>
            </a:pPr>
            <a:r>
              <a:rPr lang="en-US" sz="1900" b="1" dirty="0">
                <a:solidFill>
                  <a:srgbClr val="FF5010"/>
                </a:solidFill>
                <a:latin typeface="Courier New" pitchFamily="34" charset="0"/>
                <a:ea typeface="Courier New" pitchFamily="34" charset="-122"/>
                <a:cs typeface="Courier New" pitchFamily="34" charset="-120"/>
              </a:rPr>
              <a:t>estimateLowestAmbiguityPose(result)</a:t>
            </a:r>
            <a:endParaRPr lang="en-US" sz="1900" dirty="0"/>
          </a:p>
        </p:txBody>
      </p:sp>
      <p:sp>
        <p:nvSpPr>
          <p:cNvPr id="11" name="Text 8"/>
          <p:cNvSpPr/>
          <p:nvPr/>
        </p:nvSpPr>
        <p:spPr>
          <a:xfrm>
            <a:off x="6446520" y="2743200"/>
            <a:ext cx="4800600" cy="292608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When only one tag is visible, multi-tag has nothing to fuse and returns empty — that's the fallback: picks whichever visible tag's solve was least confused and uses that alone.</a:t>
            </a:r>
            <a:endParaRPr lang="en-US" sz="19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PHOTONVISION</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7</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uzzlepiec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OPTIONAL&lt;T&gt;</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A box that either holds a value or holds nothing</a:t>
            </a:r>
            <a:endParaRPr lang="en-US" sz="3000" dirty="0"/>
          </a:p>
        </p:txBody>
      </p:sp>
      <p:sp>
        <p:nvSpPr>
          <p:cNvPr id="6" name="Shape 3"/>
          <p:cNvSpPr/>
          <p:nvPr/>
        </p:nvSpPr>
        <p:spPr>
          <a:xfrm>
            <a:off x="640080" y="1600200"/>
            <a:ext cx="10881360" cy="2011680"/>
          </a:xfrm>
          <a:prstGeom prst="roundRect">
            <a:avLst>
              <a:gd name="adj" fmla="val 5455"/>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i="1" dirty="0">
                <a:solidFill>
                  <a:srgbClr val="7FA8C9"/>
                </a:solidFill>
                <a:latin typeface="Calibri" pitchFamily="34" charset="0"/>
                <a:ea typeface="Calibri" pitchFamily="34" charset="-122"/>
                <a:cs typeface="Calibri" pitchFamily="34" charset="-120"/>
              </a:rPr>
              <a:t>Nothing to add yet — this is the shape you'll write in a moment</a:t>
            </a:r>
            <a:endParaRPr lang="en-US" sz="1500" dirty="0"/>
          </a:p>
        </p:txBody>
      </p:sp>
      <p:sp>
        <p:nvSpPr>
          <p:cNvPr id="11" name="Text 8"/>
          <p:cNvSpPr/>
          <p:nvPr/>
        </p:nvSpPr>
        <p:spPr>
          <a:xfrm>
            <a:off x="914400" y="2057400"/>
            <a:ext cx="10195560" cy="1353312"/>
          </a:xfrm>
          <a:prstGeom prst="rect">
            <a:avLst/>
          </a:prstGeom>
          <a:noFill/>
          <a:ln/>
        </p:spPr>
        <p:txBody>
          <a:bodyPr wrap="square" lIns="0" tIns="0" rIns="0" bIns="0" rtlCol="0" anchor="t"/>
          <a:lstStyle/>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Optional&lt;EstimatedRobotPose&gt; estimate = poseEstimator.estimateCoprocMultiTagPose(result);</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if (estimate.isPresent()) {</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EstimatedRobotPose pose = estimate.get(); // safe — you just checked</a:t>
            </a:r>
            <a:endParaRPr lang="en-US" sz="1400" dirty="0"/>
          </a:p>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 ...use pose...</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12" name="Shape 9"/>
          <p:cNvSpPr/>
          <p:nvPr/>
        </p:nvSpPr>
        <p:spPr>
          <a:xfrm>
            <a:off x="640080" y="3931920"/>
            <a:ext cx="10881360" cy="2377440"/>
          </a:xfrm>
          <a:prstGeom prst="roundRect">
            <a:avLst>
              <a:gd name="adj" fmla="val 3846"/>
            </a:avLst>
          </a:prstGeom>
          <a:solidFill>
            <a:srgbClr val="F3F6FA"/>
          </a:solidFill>
          <a:ln/>
        </p:spPr>
      </p:sp>
      <p:sp>
        <p:nvSpPr>
          <p:cNvPr id="13" name="Text 10"/>
          <p:cNvSpPr/>
          <p:nvPr/>
        </p:nvSpPr>
        <p:spPr>
          <a:xfrm>
            <a:off x="868680" y="4160520"/>
            <a:ext cx="10424160" cy="192024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isPresent() asks "is there something in here?"; .get() unwraps it — call .get() without checking first and you crash the instant a frame comes back empty, exactly the crash Optional exists to make you handle on purpose instead of by accident.</a:t>
            </a:r>
            <a:endParaRPr lang="en-US" sz="19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PHOTONVISION</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8</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dooropen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A NEW FILE</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VisionIO — an array of records, not one number</a:t>
            </a:r>
            <a:endParaRPr lang="en-US" sz="3000" dirty="0"/>
          </a:p>
        </p:txBody>
      </p:sp>
      <p:sp>
        <p:nvSpPr>
          <p:cNvPr id="6" name="Shape 3"/>
          <p:cNvSpPr/>
          <p:nvPr/>
        </p:nvSpPr>
        <p:spPr>
          <a:xfrm>
            <a:off x="640080" y="1234440"/>
            <a:ext cx="10881360" cy="3108960"/>
          </a:xfrm>
          <a:prstGeom prst="roundRect">
            <a:avLst>
              <a:gd name="adj" fmla="val 3529"/>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380744"/>
            <a:ext cx="128016" cy="128016"/>
          </a:xfrm>
          <a:prstGeom prst="ellipse">
            <a:avLst/>
          </a:prstGeom>
          <a:solidFill>
            <a:srgbClr val="FF6B6B"/>
          </a:solidFill>
          <a:ln/>
        </p:spPr>
      </p:sp>
      <p:sp>
        <p:nvSpPr>
          <p:cNvPr id="8" name="Shape 5"/>
          <p:cNvSpPr/>
          <p:nvPr/>
        </p:nvSpPr>
        <p:spPr>
          <a:xfrm>
            <a:off x="11210544" y="1581912"/>
            <a:ext cx="128016" cy="128016"/>
          </a:xfrm>
          <a:prstGeom prst="ellipse">
            <a:avLst/>
          </a:prstGeom>
          <a:solidFill>
            <a:srgbClr val="FFD166"/>
          </a:solidFill>
          <a:ln/>
        </p:spPr>
      </p:sp>
      <p:sp>
        <p:nvSpPr>
          <p:cNvPr id="9" name="Shape 6"/>
          <p:cNvSpPr/>
          <p:nvPr/>
        </p:nvSpPr>
        <p:spPr>
          <a:xfrm>
            <a:off x="11210544" y="1783080"/>
            <a:ext cx="128016" cy="128016"/>
          </a:xfrm>
          <a:prstGeom prst="ellipse">
            <a:avLst/>
          </a:prstGeom>
          <a:solidFill>
            <a:srgbClr val="2EC4B6"/>
          </a:solidFill>
          <a:ln/>
        </p:spPr>
      </p:sp>
      <p:sp>
        <p:nvSpPr>
          <p:cNvPr id="10" name="Text 7"/>
          <p:cNvSpPr/>
          <p:nvPr/>
        </p:nvSpPr>
        <p:spPr>
          <a:xfrm>
            <a:off x="914400" y="136245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src/main/java/first/robot/subsystems/VisionIO.java — the whole file</a:t>
            </a:r>
            <a:endParaRPr lang="en-US" sz="1500" dirty="0"/>
          </a:p>
        </p:txBody>
      </p:sp>
      <p:sp>
        <p:nvSpPr>
          <p:cNvPr id="11" name="Text 8"/>
          <p:cNvSpPr/>
          <p:nvPr/>
        </p:nvSpPr>
        <p:spPr>
          <a:xfrm>
            <a:off x="914400" y="1691640"/>
            <a:ext cx="10195560" cy="245059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interface VisionIO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public static class VisionIOInputs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PoseObservation[] poseObservations = new PoseObservation[0];</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One camera frame's evidence: a candidate pose and how many tags built it.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static record PoseObservation(</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double timestampSeconds, Pose3d pose, int tagCount) {}</a:t>
            </a:r>
            <a:endParaRPr lang="en-US" sz="1300" dirty="0"/>
          </a:p>
          <a:p>
            <a:pPr indent="0" marL="0">
              <a:lnSpc>
                <a:spcPct val="120000"/>
              </a:lnSpc>
              <a:buNone/>
            </a:pP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default void updateInputs(VisionIOInputs inputs)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Shape 9"/>
          <p:cNvSpPr/>
          <p:nvPr/>
        </p:nvSpPr>
        <p:spPr>
          <a:xfrm>
            <a:off x="640080" y="4526280"/>
            <a:ext cx="10881360" cy="1737360"/>
          </a:xfrm>
          <a:prstGeom prst="roundRect">
            <a:avLst>
              <a:gd name="adj" fmla="val 5263"/>
            </a:avLst>
          </a:prstGeom>
          <a:solidFill>
            <a:srgbClr val="F3F6FA"/>
          </a:solidFill>
          <a:ln/>
        </p:spPr>
      </p:sp>
      <p:sp>
        <p:nvSpPr>
          <p:cNvPr id="13" name="Text 10"/>
          <p:cNvSpPr/>
          <p:nvPr/>
        </p:nvSpPr>
        <p:spPr>
          <a:xfrm>
            <a:off x="822960" y="4709160"/>
            <a:ext cx="10515600" cy="137160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A camera can report zero, one, or several frames since the last read, so the input is an array of a small record — exactly what one correction needs: when it was true, what the candidate pose was, and how many tags built it.</a:t>
            </a:r>
            <a:endParaRPr lang="en-US" sz="18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PHOTONVISION</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9</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amera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A NEW FILE</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VisionIOPhotonVision: a real camera, a real estimator</a:t>
            </a:r>
            <a:endParaRPr lang="en-US" sz="3000" dirty="0"/>
          </a:p>
        </p:txBody>
      </p:sp>
      <p:sp>
        <p:nvSpPr>
          <p:cNvPr id="6" name="Shape 3"/>
          <p:cNvSpPr/>
          <p:nvPr/>
        </p:nvSpPr>
        <p:spPr>
          <a:xfrm>
            <a:off x="640080" y="1371600"/>
            <a:ext cx="10881360" cy="2834640"/>
          </a:xfrm>
          <a:prstGeom prst="roundRect">
            <a:avLst>
              <a:gd name="adj" fmla="val 3871"/>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src/main/java/first/robot/subsystems/VisionIOPhotonVision.java — fields and constructor</a:t>
            </a:r>
            <a:endParaRPr lang="en-US" sz="1500" dirty="0"/>
          </a:p>
        </p:txBody>
      </p:sp>
      <p:sp>
        <p:nvSpPr>
          <p:cNvPr id="11" name="Text 8"/>
          <p:cNvSpPr/>
          <p:nvPr/>
        </p:nvSpPr>
        <p:spPr>
          <a:xfrm>
            <a:off x="914400" y="1828800"/>
            <a:ext cx="10195560" cy="2176272"/>
          </a:xfrm>
          <a:prstGeom prst="rect">
            <a:avLst/>
          </a:prstGeom>
          <a:noFill/>
          <a:ln/>
        </p:spPr>
        <p:txBody>
          <a:bodyPr wrap="square" lIns="0" tIns="0" rIns="0" bIns="0" rtlCol="0" anchor="t"/>
          <a:lstStyle/>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IO implementation for a real PhotonVision camera. */</a:t>
            </a:r>
            <a:endParaRPr lang="en-US" sz="1400" dirty="0"/>
          </a:p>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public class VisionIOPhotonVision implements VisionIO {</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protected final PhotonCamera m_camera;</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private final PhotonPoseEstimator m_poseEstimator;</a:t>
            </a:r>
            <a:endParaRPr lang="en-US" sz="1400" dirty="0"/>
          </a:p>
          <a:p>
            <a:pPr indent="0" marL="0">
              <a:lnSpc>
                <a:spcPct val="120000"/>
              </a:lnSpc>
              <a:buNone/>
            </a:pPr>
            <a:endParaRPr lang="en-US" sz="1400" dirty="0"/>
          </a:p>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  public VisionIOPhotonVision(String cameraName, Transform3d robotToCamera)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m_camera = new PhotonCamera(cameraName);</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m_poseEstimator = new PhotonPoseEstimator(VisionConstants.kTagLayout, robotToCamera);</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a:t>
            </a:r>
            <a:endParaRPr lang="en-US" sz="1400" dirty="0"/>
          </a:p>
        </p:txBody>
      </p:sp>
      <p:sp>
        <p:nvSpPr>
          <p:cNvPr id="12" name="Shape 9"/>
          <p:cNvSpPr/>
          <p:nvPr/>
        </p:nvSpPr>
        <p:spPr>
          <a:xfrm>
            <a:off x="640080" y="4434840"/>
            <a:ext cx="10881360" cy="1874520"/>
          </a:xfrm>
          <a:prstGeom prst="roundRect">
            <a:avLst>
              <a:gd name="adj" fmla="val 4878"/>
            </a:avLst>
          </a:prstGeom>
          <a:solidFill>
            <a:srgbClr val="F3F6FA"/>
          </a:solidFill>
          <a:ln/>
        </p:spPr>
      </p:sp>
      <p:sp>
        <p:nvSpPr>
          <p:cNvPr id="13" name="Text 10"/>
          <p:cNvSpPr/>
          <p:nvPr/>
        </p:nvSpPr>
        <p:spPr>
          <a:xfrm>
            <a:off x="822960" y="4617720"/>
            <a:ext cx="10515600" cy="150876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One detail worth flagging before the next slide: m_camera is protected, not private. That's Lesson 13's signal again — a subclass is coming for it.</a:t>
            </a:r>
            <a:endParaRPr lang="en-US" sz="18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PHOTONVISION</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10</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amera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A NEW FILE</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For every unread frame: multi-tag first, fallback second</a:t>
            </a:r>
            <a:endParaRPr lang="en-US" sz="3000" dirty="0"/>
          </a:p>
        </p:txBody>
      </p:sp>
      <p:sp>
        <p:nvSpPr>
          <p:cNvPr id="6" name="Shape 3"/>
          <p:cNvSpPr/>
          <p:nvPr/>
        </p:nvSpPr>
        <p:spPr>
          <a:xfrm>
            <a:off x="640080" y="1097280"/>
            <a:ext cx="10881360" cy="5029200"/>
          </a:xfrm>
          <a:prstGeom prst="roundRect">
            <a:avLst>
              <a:gd name="adj" fmla="val 218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243584"/>
            <a:ext cx="128016" cy="128016"/>
          </a:xfrm>
          <a:prstGeom prst="ellipse">
            <a:avLst/>
          </a:prstGeom>
          <a:solidFill>
            <a:srgbClr val="FF6B6B"/>
          </a:solidFill>
          <a:ln/>
        </p:spPr>
      </p:sp>
      <p:sp>
        <p:nvSpPr>
          <p:cNvPr id="8" name="Shape 5"/>
          <p:cNvSpPr/>
          <p:nvPr/>
        </p:nvSpPr>
        <p:spPr>
          <a:xfrm>
            <a:off x="11210544" y="1444752"/>
            <a:ext cx="128016" cy="128016"/>
          </a:xfrm>
          <a:prstGeom prst="ellipse">
            <a:avLst/>
          </a:prstGeom>
          <a:solidFill>
            <a:srgbClr val="FFD166"/>
          </a:solidFill>
          <a:ln/>
        </p:spPr>
      </p:sp>
      <p:sp>
        <p:nvSpPr>
          <p:cNvPr id="9" name="Shape 6"/>
          <p:cNvSpPr/>
          <p:nvPr/>
        </p:nvSpPr>
        <p:spPr>
          <a:xfrm>
            <a:off x="11210544" y="1645920"/>
            <a:ext cx="128016" cy="128016"/>
          </a:xfrm>
          <a:prstGeom prst="ellipse">
            <a:avLst/>
          </a:prstGeom>
          <a:solidFill>
            <a:srgbClr val="2EC4B6"/>
          </a:solidFill>
          <a:ln/>
        </p:spPr>
      </p:sp>
      <p:sp>
        <p:nvSpPr>
          <p:cNvPr id="10" name="Text 7"/>
          <p:cNvSpPr/>
          <p:nvPr/>
        </p:nvSpPr>
        <p:spPr>
          <a:xfrm>
            <a:off x="914400" y="12252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VisionIOPhotonVision, closing out the class</a:t>
            </a:r>
            <a:endParaRPr lang="en-US" sz="1500" dirty="0"/>
          </a:p>
        </p:txBody>
      </p:sp>
      <p:sp>
        <p:nvSpPr>
          <p:cNvPr id="11" name="Text 8"/>
          <p:cNvSpPr/>
          <p:nvPr/>
        </p:nvSpPr>
        <p:spPr>
          <a:xfrm>
            <a:off x="914400" y="1554480"/>
            <a:ext cx="10195560" cy="4370832"/>
          </a:xfrm>
          <a:prstGeom prst="rect">
            <a:avLst/>
          </a:prstGeom>
          <a:noFill/>
          <a:ln/>
        </p:spPr>
        <p:txBody>
          <a:bodyPr wrap="square" lIns="0" tIns="0" rIns="0" bIns="0" rtlCol="0" anchor="t"/>
          <a:lstStyle/>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@Override</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public void updateInputs(VisionIOInputs inputs)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List&lt;PoseObservation&gt; observations = new ArrayList&lt;&gt;();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for (PhotonPipelineResult result : m_camera.getAllUnreadResults())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Optional&lt;EstimatedRobotPose&gt; estimate = m_poseEstimator.estimateCoprocMultiTagPose(result);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if (estimate.isEmpty())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estimate = m_poseEstimator.estimateLowestAmbiguityPose(result);</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if (estimate.isPresent())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EstimatedRobotPose pose = estimate.get();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observations.add(new PoseObservation(</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pose.timestampSeconds, pose.estimatedPose, pose.targetsUsed.size()));</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inputs.poseObservations = observations.toArray(new PoseObservation[0]);</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PHOTONVISION</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11</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las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 · A NEW FILE</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One shared fake field, every camera adds itself</a:t>
            </a:r>
            <a:endParaRPr lang="en-US" sz="3000" dirty="0"/>
          </a:p>
        </p:txBody>
      </p:sp>
      <p:sp>
        <p:nvSpPr>
          <p:cNvPr id="6" name="Shape 3"/>
          <p:cNvSpPr/>
          <p:nvPr/>
        </p:nvSpPr>
        <p:spPr>
          <a:xfrm>
            <a:off x="640080" y="1097280"/>
            <a:ext cx="10881360" cy="5029200"/>
          </a:xfrm>
          <a:prstGeom prst="roundRect">
            <a:avLst>
              <a:gd name="adj" fmla="val 218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243584"/>
            <a:ext cx="128016" cy="128016"/>
          </a:xfrm>
          <a:prstGeom prst="ellipse">
            <a:avLst/>
          </a:prstGeom>
          <a:solidFill>
            <a:srgbClr val="FF6B6B"/>
          </a:solidFill>
          <a:ln/>
        </p:spPr>
      </p:sp>
      <p:sp>
        <p:nvSpPr>
          <p:cNvPr id="8" name="Shape 5"/>
          <p:cNvSpPr/>
          <p:nvPr/>
        </p:nvSpPr>
        <p:spPr>
          <a:xfrm>
            <a:off x="11210544" y="1444752"/>
            <a:ext cx="128016" cy="128016"/>
          </a:xfrm>
          <a:prstGeom prst="ellipse">
            <a:avLst/>
          </a:prstGeom>
          <a:solidFill>
            <a:srgbClr val="FFD166"/>
          </a:solidFill>
          <a:ln/>
        </p:spPr>
      </p:sp>
      <p:sp>
        <p:nvSpPr>
          <p:cNvPr id="9" name="Shape 6"/>
          <p:cNvSpPr/>
          <p:nvPr/>
        </p:nvSpPr>
        <p:spPr>
          <a:xfrm>
            <a:off x="11210544" y="1645920"/>
            <a:ext cx="128016" cy="128016"/>
          </a:xfrm>
          <a:prstGeom prst="ellipse">
            <a:avLst/>
          </a:prstGeom>
          <a:solidFill>
            <a:srgbClr val="2EC4B6"/>
          </a:solidFill>
          <a:ln/>
        </p:spPr>
      </p:sp>
      <p:sp>
        <p:nvSpPr>
          <p:cNvPr id="10" name="Text 7"/>
          <p:cNvSpPr/>
          <p:nvPr/>
        </p:nvSpPr>
        <p:spPr>
          <a:xfrm>
            <a:off x="914400" y="12252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VisionIOPhotonVisionSim.java — extends VisionIOPhotonVision</a:t>
            </a:r>
            <a:endParaRPr lang="en-US" sz="1500" dirty="0"/>
          </a:p>
        </p:txBody>
      </p:sp>
      <p:sp>
        <p:nvSpPr>
          <p:cNvPr id="11" name="Text 8"/>
          <p:cNvSpPr/>
          <p:nvPr/>
        </p:nvSpPr>
        <p:spPr>
          <a:xfrm>
            <a:off x="914400" y="1554480"/>
            <a:ext cx="10195560" cy="4370832"/>
          </a:xfrm>
          <a:prstGeom prst="rect">
            <a:avLst/>
          </a:prstGeom>
          <a:noFill/>
          <a:ln/>
        </p:spPr>
        <p:txBody>
          <a:bodyPr wrap="square" lIns="0" tIns="0" rIns="0" bIns="0" rtlCol="0" anchor="t"/>
          <a:lstStyle/>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IO implementation for a simulated PhotonVision camera. */</a:t>
            </a: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public class VisionIOPhotonVisionSim extends VisionIOPhotonVision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private static VisionSystemSim visionSim; // one fake field, shared by every camera</a:t>
            </a:r>
            <a:endParaRPr lang="en-US" sz="1100" dirty="0"/>
          </a:p>
          <a:p>
            <a:pPr indent="0" marL="0">
              <a:lnSpc>
                <a:spcPct val="120000"/>
              </a:lnSpc>
              <a:buNone/>
            </a:pP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private final Supplier&lt;Pose2d&gt; m_poseSupplier;</a:t>
            </a:r>
            <a:endParaRPr lang="en-US" sz="1100" dirty="0"/>
          </a:p>
          <a:p>
            <a:pPr indent="0" marL="0">
              <a:lnSpc>
                <a:spcPct val="120000"/>
              </a:lnSpc>
              <a:buNone/>
            </a:pP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public VisionIOPhotonVisionSim(</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String cameraName, Transform3d robotToCamera, Supplier&lt;Pose2d&gt; poseSupplier)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super(cameraName, robotToCamera);</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m_poseSupplier = poseSupplier;</a:t>
            </a:r>
            <a:endParaRPr lang="en-US" sz="1100" dirty="0"/>
          </a:p>
          <a:p>
            <a:pPr indent="0" marL="0">
              <a:lnSpc>
                <a:spcPct val="120000"/>
              </a:lnSpc>
              <a:buNone/>
            </a:pP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if (visionSim == null)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visionSim = new VisionSystemSim("main");</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visionSim.addAprilTags(VisionConstants.kTagLayout);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SmartDashboard.putData("VisionSim/DebugField", visionSim.getDebugField());</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PHOTONVISION</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12</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las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 · A NEW FILE</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Camera properties, and physics-first-then-read again</a:t>
            </a:r>
            <a:endParaRPr lang="en-US" sz="3000" dirty="0"/>
          </a:p>
        </p:txBody>
      </p:sp>
      <p:sp>
        <p:nvSpPr>
          <p:cNvPr id="6" name="Shape 3"/>
          <p:cNvSpPr/>
          <p:nvPr/>
        </p:nvSpPr>
        <p:spPr>
          <a:xfrm>
            <a:off x="640080" y="1097280"/>
            <a:ext cx="10881360" cy="5029200"/>
          </a:xfrm>
          <a:prstGeom prst="roundRect">
            <a:avLst>
              <a:gd name="adj" fmla="val 218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243584"/>
            <a:ext cx="128016" cy="128016"/>
          </a:xfrm>
          <a:prstGeom prst="ellipse">
            <a:avLst/>
          </a:prstGeom>
          <a:solidFill>
            <a:srgbClr val="FF6B6B"/>
          </a:solidFill>
          <a:ln/>
        </p:spPr>
      </p:sp>
      <p:sp>
        <p:nvSpPr>
          <p:cNvPr id="8" name="Shape 5"/>
          <p:cNvSpPr/>
          <p:nvPr/>
        </p:nvSpPr>
        <p:spPr>
          <a:xfrm>
            <a:off x="11210544" y="1444752"/>
            <a:ext cx="128016" cy="128016"/>
          </a:xfrm>
          <a:prstGeom prst="ellipse">
            <a:avLst/>
          </a:prstGeom>
          <a:solidFill>
            <a:srgbClr val="FFD166"/>
          </a:solidFill>
          <a:ln/>
        </p:spPr>
      </p:sp>
      <p:sp>
        <p:nvSpPr>
          <p:cNvPr id="9" name="Shape 6"/>
          <p:cNvSpPr/>
          <p:nvPr/>
        </p:nvSpPr>
        <p:spPr>
          <a:xfrm>
            <a:off x="11210544" y="1645920"/>
            <a:ext cx="128016" cy="128016"/>
          </a:xfrm>
          <a:prstGeom prst="ellipse">
            <a:avLst/>
          </a:prstGeom>
          <a:solidFill>
            <a:srgbClr val="2EC4B6"/>
          </a:solidFill>
          <a:ln/>
        </p:spPr>
      </p:sp>
      <p:sp>
        <p:nvSpPr>
          <p:cNvPr id="10" name="Text 7"/>
          <p:cNvSpPr/>
          <p:nvPr/>
        </p:nvSpPr>
        <p:spPr>
          <a:xfrm>
            <a:off x="914400" y="12252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VisionIOPhotonVisionSim, closing out the constructor and class</a:t>
            </a:r>
            <a:endParaRPr lang="en-US" sz="1500" dirty="0"/>
          </a:p>
        </p:txBody>
      </p:sp>
      <p:sp>
        <p:nvSpPr>
          <p:cNvPr id="11" name="Text 8"/>
          <p:cNvSpPr/>
          <p:nvPr/>
        </p:nvSpPr>
        <p:spPr>
          <a:xfrm>
            <a:off x="914400" y="1554480"/>
            <a:ext cx="10195560" cy="4370832"/>
          </a:xfrm>
          <a:prstGeom prst="rect">
            <a:avLst/>
          </a:prstGeom>
          <a:noFill/>
          <a:ln/>
        </p:spPr>
        <p:txBody>
          <a:bodyPr wrap="square" lIns="0" tIns="0" rIns="0" bIns="0" rtlCol="0" anchor="t"/>
          <a:lstStyle/>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SimCameraProperties cameraProps = new SimCameraProperties();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cameraProps.setCalibration(960, 720, Rotation2d.fromDegrees(90));</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cameraProps.setCalibError(0.25, 0.08);</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cameraProps.setFPS(20);</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cameraProps.setAvgLatencyMs(35);</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cameraProps.setLatencyStdDevMs(5);</a:t>
            </a:r>
            <a:endParaRPr lang="en-US" sz="1100" dirty="0"/>
          </a:p>
          <a:p>
            <a:pPr indent="0" marL="0">
              <a:lnSpc>
                <a:spcPct val="120000"/>
              </a:lnSpc>
              <a:buNone/>
            </a:pP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PhotonCameraSim cameraSim = new PhotonCameraSim(m_camera, cameraProps);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visionSim.addCamera(cameraSim, robotToCamera);</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@Override</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public void updateInputs(VisionIOInputs inputs)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visionSim.update(m_poseSupplier.get());</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super.updateInputs(inputs);</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PHOTONVISION</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13</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layergrou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8 · A NEW KIND OF FIELD</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static: one copy, owned by the class</a:t>
            </a:r>
            <a:endParaRPr lang="en-US" sz="3000" dirty="0"/>
          </a:p>
        </p:txBody>
      </p:sp>
      <p:sp>
        <p:nvSpPr>
          <p:cNvPr id="6" name="Shape 3"/>
          <p:cNvSpPr/>
          <p:nvPr/>
        </p:nvSpPr>
        <p:spPr>
          <a:xfrm>
            <a:off x="640080" y="1691640"/>
            <a:ext cx="10881360" cy="2743200"/>
          </a:xfrm>
          <a:prstGeom prst="roundRect">
            <a:avLst>
              <a:gd name="adj" fmla="val 4000"/>
            </a:avLst>
          </a:prstGeom>
          <a:solidFill>
            <a:srgbClr val="132A4C"/>
          </a:solidFill>
          <a:ln/>
        </p:spPr>
      </p:sp>
      <p:sp>
        <p:nvSpPr>
          <p:cNvPr id="7" name="Text 4"/>
          <p:cNvSpPr/>
          <p:nvPr/>
        </p:nvSpPr>
        <p:spPr>
          <a:xfrm>
            <a:off x="914400" y="1920240"/>
            <a:ext cx="10332720" cy="548640"/>
          </a:xfrm>
          <a:prstGeom prst="rect">
            <a:avLst/>
          </a:prstGeom>
          <a:noFill/>
          <a:ln/>
        </p:spPr>
        <p:txBody>
          <a:bodyPr wrap="square" lIns="0" tIns="0" rIns="0" bIns="0" rtlCol="0" anchor="ctr"/>
          <a:lstStyle/>
          <a:p>
            <a:pPr indent="0" marL="0">
              <a:buNone/>
            </a:pPr>
            <a:r>
              <a:rPr lang="en-US" sz="2400" b="1" dirty="0">
                <a:solidFill>
                  <a:srgbClr val="FF5010"/>
                </a:solidFill>
                <a:latin typeface="Cambria" pitchFamily="34" charset="0"/>
                <a:ea typeface="Cambria" pitchFamily="34" charset="-122"/>
                <a:cs typeface="Cambria" pitchFamily="34" charset="-120"/>
              </a:rPr>
              <a:t>Every field so far belonged to one object.</a:t>
            </a:r>
            <a:endParaRPr lang="en-US" sz="2400" dirty="0"/>
          </a:p>
        </p:txBody>
      </p:sp>
      <p:sp>
        <p:nvSpPr>
          <p:cNvPr id="8" name="Text 5"/>
          <p:cNvSpPr/>
          <p:nvPr/>
        </p:nvSpPr>
        <p:spPr>
          <a:xfrm>
            <a:off x="914400" y="2560320"/>
            <a:ext cx="10332720" cy="173736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m_driveMotor on THIS module, not the others. static removes that belonging: a static field lives on the class, one copy shared by every instance that exists, not one copy per instance.</a:t>
            </a:r>
            <a:endParaRPr lang="en-US" sz="2000" dirty="0"/>
          </a:p>
        </p:txBody>
      </p:sp>
      <p:sp>
        <p:nvSpPr>
          <p:cNvPr id="9" name="Text 6"/>
          <p:cNvSpPr/>
          <p:nvPr/>
        </p:nvSpPr>
        <p:spPr>
          <a:xfrm>
            <a:off x="640080" y="4709160"/>
            <a:ext cx="10881360" cy="1097280"/>
          </a:xfrm>
          <a:prstGeom prst="rect">
            <a:avLst/>
          </a:prstGeom>
          <a:noFill/>
          <a:ln/>
        </p:spPr>
        <p:txBody>
          <a:bodyPr wrap="square" lIns="0" tIns="0" rIns="0" bIns="0" rtlCol="0" anchor="t"/>
          <a:lstStyle/>
          <a:p>
            <a:pPr indent="0" marL="0">
              <a:lnSpc>
                <a:spcPct val="125000"/>
              </a:lnSpc>
              <a:buNone/>
            </a:pPr>
            <a:r>
              <a:rPr lang="en-US" sz="2000" i="1" dirty="0">
                <a:solidFill>
                  <a:srgbClr val="CADCE8"/>
                </a:solidFill>
                <a:latin typeface="Cambria" pitchFamily="34" charset="0"/>
                <a:ea typeface="Cambria" pitchFamily="34" charset="-122"/>
                <a:cs typeface="Cambria" pitchFamily="34" charset="-120"/>
              </a:rPr>
              <a:t>This course's first reach for static state, and a clean picture of what it's for: one copy, owned by the class, not by any one instance.</a:t>
            </a:r>
            <a:endParaRPr lang="en-US" sz="2000" dirty="0"/>
          </a:p>
        </p:txBody>
      </p:sp>
      <p:sp>
        <p:nvSpPr>
          <p:cNvPr id="10" name="Text 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PHOTONVISION</a:t>
            </a:r>
            <a:endParaRPr lang="en-US" sz="2000" dirty="0"/>
          </a:p>
        </p:txBody>
      </p:sp>
      <p:sp>
        <p:nvSpPr>
          <p:cNvPr id="11" name="Text 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14</a:t>
            </a:r>
            <a:endParaRPr lang="en-US" sz="2000" dirty="0"/>
          </a:p>
        </p:txBody>
      </p:sp>
      <p:pic>
        <p:nvPicPr>
          <p:cNvPr id="12"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rosshair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9 · A NEW FILE</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PhotonVisionPoseProvider: own an IO, own a bundle, read it</a:t>
            </a:r>
            <a:endParaRPr lang="en-US" sz="3000" dirty="0"/>
          </a:p>
        </p:txBody>
      </p:sp>
      <p:sp>
        <p:nvSpPr>
          <p:cNvPr id="6" name="Shape 3"/>
          <p:cNvSpPr/>
          <p:nvPr/>
        </p:nvSpPr>
        <p:spPr>
          <a:xfrm>
            <a:off x="640080" y="1280160"/>
            <a:ext cx="10881360" cy="3200400"/>
          </a:xfrm>
          <a:prstGeom prst="roundRect">
            <a:avLst>
              <a:gd name="adj" fmla="val 3429"/>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src/main/java/first/robot/subsystems/PhotonVisionPoseProvider.java — fields and constructor</a:t>
            </a:r>
            <a:endParaRPr lang="en-US" sz="1500" dirty="0"/>
          </a:p>
        </p:txBody>
      </p:sp>
      <p:sp>
        <p:nvSpPr>
          <p:cNvPr id="11" name="Text 8"/>
          <p:cNvSpPr/>
          <p:nvPr/>
        </p:nvSpPr>
        <p:spPr>
          <a:xfrm>
            <a:off x="914400" y="1737360"/>
            <a:ext cx="10195560" cy="2542032"/>
          </a:xfrm>
          <a:prstGeom prst="rect">
            <a:avLst/>
          </a:prstGeom>
          <a:noFill/>
          <a:ln/>
        </p:spPr>
        <p:txBody>
          <a:bodyPr wrap="square" lIns="0" tIns="0" rIns="0" bIns="0" rtlCol="0" anchor="t"/>
          <a:lstStyle/>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A vision camera, contributing whatever pose corrections its IO reported this tick. */</a:t>
            </a: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class PhotonVisionPoseProvider implements PoseProvider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private final VisionIO m_io;</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private final VisionIO.VisionIOInputs m_inputs = new VisionIO.VisionIOInputs();</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private final StructArrayPublisher&lt;Pose3d&gt; m_observationsPublisher;</a:t>
            </a:r>
            <a:endParaRPr lang="en-US" sz="1300" dirty="0"/>
          </a:p>
          <a:p>
            <a:pPr indent="0" marL="0">
              <a:lnSpc>
                <a:spcPct val="120000"/>
              </a:lnSpc>
              <a:buNone/>
            </a:pP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  public PhotonVisionPoseProvider(VisionIO io, String logKey)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m_io = io;</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m_observationsPublisher = NetworkTableInstance.getDefault()</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.getStructArrayTopic(logKey + "/PoseObservations", Pose3d.struct).publish();</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PHOTONVISION</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15</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rosshair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9 · A NEW FILE</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Read once, log the poses, then fire every correction</a:t>
            </a:r>
            <a:endParaRPr lang="en-US" sz="3000" dirty="0"/>
          </a:p>
        </p:txBody>
      </p:sp>
      <p:sp>
        <p:nvSpPr>
          <p:cNvPr id="6" name="Shape 3"/>
          <p:cNvSpPr/>
          <p:nvPr/>
        </p:nvSpPr>
        <p:spPr>
          <a:xfrm>
            <a:off x="640080" y="1280160"/>
            <a:ext cx="10881360" cy="3657600"/>
          </a:xfrm>
          <a:prstGeom prst="roundRect">
            <a:avLst>
              <a:gd name="adj" fmla="val 3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PhotonVisionPoseProvider</a:t>
            </a:r>
            <a:endParaRPr lang="en-US" sz="1500" dirty="0"/>
          </a:p>
        </p:txBody>
      </p:sp>
      <p:sp>
        <p:nvSpPr>
          <p:cNvPr id="11" name="Text 8"/>
          <p:cNvSpPr/>
          <p:nvPr/>
        </p:nvSpPr>
        <p:spPr>
          <a:xfrm>
            <a:off x="914400" y="1737360"/>
            <a:ext cx="10195560" cy="2999232"/>
          </a:xfrm>
          <a:prstGeom prst="rect">
            <a:avLst/>
          </a:prstGeom>
          <a:noFill/>
          <a:ln/>
        </p:spPr>
        <p:txBody>
          <a:bodyPr wrap="square" lIns="0" tIns="0" rIns="0" bIns="0" rtlCol="0" anchor="t"/>
          <a:lstStyle/>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@Override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public void updatePoseEstimate(SwerveDrivePoseEstimator estimator)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m_io.updateInputs(m_inputs);</a:t>
            </a:r>
            <a:endParaRPr lang="en-US" sz="1200" dirty="0"/>
          </a:p>
          <a:p>
            <a:pPr indent="0" marL="0">
              <a:lnSpc>
                <a:spcPct val="120000"/>
              </a:lnSpc>
              <a:buNone/>
            </a:pP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Pose3d[] poses = new Pose3d[m_inputs.poseObservations.length];</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for (int i = 0; i &lt; poses.length; i++)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poses[i] = m_inputs.poseObservations[i].pose();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m_observationsPublisher.set(poses);</a:t>
            </a:r>
            <a:endParaRPr lang="en-US" sz="1200" dirty="0"/>
          </a:p>
          <a:p>
            <a:pPr indent="0" marL="0">
              <a:lnSpc>
                <a:spcPct val="120000"/>
              </a:lnSpc>
              <a:buNone/>
            </a:pP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for (VisionIO.PoseObservation observation : m_inputs.poseObservations)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estimator.addVisionMeasurement(observation.pose().toPose2d(), observation.timestampSeconds());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PHOTONVISION</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16</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rosshair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9 · A NEW FILE</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makeCamera: the same picking pattern as makeModule</a:t>
            </a:r>
            <a:endParaRPr lang="en-US" sz="3000" dirty="0"/>
          </a:p>
        </p:txBody>
      </p:sp>
      <p:sp>
        <p:nvSpPr>
          <p:cNvPr id="6" name="Shape 3"/>
          <p:cNvSpPr/>
          <p:nvPr/>
        </p:nvSpPr>
        <p:spPr>
          <a:xfrm>
            <a:off x="640080" y="1371600"/>
            <a:ext cx="10881360" cy="2926080"/>
          </a:xfrm>
          <a:prstGeom prst="roundRect">
            <a:avLst>
              <a:gd name="adj" fmla="val 375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PhotonVisionPoseProvider, closing out the class</a:t>
            </a:r>
            <a:endParaRPr lang="en-US" sz="1500" dirty="0"/>
          </a:p>
        </p:txBody>
      </p:sp>
      <p:sp>
        <p:nvSpPr>
          <p:cNvPr id="11" name="Text 8"/>
          <p:cNvSpPr/>
          <p:nvPr/>
        </p:nvSpPr>
        <p:spPr>
          <a:xfrm>
            <a:off x="914400" y="1828800"/>
            <a:ext cx="10195560" cy="2267712"/>
          </a:xfrm>
          <a:prstGeom prst="rect">
            <a:avLst/>
          </a:prstGeom>
          <a:noFill/>
          <a:ln/>
        </p:spPr>
        <p:txBody>
          <a:bodyPr wrap="square" lIns="0" tIns="0" rIns="0" bIns="0" rtlCol="0" anchor="t"/>
          <a:lstStyle/>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Picks each camera's real/sim/replay IO, the same way Drivetrain picks each module's. */</a:t>
            </a: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static PhotonVisionPoseProvider makeCamera(</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String name, Transform3d robotToCamera, Supplier&lt;Pose2d&gt; poseSupplier)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VisionIO io = switch (Constants.kCurrentMode)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case REAL -&gt; new VisionIOPhotonVision(name, robotToCamera);</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case SIM -&gt; new VisionIOPhotonVisionSim(name, robotToCamera, poseSupplier);</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case REPLAY -&gt; new VisionIO() {}; // nothing feeds this yet</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return new PhotonVisionPoseProvider(io, "Localizer/" + name);</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Shape 9"/>
          <p:cNvSpPr/>
          <p:nvPr/>
        </p:nvSpPr>
        <p:spPr>
          <a:xfrm>
            <a:off x="640080" y="4572000"/>
            <a:ext cx="10881360" cy="1600200"/>
          </a:xfrm>
          <a:prstGeom prst="roundRect">
            <a:avLst>
              <a:gd name="adj" fmla="val 5714"/>
            </a:avLst>
          </a:prstGeom>
          <a:solidFill>
            <a:srgbClr val="F3F6FA"/>
          </a:solidFill>
          <a:ln/>
        </p:spPr>
      </p:sp>
      <p:sp>
        <p:nvSpPr>
          <p:cNvPr id="13" name="Text 10"/>
          <p:cNvSpPr/>
          <p:nvPr/>
        </p:nvSpPr>
        <p:spPr>
          <a:xfrm>
            <a:off x="822960" y="4754880"/>
            <a:ext cx="10515600" cy="123444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Unlike Drivetrain's private makeModule, this one is public — Robot calls it from outside, keeping IO selection out of the wiring class.</a:t>
            </a:r>
            <a:endParaRPr lang="en-US" sz="18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PHOTONVISION</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17</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d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10 · ROBOT.JAVA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Two blank finals — assigned once the constructor runs</a:t>
            </a:r>
            <a:endParaRPr lang="en-US" sz="3000" dirty="0"/>
          </a:p>
        </p:txBody>
      </p:sp>
      <p:sp>
        <p:nvSpPr>
          <p:cNvPr id="6" name="Shape 3"/>
          <p:cNvSpPr/>
          <p:nvPr/>
        </p:nvSpPr>
        <p:spPr>
          <a:xfrm>
            <a:off x="640080" y="1371600"/>
            <a:ext cx="10881360" cy="1051560"/>
          </a:xfrm>
          <a:prstGeom prst="roundRect">
            <a:avLst>
              <a:gd name="adj" fmla="val 8696"/>
            </a:avLst>
          </a:prstGeom>
          <a:solidFill>
            <a:srgbClr val="F3F6FA"/>
          </a:solidFill>
          <a:ln/>
        </p:spPr>
      </p:sp>
      <p:sp>
        <p:nvSpPr>
          <p:cNvPr id="7" name="Text 4"/>
          <p:cNvSpPr/>
          <p:nvPr/>
        </p:nvSpPr>
        <p:spPr>
          <a:xfrm>
            <a:off x="822960" y="1554480"/>
            <a:ext cx="10515600" cy="68580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Delete VisionPoseProvider.java — PhotonVisionPoseProvider replaces it.</a:t>
            </a:r>
            <a:endParaRPr lang="en-US" sz="2000" dirty="0"/>
          </a:p>
        </p:txBody>
      </p:sp>
      <p:sp>
        <p:nvSpPr>
          <p:cNvPr id="8" name="Shape 5"/>
          <p:cNvSpPr/>
          <p:nvPr/>
        </p:nvSpPr>
        <p:spPr>
          <a:xfrm>
            <a:off x="640080" y="2697480"/>
            <a:ext cx="10881360" cy="3063240"/>
          </a:xfrm>
          <a:prstGeom prst="roundRect">
            <a:avLst>
              <a:gd name="adj" fmla="val 3582"/>
            </a:avLst>
          </a:prstGeom>
          <a:solidFill>
            <a:srgbClr val="0B1F3A"/>
          </a:solidFill>
          <a:ln/>
          <a:effectLst>
            <a:outerShdw sx="100000" sy="100000" kx="0" ky="0" algn="bl" rotWithShape="0" blurRad="101600" dist="38100" dir="5400000">
              <a:srgbClr val="0B1F3A">
                <a:alpha val="35000"/>
              </a:srgbClr>
            </a:outerShdw>
          </a:effectLst>
        </p:spPr>
      </p:sp>
      <p:sp>
        <p:nvSpPr>
          <p:cNvPr id="9" name="Shape 6"/>
          <p:cNvSpPr/>
          <p:nvPr/>
        </p:nvSpPr>
        <p:spPr>
          <a:xfrm>
            <a:off x="11210544" y="2843784"/>
            <a:ext cx="128016" cy="128016"/>
          </a:xfrm>
          <a:prstGeom prst="ellipse">
            <a:avLst/>
          </a:prstGeom>
          <a:solidFill>
            <a:srgbClr val="FF6B6B"/>
          </a:solidFill>
          <a:ln/>
        </p:spPr>
      </p:sp>
      <p:sp>
        <p:nvSpPr>
          <p:cNvPr id="10" name="Shape 7"/>
          <p:cNvSpPr/>
          <p:nvPr/>
        </p:nvSpPr>
        <p:spPr>
          <a:xfrm>
            <a:off x="11210544" y="3044952"/>
            <a:ext cx="128016" cy="128016"/>
          </a:xfrm>
          <a:prstGeom prst="ellipse">
            <a:avLst/>
          </a:prstGeom>
          <a:solidFill>
            <a:srgbClr val="FFD166"/>
          </a:solidFill>
          <a:ln/>
        </p:spPr>
      </p:sp>
      <p:sp>
        <p:nvSpPr>
          <p:cNvPr id="11" name="Shape 8"/>
          <p:cNvSpPr/>
          <p:nvPr/>
        </p:nvSpPr>
        <p:spPr>
          <a:xfrm>
            <a:off x="11210544" y="3246120"/>
            <a:ext cx="128016" cy="128016"/>
          </a:xfrm>
          <a:prstGeom prst="ellipse">
            <a:avLst/>
          </a:prstGeom>
          <a:solidFill>
            <a:srgbClr val="2EC4B6"/>
          </a:solidFill>
          <a:ln/>
        </p:spPr>
      </p:sp>
      <p:sp>
        <p:nvSpPr>
          <p:cNvPr id="12" name="Text 9"/>
          <p:cNvSpPr/>
          <p:nvPr/>
        </p:nvSpPr>
        <p:spPr>
          <a:xfrm>
            <a:off x="914400" y="28254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Edit Robot's fields</a:t>
            </a:r>
            <a:endParaRPr lang="en-US" sz="1500" dirty="0"/>
          </a:p>
        </p:txBody>
      </p:sp>
      <p:sp>
        <p:nvSpPr>
          <p:cNvPr id="13" name="Text 10"/>
          <p:cNvSpPr/>
          <p:nvPr/>
        </p:nvSpPr>
        <p:spPr>
          <a:xfrm>
            <a:off x="914400" y="3154680"/>
            <a:ext cx="10195560" cy="240487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class Robot extends OpModeRobot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public final CommandGamepad driverController = new CommandGamepad(0);</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public final Drivetrain drivetrain = new Drivetrain();</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public final Localizer localizer = new Localizer(drivetrain);</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Blank finals: building a camera needs localizer, so localizer has to be</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a finished object first. Assigned below.</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final PhotonVisionPoseProvider frontCamera;</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final PhotonVisionPoseProvider backCamera;</a:t>
            </a:r>
            <a:endParaRPr lang="en-US" sz="13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PHOTONVISION</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18</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10 · ROBOT.JAVA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localizer::getPose — an already-built object, right there</a:t>
            </a:r>
            <a:endParaRPr lang="en-US" sz="3000" dirty="0"/>
          </a:p>
        </p:txBody>
      </p:sp>
      <p:sp>
        <p:nvSpPr>
          <p:cNvPr id="6" name="Shape 3"/>
          <p:cNvSpPr/>
          <p:nvPr/>
        </p:nvSpPr>
        <p:spPr>
          <a:xfrm>
            <a:off x="640080" y="1280160"/>
            <a:ext cx="10881360" cy="3063240"/>
          </a:xfrm>
          <a:prstGeom prst="roundRect">
            <a:avLst>
              <a:gd name="adj" fmla="val 358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Build both cameras in Robot's constructor</a:t>
            </a:r>
            <a:endParaRPr lang="en-US" sz="1500" dirty="0"/>
          </a:p>
        </p:txBody>
      </p:sp>
      <p:sp>
        <p:nvSpPr>
          <p:cNvPr id="11" name="Text 8"/>
          <p:cNvSpPr/>
          <p:nvPr/>
        </p:nvSpPr>
        <p:spPr>
          <a:xfrm>
            <a:off x="914400" y="1737360"/>
            <a:ext cx="10195560" cy="240487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Robot()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DataLogManager.start();</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Scheduler.getDefault().addEventListener(this::logCommandStart);</a:t>
            </a:r>
            <a:endParaRPr lang="en-US" sz="1300" dirty="0"/>
          </a:p>
          <a:p>
            <a:pPr indent="0" marL="0">
              <a:lnSpc>
                <a:spcPct val="120000"/>
              </a:lnSpc>
              <a:buNone/>
            </a:pP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frontCamera = PhotonVisionPoseProvider.makeCamera(</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VisionConstants.kFrontCameraName, VisionConstants.kFrontRobotToCamera, localizer::getPose);</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backCamera = PhotonVisionPoseProvider.makeCamera(</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VisionConstants.kBackCameraName, VisionConstants.kBackRobotToCamera, localizer::getPose);</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localizer.addProvider(frontCamera);</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localizer.addProvider(backCamera);</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Shape 9"/>
          <p:cNvSpPr/>
          <p:nvPr/>
        </p:nvSpPr>
        <p:spPr>
          <a:xfrm>
            <a:off x="640080" y="4617720"/>
            <a:ext cx="10881360" cy="1554480"/>
          </a:xfrm>
          <a:prstGeom prst="roundRect">
            <a:avLst>
              <a:gd name="adj" fmla="val 5882"/>
            </a:avLst>
          </a:prstGeom>
          <a:solidFill>
            <a:srgbClr val="F3F6FA"/>
          </a:solidFill>
          <a:ln/>
        </p:spPr>
      </p:sp>
      <p:sp>
        <p:nvSpPr>
          <p:cNvPr id="13" name="Text 10"/>
          <p:cNvSpPr/>
          <p:nvPr/>
        </p:nvSpPr>
        <p:spPr>
          <a:xfrm>
            <a:off x="822960" y="4800600"/>
            <a:ext cx="10515600" cy="118872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Building the cameras in the constructor body, instead of in their own field initializers, is what buys this: every field initializer above has already run before the constructor's first line executes.</a:t>
            </a:r>
            <a:endParaRPr lang="en-US" sz="18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PHOTONVISION</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19</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d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10 · ROBOTTELEOP.JAVA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No fake camera left, no fake sighting to trigger</a:t>
            </a:r>
            <a:endParaRPr lang="en-US" sz="3000" dirty="0"/>
          </a:p>
        </p:txBody>
      </p:sp>
      <p:sp>
        <p:nvSpPr>
          <p:cNvPr id="6" name="Shape 3"/>
          <p:cNvSpPr/>
          <p:nvPr/>
        </p:nvSpPr>
        <p:spPr>
          <a:xfrm>
            <a:off x="640080" y="1828800"/>
            <a:ext cx="10881360" cy="2011680"/>
          </a:xfrm>
          <a:prstGeom prst="roundRect">
            <a:avLst>
              <a:gd name="adj" fmla="val 4545"/>
            </a:avLst>
          </a:prstGeom>
          <a:solidFill>
            <a:srgbClr val="F3F6FA"/>
          </a:solidFill>
          <a:ln/>
        </p:spPr>
      </p:sp>
      <p:sp>
        <p:nvSpPr>
          <p:cNvPr id="7" name="Text 4"/>
          <p:cNvSpPr/>
          <p:nvPr/>
        </p:nvSpPr>
        <p:spPr>
          <a:xfrm>
            <a:off x="914400" y="210312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Delete the Start-button binding from Lesson 14.</a:t>
            </a:r>
            <a:endParaRPr lang="en-US" sz="2200" dirty="0"/>
          </a:p>
        </p:txBody>
      </p:sp>
      <p:sp>
        <p:nvSpPr>
          <p:cNvPr id="8" name="Text 5"/>
          <p:cNvSpPr/>
          <p:nvPr/>
        </p:nvSpPr>
        <p:spPr>
          <a:xfrm>
            <a:off x="914400" y="2680970"/>
            <a:ext cx="10332720" cy="88519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robot.camera.reportSighting(...) doesn't exist anymore — there's no fake sighting to trigger, because there's no fake camera left.</a:t>
            </a:r>
            <a:endParaRPr lang="en-US" sz="2000" dirty="0"/>
          </a:p>
        </p:txBody>
      </p:sp>
      <p:sp>
        <p:nvSpPr>
          <p:cNvPr id="9" name="Text 6"/>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PHOTONVISION</a:t>
            </a:r>
            <a:endParaRPr lang="en-US" sz="2000" dirty="0"/>
          </a:p>
        </p:txBody>
      </p:sp>
      <p:sp>
        <p:nvSpPr>
          <p:cNvPr id="10" name="Text 7"/>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20</a:t>
            </a:r>
            <a:endParaRPr lang="en-US" sz="2000" dirty="0"/>
          </a:p>
        </p:txBody>
      </p:sp>
      <p:pic>
        <p:nvPicPr>
          <p:cNvPr id="11"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Try it</a:t>
            </a:r>
            <a:endParaRPr lang="en-US" sz="3000" dirty="0"/>
          </a:p>
        </p:txBody>
      </p:sp>
      <p:sp>
        <p:nvSpPr>
          <p:cNvPr id="6" name="Shape 3"/>
          <p:cNvSpPr/>
          <p:nvPr/>
        </p:nvSpPr>
        <p:spPr>
          <a:xfrm>
            <a:off x="640080" y="1463040"/>
            <a:ext cx="5303520" cy="2286000"/>
          </a:xfrm>
          <a:prstGeom prst="roundRect">
            <a:avLst>
              <a:gd name="adj" fmla="val 4800"/>
            </a:avLst>
          </a:prstGeom>
          <a:solidFill>
            <a:srgbClr val="132A4C"/>
          </a:solidFill>
          <a:ln/>
        </p:spPr>
      </p:sp>
      <p:sp>
        <p:nvSpPr>
          <p:cNvPr id="7" name="Shape 4"/>
          <p:cNvSpPr/>
          <p:nvPr/>
        </p:nvSpPr>
        <p:spPr>
          <a:xfrm>
            <a:off x="960120" y="1691640"/>
            <a:ext cx="457200" cy="457200"/>
          </a:xfrm>
          <a:prstGeom prst="ellipse">
            <a:avLst/>
          </a:prstGeom>
          <a:solidFill>
            <a:srgbClr val="1B9AAA"/>
          </a:solidFill>
          <a:ln/>
        </p:spPr>
      </p:sp>
      <p:sp>
        <p:nvSpPr>
          <p:cNvPr id="8" name="Text 5"/>
          <p:cNvSpPr/>
          <p:nvPr/>
        </p:nvSpPr>
        <p:spPr>
          <a:xfrm>
            <a:off x="96012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69164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Add a third camera</a:t>
            </a:r>
            <a:endParaRPr lang="en-US" sz="2000" dirty="0"/>
          </a:p>
        </p:txBody>
      </p:sp>
      <p:sp>
        <p:nvSpPr>
          <p:cNvPr id="10" name="Shape 7"/>
          <p:cNvSpPr/>
          <p:nvPr/>
        </p:nvSpPr>
        <p:spPr>
          <a:xfrm>
            <a:off x="4206240" y="1773936"/>
            <a:ext cx="1417320" cy="292608"/>
          </a:xfrm>
          <a:prstGeom prst="roundRect">
            <a:avLst>
              <a:gd name="adj" fmla="val 18750"/>
            </a:avLst>
          </a:prstGeom>
          <a:solidFill>
            <a:srgbClr val="FF5010"/>
          </a:solidFill>
          <a:ln/>
        </p:spPr>
      </p:sp>
      <p:sp>
        <p:nvSpPr>
          <p:cNvPr id="11" name="Text 8"/>
          <p:cNvSpPr/>
          <p:nvPr/>
        </p:nvSpPr>
        <p:spPr>
          <a:xfrm>
            <a:off x="4206240" y="177393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2" name="Text 9"/>
          <p:cNvSpPr/>
          <p:nvPr/>
        </p:nvSpPr>
        <p:spPr>
          <a:xfrm>
            <a:off x="96012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A corner mount, angled 45°. Nothing in VisionIOPhotonVisionSim changes — its shared static field just picks up a third.</a:t>
            </a:r>
            <a:endParaRPr lang="en-US" sz="2000" dirty="0"/>
          </a:p>
        </p:txBody>
      </p:sp>
      <p:sp>
        <p:nvSpPr>
          <p:cNvPr id="13" name="Shape 10"/>
          <p:cNvSpPr/>
          <p:nvPr/>
        </p:nvSpPr>
        <p:spPr>
          <a:xfrm>
            <a:off x="6217920" y="1463040"/>
            <a:ext cx="5303520" cy="2286000"/>
          </a:xfrm>
          <a:prstGeom prst="roundRect">
            <a:avLst>
              <a:gd name="adj" fmla="val 4800"/>
            </a:avLst>
          </a:prstGeom>
          <a:solidFill>
            <a:srgbClr val="132A4C"/>
          </a:solidFill>
          <a:ln/>
        </p:spPr>
      </p:sp>
      <p:sp>
        <p:nvSpPr>
          <p:cNvPr id="14" name="Shape 11"/>
          <p:cNvSpPr/>
          <p:nvPr/>
        </p:nvSpPr>
        <p:spPr>
          <a:xfrm>
            <a:off x="6537960" y="1691640"/>
            <a:ext cx="457200" cy="457200"/>
          </a:xfrm>
          <a:prstGeom prst="ellipse">
            <a:avLst/>
          </a:prstGeom>
          <a:solidFill>
            <a:srgbClr val="1B9AAA"/>
          </a:solidFill>
          <a:ln/>
        </p:spPr>
      </p:sp>
      <p:sp>
        <p:nvSpPr>
          <p:cNvPr id="15" name="Text 12"/>
          <p:cNvSpPr/>
          <p:nvPr/>
        </p:nvSpPr>
        <p:spPr>
          <a:xfrm>
            <a:off x="653796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3"/>
          <p:cNvSpPr/>
          <p:nvPr/>
        </p:nvSpPr>
        <p:spPr>
          <a:xfrm>
            <a:off x="7178040" y="169164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Turn off multi-tag</a:t>
            </a:r>
            <a:endParaRPr lang="en-US" sz="2000" dirty="0"/>
          </a:p>
        </p:txBody>
      </p:sp>
      <p:sp>
        <p:nvSpPr>
          <p:cNvPr id="17" name="Shape 14"/>
          <p:cNvSpPr/>
          <p:nvPr/>
        </p:nvSpPr>
        <p:spPr>
          <a:xfrm>
            <a:off x="9784080" y="1773936"/>
            <a:ext cx="1417320" cy="292608"/>
          </a:xfrm>
          <a:prstGeom prst="roundRect">
            <a:avLst>
              <a:gd name="adj" fmla="val 18750"/>
            </a:avLst>
          </a:prstGeom>
          <a:solidFill>
            <a:srgbClr val="FF5010"/>
          </a:solidFill>
          <a:ln/>
        </p:spPr>
      </p:sp>
      <p:sp>
        <p:nvSpPr>
          <p:cNvPr id="18" name="Text 15"/>
          <p:cNvSpPr/>
          <p:nvPr/>
        </p:nvSpPr>
        <p:spPr>
          <a:xfrm>
            <a:off x="9784080" y="177393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9" name="Text 16"/>
          <p:cNvSpPr/>
          <p:nvPr/>
        </p:nvSpPr>
        <p:spPr>
          <a:xfrm>
            <a:off x="653796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Delete the estimateCoprocMultiTagPose branch. Single-tag estimates should look visibly noisier on the plot.</a:t>
            </a:r>
            <a:endParaRPr lang="en-US" sz="2000" dirty="0"/>
          </a:p>
        </p:txBody>
      </p:sp>
      <p:sp>
        <p:nvSpPr>
          <p:cNvPr id="20" name="Shape 17"/>
          <p:cNvSpPr/>
          <p:nvPr/>
        </p:nvSpPr>
        <p:spPr>
          <a:xfrm>
            <a:off x="640080" y="4023360"/>
            <a:ext cx="5303520" cy="2286000"/>
          </a:xfrm>
          <a:prstGeom prst="roundRect">
            <a:avLst>
              <a:gd name="adj" fmla="val 4800"/>
            </a:avLst>
          </a:prstGeom>
          <a:solidFill>
            <a:srgbClr val="132A4C"/>
          </a:solidFill>
          <a:ln/>
        </p:spPr>
      </p:sp>
      <p:sp>
        <p:nvSpPr>
          <p:cNvPr id="21" name="Shape 18"/>
          <p:cNvSpPr/>
          <p:nvPr/>
        </p:nvSpPr>
        <p:spPr>
          <a:xfrm>
            <a:off x="960120" y="4251960"/>
            <a:ext cx="457200" cy="457200"/>
          </a:xfrm>
          <a:prstGeom prst="ellipse">
            <a:avLst/>
          </a:prstGeom>
          <a:solidFill>
            <a:srgbClr val="1B9AAA"/>
          </a:solidFill>
          <a:ln/>
        </p:spPr>
      </p:sp>
      <p:sp>
        <p:nvSpPr>
          <p:cNvPr id="22" name="Text 19"/>
          <p:cNvSpPr/>
          <p:nvPr/>
        </p:nvSpPr>
        <p:spPr>
          <a:xfrm>
            <a:off x="960120" y="42519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3" name="Text 20"/>
          <p:cNvSpPr/>
          <p:nvPr/>
        </p:nvSpPr>
        <p:spPr>
          <a:xfrm>
            <a:off x="1600200" y="42519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Prove a miscalibrated camera is invisible</a:t>
            </a:r>
            <a:endParaRPr lang="en-US" sz="2000" dirty="0"/>
          </a:p>
        </p:txBody>
      </p:sp>
      <p:sp>
        <p:nvSpPr>
          <p:cNvPr id="24" name="Shape 21"/>
          <p:cNvSpPr/>
          <p:nvPr/>
        </p:nvSpPr>
        <p:spPr>
          <a:xfrm>
            <a:off x="4206240" y="4334256"/>
            <a:ext cx="1417320" cy="292608"/>
          </a:xfrm>
          <a:prstGeom prst="roundRect">
            <a:avLst>
              <a:gd name="adj" fmla="val 18750"/>
            </a:avLst>
          </a:prstGeom>
          <a:solidFill>
            <a:srgbClr val="FF5010"/>
          </a:solidFill>
          <a:ln/>
        </p:spPr>
      </p:sp>
      <p:sp>
        <p:nvSpPr>
          <p:cNvPr id="25" name="Text 22"/>
          <p:cNvSpPr/>
          <p:nvPr/>
        </p:nvSpPr>
        <p:spPr>
          <a:xfrm>
            <a:off x="4206240" y="43342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26" name="Text 23"/>
          <p:cNvSpPr/>
          <p:nvPr/>
        </p:nvSpPr>
        <p:spPr>
          <a:xfrm>
            <a:off x="960120" y="48463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Add 0.3 m to kFrontRobotToCamera's forward offset. Localizer/Pose doesn't skew — the offset cancels itself out in this sim.</a:t>
            </a:r>
            <a:endParaRPr lang="en-US" sz="2000" dirty="0"/>
          </a:p>
        </p:txBody>
      </p:sp>
      <p:sp>
        <p:nvSpPr>
          <p:cNvPr id="27" name="Shape 24"/>
          <p:cNvSpPr/>
          <p:nvPr/>
        </p:nvSpPr>
        <p:spPr>
          <a:xfrm>
            <a:off x="6217920" y="4023360"/>
            <a:ext cx="5303520" cy="2286000"/>
          </a:xfrm>
          <a:prstGeom prst="roundRect">
            <a:avLst>
              <a:gd name="adj" fmla="val 4800"/>
            </a:avLst>
          </a:prstGeom>
          <a:solidFill>
            <a:srgbClr val="132A4C"/>
          </a:solidFill>
          <a:ln/>
        </p:spPr>
      </p:sp>
      <p:sp>
        <p:nvSpPr>
          <p:cNvPr id="28" name="Shape 25"/>
          <p:cNvSpPr/>
          <p:nvPr/>
        </p:nvSpPr>
        <p:spPr>
          <a:xfrm>
            <a:off x="6537960" y="4251960"/>
            <a:ext cx="457200" cy="457200"/>
          </a:xfrm>
          <a:prstGeom prst="ellipse">
            <a:avLst/>
          </a:prstGeom>
          <a:solidFill>
            <a:srgbClr val="1B9AAA"/>
          </a:solidFill>
          <a:ln/>
        </p:spPr>
      </p:sp>
      <p:sp>
        <p:nvSpPr>
          <p:cNvPr id="29" name="Text 26"/>
          <p:cNvSpPr/>
          <p:nvPr/>
        </p:nvSpPr>
        <p:spPr>
          <a:xfrm>
            <a:off x="6537960" y="42519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30" name="Text 27"/>
          <p:cNvSpPr/>
          <p:nvPr/>
        </p:nvSpPr>
        <p:spPr>
          <a:xfrm>
            <a:off x="7178040" y="42519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Watch the empty doorway, vision edition</a:t>
            </a:r>
            <a:endParaRPr lang="en-US" sz="2000" dirty="0"/>
          </a:p>
        </p:txBody>
      </p:sp>
      <p:sp>
        <p:nvSpPr>
          <p:cNvPr id="31" name="Shape 28"/>
          <p:cNvSpPr/>
          <p:nvPr/>
        </p:nvSpPr>
        <p:spPr>
          <a:xfrm>
            <a:off x="9784080" y="4334256"/>
            <a:ext cx="1417320" cy="292608"/>
          </a:xfrm>
          <a:prstGeom prst="roundRect">
            <a:avLst>
              <a:gd name="adj" fmla="val 18750"/>
            </a:avLst>
          </a:prstGeom>
          <a:solidFill>
            <a:srgbClr val="FF5010"/>
          </a:solidFill>
          <a:ln/>
        </p:spPr>
      </p:sp>
      <p:sp>
        <p:nvSpPr>
          <p:cNvPr id="32" name="Text 29"/>
          <p:cNvSpPr/>
          <p:nvPr/>
        </p:nvSpPr>
        <p:spPr>
          <a:xfrm>
            <a:off x="9784080" y="43342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33" name="Text 30"/>
          <p:cNvSpPr/>
          <p:nvPr/>
        </p:nvSpPr>
        <p:spPr>
          <a:xfrm>
            <a:off x="6537960" y="48463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Flip kSimMode to Mode.REPLAY. Both cameras build fine, but neither ever publishes a reading.</a:t>
            </a:r>
            <a:endParaRPr lang="en-US" sz="2000" dirty="0"/>
          </a:p>
        </p:txBody>
      </p:sp>
      <p:sp>
        <p:nvSpPr>
          <p:cNvPr id="34" name="Text 3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PHOTONVISION</a:t>
            </a:r>
            <a:endParaRPr lang="en-US" sz="2000" dirty="0"/>
          </a:p>
        </p:txBody>
      </p:sp>
      <p:sp>
        <p:nvSpPr>
          <p:cNvPr id="35" name="Text 3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21</a:t>
            </a:r>
            <a:endParaRPr lang="en-US" sz="2000" dirty="0"/>
          </a:p>
        </p:txBody>
      </p:sp>
      <p:pic>
        <p:nvPicPr>
          <p:cNvPr id="36"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raduationc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WHAT YOU LEARNED</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The Localizer proved its reason for existing</a:t>
            </a:r>
            <a:endParaRPr lang="en-US" sz="3000" dirty="0"/>
          </a:p>
        </p:txBody>
      </p:sp>
      <p:sp>
        <p:nvSpPr>
          <p:cNvPr id="6" name="Text 3"/>
          <p:cNvSpPr/>
          <p:nvPr/>
        </p:nvSpPr>
        <p:spPr>
          <a:xfrm>
            <a:off x="640080" y="1600200"/>
            <a:ext cx="6309360" cy="42062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900" dirty="0">
                <a:solidFill>
                  <a:srgbClr val="13294B"/>
                </a:solidFill>
                <a:latin typeface="Calibri" pitchFamily="34" charset="0"/>
                <a:ea typeface="Calibri" pitchFamily="34" charset="-122"/>
                <a:cs typeface="Calibri" pitchFamily="34" charset="-120"/>
              </a:rPr>
              <a:t>A real PhotonVisionPoseProvider slots into the exact same registry Lesson 14's fake button-press provider used, with zero changes to Localizer.</a:t>
            </a:r>
            <a:endParaRPr lang="en-US" sz="1900" dirty="0"/>
          </a:p>
          <a:p>
            <a:pPr marL="342900" indent="-342900">
              <a:lnSpc>
                <a:spcPct val="115000"/>
              </a:lnSpc>
              <a:spcAft>
                <a:spcPts val="1000"/>
              </a:spcAft>
              <a:buSzPct val="100000"/>
              <a:buChar char="•"/>
            </a:pPr>
            <a:r>
              <a:rPr lang="en-US" sz="1900" dirty="0">
                <a:solidFill>
                  <a:srgbClr val="13294B"/>
                </a:solidFill>
                <a:latin typeface="Calibri" pitchFamily="34" charset="0"/>
                <a:ea typeface="Calibri" pitchFamily="34" charset="-122"/>
                <a:cs typeface="Calibri" pitchFamily="34" charset="-120"/>
              </a:rPr>
              <a:t>Optional&lt;EstimatedRobotPose&gt; gave "there might not be a pose" an honest, checkable type. Multi-tag-first-with-single-tag-fallback: more agreeing evidence beats less.</a:t>
            </a:r>
            <a:endParaRPr lang="en-US" sz="1900" dirty="0"/>
          </a:p>
          <a:p>
            <a:pPr marL="342900" indent="-342900">
              <a:lnSpc>
                <a:spcPct val="115000"/>
              </a:lnSpc>
              <a:spcAft>
                <a:spcPts val="1000"/>
              </a:spcAft>
              <a:buSzPct val="100000"/>
              <a:buChar char="•"/>
            </a:pPr>
            <a:r>
              <a:rPr lang="en-US" sz="1900" dirty="0">
                <a:solidFill>
                  <a:srgbClr val="13294B"/>
                </a:solidFill>
                <a:latin typeface="Calibri" pitchFamily="34" charset="0"/>
                <a:ea typeface="Calibri" pitchFamily="34" charset="-122"/>
                <a:cs typeface="Calibri" pitchFamily="34" charset="-120"/>
              </a:rPr>
              <a:t>A static field gave every simulated camera a way to share one VisionSystemSim — this course's first reach for static state.</a:t>
            </a:r>
            <a:endParaRPr lang="en-US" sz="1900" dirty="0"/>
          </a:p>
        </p:txBody>
      </p:sp>
      <p:sp>
        <p:nvSpPr>
          <p:cNvPr id="7" name="Shape 4"/>
          <p:cNvSpPr/>
          <p:nvPr/>
        </p:nvSpPr>
        <p:spPr>
          <a:xfrm>
            <a:off x="7269480" y="1600200"/>
            <a:ext cx="4297680" cy="4434840"/>
          </a:xfrm>
          <a:prstGeom prst="roundRect">
            <a:avLst>
              <a:gd name="adj" fmla="val 2553"/>
            </a:avLst>
          </a:prstGeom>
          <a:solidFill>
            <a:srgbClr val="0B1F3A"/>
          </a:solidFill>
          <a:ln/>
        </p:spPr>
      </p:sp>
      <p:sp>
        <p:nvSpPr>
          <p:cNvPr id="8" name="Text 5"/>
          <p:cNvSpPr/>
          <p:nvPr/>
        </p:nvSpPr>
        <p:spPr>
          <a:xfrm>
            <a:off x="7589520" y="1920240"/>
            <a:ext cx="3657600" cy="365760"/>
          </a:xfrm>
          <a:prstGeom prst="rect">
            <a:avLst/>
          </a:prstGeom>
          <a:noFill/>
          <a:ln/>
        </p:spPr>
        <p:txBody>
          <a:bodyPr wrap="square" lIns="0" tIns="0" rIns="0" bIns="0" rtlCol="0" anchor="ctr"/>
          <a:lstStyle/>
          <a:p>
            <a:pPr indent="0" marL="0">
              <a:buNone/>
            </a:pPr>
            <a:r>
              <a:rPr lang="en-US" sz="2000" b="1" spc="150" kern="0" dirty="0">
                <a:solidFill>
                  <a:srgbClr val="1B9AAA"/>
                </a:solidFill>
                <a:latin typeface="Calibri" pitchFamily="34" charset="0"/>
                <a:ea typeface="Calibri" pitchFamily="34" charset="-122"/>
                <a:cs typeface="Calibri" pitchFamily="34" charset="-120"/>
              </a:rPr>
              <a:t>NEXT</a:t>
            </a:r>
            <a:endParaRPr lang="en-US" sz="2000" dirty="0"/>
          </a:p>
        </p:txBody>
      </p:sp>
      <p:sp>
        <p:nvSpPr>
          <p:cNvPr id="9" name="Text 6"/>
          <p:cNvSpPr/>
          <p:nvPr/>
        </p:nvSpPr>
        <p:spPr>
          <a:xfrm>
            <a:off x="7589520" y="2331720"/>
            <a:ext cx="3657600" cy="50292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Lesson 16</a:t>
            </a:r>
            <a:endParaRPr lang="en-US" sz="2600" dirty="0"/>
          </a:p>
        </p:txBody>
      </p:sp>
      <p:sp>
        <p:nvSpPr>
          <p:cNvPr id="10" name="Text 7"/>
          <p:cNvSpPr/>
          <p:nvPr/>
        </p:nvSpPr>
        <p:spPr>
          <a:xfrm>
            <a:off x="7589520" y="2834640"/>
            <a:ext cx="36576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Ground Truth</a:t>
            </a:r>
            <a:endParaRPr lang="en-US" sz="2200" dirty="0"/>
          </a:p>
        </p:txBody>
      </p:sp>
      <p:sp>
        <p:nvSpPr>
          <p:cNvPr id="11" name="Text 8"/>
          <p:cNvSpPr/>
          <p:nvPr/>
        </p:nvSpPr>
        <p:spPr>
          <a:xfrm>
            <a:off x="7589520" y="3474720"/>
            <a:ext cx="3657600" cy="1554480"/>
          </a:xfrm>
          <a:prstGeom prst="rect">
            <a:avLst/>
          </a:prstGeom>
          <a:noFill/>
          <a:ln/>
        </p:spPr>
        <p:txBody>
          <a:bodyPr wrap="square" lIns="0" tIns="0" rIns="0" bIns="0" rtlCol="0" anchor="t"/>
          <a:lstStyle/>
          <a:p>
            <a:pPr indent="0" marL="0">
              <a:lnSpc>
                <a:spcPct val="130000"/>
              </a:lnSpc>
              <a:buNone/>
            </a:pPr>
            <a:r>
              <a:rPr lang="en-US" sz="2000" i="1" dirty="0">
                <a:solidFill>
                  <a:srgbClr val="CADCE8"/>
                </a:solidFill>
                <a:latin typeface="Calibri" pitchFamily="34" charset="0"/>
                <a:ea typeface="Calibri" pitchFamily="34" charset="-122"/>
                <a:cs typeface="Calibri" pitchFamily="34" charset="-120"/>
              </a:rPr>
              <a:t>Give the simulation a body — and something other than itself to check odometry against.</a:t>
            </a:r>
            <a:endParaRPr lang="en-US" sz="2000" dirty="0"/>
          </a:p>
        </p:txBody>
      </p:sp>
      <p:sp>
        <p:nvSpPr>
          <p:cNvPr id="12" name="Shape 9"/>
          <p:cNvSpPr/>
          <p:nvPr/>
        </p:nvSpPr>
        <p:spPr>
          <a:xfrm>
            <a:off x="7589520" y="5120640"/>
            <a:ext cx="502920" cy="502920"/>
          </a:xfrm>
          <a:prstGeom prst="ellipse">
            <a:avLst/>
          </a:prstGeom>
          <a:solidFill>
            <a:srgbClr val="1B9AAA"/>
          </a:solidFill>
          <a:ln/>
        </p:spPr>
      </p:sp>
      <p:pic>
        <p:nvPicPr>
          <p:cNvPr id="13" name="Image 1" descr="/home/user/BasicRobotLessons/docs/presentations/v3/template/assets/icons/arrowright_white.png">    </p:cNvPr>
          <p:cNvPicPr>
            <a:picLocks noChangeAspect="1"/>
          </p:cNvPicPr>
          <p:nvPr/>
        </p:nvPicPr>
        <p:blipFill>
          <a:blip r:embed="rId2"/>
          <a:stretch>
            <a:fillRect/>
          </a:stretch>
        </p:blipFill>
        <p:spPr>
          <a:xfrm>
            <a:off x="7708392" y="5239512"/>
            <a:ext cx="265176" cy="265176"/>
          </a:xfrm>
          <a:prstGeom prst="rect">
            <a:avLst/>
          </a:prstGeom>
        </p:spPr>
      </p:pic>
      <p:sp>
        <p:nvSpPr>
          <p:cNvPr id="14"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PHOTONVISION</a:t>
            </a:r>
            <a:endParaRPr lang="en-US" sz="2000" dirty="0"/>
          </a:p>
        </p:txBody>
      </p:sp>
      <p:sp>
        <p:nvSpPr>
          <p:cNvPr id="15"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22</a:t>
            </a:r>
            <a:endParaRPr lang="en-US" sz="2000" dirty="0"/>
          </a:p>
        </p:txBody>
      </p:sp>
      <p:pic>
        <p:nvPicPr>
          <p:cNvPr id="16" name="Image 2" descr="/home/user/BasicRobotLessons/docs/presentations/v3/template/assets/logo/team5010-logo-onwhite.png">    </p:cNvPr>
          <p:cNvPicPr>
            <a:picLocks noChangeAspect="1"/>
          </p:cNvPicPr>
          <p:nvPr/>
        </p:nvPicPr>
        <p:blipFill>
          <a:blip r:embed="rId3"/>
          <a:stretch>
            <a:fillRect/>
          </a:stretch>
        </p:blipFill>
        <p:spPr>
          <a:xfrm>
            <a:off x="10957255" y="164592"/>
            <a:ext cx="777240" cy="6058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15 — Real Vision: PhotonVision</dc:title>
  <dc:subject>PptxGenJS Presentation</dc:subject>
  <dc:creator>Learn Java + Robot Programming</dc:creator>
  <cp:lastModifiedBy>Learn Java + Robot Programming</cp:lastModifiedBy>
  <cp:revision>1</cp:revision>
  <dcterms:created xsi:type="dcterms:W3CDTF">2026-09-17T14:50:04Z</dcterms:created>
  <dcterms:modified xsi:type="dcterms:W3CDTF">2026-09-17T14:50:04Z</dcterms:modified>
</cp:coreProperties>
</file>