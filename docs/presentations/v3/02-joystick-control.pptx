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replaces Lesson 1's fixed 0.3 with a live joystick reading — the first time a command reads something that changes continuously instead of a value baked in at compile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spun the motor at a fixed 0.3 on a button press — the number never changed. This lesson replaces that constant with whatever the joystick axis reads right now, so the motor speed tracks the stick continuously instead of snapping to one value. The deadband exists because a real joystick almost never reports exactly 0.0 at rest — a tiny bit of drift or noise would otherwise make the motor creep even when the driver isn't touching the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getLeftY() returns a double — whatever the stick position was at the exact instant you called it. If you grab that value once when the command is built, it's frozen forever at that reading; the motor would run at whatever speed the stick happened to be at when the code first ran, never updating again. What a repeating command actually needs is a way to ask "what is it right now?" on every single tick — that's the problem a supplier solves, and it's the reason the next two slides build up to DoubleSupplier before touching DriveModule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lambda — the () -&gt; ... syntax — packages up a little bit of code and hands it around like any other value, the same way 3.7 or a TalonFX object is a value. Nothing inside the lambda runs when you write stickReader = () -&gt; ...; that line just stores the code for later. Calling .getAsDouble() is the moment it actually runs, and it runs fresh every time you call it — that's exactly the "ask again right now" behavior the previous slide was missing. DoubleSupplier is the specific type for "a lambda with no arguments that returns a double"; there are other Supplier types for other return types, but this is the one the joystick axis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driveWithJoystick takes a DoubleSupplier as its parameter instead of a fixed double — that's the whole trick. Every tick, runRepeatedly's lambda calls speedSupplier.getAsDouble() to get a brand-new reading, runs it through applyDeadband, and sends it to the motor. Point out that the lambda body here has multiple statements, which is why it needs curly braces — the single-expression lambda from the previous slide didn't need them. This file won't compile yet on purpose: applyDeadband doesn't exist until the next section, and that's fine — it's a normal part of building up a file piece by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private helper method — private because nothing outside DriveModule needs to call it, it exists purely to keep driveWithJoystick readable. Trace an example out loud: applyDeadband(0.03, 0.1) — Math.abs(0.03) is 0.03, which is less than 0.1, so it returns 0.0. applyDeadband(0.6, 0.1) — Math.abs(0.6) is 0.6, not less than 0.1, so it returns 0.6 unchanged. Worth mentioning that WPILib actually ships MathUtil.applyDeadband as a library method that does this exact job — writing it by hand once here is what makes reaching for the built-in one later feel like a shortcut instead of a mystery.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binding from the inside out: () -&gt; -robot.driverController.getLeftY() is a lambda — a DoubleSupplier — that reads the stick and flips its sign. That lambda gets passed into driveWithJoystick, which returns a Command, and that Command becomes the module's default. A default command is simply "what runs when nothing else is asking for this mechanism" — driving is the normal state for a drivetrain, so it makes sense as the default rather than something you'd trigger with a button. The scheduler handles the handoff automatically: schedule some other command that requires the module, and the default steps aside for as long as that command runs, then resumes the instant it finishes or is canceled — no code in driveWithJoystick itself has to know that's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needs to be scheduled by hand this time — that's the point of a default command. As soon as the robot enables in teleop, the module is already running driveWithJoystick because no other command has claimed it. Push the stick forward and the motor should spin one direction; pull back and it should reverse; let go and it should settle at exactly zero rather than drifting. If it creeps at rest, the most common cause is that driveWithJoystick isn't actually routing through applyDeadband — double check the call is really there before assuming the deadband math itself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mode is a good first extension because it reuses everything just built — one more parameter, one more multiply, one more button binding, nothing new conceptually. Squaring the input (speed * Math.abs(speed), not speed * speed) is worth pausing on: ask why Math.abs has to stay in there — squaring alone would always return a positive number and the motor would never reverse, since a negative times a negative is positive. Printing raw vs. deadbanded side by side is the most convincing demo of why the deadband exists at all — students can watch the raw number jitter near zero while the deadbanded one sits rock steady at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idea this lesson adds is that not every value a command needs is known up front — some of it has to be fetched fresh, tick after tick, and a lambda stored as a DoubleSupplier is how Java lets you pass around "go get the current value" instead of just a value. if, Math.abs, and return are ordinary building blocks, but stacked together they solve a real problem: a joystick that never quite reads zero. And a default command is the first time a mechanism does something without anybody explicitly telling it to on that tick — worth sitting with, because most of the commands still to come will interrupt this one temporarily rather than replace it for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2</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Joystick Control</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Drive the motor with a stick, not a button</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Push further, spin faster</a:t>
            </a:r>
            <a:endParaRPr lang="en-US" sz="3000" dirty="0"/>
          </a:p>
        </p:txBody>
      </p:sp>
      <p:sp>
        <p:nvSpPr>
          <p:cNvPr id="6" name="Shape 3"/>
          <p:cNvSpPr/>
          <p:nvPr/>
        </p:nvSpPr>
        <p:spPr>
          <a:xfrm>
            <a:off x="640080" y="1600200"/>
            <a:ext cx="10881360" cy="1417320"/>
          </a:xfrm>
          <a:prstGeom prst="roundRect">
            <a:avLst>
              <a:gd name="adj" fmla="val 6452"/>
            </a:avLst>
          </a:prstGeom>
          <a:solidFill>
            <a:srgbClr val="F3F6FA"/>
          </a:solidFill>
          <a:ln/>
        </p:spPr>
      </p:sp>
      <p:sp>
        <p:nvSpPr>
          <p:cNvPr id="7" name="Text 4"/>
          <p:cNvSpPr/>
          <p:nvPr/>
        </p:nvSpPr>
        <p:spPr>
          <a:xfrm>
            <a:off x="960120" y="1737360"/>
            <a:ext cx="10241280" cy="1143000"/>
          </a:xfrm>
          <a:prstGeom prst="rect">
            <a:avLst/>
          </a:prstGeom>
          <a:noFill/>
          <a:ln/>
        </p:spPr>
        <p:txBody>
          <a:bodyPr wrap="square" lIns="0" tIns="0" rIns="0" bIns="0" rtlCol="0" anchor="ctr"/>
          <a:lstStyle/>
          <a:p>
            <a:pPr indent="0" marL="0">
              <a:lnSpc>
                <a:spcPct val="120000"/>
              </a:lnSpc>
              <a:buNone/>
            </a:pPr>
            <a:r>
              <a:rPr lang="en-US" sz="2100" i="1" dirty="0">
                <a:solidFill>
                  <a:srgbClr val="13294B"/>
                </a:solidFill>
                <a:latin typeface="Cambria" pitchFamily="34" charset="0"/>
                <a:ea typeface="Cambria" pitchFamily="34" charset="-122"/>
                <a:cs typeface="Cambria" pitchFamily="34" charset="-120"/>
              </a:rPr>
              <a:t>Replace the fixed-speed button with smooth, proportional control from a joystick axis, with a deadband so the motor doesn't creep when the stick is centered.</a:t>
            </a:r>
            <a:endParaRPr lang="en-US" sz="2100" dirty="0"/>
          </a:p>
        </p:txBody>
      </p:sp>
      <p:sp>
        <p:nvSpPr>
          <p:cNvPr id="8" name="Shape 5"/>
          <p:cNvSpPr/>
          <p:nvPr/>
        </p:nvSpPr>
        <p:spPr>
          <a:xfrm>
            <a:off x="640080" y="310896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218688"/>
            <a:ext cx="237744" cy="237744"/>
          </a:xfrm>
          <a:prstGeom prst="rect">
            <a:avLst/>
          </a:prstGeom>
        </p:spPr>
      </p:pic>
      <p:sp>
        <p:nvSpPr>
          <p:cNvPr id="10" name="Text 6"/>
          <p:cNvSpPr/>
          <p:nvPr/>
        </p:nvSpPr>
        <p:spPr>
          <a:xfrm>
            <a:off x="123444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Parameters and return values, closer look</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double, and basic math</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Lambdas and suppliers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Math helper methods</a:t>
            </a:r>
            <a:endParaRPr lang="en-US" sz="2000" dirty="0"/>
          </a:p>
        </p:txBody>
      </p:sp>
      <p:sp>
        <p:nvSpPr>
          <p:cNvPr id="12" name="Shape 8"/>
          <p:cNvSpPr/>
          <p:nvPr/>
        </p:nvSpPr>
        <p:spPr>
          <a:xfrm>
            <a:off x="6309360" y="3108960"/>
            <a:ext cx="457200" cy="457200"/>
          </a:xfrm>
          <a:prstGeom prst="ellipse">
            <a:avLst/>
          </a:prstGeom>
          <a:solidFill>
            <a:srgbClr val="FF5010"/>
          </a:solidFill>
          <a:ln/>
        </p:spPr>
      </p:sp>
      <p:pic>
        <p:nvPicPr>
          <p:cNvPr id="13" name="Image 2" descr="/home/user/BasicRobotLessons/docs/presentations/v3/template/assets/icons/gamepad_white.png">    </p:cNvPr>
          <p:cNvPicPr>
            <a:picLocks noChangeAspect="1"/>
          </p:cNvPicPr>
          <p:nvPr/>
        </p:nvPicPr>
        <p:blipFill>
          <a:blip r:embed="rId3"/>
          <a:stretch>
            <a:fillRect/>
          </a:stretch>
        </p:blipFill>
        <p:spPr>
          <a:xfrm>
            <a:off x="6419088" y="3218688"/>
            <a:ext cx="237744" cy="237744"/>
          </a:xfrm>
          <a:prstGeom prst="rect">
            <a:avLst/>
          </a:prstGeom>
        </p:spPr>
      </p:pic>
      <p:sp>
        <p:nvSpPr>
          <p:cNvPr id="14" name="Text 9"/>
          <p:cNvSpPr/>
          <p:nvPr/>
        </p:nvSpPr>
        <p:spPr>
          <a:xfrm>
            <a:off x="690372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Reading a controller axis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Default commands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Deadband — cleaning up messy input</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JOYSTICK CONTROL</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A MOVING TARGET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snapshot isn't enough</a:t>
            </a:r>
            <a:endParaRPr lang="en-US" sz="3000" dirty="0"/>
          </a:p>
        </p:txBody>
      </p:sp>
      <p:sp>
        <p:nvSpPr>
          <p:cNvPr id="6" name="Shape 3"/>
          <p:cNvSpPr/>
          <p:nvPr/>
        </p:nvSpPr>
        <p:spPr>
          <a:xfrm>
            <a:off x="640080" y="1600200"/>
            <a:ext cx="10881360" cy="1234440"/>
          </a:xfrm>
          <a:prstGeom prst="roundRect">
            <a:avLst>
              <a:gd name="adj" fmla="val 888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this is just how you read one</a:t>
            </a:r>
            <a:endParaRPr lang="en-US" sz="1500" dirty="0"/>
          </a:p>
        </p:txBody>
      </p:sp>
      <p:sp>
        <p:nvSpPr>
          <p:cNvPr id="11" name="Text 8"/>
          <p:cNvSpPr/>
          <p:nvPr/>
        </p:nvSpPr>
        <p:spPr>
          <a:xfrm>
            <a:off x="914400" y="2057400"/>
            <a:ext cx="10195560" cy="576072"/>
          </a:xfrm>
          <a:prstGeom prst="rect">
            <a:avLst/>
          </a:prstGeom>
          <a:noFill/>
          <a:ln/>
        </p:spPr>
        <p:txBody>
          <a:bodyPr wrap="square" lIns="0" tIns="0" rIns="0" bIns="0" rtlCol="0" anchor="t"/>
          <a:lstStyle/>
          <a:p>
            <a:pPr indent="0" marL="0">
              <a:lnSpc>
                <a:spcPct val="120000"/>
              </a:lnSpc>
              <a:buNone/>
            </a:pPr>
            <a:r>
              <a:rPr lang="en-US" sz="2200" dirty="0">
                <a:solidFill>
                  <a:srgbClr val="9EF01A"/>
                </a:solidFill>
                <a:latin typeface="Courier New" pitchFamily="34" charset="0"/>
                <a:ea typeface="Courier New" pitchFamily="34" charset="-122"/>
                <a:cs typeface="Courier New" pitchFamily="34" charset="-120"/>
              </a:rPr>
              <a:t>double y = robot.driverController.getLeftY();</a:t>
            </a:r>
            <a:endParaRPr lang="en-US" sz="2200" dirty="0"/>
          </a:p>
        </p:txBody>
      </p:sp>
      <p:sp>
        <p:nvSpPr>
          <p:cNvPr id="12" name="Shape 9"/>
          <p:cNvSpPr/>
          <p:nvPr/>
        </p:nvSpPr>
        <p:spPr>
          <a:xfrm>
            <a:off x="640080" y="3063240"/>
            <a:ext cx="10881360" cy="3108960"/>
          </a:xfrm>
          <a:prstGeom prst="roundRect">
            <a:avLst>
              <a:gd name="adj" fmla="val 2941"/>
            </a:avLst>
          </a:prstGeom>
          <a:solidFill>
            <a:srgbClr val="F3F6FA"/>
          </a:solidFill>
          <a:ln/>
        </p:spPr>
      </p:sp>
      <p:sp>
        <p:nvSpPr>
          <p:cNvPr id="13" name="Text 10"/>
          <p:cNvSpPr/>
          <p:nvPr/>
        </p:nvSpPr>
        <p:spPr>
          <a:xfrm>
            <a:off x="914400" y="3337560"/>
            <a:ext cx="10332720" cy="92710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 double you grabbed once is frozen — where the stick was, not where it is.</a:t>
            </a:r>
            <a:endParaRPr lang="en-US" sz="2200" dirty="0"/>
          </a:p>
        </p:txBody>
      </p:sp>
      <p:sp>
        <p:nvSpPr>
          <p:cNvPr id="14" name="Text 11"/>
          <p:cNvSpPr/>
          <p:nvPr/>
        </p:nvSpPr>
        <p:spPr>
          <a:xfrm>
            <a:off x="914400" y="4264660"/>
            <a:ext cx="10332720" cy="16332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An axis reports a double from -1.0 to 1.0, centered near 0.0. But the stick changes every moment — what a command needs is something it can ask for the current value on every tick. That's what a supplier is for.</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JOYSTICK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LAMBDAS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Code, stored as data</a:t>
            </a:r>
            <a:endParaRPr lang="en-US" sz="3000" dirty="0"/>
          </a:p>
        </p:txBody>
      </p:sp>
      <p:sp>
        <p:nvSpPr>
          <p:cNvPr id="6" name="Shape 3"/>
          <p:cNvSpPr/>
          <p:nvPr/>
        </p:nvSpPr>
        <p:spPr>
          <a:xfrm>
            <a:off x="640080" y="1600200"/>
            <a:ext cx="10881360" cy="1920240"/>
          </a:xfrm>
          <a:prstGeom prst="roundRect">
            <a:avLst>
              <a:gd name="adj" fmla="val 571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just an example, not code for any file</a:t>
            </a:r>
            <a:endParaRPr lang="en-US" sz="1500" dirty="0"/>
          </a:p>
        </p:txBody>
      </p:sp>
      <p:sp>
        <p:nvSpPr>
          <p:cNvPr id="11" name="Text 8"/>
          <p:cNvSpPr/>
          <p:nvPr/>
        </p:nvSpPr>
        <p:spPr>
          <a:xfrm>
            <a:off x="914400" y="2057400"/>
            <a:ext cx="10195560" cy="1261872"/>
          </a:xfrm>
          <a:prstGeom prst="rect">
            <a:avLst/>
          </a:prstGeom>
          <a:noFill/>
          <a:ln/>
        </p:spPr>
        <p:txBody>
          <a:bodyPr wrap="square" lIns="0" tIns="0" rIns="0" bIns="0" rtlCol="0" anchor="t"/>
          <a:lstStyle/>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DoubleSupplier stickReader = () -&gt; robot.driverController.getLeftY();</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double position = stickReader.getAsDouble();  // runs the stored code now</a:t>
            </a:r>
            <a:endParaRPr lang="en-US" sz="1500" dirty="0"/>
          </a:p>
        </p:txBody>
      </p:sp>
      <p:sp>
        <p:nvSpPr>
          <p:cNvPr id="12" name="Shape 9"/>
          <p:cNvSpPr/>
          <p:nvPr/>
        </p:nvSpPr>
        <p:spPr>
          <a:xfrm>
            <a:off x="640080" y="3794760"/>
            <a:ext cx="10881360" cy="2377440"/>
          </a:xfrm>
          <a:prstGeom prst="roundRect">
            <a:avLst>
              <a:gd name="adj" fmla="val 3846"/>
            </a:avLst>
          </a:prstGeom>
          <a:solidFill>
            <a:srgbClr val="F3F6FA"/>
          </a:solidFill>
          <a:ln/>
        </p:spPr>
      </p:sp>
      <p:sp>
        <p:nvSpPr>
          <p:cNvPr id="13" name="Text 10"/>
          <p:cNvSpPr/>
          <p:nvPr/>
        </p:nvSpPr>
        <p:spPr>
          <a:xfrm>
            <a:off x="914400" y="4069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 lambda is a value, just like 3.7 or a TalonFX object.</a:t>
            </a:r>
            <a:endParaRPr lang="en-US" sz="2200" dirty="0"/>
          </a:p>
        </p:txBody>
      </p:sp>
      <p:sp>
        <p:nvSpPr>
          <p:cNvPr id="14" name="Text 11"/>
          <p:cNvSpPr/>
          <p:nvPr/>
        </p:nvSpPr>
        <p:spPr>
          <a:xfrm>
            <a:off x="914400" y="4646930"/>
            <a:ext cx="10332720" cy="125095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DoubleSupplier is the type for a lambda that takes no arguments and returns a double. Nothing runs when you assign it — calling .getAsDouble() is what runs it, fresh, every time.</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JOYSTICK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DRIVEMODULE.JAVA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command that reads the stick every tick</a:t>
            </a:r>
            <a:endParaRPr lang="en-US" sz="3000" dirty="0"/>
          </a:p>
        </p:txBody>
      </p:sp>
      <p:sp>
        <p:nvSpPr>
          <p:cNvPr id="6" name="Shape 3"/>
          <p:cNvSpPr/>
          <p:nvPr/>
        </p:nvSpPr>
        <p:spPr>
          <a:xfrm>
            <a:off x="640080" y="1600200"/>
            <a:ext cx="10881360" cy="2788920"/>
          </a:xfrm>
          <a:prstGeom prst="roundRect">
            <a:avLst>
              <a:gd name="adj" fmla="val 393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below driveAtSpeed</a:t>
            </a:r>
            <a:endParaRPr lang="en-US" sz="1500" dirty="0"/>
          </a:p>
        </p:txBody>
      </p:sp>
      <p:sp>
        <p:nvSpPr>
          <p:cNvPr id="11" name="Text 8"/>
          <p:cNvSpPr/>
          <p:nvPr/>
        </p:nvSpPr>
        <p:spPr>
          <a:xfrm>
            <a:off x="914400" y="2057400"/>
            <a:ext cx="10195560" cy="213055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Drives continuously using a live speed source (e.g. a joystick axis).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Command driveWithJoystick(DoubleSupplier speedSupplier)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runRepeatedly(() -&gt;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raw = speedSupplier.getAsDouble();   // fetch fresh value this tick</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speed = applyDeadband(raw, 0.1);     // clean it up</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m_driveMotor.setThrottle(speed);</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}).named("Drive With Joystick");</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4709160"/>
            <a:ext cx="10881360" cy="1600200"/>
          </a:xfrm>
          <a:prstGeom prst="roundRect">
            <a:avLst>
              <a:gd name="adj" fmla="val 5714"/>
            </a:avLst>
          </a:prstGeom>
          <a:solidFill>
            <a:srgbClr val="F3F6FA"/>
          </a:solidFill>
          <a:ln/>
        </p:spPr>
      </p:sp>
      <p:sp>
        <p:nvSpPr>
          <p:cNvPr id="13" name="Text 10"/>
          <p:cNvSpPr/>
          <p:nvPr/>
        </p:nvSpPr>
        <p:spPr>
          <a:xfrm>
            <a:off x="822960" y="4892040"/>
            <a:ext cx="10515600" cy="12344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runRepeatedly(...) runs its lambda once per tick, forever, until canceled — no coroutine.park() needed; the repeating loop itself keeps the command alive.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JOYSTICK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DEADBAND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resting stick should mean a resting motor</a:t>
            </a:r>
            <a:endParaRPr lang="en-US" sz="3000" dirty="0"/>
          </a:p>
        </p:txBody>
      </p:sp>
      <p:sp>
        <p:nvSpPr>
          <p:cNvPr id="6" name="Shape 3"/>
          <p:cNvSpPr/>
          <p:nvPr/>
        </p:nvSpPr>
        <p:spPr>
          <a:xfrm>
            <a:off x="640080" y="1554480"/>
            <a:ext cx="10881360" cy="2606040"/>
          </a:xfrm>
          <a:prstGeom prst="roundRect">
            <a:avLst>
              <a:gd name="adj" fmla="val 421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00784"/>
            <a:ext cx="128016" cy="128016"/>
          </a:xfrm>
          <a:prstGeom prst="ellipse">
            <a:avLst/>
          </a:prstGeom>
          <a:solidFill>
            <a:srgbClr val="FF6B6B"/>
          </a:solidFill>
          <a:ln/>
        </p:spPr>
      </p:sp>
      <p:sp>
        <p:nvSpPr>
          <p:cNvPr id="8" name="Shape 5"/>
          <p:cNvSpPr/>
          <p:nvPr/>
        </p:nvSpPr>
        <p:spPr>
          <a:xfrm>
            <a:off x="11210544" y="1901952"/>
            <a:ext cx="128016" cy="128016"/>
          </a:xfrm>
          <a:prstGeom prst="ellipse">
            <a:avLst/>
          </a:prstGeom>
          <a:solidFill>
            <a:srgbClr val="FFD166"/>
          </a:solidFill>
          <a:ln/>
        </p:spPr>
      </p:sp>
      <p:sp>
        <p:nvSpPr>
          <p:cNvPr id="9" name="Shape 6"/>
          <p:cNvSpPr/>
          <p:nvPr/>
        </p:nvSpPr>
        <p:spPr>
          <a:xfrm>
            <a:off x="11210544" y="2103120"/>
            <a:ext cx="128016" cy="128016"/>
          </a:xfrm>
          <a:prstGeom prst="ellipse">
            <a:avLst/>
          </a:prstGeom>
          <a:solidFill>
            <a:srgbClr val="2EC4B6"/>
          </a:solidFill>
          <a:ln/>
        </p:spPr>
      </p:sp>
      <p:sp>
        <p:nvSpPr>
          <p:cNvPr id="10" name="Text 7"/>
          <p:cNvSpPr/>
          <p:nvPr/>
        </p:nvSpPr>
        <p:spPr>
          <a:xfrm>
            <a:off x="914400" y="16824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below driveWithJoystick</a:t>
            </a:r>
            <a:endParaRPr lang="en-US" sz="1500" dirty="0"/>
          </a:p>
        </p:txBody>
      </p:sp>
      <p:sp>
        <p:nvSpPr>
          <p:cNvPr id="11" name="Text 8"/>
          <p:cNvSpPr/>
          <p:nvPr/>
        </p:nvSpPr>
        <p:spPr>
          <a:xfrm>
            <a:off x="914400" y="2011680"/>
            <a:ext cx="10195560" cy="194767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0 when |value| is within band, else passes value through.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private double applyDeadband(double value, double band)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if (Math.abs(value) &lt; band)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return 0.0;</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return value;</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4343400"/>
            <a:ext cx="10881360" cy="1965960"/>
          </a:xfrm>
          <a:prstGeom prst="roundRect">
            <a:avLst>
              <a:gd name="adj" fmla="val 4651"/>
            </a:avLst>
          </a:prstGeom>
          <a:solidFill>
            <a:srgbClr val="F3F6FA"/>
          </a:solidFill>
          <a:ln/>
        </p:spPr>
      </p:sp>
      <p:sp>
        <p:nvSpPr>
          <p:cNvPr id="13" name="Text 10"/>
          <p:cNvSpPr/>
          <p:nvPr/>
        </p:nvSpPr>
        <p:spPr>
          <a:xfrm>
            <a:off x="914400" y="461772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Three new pieces in six lines.</a:t>
            </a:r>
            <a:endParaRPr lang="en-US" sz="2200" dirty="0"/>
          </a:p>
        </p:txBody>
      </p:sp>
      <p:sp>
        <p:nvSpPr>
          <p:cNvPr id="14" name="Text 11"/>
          <p:cNvSpPr/>
          <p:nvPr/>
        </p:nvSpPr>
        <p:spPr>
          <a:xfrm>
            <a:off x="914400" y="5195570"/>
            <a:ext cx="10332720" cy="8394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if (condition) {...} runs only when true. Math.abs(value) drops the sign, covering both directions with one check. return hands back a value and exits.</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JOYSTICK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MYTELEOP.JAVA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What the module does when nothing else asks</a:t>
            </a:r>
            <a:endParaRPr lang="en-US" sz="3000" dirty="0"/>
          </a:p>
        </p:txBody>
      </p:sp>
      <p:sp>
        <p:nvSpPr>
          <p:cNvPr id="6" name="Shape 3"/>
          <p:cNvSpPr/>
          <p:nvPr/>
        </p:nvSpPr>
        <p:spPr>
          <a:xfrm>
            <a:off x="640080" y="1600200"/>
            <a:ext cx="10881360" cy="1874520"/>
          </a:xfrm>
          <a:prstGeom prst="roundRect">
            <a:avLst>
              <a:gd name="adj" fmla="val 585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MyTeleop's constructor</a:t>
            </a:r>
            <a:endParaRPr lang="en-US" sz="1500" dirty="0"/>
          </a:p>
        </p:txBody>
      </p:sp>
      <p:sp>
        <p:nvSpPr>
          <p:cNvPr id="11" name="Text 8"/>
          <p:cNvSpPr/>
          <p:nvPr/>
        </p:nvSpPr>
        <p:spPr>
          <a:xfrm>
            <a:off x="914400" y="2057400"/>
            <a:ext cx="10195560" cy="1216152"/>
          </a:xfrm>
          <a:prstGeom prst="rect">
            <a:avLst/>
          </a:prstGeom>
          <a:noFill/>
          <a:ln/>
        </p:spPr>
        <p:txBody>
          <a:bodyPr wrap="square" lIns="0" tIns="0" rIns="0" bIns="0" rtlCol="0" anchor="t"/>
          <a:lstStyle/>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robot.module.setDefaultCommand(</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robot.module.driveWithJoystick(() -&gt; -robot.driverController.getLeftY()));</a:t>
            </a:r>
            <a:endParaRPr lang="en-US" sz="1400" dirty="0"/>
          </a:p>
        </p:txBody>
      </p:sp>
      <p:sp>
        <p:nvSpPr>
          <p:cNvPr id="12" name="Shape 9"/>
          <p:cNvSpPr/>
          <p:nvPr/>
        </p:nvSpPr>
        <p:spPr>
          <a:xfrm>
            <a:off x="640080" y="3657600"/>
            <a:ext cx="10881360" cy="2560320"/>
          </a:xfrm>
          <a:prstGeom prst="roundRect">
            <a:avLst>
              <a:gd name="adj" fmla="val 3571"/>
            </a:avLst>
          </a:prstGeom>
          <a:solidFill>
            <a:srgbClr val="F3F6FA"/>
          </a:solidFill>
          <a:ln/>
        </p:spPr>
      </p:sp>
      <p:sp>
        <p:nvSpPr>
          <p:cNvPr id="13" name="Text 10"/>
          <p:cNvSpPr/>
          <p:nvPr/>
        </p:nvSpPr>
        <p:spPr>
          <a:xfrm>
            <a:off x="914400" y="3931920"/>
            <a:ext cx="10332720" cy="895350"/>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A default command runs automatically whenever no other command is using the mechanism.</a:t>
            </a:r>
            <a:endParaRPr lang="en-US" sz="2100" dirty="0"/>
          </a:p>
        </p:txBody>
      </p:sp>
      <p:sp>
        <p:nvSpPr>
          <p:cNvPr id="14" name="Text 11"/>
          <p:cNvSpPr/>
          <p:nvPr/>
        </p:nvSpPr>
        <p:spPr>
          <a:xfrm>
            <a:off x="914400" y="4827270"/>
            <a:ext cx="10332720" cy="11163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minus sign matters: on most sticks, pushing forward reads negative. Negating makes "push forward" mean "drive forward." When another command takes the module, the default steps aside, and resumes the instant it finishes.</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JOYSTICK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RUN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Push the stick, watch it track</a:t>
            </a:r>
            <a:endParaRPr lang="en-US" sz="3000" dirty="0"/>
          </a:p>
        </p:txBody>
      </p:sp>
      <p:sp>
        <p:nvSpPr>
          <p:cNvPr id="6" name="Shape 3"/>
          <p:cNvSpPr/>
          <p:nvPr/>
        </p:nvSpPr>
        <p:spPr>
          <a:xfrm>
            <a:off x="640080" y="1600200"/>
            <a:ext cx="10881360" cy="1965960"/>
          </a:xfrm>
          <a:prstGeom prst="roundRect">
            <a:avLst>
              <a:gd name="adj" fmla="val 5581"/>
            </a:avLst>
          </a:prstGeom>
          <a:solidFill>
            <a:srgbClr val="132A4C"/>
          </a:solidFill>
          <a:ln/>
        </p:spPr>
      </p:sp>
      <p:sp>
        <p:nvSpPr>
          <p:cNvPr id="7" name="Text 4"/>
          <p:cNvSpPr/>
          <p:nvPr/>
        </p:nvSpPr>
        <p:spPr>
          <a:xfrm>
            <a:off x="914400" y="1828800"/>
            <a:ext cx="10332720" cy="457200"/>
          </a:xfrm>
          <a:prstGeom prst="rect">
            <a:avLst/>
          </a:prstGeom>
          <a:noFill/>
          <a:ln/>
        </p:spPr>
        <p:txBody>
          <a:bodyPr wrap="square" lIns="0" tIns="0" rIns="0" bIns="0" rtlCol="0" anchor="ctr"/>
          <a:lstStyle/>
          <a:p>
            <a:pPr indent="0" marL="0">
              <a:buNone/>
            </a:pPr>
            <a:r>
              <a:rPr lang="en-US" sz="2400" b="1" dirty="0">
                <a:solidFill>
                  <a:srgbClr val="FF5010"/>
                </a:solidFill>
                <a:latin typeface="Cambria" pitchFamily="34" charset="0"/>
                <a:ea typeface="Cambria" pitchFamily="34" charset="-122"/>
                <a:cs typeface="Cambria" pitchFamily="34" charset="-120"/>
              </a:rPr>
              <a:t>./gradlew simulateJava → My Teleop → Enabled</a:t>
            </a:r>
            <a:endParaRPr lang="en-US" sz="2400" dirty="0"/>
          </a:p>
        </p:txBody>
      </p:sp>
      <p:sp>
        <p:nvSpPr>
          <p:cNvPr id="8" name="Text 5"/>
          <p:cNvSpPr/>
          <p:nvPr/>
        </p:nvSpPr>
        <p:spPr>
          <a:xfrm>
            <a:off x="914400" y="2377440"/>
            <a:ext cx="10332720" cy="1097280"/>
          </a:xfrm>
          <a:prstGeom prst="rect">
            <a:avLst/>
          </a:prstGeom>
          <a:noFill/>
          <a:ln/>
        </p:spPr>
        <p:txBody>
          <a:bodyPr wrap="square" lIns="0" tIns="0" rIns="0" bIns="0" rtlCol="0" anchor="t"/>
          <a:lstStyle/>
          <a:p>
            <a:pPr indent="0" marL="0">
              <a:lnSpc>
                <a:spcPct val="130000"/>
              </a:lnSpc>
              <a:buNone/>
            </a:pPr>
            <a:r>
              <a:rPr lang="en-US" sz="2100" dirty="0">
                <a:solidFill>
                  <a:srgbClr val="D7E3F4"/>
                </a:solidFill>
                <a:latin typeface="Calibri" pitchFamily="34" charset="0"/>
                <a:ea typeface="Calibri" pitchFamily="34" charset="-122"/>
                <a:cs typeface="Calibri" pitchFamily="34" charset="-120"/>
              </a:rPr>
              <a:t>Push the left stick (or SimGUI's joystick slider). Output should track the stick, snap to zero near center, and reverse when you pull back.</a:t>
            </a:r>
            <a:endParaRPr lang="en-US" sz="2100" dirty="0"/>
          </a:p>
        </p:txBody>
      </p:sp>
      <p:sp>
        <p:nvSpPr>
          <p:cNvPr id="9" name="Shape 6"/>
          <p:cNvSpPr/>
          <p:nvPr/>
        </p:nvSpPr>
        <p:spPr>
          <a:xfrm>
            <a:off x="640080" y="3840480"/>
            <a:ext cx="10881360" cy="1737360"/>
          </a:xfrm>
          <a:prstGeom prst="roundRect">
            <a:avLst>
              <a:gd name="adj" fmla="val 6316"/>
            </a:avLst>
          </a:prstGeom>
          <a:solidFill>
            <a:srgbClr val="132A4C"/>
          </a:solidFill>
          <a:ln/>
        </p:spPr>
      </p:sp>
      <p:sp>
        <p:nvSpPr>
          <p:cNvPr id="10" name="Text 7"/>
          <p:cNvSpPr/>
          <p:nvPr/>
        </p:nvSpPr>
        <p:spPr>
          <a:xfrm>
            <a:off x="914400" y="4023360"/>
            <a:ext cx="10332720" cy="1371600"/>
          </a:xfrm>
          <a:prstGeom prst="rect">
            <a:avLst/>
          </a:prstGeom>
          <a:noFill/>
          <a:ln/>
        </p:spPr>
        <p:txBody>
          <a:bodyPr wrap="square" lIns="0" tIns="0" rIns="0" bIns="0" rtlCol="0" anchor="t"/>
          <a:lstStyle/>
          <a:p>
            <a:pPr indent="0" marL="0">
              <a:lnSpc>
                <a:spcPct val="130000"/>
              </a:lnSpc>
              <a:buNone/>
            </a:pPr>
            <a:r>
              <a:rPr lang="en-US" sz="2100" i="1" dirty="0">
                <a:solidFill>
                  <a:srgbClr val="CADCE8"/>
                </a:solidFill>
                <a:latin typeface="Cambria" pitchFamily="34" charset="0"/>
                <a:ea typeface="Cambria" pitchFamily="34" charset="-122"/>
                <a:cs typeface="Cambria" pitchFamily="34" charset="-120"/>
              </a:rPr>
              <a:t>If it creeps at rest instead of holding zero, your deadband isn't in the path — check that driveWithJoystick really calls applyDeadband.</a:t>
            </a:r>
            <a:endParaRPr lang="en-US" sz="2100" dirty="0"/>
          </a:p>
        </p:txBody>
      </p:sp>
      <p:sp>
        <p:nvSpPr>
          <p:cNvPr id="11" name="Text 8"/>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JOYSTICK CONTROL</a:t>
            </a:r>
            <a:endParaRPr lang="en-US" sz="2000" dirty="0"/>
          </a:p>
        </p:txBody>
      </p:sp>
      <p:sp>
        <p:nvSpPr>
          <p:cNvPr id="12" name="Text 9"/>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8</a:t>
            </a:r>
            <a:endParaRPr lang="en-US" sz="2000" dirty="0"/>
          </a:p>
        </p:txBody>
      </p:sp>
      <p:pic>
        <p:nvPicPr>
          <p:cNvPr id="13"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Slow mode</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 scale parameter multiplied into the speed. Bind the right bumper to 0.25 for fine control.</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Square the input</a:t>
            </a:r>
            <a:endParaRPr lang="en-US" sz="2000" dirty="0"/>
          </a:p>
        </p:txBody>
      </p:sp>
      <p:sp>
        <p:nvSpPr>
          <p:cNvPr id="17" name="Shape 14"/>
          <p:cNvSpPr/>
          <p:nvPr/>
        </p:nvSpPr>
        <p:spPr>
          <a:xfrm>
            <a:off x="9784080" y="1773936"/>
            <a:ext cx="1417320" cy="292608"/>
          </a:xfrm>
          <a:prstGeom prst="roundRect">
            <a:avLst>
              <a:gd name="adj" fmla="val 18750"/>
            </a:avLst>
          </a:prstGeom>
          <a:solidFill>
            <a:srgbClr val="FF5010"/>
          </a:solidFill>
          <a:ln/>
        </p:spPr>
      </p:sp>
      <p:sp>
        <p:nvSpPr>
          <p:cNvPr id="18" name="Text 15"/>
          <p:cNvSpPr/>
          <p:nvPr/>
        </p:nvSpPr>
        <p:spPr>
          <a:xfrm>
            <a:off x="978408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speed * Math.abs(speed) for finer low-speed control. Why keep Math.abs? What breaks without it?</a:t>
            </a:r>
            <a:endParaRPr lang="en-US" sz="2000" dirty="0"/>
          </a:p>
        </p:txBody>
      </p:sp>
      <p:sp>
        <p:nvSpPr>
          <p:cNvPr id="20" name="Shape 17"/>
          <p:cNvSpPr/>
          <p:nvPr/>
        </p:nvSpPr>
        <p:spPr>
          <a:xfrm>
            <a:off x="640080" y="4023360"/>
            <a:ext cx="5303520" cy="2286000"/>
          </a:xfrm>
          <a:prstGeom prst="roundRect">
            <a:avLst>
              <a:gd name="adj" fmla="val 4800"/>
            </a:avLst>
          </a:prstGeom>
          <a:solidFill>
            <a:srgbClr val="132A4C"/>
          </a:solidFill>
          <a:ln/>
        </p:spPr>
      </p:sp>
      <p:sp>
        <p:nvSpPr>
          <p:cNvPr id="21" name="Shape 18"/>
          <p:cNvSpPr/>
          <p:nvPr/>
        </p:nvSpPr>
        <p:spPr>
          <a:xfrm>
            <a:off x="960120" y="4251960"/>
            <a:ext cx="457200" cy="457200"/>
          </a:xfrm>
          <a:prstGeom prst="ellipse">
            <a:avLst/>
          </a:prstGeom>
          <a:solidFill>
            <a:srgbClr val="1B9AAA"/>
          </a:solidFill>
          <a:ln/>
        </p:spPr>
      </p:sp>
      <p:sp>
        <p:nvSpPr>
          <p:cNvPr id="22" name="Text 19"/>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Print raw vs. deadbanded</a:t>
            </a:r>
            <a:endParaRPr lang="en-US" sz="2000" dirty="0"/>
          </a:p>
        </p:txBody>
      </p:sp>
      <p:sp>
        <p:nvSpPr>
          <p:cNvPr id="24" name="Shape 21"/>
          <p:cNvSpPr/>
          <p:nvPr/>
        </p:nvSpPr>
        <p:spPr>
          <a:xfrm>
            <a:off x="4206240" y="4334256"/>
            <a:ext cx="1417320" cy="292608"/>
          </a:xfrm>
          <a:prstGeom prst="roundRect">
            <a:avLst>
              <a:gd name="adj" fmla="val 18750"/>
            </a:avLst>
          </a:prstGeom>
          <a:solidFill>
            <a:srgbClr val="FF5010"/>
          </a:solidFill>
          <a:ln/>
        </p:spPr>
      </p:sp>
      <p:sp>
        <p:nvSpPr>
          <p:cNvPr id="25" name="Text 22"/>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System.out.println both, and watch how much the raw value jitters at rest.</a:t>
            </a:r>
            <a:endParaRPr lang="en-US" sz="2000" dirty="0"/>
          </a:p>
        </p:txBody>
      </p:sp>
      <p:sp>
        <p:nvSpPr>
          <p:cNvPr id="27" name="Text 2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JOYSTICK CONTROL</a:t>
            </a:r>
            <a:endParaRPr lang="en-US" sz="2000" dirty="0"/>
          </a:p>
        </p:txBody>
      </p:sp>
      <p:sp>
        <p:nvSpPr>
          <p:cNvPr id="28" name="Text 2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9</a:t>
            </a:r>
            <a:endParaRPr lang="en-US" sz="2000" dirty="0"/>
          </a:p>
        </p:txBody>
      </p:sp>
      <p:pic>
        <p:nvPicPr>
          <p:cNvPr id="29"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Live data needs code, not just a number</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2000" dirty="0">
                <a:solidFill>
                  <a:srgbClr val="13294B"/>
                </a:solidFill>
                <a:latin typeface="Calibri" pitchFamily="34" charset="0"/>
                <a:ea typeface="Calibri" pitchFamily="34" charset="-122"/>
                <a:cs typeface="Calibri" pitchFamily="34" charset="-120"/>
              </a:rPr>
              <a:t>A lambda is code stored as data — a DoubleSupplier a command re-asks every tick.</a:t>
            </a:r>
            <a:endParaRPr lang="en-US" sz="2000" dirty="0"/>
          </a:p>
          <a:p>
            <a:pPr marL="342900" indent="-342900">
              <a:lnSpc>
                <a:spcPct val="120000"/>
              </a:lnSpc>
              <a:spcAft>
                <a:spcPts val="1200"/>
              </a:spcAft>
              <a:buSzPct val="100000"/>
              <a:buChar char="•"/>
            </a:pPr>
            <a:r>
              <a:rPr lang="en-US" sz="2000" dirty="0">
                <a:solidFill>
                  <a:srgbClr val="13294B"/>
                </a:solidFill>
                <a:latin typeface="Calibri" pitchFamily="34" charset="0"/>
                <a:ea typeface="Calibri" pitchFamily="34" charset="-122"/>
                <a:cs typeface="Calibri" pitchFamily="34" charset="-120"/>
              </a:rPr>
              <a:t>if, Math.abs, and return combine into a deadband: a resting stick means a resting motor.</a:t>
            </a:r>
            <a:endParaRPr lang="en-US" sz="2000" dirty="0"/>
          </a:p>
          <a:p>
            <a:pPr marL="342900" indent="-342900">
              <a:lnSpc>
                <a:spcPct val="120000"/>
              </a:lnSpc>
              <a:spcAft>
                <a:spcPts val="1200"/>
              </a:spcAft>
              <a:buSzPct val="100000"/>
              <a:buChar char="•"/>
            </a:pPr>
            <a:r>
              <a:rPr lang="en-US" sz="2000" dirty="0">
                <a:solidFill>
                  <a:srgbClr val="13294B"/>
                </a:solidFill>
                <a:latin typeface="Calibri" pitchFamily="34" charset="0"/>
                <a:ea typeface="Calibri" pitchFamily="34" charset="-122"/>
                <a:cs typeface="Calibri" pitchFamily="34" charset="-120"/>
              </a:rPr>
              <a:t>A default command is what a mechanism does when nothing else claims it — the scheduler hands control back on its own.</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3</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Telemetry</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Make the robot's numbers visible, because plots beat print statements.</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JOYSTICK CONTROL</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 — Joystick Control</dc:title>
  <dc:subject>PptxGenJS Presentation</dc:subject>
  <dc:creator>Learn Java + Robot Programming</dc:creator>
  <cp:lastModifiedBy>Learn Java + Robot Programming</cp:lastModifiedBy>
  <cp:revision>1</cp:revision>
  <dcterms:created xsi:type="dcterms:W3CDTF">2026-09-23T22:31:43Z</dcterms:created>
  <dcterms:modified xsi:type="dcterms:W3CDTF">2026-09-23T22:31:43Z</dcterms:modified>
</cp:coreProperties>
</file>