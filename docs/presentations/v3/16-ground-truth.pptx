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pose this course has drawn has been odometry's own estimate, checked against nothing but itself. Today the simulation gets a real chassis body — mass-equivalent grip, a real acceleration limit, a heading tracked once instead of trusted from four separate encoders — and for the first time there's a second, independent truth to compare the estimate against.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new Java syntax this lesson — the new ideas are all about the robot, not the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15's Try It asked you to give the simulated camera a shaky hand, and the estimate drifted off with nothing to pull it back, because there was no independent truth for vision to be right about. Today that changes: one shared chassis gets a body, and for the first time the number your odometry reports is no longer the only version of events. The best part is what doesn't change: SwerveModule, ModuleIOTalonFX, ModuleIOSim, Localizer, every command, every log key from Lessons 13-15 stay untouched — this all happens in one new class and two small edits, the IO layer from Lesson 13 doing exactly the job it was built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Worth sitting with because the answer is smaller than it looks — mass cancels, provided the heavier robot has proportionally more grip to move that weight.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kMaxAngularAccelRadPerSec2 reuses the same idea sideways: a wheel turning the chassis in place traces a circle of radius Math.hypot(kHalfLength, kHalfWidth) — the corner-to-center distance you've had since Lesson 7 — bound by the same μg limit. Add import org.wpilib.math.geometry.Pose2d and import org.wpilib.math.geometry.Rotation2d to Constants.java — the first time this file has needed either.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fields, and notice what's not here: no per-wheel state at all. This class doesn't know or care how the chassis is being driven — only what velocity it's chasing and where that velocity has carried it. Ground truth — the Drivetrain's own estimate is still built from wheel encoders alone, and the two disagree exactly when the wheels slip, the way they would on a real robot.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MathUtil.slewRateLimit(current, target, maxRate, dt) moves current toward target, never faster than maxRate per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omega has no vector to join, so it gets a small helper of its own — the scalar sibling of slewRateLimit, written by hand because the library only ships the vector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that as the scalar sibling of slewRateLimit — same idea, one number instead of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You're not approximating anything here — this is exact pose integration, curved turns included.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ChassisSimulation needs exactly one home: shared by every module (they're all bolted to the same frame), null on a real robot and in replay — the same shape Lesson 13's ModuleIO/GyroIO switch expressions already taught you to reach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Move it how much? Not as much as you asked the wheels to — as much as the wheels actually turned. A robot can't outrun its own wheels. What it can do is fall short of them: ask the tires for more than they can grip and the wheels spin faster than the chassis moves. That's slip, and it's exactly the gap the grip limit in ChassisSimulation creates. Watching the wheels is a job for every tick, whether a command is running or not — the same kind of job periodic() does — so it gets a periodic callback of its own. toChassisVelocities runs kinematics backward: four wheel velocities in, the one chassis velocity they add up to out — the reverse of the toSwerveModuleVelocities call applyChassisSpeeds has made since Lesson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small deletions retire the fake gyro's bookkeeping, and one getter exposes the truth so the rest of the file — and Lesson 15's cameras — can reach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8 gave you a fake gyro that integrated the rotation rate you commanded — add omega × dt every tick and call it a heading. It was a reasonable lie with a tell: a robot commanded to spin always spun exactly as asked, with no acceleration limit slowing it down. The chassis sim you just built already tracks heading properly, grip limit and all — the gyro should just read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deletion has a tail, and it's the good kind: nothing anywhere calls setSimRotationRate anymore, so the method itself is dead.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Field declaration order isn't cosmetic — it's the sequence Java actually runs the initializers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pose this course has drawn has been an estimate. That's no longer true — the chassis sim tracks where the chassis actually is, independent of what any wheel reports, and it's been running since section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wheel motors respond to a velocity command quickly (Lesson 12's firmware loop doing its job); the chassis is limited by the same grip you just gave it a number for. When you ask for more than the tires could really deliver, the wheels report motion that never fully became chassis motion, odometry counts every rotation as if it had, and the estimate creeps ahead of the truth — precisely the argument Lesson 14 opened with, except this time you're watching it happen instead of taking its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15 admitted a compromise: VisionIOLimelightSim looked out from localizer::getPose — the very estimate vision was supposed to correct — because no independent truth existed yet. One does now, and the fix is a one-line swap.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one-time correction, guarded by SIM, so a real robot's boot-time pose is left exactly as it was.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first time, a truth to compare against instead of a guess checking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Item 1 is a real code edit — and a cleanup, if an earlier Try It left a fake wheel-slip multiplier behind. Item 2 is an observe-and-compare exercise — no code changes, just watching the gyro visibly lag the instant command, something Lesson 8's fake gyro could never have shown you because it had no concept of "too fast to actually achieve."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Item 3 is a real code edit, and the payoff of the whole lesson: until now vision could only pull the estimate toward the estimate itself. With the camera rendering from ground truth, a deliberately wrong estimate gets pulled back toward where the robot actually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Lesson 15's admitted compromise is gone. Vision checks its simulated eyesight against where the chassis actually is now, not against its own guess — the same one-line supplier swap you'd make to point a real camera at a real robot's real position, because that's what a real camera was doing all along.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1.xml"/><Relationship Id="rId5"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pic>
        <p:nvPicPr>
          <p:cNvPr id="2" name="Image 0" descr="/home/user/BasicRobotLessons/docs/presentations/v3/template/assets/logo/team5010-logo-onnavy.png">    </p:cNvPr>
          <p:cNvPicPr>
            <a:picLocks noChangeAspect="1"/>
          </p:cNvPicPr>
          <p:nvPr/>
        </p:nvPicPr>
        <p:blipFill>
          <a:blip r:embed="rId1"/>
          <a:stretch>
            <a:fillRect/>
          </a:stretch>
        </p:blipFill>
        <p:spPr>
          <a:xfrm>
            <a:off x="8351215" y="3834811"/>
            <a:ext cx="3291840" cy="2565989"/>
          </a:xfrm>
          <a:prstGeom prst="rect">
            <a:avLst/>
          </a:prstGeom>
        </p:spPr>
      </p:pic>
      <p:sp>
        <p:nvSpPr>
          <p:cNvPr id="3" name="Text 0"/>
          <p:cNvSpPr/>
          <p:nvPr/>
        </p:nvSpPr>
        <p:spPr>
          <a:xfrm>
            <a:off x="822960" y="1371600"/>
            <a:ext cx="9144000" cy="365760"/>
          </a:xfrm>
          <a:prstGeom prst="rect">
            <a:avLst/>
          </a:prstGeom>
          <a:noFill/>
          <a:ln/>
        </p:spPr>
        <p:txBody>
          <a:bodyPr wrap="square" lIns="0" tIns="0" rIns="0" bIns="0" rtlCol="0" anchor="ctr"/>
          <a:lstStyle/>
          <a:p>
            <a:pPr indent="0" marL="0">
              <a:buNone/>
            </a:pPr>
            <a:r>
              <a:rPr lang="en-US" sz="2000" b="1" spc="300" kern="0" dirty="0">
                <a:solidFill>
                  <a:srgbClr val="1B9AAA"/>
                </a:solidFill>
                <a:latin typeface="Calibri" pitchFamily="34" charset="0"/>
                <a:ea typeface="Calibri" pitchFamily="34" charset="-122"/>
                <a:cs typeface="Calibri" pitchFamily="34" charset="-120"/>
              </a:rPr>
              <a:t>LEARN JAVA + ROBOT PROGRAMMING</a:t>
            </a:r>
            <a:endParaRPr lang="en-US" sz="2000" dirty="0"/>
          </a:p>
        </p:txBody>
      </p:sp>
      <p:sp>
        <p:nvSpPr>
          <p:cNvPr id="4" name="Text 1"/>
          <p:cNvSpPr/>
          <p:nvPr/>
        </p:nvSpPr>
        <p:spPr>
          <a:xfrm>
            <a:off x="777240" y="1874520"/>
            <a:ext cx="7315200" cy="502920"/>
          </a:xfrm>
          <a:prstGeom prst="rect">
            <a:avLst/>
          </a:prstGeom>
          <a:noFill/>
          <a:ln/>
        </p:spPr>
        <p:txBody>
          <a:bodyPr wrap="square" lIns="0" tIns="0" rIns="0" bIns="0" rtlCol="0" anchor="ctr"/>
          <a:lstStyle/>
          <a:p>
            <a:pPr indent="0" marL="0">
              <a:buNone/>
            </a:pPr>
            <a:r>
              <a:rPr lang="en-US" sz="2200" b="1" spc="200" kern="0" dirty="0">
                <a:solidFill>
                  <a:srgbClr val="FF5010"/>
                </a:solidFill>
                <a:latin typeface="Calibri" pitchFamily="34" charset="0"/>
                <a:ea typeface="Calibri" pitchFamily="34" charset="-122"/>
                <a:cs typeface="Calibri" pitchFamily="34" charset="-120"/>
              </a:rPr>
              <a:t>LESSON 16</a:t>
            </a:r>
            <a:endParaRPr lang="en-US" sz="2200" dirty="0"/>
          </a:p>
        </p:txBody>
      </p:sp>
      <p:sp>
        <p:nvSpPr>
          <p:cNvPr id="5" name="Text 2"/>
          <p:cNvSpPr/>
          <p:nvPr/>
        </p:nvSpPr>
        <p:spPr>
          <a:xfrm>
            <a:off x="731520" y="2331720"/>
            <a:ext cx="10515600" cy="137160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Ground Truth</a:t>
            </a:r>
            <a:endParaRPr lang="en-US" sz="6000" dirty="0"/>
          </a:p>
        </p:txBody>
      </p:sp>
      <p:sp>
        <p:nvSpPr>
          <p:cNvPr id="6" name="Text 3"/>
          <p:cNvSpPr/>
          <p:nvPr/>
        </p:nvSpPr>
        <p:spPr>
          <a:xfrm>
            <a:off x="777240" y="3611880"/>
            <a:ext cx="8686800" cy="640080"/>
          </a:xfrm>
          <a:prstGeom prst="rect">
            <a:avLst/>
          </a:prstGeom>
          <a:noFill/>
          <a:ln/>
        </p:spPr>
        <p:txBody>
          <a:bodyPr wrap="square" lIns="0" tIns="0" rIns="0" bIns="0" rtlCol="0" anchor="ctr"/>
          <a:lstStyle/>
          <a:p>
            <a:pPr indent="0" marL="0">
              <a:buNone/>
            </a:pPr>
            <a:r>
              <a:rPr lang="en-US" sz="2600" i="1" dirty="0">
                <a:solidFill>
                  <a:srgbClr val="CADCE8"/>
                </a:solidFill>
                <a:latin typeface="Cambria" pitchFamily="34" charset="0"/>
                <a:ea typeface="Cambria" pitchFamily="34" charset="-122"/>
                <a:cs typeface="Cambria" pitchFamily="34" charset="-120"/>
              </a:rPr>
              <a:t>Give the simulation a body, and a second truth to check</a:t>
            </a:r>
            <a:endParaRPr lang="en-US" sz="2600" dirty="0"/>
          </a:p>
        </p:txBody>
      </p:sp>
      <p:sp>
        <p:nvSpPr>
          <p:cNvPr id="7" name="Text 4"/>
          <p:cNvSpPr/>
          <p:nvPr/>
        </p:nvSpPr>
        <p:spPr>
          <a:xfrm>
            <a:off x="777240" y="6126480"/>
            <a:ext cx="9144000" cy="365760"/>
          </a:xfrm>
          <a:prstGeom prst="rect">
            <a:avLst/>
          </a:prstGeom>
          <a:noFill/>
          <a:ln/>
        </p:spPr>
        <p:txBody>
          <a:bodyPr wrap="square" lIns="0" tIns="0" rIns="0" bIns="0" rtlCol="0" anchor="ctr"/>
          <a:lstStyle/>
          <a:p>
            <a:pPr indent="0" marL="0">
              <a:buNone/>
            </a:pPr>
            <a:r>
              <a:rPr lang="en-US" sz="2000" spc="100" kern="0" dirty="0">
                <a:solidFill>
                  <a:srgbClr val="89A0BE"/>
                </a:solidFill>
                <a:latin typeface="Calibri" pitchFamily="34" charset="0"/>
                <a:ea typeface="Calibri" pitchFamily="34" charset="-122"/>
                <a:cs typeface="Calibri" pitchFamily="34" charset="-120"/>
              </a:rPr>
              <a:t>WPILib 2027 Alpha  ·  Commands V3</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cube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THE GOAL</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One shared chassis, instead of four lonely motors</a:t>
            </a:r>
            <a:endParaRPr lang="en-US" sz="3000" dirty="0"/>
          </a:p>
        </p:txBody>
      </p:sp>
      <p:sp>
        <p:nvSpPr>
          <p:cNvPr id="6" name="Shape 3"/>
          <p:cNvSpPr/>
          <p:nvPr/>
        </p:nvSpPr>
        <p:spPr>
          <a:xfrm>
            <a:off x="640080" y="1554480"/>
            <a:ext cx="10881360" cy="1600200"/>
          </a:xfrm>
          <a:prstGeom prst="roundRect">
            <a:avLst>
              <a:gd name="adj" fmla="val 5714"/>
            </a:avLst>
          </a:prstGeom>
          <a:solidFill>
            <a:srgbClr val="F3F6FA"/>
          </a:solidFill>
          <a:ln/>
        </p:spPr>
      </p:sp>
      <p:sp>
        <p:nvSpPr>
          <p:cNvPr id="7" name="Text 4"/>
          <p:cNvSpPr/>
          <p:nvPr/>
        </p:nvSpPr>
        <p:spPr>
          <a:xfrm>
            <a:off x="960120" y="1673352"/>
            <a:ext cx="10241280" cy="1371600"/>
          </a:xfrm>
          <a:prstGeom prst="rect">
            <a:avLst/>
          </a:prstGeom>
          <a:noFill/>
          <a:ln/>
        </p:spPr>
        <p:txBody>
          <a:bodyPr wrap="square" lIns="0" tIns="0" rIns="0" bIns="0" rtlCol="0" anchor="ctr"/>
          <a:lstStyle/>
          <a:p>
            <a:pPr indent="0" marL="0">
              <a:lnSpc>
                <a:spcPct val="120000"/>
              </a:lnSpc>
              <a:buNone/>
            </a:pPr>
            <a:r>
              <a:rPr lang="en-US" sz="1800" i="1" dirty="0">
                <a:solidFill>
                  <a:srgbClr val="13294B"/>
                </a:solidFill>
                <a:latin typeface="Cambria" pitchFamily="34" charset="0"/>
                <a:ea typeface="Cambria" pitchFamily="34" charset="-122"/>
                <a:cs typeface="Cambria" pitchFamily="34" charset="-120"/>
              </a:rPr>
              <a:t>Replace four drive motors that don't know about each other with one shared chassis body that follows its wheels only as hard as its tires can grip — and use it to check odometry against something other than itself for the first time.</a:t>
            </a:r>
            <a:endParaRPr lang="en-US" sz="1800" dirty="0"/>
          </a:p>
        </p:txBody>
      </p:sp>
      <p:sp>
        <p:nvSpPr>
          <p:cNvPr id="8" name="Shape 5"/>
          <p:cNvSpPr/>
          <p:nvPr/>
        </p:nvSpPr>
        <p:spPr>
          <a:xfrm>
            <a:off x="640080" y="3291840"/>
            <a:ext cx="457200" cy="457200"/>
          </a:xfrm>
          <a:prstGeom prst="ellipse">
            <a:avLst/>
          </a:prstGeom>
          <a:solidFill>
            <a:srgbClr val="1B9AAA"/>
          </a:solidFill>
          <a:ln/>
        </p:spPr>
      </p:sp>
      <p:pic>
        <p:nvPicPr>
          <p:cNvPr id="9" name="Image 1" descr="/home/user/BasicRobotLessons/docs/presentations/v3/template/assets/icons/code_white.png">    </p:cNvPr>
          <p:cNvPicPr>
            <a:picLocks noChangeAspect="1"/>
          </p:cNvPicPr>
          <p:nvPr/>
        </p:nvPicPr>
        <p:blipFill>
          <a:blip r:embed="rId2"/>
          <a:stretch>
            <a:fillRect/>
          </a:stretch>
        </p:blipFill>
        <p:spPr>
          <a:xfrm>
            <a:off x="749808" y="3401568"/>
            <a:ext cx="237744" cy="237744"/>
          </a:xfrm>
          <a:prstGeom prst="rect">
            <a:avLst/>
          </a:prstGeom>
        </p:spPr>
      </p:pic>
      <p:sp>
        <p:nvSpPr>
          <p:cNvPr id="10" name="Text 6"/>
          <p:cNvSpPr/>
          <p:nvPr/>
        </p:nvSpPr>
        <p:spPr>
          <a:xfrm>
            <a:off x="1234440" y="3319272"/>
            <a:ext cx="4572000" cy="365760"/>
          </a:xfrm>
          <a:prstGeom prst="rect">
            <a:avLst/>
          </a:prstGeom>
          <a:noFill/>
          <a:ln/>
        </p:spPr>
        <p:txBody>
          <a:bodyPr wrap="square" lIns="0" tIns="0" rIns="0" bIns="0" rtlCol="0" anchor="ctr"/>
          <a:lstStyle/>
          <a:p>
            <a:pPr indent="0" marL="0">
              <a:buNone/>
            </a:pPr>
            <a:r>
              <a:rPr lang="en-US" sz="2000" b="1" spc="50" kern="0" dirty="0">
                <a:solidFill>
                  <a:srgbClr val="13294B"/>
                </a:solidFill>
                <a:latin typeface="Calibri" pitchFamily="34" charset="0"/>
                <a:ea typeface="Calibri" pitchFamily="34" charset="-122"/>
                <a:cs typeface="Calibri" pitchFamily="34" charset="-120"/>
              </a:rPr>
              <a:t>NEW JAVA CONCEPTS</a:t>
            </a:r>
            <a:endParaRPr lang="en-US" sz="2000" dirty="0"/>
          </a:p>
        </p:txBody>
      </p:sp>
      <p:sp>
        <p:nvSpPr>
          <p:cNvPr id="11" name="Text 7"/>
          <p:cNvSpPr/>
          <p:nvPr/>
        </p:nvSpPr>
        <p:spPr>
          <a:xfrm>
            <a:off x="685800" y="3858768"/>
            <a:ext cx="5257800" cy="2651760"/>
          </a:xfrm>
          <a:prstGeom prst="rect">
            <a:avLst/>
          </a:prstGeom>
          <a:noFill/>
          <a:ln/>
        </p:spPr>
        <p:txBody>
          <a:bodyPr wrap="square" lIns="0" tIns="0" rIns="0" bIns="0" rtlCol="0" anchor="t"/>
          <a:lstStyle/>
          <a:p>
            <a:pPr indent="0" marL="0">
              <a:lnSpc>
                <a:spcPct val="125000"/>
              </a:lnSpc>
              <a:buNone/>
            </a:pPr>
            <a:r>
              <a:rPr lang="en-US" sz="1800" i="1" dirty="0">
                <a:solidFill>
                  <a:srgbClr val="5B6B84"/>
                </a:solidFill>
                <a:latin typeface="Calibri" pitchFamily="34" charset="0"/>
                <a:ea typeface="Calibri" pitchFamily="34" charset="-122"/>
                <a:cs typeface="Calibri" pitchFamily="34" charset="-120"/>
              </a:rPr>
              <a:t>None this lesson. Every tool below — private helper methods, a shared static field, if/else if/else — is one you already have. The new ideas are all about the robot, not the language.</a:t>
            </a:r>
            <a:endParaRPr lang="en-US" sz="1800" dirty="0"/>
          </a:p>
        </p:txBody>
      </p:sp>
      <p:sp>
        <p:nvSpPr>
          <p:cNvPr id="12" name="Shape 8"/>
          <p:cNvSpPr/>
          <p:nvPr/>
        </p:nvSpPr>
        <p:spPr>
          <a:xfrm>
            <a:off x="6309360" y="3291840"/>
            <a:ext cx="457200" cy="457200"/>
          </a:xfrm>
          <a:prstGeom prst="ellipse">
            <a:avLst/>
          </a:prstGeom>
          <a:solidFill>
            <a:srgbClr val="FF5010"/>
          </a:solidFill>
          <a:ln/>
        </p:spPr>
      </p:sp>
      <p:pic>
        <p:nvPicPr>
          <p:cNvPr id="13" name="Image 2" descr="/home/user/BasicRobotLessons/docs/presentations/v3/template/assets/icons/weight_white.png">    </p:cNvPr>
          <p:cNvPicPr>
            <a:picLocks noChangeAspect="1"/>
          </p:cNvPicPr>
          <p:nvPr/>
        </p:nvPicPr>
        <p:blipFill>
          <a:blip r:embed="rId3"/>
          <a:stretch>
            <a:fillRect/>
          </a:stretch>
        </p:blipFill>
        <p:spPr>
          <a:xfrm>
            <a:off x="6419088" y="3401568"/>
            <a:ext cx="237744" cy="237744"/>
          </a:xfrm>
          <a:prstGeom prst="rect">
            <a:avLst/>
          </a:prstGeom>
        </p:spPr>
      </p:pic>
      <p:sp>
        <p:nvSpPr>
          <p:cNvPr id="14" name="Text 9"/>
          <p:cNvSpPr/>
          <p:nvPr/>
        </p:nvSpPr>
        <p:spPr>
          <a:xfrm>
            <a:off x="6903720" y="3319272"/>
            <a:ext cx="4572000" cy="365760"/>
          </a:xfrm>
          <a:prstGeom prst="rect">
            <a:avLst/>
          </a:prstGeom>
          <a:noFill/>
          <a:ln/>
        </p:spPr>
        <p:txBody>
          <a:bodyPr wrap="square" lIns="0" tIns="0" rIns="0" bIns="0" rtlCol="0" anchor="ctr"/>
          <a:lstStyle/>
          <a:p>
            <a:pPr indent="0" marL="0">
              <a:buNone/>
            </a:pPr>
            <a:r>
              <a:rPr lang="en-US" sz="2000" b="1" spc="50" kern="0" dirty="0">
                <a:solidFill>
                  <a:srgbClr val="13294B"/>
                </a:solidFill>
                <a:latin typeface="Calibri" pitchFamily="34" charset="0"/>
                <a:ea typeface="Calibri" pitchFamily="34" charset="-122"/>
                <a:cs typeface="Calibri" pitchFamily="34" charset="-120"/>
              </a:rPr>
              <a:t>NEW ROBOT CONCEPTS</a:t>
            </a:r>
            <a:endParaRPr lang="en-US" sz="2000" dirty="0"/>
          </a:p>
        </p:txBody>
      </p:sp>
      <p:sp>
        <p:nvSpPr>
          <p:cNvPr id="15" name="Text 10"/>
          <p:cNvSpPr/>
          <p:nvPr/>
        </p:nvSpPr>
        <p:spPr>
          <a:xfrm>
            <a:off x="6355080" y="3858768"/>
            <a:ext cx="5257800" cy="2651760"/>
          </a:xfrm>
          <a:prstGeom prst="rect">
            <a:avLst/>
          </a:prstGeom>
          <a:noFill/>
          <a:ln/>
        </p:spPr>
        <p:txBody>
          <a:bodyPr wrap="square" lIns="0" tIns="0" rIns="0" bIns="0" rtlCol="0" anchor="t"/>
          <a:lstStyle/>
          <a:p>
            <a:pPr marL="342900" indent="-342900">
              <a:lnSpc>
                <a:spcPct val="110000"/>
              </a:lnSpc>
              <a:spcAft>
                <a:spcPts val="600"/>
              </a:spcAft>
              <a:buSzPct val="100000"/>
              <a:buChar char="•"/>
            </a:pPr>
            <a:r>
              <a:rPr lang="en-US" sz="1900" dirty="0">
                <a:solidFill>
                  <a:srgbClr val="13294B"/>
                </a:solidFill>
                <a:latin typeface="Calibri" pitchFamily="34" charset="0"/>
                <a:ea typeface="Calibri" pitchFamily="34" charset="-122"/>
                <a:cs typeface="Calibri" pitchFamily="34" charset="-120"/>
              </a:rPr>
              <a:t>Ground truth — a second, independent "where"</a:t>
            </a:r>
            <a:endParaRPr lang="en-US" sz="1900" dirty="0"/>
          </a:p>
          <a:p>
            <a:pPr marL="342900" indent="-342900">
              <a:lnSpc>
                <a:spcPct val="110000"/>
              </a:lnSpc>
              <a:spcAft>
                <a:spcPts val="600"/>
              </a:spcAft>
              <a:buSzPct val="100000"/>
              <a:buChar char="•"/>
            </a:pPr>
            <a:r>
              <a:rPr lang="en-US" sz="1900" dirty="0">
                <a:solidFill>
                  <a:srgbClr val="13294B"/>
                </a:solidFill>
                <a:latin typeface="Calibri" pitchFamily="34" charset="0"/>
                <a:ea typeface="Calibri" pitchFamily="34" charset="-122"/>
                <a:cs typeface="Calibri" pitchFamily="34" charset="-120"/>
              </a:rPr>
              <a:t>Friction-limited acceleration: a = μg</a:t>
            </a:r>
            <a:endParaRPr lang="en-US" sz="1900" dirty="0"/>
          </a:p>
          <a:p>
            <a:pPr marL="342900" indent="-342900">
              <a:lnSpc>
                <a:spcPct val="110000"/>
              </a:lnSpc>
              <a:spcAft>
                <a:spcPts val="600"/>
              </a:spcAft>
              <a:buSzPct val="100000"/>
              <a:buChar char="•"/>
            </a:pPr>
            <a:r>
              <a:rPr lang="en-US" sz="1900" dirty="0">
                <a:solidFill>
                  <a:srgbClr val="13294B"/>
                </a:solidFill>
                <a:latin typeface="Calibri" pitchFamily="34" charset="0"/>
                <a:ea typeface="Calibri" pitchFamily="34" charset="-122"/>
                <a:cs typeface="Calibri" pitchFamily="34" charset="-120"/>
              </a:rPr>
              <a:t>MathUtil.slewRateLimit — bounding a 2D magnitude</a:t>
            </a:r>
            <a:endParaRPr lang="en-US" sz="1900" dirty="0"/>
          </a:p>
          <a:p>
            <a:pPr marL="342900" indent="-342900">
              <a:lnSpc>
                <a:spcPct val="110000"/>
              </a:lnSpc>
              <a:spcAft>
                <a:spcPts val="600"/>
              </a:spcAft>
              <a:buSzPct val="100000"/>
              <a:buChar char="•"/>
            </a:pPr>
            <a:r>
              <a:rPr lang="en-US" sz="1900" dirty="0">
                <a:solidFill>
                  <a:srgbClr val="13294B"/>
                </a:solidFill>
                <a:latin typeface="Calibri" pitchFamily="34" charset="0"/>
                <a:ea typeface="Calibri" pitchFamily="34" charset="-122"/>
                <a:cs typeface="Calibri" pitchFamily="34" charset="-120"/>
              </a:rPr>
              <a:t>Twist2d.exp() — exact pose integration</a:t>
            </a:r>
            <a:endParaRPr lang="en-US" sz="1900" dirty="0"/>
          </a:p>
        </p:txBody>
      </p:sp>
      <p:sp>
        <p:nvSpPr>
          <p:cNvPr id="16" name="Text 1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GROUND TRUTH</a:t>
            </a:r>
            <a:endParaRPr lang="en-US" sz="2000" dirty="0"/>
          </a:p>
        </p:txBody>
      </p:sp>
      <p:sp>
        <p:nvSpPr>
          <p:cNvPr id="17" name="Text 1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2</a:t>
            </a:r>
            <a:endParaRPr lang="en-US" sz="2000" dirty="0"/>
          </a:p>
        </p:txBody>
      </p:sp>
      <p:pic>
        <p:nvPicPr>
          <p:cNvPr id="18" name="Image 3" descr="/home/user/BasicRobotLessons/docs/presentations/v3/template/assets/logo/team5010-logo-onwhite.png">    </p:cNvPr>
          <p:cNvPicPr>
            <a:picLocks noChangeAspect="1"/>
          </p:cNvPicPr>
          <p:nvPr/>
        </p:nvPicPr>
        <p:blipFill>
          <a:blip r:embed="rId4"/>
          <a:stretch>
            <a:fillRect/>
          </a:stretch>
        </p:blipFill>
        <p:spPr>
          <a:xfrm>
            <a:off x="10957255" y="164592"/>
            <a:ext cx="777240" cy="60585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FF5010"/>
          </a:solidFill>
          <a:ln/>
        </p:spPr>
      </p:sp>
      <p:pic>
        <p:nvPicPr>
          <p:cNvPr id="3" name="Image 0" descr="/home/user/BasicRobotLessons/docs/presentations/v3/template/assets/icons/exclamationtriangle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00" kern="0" dirty="0">
                <a:solidFill>
                  <a:srgbClr val="1B9AAA"/>
                </a:solidFill>
                <a:latin typeface="Calibri" pitchFamily="34" charset="0"/>
                <a:ea typeface="Calibri" pitchFamily="34" charset="-122"/>
                <a:cs typeface="Calibri" pitchFamily="34" charset="-120"/>
              </a:rPr>
              <a:t>SECTION 1 · THE PICTURE WORTH CORRECTING</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Your simulation does not model your robot</a:t>
            </a:r>
            <a:endParaRPr lang="en-US" sz="3000" dirty="0"/>
          </a:p>
        </p:txBody>
      </p:sp>
      <p:sp>
        <p:nvSpPr>
          <p:cNvPr id="6" name="Shape 3"/>
          <p:cNvSpPr/>
          <p:nvPr/>
        </p:nvSpPr>
        <p:spPr>
          <a:xfrm>
            <a:off x="640080" y="1737360"/>
            <a:ext cx="10881360" cy="2194560"/>
          </a:xfrm>
          <a:prstGeom prst="roundRect">
            <a:avLst>
              <a:gd name="adj" fmla="val 4167"/>
            </a:avLst>
          </a:prstGeom>
          <a:solidFill>
            <a:srgbClr val="132A4C"/>
          </a:solidFill>
          <a:ln/>
        </p:spPr>
      </p:sp>
      <p:sp>
        <p:nvSpPr>
          <p:cNvPr id="7" name="Text 4"/>
          <p:cNvSpPr/>
          <p:nvPr/>
        </p:nvSpPr>
        <p:spPr>
          <a:xfrm>
            <a:off x="914400" y="2011680"/>
            <a:ext cx="10332720" cy="577850"/>
          </a:xfrm>
          <a:prstGeom prst="rect">
            <a:avLst/>
          </a:prstGeom>
          <a:noFill/>
          <a:ln/>
        </p:spPr>
        <p:txBody>
          <a:bodyPr wrap="square" lIns="0" tIns="0" rIns="0" bIns="0" rtlCol="0" anchor="t"/>
          <a:lstStyle/>
          <a:p>
            <a:pPr indent="0" marL="0">
              <a:lnSpc>
                <a:spcPct val="120000"/>
              </a:lnSpc>
              <a:buNone/>
            </a:pPr>
            <a:r>
              <a:rPr lang="en-US" sz="2200" b="1" dirty="0">
                <a:solidFill>
                  <a:srgbClr val="FFFFFF"/>
                </a:solidFill>
                <a:latin typeface="Cambria" pitchFamily="34" charset="0"/>
                <a:ea typeface="Cambria" pitchFamily="34" charset="-122"/>
                <a:cs typeface="Cambria" pitchFamily="34" charset="-120"/>
              </a:rPr>
              <a:t>It models eight motors, each in its own private universe</a:t>
            </a:r>
            <a:endParaRPr lang="en-US" sz="2200" dirty="0"/>
          </a:p>
        </p:txBody>
      </p:sp>
      <p:sp>
        <p:nvSpPr>
          <p:cNvPr id="8" name="Text 5"/>
          <p:cNvSpPr/>
          <p:nvPr/>
        </p:nvSpPr>
        <p:spPr>
          <a:xfrm>
            <a:off x="914400" y="2589530"/>
            <a:ext cx="10332720" cy="1068070"/>
          </a:xfrm>
          <a:prstGeom prst="rect">
            <a:avLst/>
          </a:prstGeom>
          <a:noFill/>
          <a:ln/>
        </p:spPr>
        <p:txBody>
          <a:bodyPr wrap="square" lIns="0" tIns="0" rIns="0" bIns="0" rtlCol="0" anchor="t"/>
          <a:lstStyle/>
          <a:p>
            <a:pPr indent="0" marL="0">
              <a:lnSpc>
                <a:spcPct val="125000"/>
              </a:lnSpc>
              <a:buNone/>
            </a:pPr>
            <a:r>
              <a:rPr lang="en-US" sz="1900" dirty="0">
                <a:solidFill>
                  <a:srgbClr val="D7E3F4"/>
                </a:solidFill>
                <a:latin typeface="Calibri" pitchFamily="34" charset="0"/>
                <a:ea typeface="Calibri" pitchFamily="34" charset="-122"/>
                <a:cs typeface="Calibri" pitchFamily="34" charset="-120"/>
              </a:rPr>
              <a:t>Four drive motors and four steering motors, each spinning a small flywheel, each unaware anything else exists. Module 0 has never once known module 1 is bolted to the same frame. The chassis has no mass. The tires have no grip.</a:t>
            </a:r>
            <a:endParaRPr lang="en-US" sz="1900" dirty="0"/>
          </a:p>
        </p:txBody>
      </p:sp>
      <p:sp>
        <p:nvSpPr>
          <p:cNvPr id="9" name="Shape 6"/>
          <p:cNvSpPr/>
          <p:nvPr/>
        </p:nvSpPr>
        <p:spPr>
          <a:xfrm>
            <a:off x="640080" y="4114800"/>
            <a:ext cx="10881360" cy="2194560"/>
          </a:xfrm>
          <a:prstGeom prst="roundRect">
            <a:avLst>
              <a:gd name="adj" fmla="val 4167"/>
            </a:avLst>
          </a:prstGeom>
          <a:solidFill>
            <a:srgbClr val="132A4C"/>
          </a:solidFill>
          <a:ln/>
        </p:spPr>
      </p:sp>
      <p:sp>
        <p:nvSpPr>
          <p:cNvPr id="10" name="Text 7"/>
          <p:cNvSpPr/>
          <p:nvPr/>
        </p:nvSpPr>
        <p:spPr>
          <a:xfrm>
            <a:off x="914400" y="4389120"/>
            <a:ext cx="10332720" cy="577850"/>
          </a:xfrm>
          <a:prstGeom prst="rect">
            <a:avLst/>
          </a:prstGeom>
          <a:noFill/>
          <a:ln/>
        </p:spPr>
        <p:txBody>
          <a:bodyPr wrap="square" lIns="0" tIns="0" rIns="0" bIns="0" rtlCol="0" anchor="t"/>
          <a:lstStyle/>
          <a:p>
            <a:pPr indent="0" marL="0">
              <a:lnSpc>
                <a:spcPct val="120000"/>
              </a:lnSpc>
              <a:buNone/>
            </a:pPr>
            <a:r>
              <a:rPr lang="en-US" sz="2200" b="1" dirty="0">
                <a:solidFill>
                  <a:srgbClr val="FFFFFF"/>
                </a:solidFill>
                <a:latin typeface="Cambria" pitchFamily="34" charset="0"/>
                <a:ea typeface="Cambria" pitchFamily="34" charset="-122"/>
                <a:cs typeface="Cambria" pitchFamily="34" charset="-120"/>
              </a:rPr>
              <a:t>You've gotten away with it — until now</a:t>
            </a:r>
            <a:endParaRPr lang="en-US" sz="2200" dirty="0"/>
          </a:p>
        </p:txBody>
      </p:sp>
      <p:sp>
        <p:nvSpPr>
          <p:cNvPr id="11" name="Text 8"/>
          <p:cNvSpPr/>
          <p:nvPr/>
        </p:nvSpPr>
        <p:spPr>
          <a:xfrm>
            <a:off x="914400" y="4966970"/>
            <a:ext cx="10332720" cy="1068070"/>
          </a:xfrm>
          <a:prstGeom prst="rect">
            <a:avLst/>
          </a:prstGeom>
          <a:noFill/>
          <a:ln/>
        </p:spPr>
        <p:txBody>
          <a:bodyPr wrap="square" lIns="0" tIns="0" rIns="0" bIns="0" rtlCol="0" anchor="t"/>
          <a:lstStyle/>
          <a:p>
            <a:pPr indent="0" marL="0">
              <a:lnSpc>
                <a:spcPct val="125000"/>
              </a:lnSpc>
              <a:buNone/>
            </a:pPr>
            <a:r>
              <a:rPr lang="en-US" sz="1900" dirty="0">
                <a:solidFill>
                  <a:srgbClr val="D7E3F4"/>
                </a:solidFill>
                <a:latin typeface="Calibri" pitchFamily="34" charset="0"/>
                <a:ea typeface="Calibri" pitchFamily="34" charset="-122"/>
                <a:cs typeface="Calibri" pitchFamily="34" charset="-120"/>
              </a:rPr>
              <a:t>Every wheel spins exactly as fast as it's told, so odometry has never once been wrong in simulation — just a precise record of what the motors did, with nothing independent to compare it to.</a:t>
            </a:r>
            <a:endParaRPr lang="en-US" sz="1900" dirty="0"/>
          </a:p>
        </p:txBody>
      </p:sp>
      <p:sp>
        <p:nvSpPr>
          <p:cNvPr id="12" name="Text 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7A93B8"/>
                </a:solidFill>
                <a:latin typeface="Calibri" pitchFamily="34" charset="0"/>
                <a:ea typeface="Calibri" pitchFamily="34" charset="-122"/>
                <a:cs typeface="Calibri" pitchFamily="34" charset="-120"/>
              </a:rPr>
              <a:t>LEARN JAVA + ROBOT PROGRAMMING · GROUND TRUTH</a:t>
            </a:r>
            <a:endParaRPr lang="en-US" sz="2000" dirty="0"/>
          </a:p>
        </p:txBody>
      </p:sp>
      <p:sp>
        <p:nvSpPr>
          <p:cNvPr id="13" name="Text 1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7A93B8"/>
                </a:solidFill>
                <a:latin typeface="Calibri" pitchFamily="34" charset="0"/>
                <a:ea typeface="Calibri" pitchFamily="34" charset="-122"/>
                <a:cs typeface="Calibri" pitchFamily="34" charset="-120"/>
              </a:rPr>
              <a:t>3</a:t>
            </a:r>
            <a:endParaRPr lang="en-US" sz="2000" dirty="0"/>
          </a:p>
        </p:txBody>
      </p:sp>
      <p:pic>
        <p:nvPicPr>
          <p:cNvPr id="14" name="Image 1" descr="/home/user/BasicRobotLessons/docs/presentations/v3/template/assets/logo/team5010-logo-onnavy.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FF5010"/>
          </a:solidFill>
          <a:ln/>
        </p:spPr>
      </p:sp>
      <p:pic>
        <p:nvPicPr>
          <p:cNvPr id="3" name="Image 0" descr="/home/user/BasicRobotLessons/docs/presentations/v3/template/assets/icons/weight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00" kern="0" dirty="0">
                <a:solidFill>
                  <a:srgbClr val="1B9AAA"/>
                </a:solidFill>
                <a:latin typeface="Calibri" pitchFamily="34" charset="0"/>
                <a:ea typeface="Calibri" pitchFamily="34" charset="-122"/>
                <a:cs typeface="Calibri" pitchFamily="34" charset="-120"/>
              </a:rPr>
              <a:t>SECTION 2 · THE PHYSICS IN ONE LINE</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Grip decides the limit — mass cancels right out</a:t>
            </a:r>
            <a:endParaRPr lang="en-US" sz="3000" dirty="0"/>
          </a:p>
        </p:txBody>
      </p:sp>
      <p:sp>
        <p:nvSpPr>
          <p:cNvPr id="6" name="Shape 3"/>
          <p:cNvSpPr/>
          <p:nvPr/>
        </p:nvSpPr>
        <p:spPr>
          <a:xfrm>
            <a:off x="640080" y="1691640"/>
            <a:ext cx="10881360" cy="1737360"/>
          </a:xfrm>
          <a:prstGeom prst="roundRect">
            <a:avLst>
              <a:gd name="adj" fmla="val 6316"/>
            </a:avLst>
          </a:prstGeom>
          <a:solidFill>
            <a:srgbClr val="132A4C"/>
          </a:solidFill>
          <a:ln/>
        </p:spPr>
      </p:sp>
      <p:sp>
        <p:nvSpPr>
          <p:cNvPr id="7" name="Text 4"/>
          <p:cNvSpPr/>
          <p:nvPr/>
        </p:nvSpPr>
        <p:spPr>
          <a:xfrm>
            <a:off x="914400" y="1874520"/>
            <a:ext cx="10332720" cy="1417320"/>
          </a:xfrm>
          <a:prstGeom prst="rect">
            <a:avLst/>
          </a:prstGeom>
          <a:noFill/>
          <a:ln/>
        </p:spPr>
        <p:txBody>
          <a:bodyPr wrap="square" lIns="0" tIns="0" rIns="0" bIns="0" rtlCol="0" anchor="ctr"/>
          <a:lstStyle/>
          <a:p>
            <a:pPr algn="ctr" indent="0" marL="0">
              <a:lnSpc>
                <a:spcPct val="130000"/>
              </a:lnSpc>
              <a:buNone/>
            </a:pPr>
            <a:r>
              <a:rPr lang="en-US" sz="2600" dirty="0">
                <a:solidFill>
                  <a:srgbClr val="FFFFFF"/>
                </a:solidFill>
                <a:latin typeface="Courier New" pitchFamily="34" charset="0"/>
                <a:ea typeface="Courier New" pitchFamily="34" charset="-122"/>
                <a:cs typeface="Courier New" pitchFamily="34" charset="-120"/>
              </a:rPr>
              <a:t>F = μmg</a:t>
            </a:r>
            <a:endParaRPr lang="en-US" sz="2600" dirty="0"/>
          </a:p>
          <a:p>
            <a:pPr algn="ctr" indent="0" marL="0">
              <a:lnSpc>
                <a:spcPct val="130000"/>
              </a:lnSpc>
              <a:buNone/>
            </a:pPr>
            <a:r>
              <a:rPr lang="en-US" sz="2600" dirty="0">
                <a:solidFill>
                  <a:srgbClr val="FFFFFF"/>
                </a:solidFill>
                <a:latin typeface="Courier New" pitchFamily="34" charset="0"/>
                <a:ea typeface="Courier New" pitchFamily="34" charset="-122"/>
                <a:cs typeface="Courier New" pitchFamily="34" charset="-120"/>
              </a:rPr>
              <a:t>a = F / m</a:t>
            </a:r>
            <a:endParaRPr lang="en-US" sz="2600" dirty="0"/>
          </a:p>
          <a:p>
            <a:pPr algn="ctr" indent="0" marL="0">
              <a:lnSpc>
                <a:spcPct val="130000"/>
              </a:lnSpc>
              <a:buNone/>
            </a:pPr>
            <a:r>
              <a:rPr lang="en-US" sz="2600" b="1" dirty="0">
                <a:solidFill>
                  <a:srgbClr val="FF5010"/>
                </a:solidFill>
                <a:latin typeface="Courier New" pitchFamily="34" charset="0"/>
                <a:ea typeface="Courier New" pitchFamily="34" charset="-122"/>
                <a:cs typeface="Courier New" pitchFamily="34" charset="-120"/>
              </a:rPr>
              <a:t>a = μg</a:t>
            </a:r>
            <a:endParaRPr lang="en-US" sz="2600" dirty="0"/>
          </a:p>
        </p:txBody>
      </p:sp>
      <p:sp>
        <p:nvSpPr>
          <p:cNvPr id="8" name="Shape 5"/>
          <p:cNvSpPr/>
          <p:nvPr/>
        </p:nvSpPr>
        <p:spPr>
          <a:xfrm>
            <a:off x="640080" y="3657600"/>
            <a:ext cx="10881360" cy="2560320"/>
          </a:xfrm>
          <a:prstGeom prst="roundRect">
            <a:avLst>
              <a:gd name="adj" fmla="val 3571"/>
            </a:avLst>
          </a:prstGeom>
          <a:solidFill>
            <a:srgbClr val="132A4C"/>
          </a:solidFill>
          <a:ln/>
        </p:spPr>
      </p:sp>
      <p:sp>
        <p:nvSpPr>
          <p:cNvPr id="9" name="Text 6"/>
          <p:cNvSpPr/>
          <p:nvPr/>
        </p:nvSpPr>
        <p:spPr>
          <a:xfrm>
            <a:off x="914400" y="3931920"/>
            <a:ext cx="10332720" cy="561975"/>
          </a:xfrm>
          <a:prstGeom prst="rect">
            <a:avLst/>
          </a:prstGeom>
          <a:noFill/>
          <a:ln/>
        </p:spPr>
        <p:txBody>
          <a:bodyPr wrap="square" lIns="0" tIns="0" rIns="0" bIns="0" rtlCol="0" anchor="t"/>
          <a:lstStyle/>
          <a:p>
            <a:pPr indent="0" marL="0">
              <a:lnSpc>
                <a:spcPct val="120000"/>
              </a:lnSpc>
              <a:buNone/>
            </a:pPr>
            <a:r>
              <a:rPr lang="en-US" sz="2100" b="1" dirty="0">
                <a:solidFill>
                  <a:srgbClr val="FFFFFF"/>
                </a:solidFill>
                <a:latin typeface="Cambria" pitchFamily="34" charset="0"/>
                <a:ea typeface="Cambria" pitchFamily="34" charset="-122"/>
                <a:cs typeface="Cambria" pitchFamily="34" charset="-120"/>
              </a:rPr>
              <a:t>The mass cancels — a heavier robot isn't slower to accelerate</a:t>
            </a:r>
            <a:endParaRPr lang="en-US" sz="2100" dirty="0"/>
          </a:p>
        </p:txBody>
      </p:sp>
      <p:sp>
        <p:nvSpPr>
          <p:cNvPr id="10" name="Text 7"/>
          <p:cNvSpPr/>
          <p:nvPr/>
        </p:nvSpPr>
        <p:spPr>
          <a:xfrm>
            <a:off x="914400" y="4493895"/>
            <a:ext cx="10332720" cy="1449705"/>
          </a:xfrm>
          <a:prstGeom prst="rect">
            <a:avLst/>
          </a:prstGeom>
          <a:noFill/>
          <a:ln/>
        </p:spPr>
        <p:txBody>
          <a:bodyPr wrap="square" lIns="0" tIns="0" rIns="0" bIns="0" rtlCol="0" anchor="t"/>
          <a:lstStyle/>
          <a:p>
            <a:pPr indent="0" marL="0">
              <a:lnSpc>
                <a:spcPct val="125000"/>
              </a:lnSpc>
              <a:buNone/>
            </a:pPr>
            <a:r>
              <a:rPr lang="en-US" sz="1900" dirty="0">
                <a:solidFill>
                  <a:srgbClr val="D7E3F4"/>
                </a:solidFill>
                <a:latin typeface="Calibri" pitchFamily="34" charset="0"/>
                <a:ea typeface="Calibri" pitchFamily="34" charset="-122"/>
                <a:cs typeface="Calibri" pitchFamily="34" charset="-120"/>
              </a:rPr>
              <a:t>The force a tire can supply before skidding is μmg — grip times mass times gravity. Divide by mass for acceleration and the mass drops out entirely: a = μg. That's exactly why real FRC robots don't scale wheel count or tire pressure down just because they're light. Grip alone decides how hard you can accelerate.</a:t>
            </a:r>
            <a:endParaRPr lang="en-US" sz="1900" dirty="0"/>
          </a:p>
        </p:txBody>
      </p:sp>
      <p:sp>
        <p:nvSpPr>
          <p:cNvPr id="11" name="Text 8"/>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7A93B8"/>
                </a:solidFill>
                <a:latin typeface="Calibri" pitchFamily="34" charset="0"/>
                <a:ea typeface="Calibri" pitchFamily="34" charset="-122"/>
                <a:cs typeface="Calibri" pitchFamily="34" charset="-120"/>
              </a:rPr>
              <a:t>LEARN JAVA + ROBOT PROGRAMMING · GROUND TRUTH</a:t>
            </a:r>
            <a:endParaRPr lang="en-US" sz="2000" dirty="0"/>
          </a:p>
        </p:txBody>
      </p:sp>
      <p:sp>
        <p:nvSpPr>
          <p:cNvPr id="12" name="Text 9"/>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7A93B8"/>
                </a:solidFill>
                <a:latin typeface="Calibri" pitchFamily="34" charset="0"/>
                <a:ea typeface="Calibri" pitchFamily="34" charset="-122"/>
                <a:cs typeface="Calibri" pitchFamily="34" charset="-120"/>
              </a:rPr>
              <a:t>4</a:t>
            </a:r>
            <a:endParaRPr lang="en-US" sz="2000" dirty="0"/>
          </a:p>
        </p:txBody>
      </p:sp>
      <p:pic>
        <p:nvPicPr>
          <p:cNvPr id="13" name="Image 1" descr="/home/user/BasicRobotLessons/docs/presentations/v3/template/assets/logo/team5010-logo-onnavy.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ruler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2 · CONSTANTS.JAVA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2700" b="1" dirty="0">
                <a:solidFill>
                  <a:srgbClr val="13294B"/>
                </a:solidFill>
                <a:latin typeface="Cambria" pitchFamily="34" charset="0"/>
                <a:ea typeface="Cambria" pitchFamily="34" charset="-122"/>
                <a:cs typeface="Cambria" pitchFamily="34" charset="-120"/>
              </a:rPr>
              <a:t>Four constants: grip, the two acceleration limits, a starting pose</a:t>
            </a:r>
            <a:endParaRPr lang="en-US" sz="2700" dirty="0"/>
          </a:p>
        </p:txBody>
      </p:sp>
      <p:sp>
        <p:nvSpPr>
          <p:cNvPr id="6" name="Shape 3"/>
          <p:cNvSpPr/>
          <p:nvPr/>
        </p:nvSpPr>
        <p:spPr>
          <a:xfrm>
            <a:off x="640080" y="1280160"/>
            <a:ext cx="10881360" cy="3977640"/>
          </a:xfrm>
          <a:prstGeom prst="roundRect">
            <a:avLst>
              <a:gd name="adj" fmla="val 2759"/>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426464"/>
            <a:ext cx="128016" cy="128016"/>
          </a:xfrm>
          <a:prstGeom prst="ellipse">
            <a:avLst/>
          </a:prstGeom>
          <a:solidFill>
            <a:srgbClr val="FF6B6B"/>
          </a:solidFill>
          <a:ln/>
        </p:spPr>
      </p:sp>
      <p:sp>
        <p:nvSpPr>
          <p:cNvPr id="8" name="Shape 5"/>
          <p:cNvSpPr/>
          <p:nvPr/>
        </p:nvSpPr>
        <p:spPr>
          <a:xfrm>
            <a:off x="11210544" y="1627632"/>
            <a:ext cx="128016" cy="128016"/>
          </a:xfrm>
          <a:prstGeom prst="ellipse">
            <a:avLst/>
          </a:prstGeom>
          <a:solidFill>
            <a:srgbClr val="FFD166"/>
          </a:solidFill>
          <a:ln/>
        </p:spPr>
      </p:sp>
      <p:sp>
        <p:nvSpPr>
          <p:cNvPr id="9" name="Shape 6"/>
          <p:cNvSpPr/>
          <p:nvPr/>
        </p:nvSpPr>
        <p:spPr>
          <a:xfrm>
            <a:off x="11210544" y="1828800"/>
            <a:ext cx="128016" cy="128016"/>
          </a:xfrm>
          <a:prstGeom prst="ellipse">
            <a:avLst/>
          </a:prstGeom>
          <a:solidFill>
            <a:srgbClr val="2EC4B6"/>
          </a:solidFill>
          <a:ln/>
        </p:spPr>
      </p:sp>
      <p:sp>
        <p:nvSpPr>
          <p:cNvPr id="10" name="Text 7"/>
          <p:cNvSpPr/>
          <p:nvPr/>
        </p:nvSpPr>
        <p:spPr>
          <a:xfrm>
            <a:off x="914400" y="140817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to DriveConstants in Constants.java</a:t>
            </a:r>
            <a:endParaRPr lang="en-US" sz="1500" dirty="0"/>
          </a:p>
        </p:txBody>
      </p:sp>
      <p:sp>
        <p:nvSpPr>
          <p:cNvPr id="11" name="Text 8"/>
          <p:cNvSpPr/>
          <p:nvPr/>
        </p:nvSpPr>
        <p:spPr>
          <a:xfrm>
            <a:off x="914400" y="1737360"/>
            <a:ext cx="10195560" cy="3319272"/>
          </a:xfrm>
          <a:prstGeom prst="rect">
            <a:avLst/>
          </a:prstGeom>
          <a:noFill/>
          <a:ln/>
        </p:spPr>
        <p:txBody>
          <a:bodyPr wrap="square" lIns="0" tIns="0" rIns="0" bIns="0" rtlCol="0" anchor="t"/>
          <a:lstStyle/>
          <a:p>
            <a:pPr indent="0" marL="0">
              <a:lnSpc>
                <a:spcPct val="120000"/>
              </a:lnSpc>
              <a:buNone/>
            </a:pPr>
            <a:r>
              <a:rPr lang="en-US" sz="1300" dirty="0">
                <a:solidFill>
                  <a:srgbClr val="7FA8C9"/>
                </a:solidFill>
                <a:latin typeface="Courier New" pitchFamily="34" charset="0"/>
                <a:ea typeface="Courier New" pitchFamily="34" charset="-122"/>
                <a:cs typeface="Courier New" pitchFamily="34" charset="-120"/>
              </a:rPr>
              <a:t>// How hard the tires can grip, in sim — a Colson-wheel-on-carpet guess.</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public static final double kWheelCoF = 1.2;</a:t>
            </a:r>
            <a:endParaRPr lang="en-US" sz="1300" dirty="0"/>
          </a:p>
          <a:p>
            <a:pPr indent="0" marL="0">
              <a:lnSpc>
                <a:spcPct val="120000"/>
              </a:lnSpc>
              <a:buNone/>
            </a:pPr>
            <a:endParaRPr lang="en-US" sz="1300" dirty="0"/>
          </a:p>
          <a:p>
            <a:pPr indent="0" marL="0">
              <a:lnSpc>
                <a:spcPct val="120000"/>
              </a:lnSpc>
              <a:buNone/>
            </a:pPr>
            <a:r>
              <a:rPr lang="en-US" sz="1300" dirty="0">
                <a:solidFill>
                  <a:srgbClr val="7FA8C9"/>
                </a:solidFill>
                <a:latin typeface="Courier New" pitchFamily="34" charset="0"/>
                <a:ea typeface="Courier New" pitchFamily="34" charset="-122"/>
                <a:cs typeface="Courier New" pitchFamily="34" charset="-120"/>
              </a:rPr>
              <a:t>// a = μg — how hard the chassis can actually accelerate, independent</a:t>
            </a:r>
            <a:endParaRPr lang="en-US" sz="1300" dirty="0"/>
          </a:p>
          <a:p>
            <a:pPr indent="0" marL="0">
              <a:lnSpc>
                <a:spcPct val="120000"/>
              </a:lnSpc>
              <a:buNone/>
            </a:pPr>
            <a:r>
              <a:rPr lang="en-US" sz="1300" dirty="0">
                <a:solidFill>
                  <a:srgbClr val="7FA8C9"/>
                </a:solidFill>
                <a:latin typeface="Courier New" pitchFamily="34" charset="0"/>
                <a:ea typeface="Courier New" pitchFamily="34" charset="-122"/>
                <a:cs typeface="Courier New" pitchFamily="34" charset="-120"/>
              </a:rPr>
              <a:t>// of mass, because a heavier robot needs proportionally more force to</a:t>
            </a:r>
            <a:endParaRPr lang="en-US" sz="1300" dirty="0"/>
          </a:p>
          <a:p>
            <a:pPr indent="0" marL="0">
              <a:lnSpc>
                <a:spcPct val="120000"/>
              </a:lnSpc>
              <a:buNone/>
            </a:pPr>
            <a:r>
              <a:rPr lang="en-US" sz="1300" dirty="0">
                <a:solidFill>
                  <a:srgbClr val="7FA8C9"/>
                </a:solidFill>
                <a:latin typeface="Courier New" pitchFamily="34" charset="0"/>
                <a:ea typeface="Courier New" pitchFamily="34" charset="-122"/>
                <a:cs typeface="Courier New" pitchFamily="34" charset="-120"/>
              </a:rPr>
              <a:t>// move and proportionally more grip to supply it.</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public static final double kMaxAccelMps2 = kWheelCoF * 9.81;</a:t>
            </a:r>
            <a:endParaRPr lang="en-US" sz="1300" dirty="0"/>
          </a:p>
          <a:p>
            <a:pPr indent="0" marL="0">
              <a:lnSpc>
                <a:spcPct val="120000"/>
              </a:lnSpc>
              <a:buNone/>
            </a:pPr>
            <a:endParaRPr lang="en-US" sz="1300" dirty="0"/>
          </a:p>
          <a:p>
            <a:pPr indent="0" marL="0">
              <a:lnSpc>
                <a:spcPct val="120000"/>
              </a:lnSpc>
              <a:buNone/>
            </a:pPr>
            <a:r>
              <a:rPr lang="en-US" sz="1300" dirty="0">
                <a:solidFill>
                  <a:srgbClr val="7FA8C9"/>
                </a:solidFill>
                <a:latin typeface="Courier New" pitchFamily="34" charset="0"/>
                <a:ea typeface="Courier New" pitchFamily="34" charset="-122"/>
                <a:cs typeface="Courier New" pitchFamily="34" charset="-120"/>
              </a:rPr>
              <a:t>// The same grip limit, applied at each wheel's distance from center.</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public static final double kMaxAngularAccelRadPerSec2 =</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kMaxAccelMps2 / Math.hypot(kHalfLength, kHalfWidth);</a:t>
            </a:r>
            <a:endParaRPr lang="en-US" sz="1300" dirty="0"/>
          </a:p>
          <a:p>
            <a:pPr indent="0" marL="0">
              <a:lnSpc>
                <a:spcPct val="120000"/>
              </a:lnSpc>
              <a:buNone/>
            </a:pPr>
            <a:endParaRPr lang="en-US" sz="1300" dirty="0"/>
          </a:p>
          <a:p>
            <a:pPr indent="0" marL="0">
              <a:lnSpc>
                <a:spcPct val="120000"/>
              </a:lnSpc>
              <a:buNone/>
            </a:pPr>
            <a:r>
              <a:rPr lang="en-US" sz="1300" dirty="0">
                <a:solidFill>
                  <a:srgbClr val="7FA8C9"/>
                </a:solidFill>
                <a:latin typeface="Courier New" pitchFamily="34" charset="0"/>
                <a:ea typeface="Courier New" pitchFamily="34" charset="-122"/>
                <a:cs typeface="Courier New" pitchFamily="34" charset="-120"/>
              </a:rPr>
              <a:t>/** Where the simulated robot is placed on the field at startup. */</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public static final Pose2d kSimStartingPose = new Pose2d(3, 3, new Rotation2d());</a:t>
            </a:r>
            <a:endParaRPr lang="en-US" sz="1300" dirty="0"/>
          </a:p>
        </p:txBody>
      </p:sp>
      <p:sp>
        <p:nvSpPr>
          <p:cNvPr id="12" name="Text 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GROUND TRUTH</a:t>
            </a:r>
            <a:endParaRPr lang="en-US" sz="2000" dirty="0"/>
          </a:p>
        </p:txBody>
      </p:sp>
      <p:sp>
        <p:nvSpPr>
          <p:cNvPr id="13" name="Text 1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5</a:t>
            </a:r>
            <a:endParaRPr lang="en-US" sz="2000" dirty="0"/>
          </a:p>
        </p:txBody>
      </p:sp>
      <p:pic>
        <p:nvPicPr>
          <p:cNvPr id="14"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cube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3 · A NEW FILE</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ChassisSimulation — state and construction</a:t>
            </a:r>
            <a:endParaRPr lang="en-US" sz="3000" dirty="0"/>
          </a:p>
        </p:txBody>
      </p:sp>
      <p:sp>
        <p:nvSpPr>
          <p:cNvPr id="6" name="Shape 3"/>
          <p:cNvSpPr/>
          <p:nvPr/>
        </p:nvSpPr>
        <p:spPr>
          <a:xfrm>
            <a:off x="640080" y="1280160"/>
            <a:ext cx="10881360" cy="4114800"/>
          </a:xfrm>
          <a:prstGeom prst="roundRect">
            <a:avLst>
              <a:gd name="adj" fmla="val 2667"/>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426464"/>
            <a:ext cx="128016" cy="128016"/>
          </a:xfrm>
          <a:prstGeom prst="ellipse">
            <a:avLst/>
          </a:prstGeom>
          <a:solidFill>
            <a:srgbClr val="FF6B6B"/>
          </a:solidFill>
          <a:ln/>
        </p:spPr>
      </p:sp>
      <p:sp>
        <p:nvSpPr>
          <p:cNvPr id="8" name="Shape 5"/>
          <p:cNvSpPr/>
          <p:nvPr/>
        </p:nvSpPr>
        <p:spPr>
          <a:xfrm>
            <a:off x="11210544" y="1627632"/>
            <a:ext cx="128016" cy="128016"/>
          </a:xfrm>
          <a:prstGeom prst="ellipse">
            <a:avLst/>
          </a:prstGeom>
          <a:solidFill>
            <a:srgbClr val="FFD166"/>
          </a:solidFill>
          <a:ln/>
        </p:spPr>
      </p:sp>
      <p:sp>
        <p:nvSpPr>
          <p:cNvPr id="9" name="Shape 6"/>
          <p:cNvSpPr/>
          <p:nvPr/>
        </p:nvSpPr>
        <p:spPr>
          <a:xfrm>
            <a:off x="11210544" y="1828800"/>
            <a:ext cx="128016" cy="128016"/>
          </a:xfrm>
          <a:prstGeom prst="ellipse">
            <a:avLst/>
          </a:prstGeom>
          <a:solidFill>
            <a:srgbClr val="2EC4B6"/>
          </a:solidFill>
          <a:ln/>
        </p:spPr>
      </p:sp>
      <p:sp>
        <p:nvSpPr>
          <p:cNvPr id="10" name="Text 7"/>
          <p:cNvSpPr/>
          <p:nvPr/>
        </p:nvSpPr>
        <p:spPr>
          <a:xfrm>
            <a:off x="914400" y="140817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Create src/main/java/first/robot/subsystems/ChassisSimulation.java — piece 1</a:t>
            </a:r>
            <a:endParaRPr lang="en-US" sz="1500" dirty="0"/>
          </a:p>
        </p:txBody>
      </p:sp>
      <p:sp>
        <p:nvSpPr>
          <p:cNvPr id="11" name="Text 8"/>
          <p:cNvSpPr/>
          <p:nvPr/>
        </p:nvSpPr>
        <p:spPr>
          <a:xfrm>
            <a:off x="914400" y="1737360"/>
            <a:ext cx="10195560" cy="3456432"/>
          </a:xfrm>
          <a:prstGeom prst="rect">
            <a:avLst/>
          </a:prstGeom>
          <a:noFill/>
          <a:ln/>
        </p:spPr>
        <p:txBody>
          <a:bodyPr wrap="square" lIns="0" tIns="0" rIns="0" bIns="0" rtlCol="0" anchor="t"/>
          <a:lstStyle/>
          <a:p>
            <a:pPr indent="0" marL="0">
              <a:lnSpc>
                <a:spcPct val="120000"/>
              </a:lnSpc>
              <a:buNone/>
            </a:pPr>
            <a:r>
              <a:rPr lang="en-US" sz="1250" dirty="0">
                <a:solidFill>
                  <a:srgbClr val="D7E3F4"/>
                </a:solidFill>
                <a:latin typeface="Courier New" pitchFamily="34" charset="0"/>
                <a:ea typeface="Courier New" pitchFamily="34" charset="-122"/>
                <a:cs typeface="Courier New" pitchFamily="34" charset="-120"/>
              </a:rPr>
              <a:t>package first.robot.subsystems;</a:t>
            </a:r>
            <a:endParaRPr lang="en-US" sz="1250" dirty="0"/>
          </a:p>
          <a:p>
            <a:pPr indent="0" marL="0">
              <a:lnSpc>
                <a:spcPct val="120000"/>
              </a:lnSpc>
              <a:buNone/>
            </a:pPr>
            <a:endParaRPr lang="en-US" sz="1250" dirty="0"/>
          </a:p>
          <a:p>
            <a:pPr indent="0" marL="0">
              <a:lnSpc>
                <a:spcPct val="120000"/>
              </a:lnSpc>
              <a:buNone/>
            </a:pPr>
            <a:r>
              <a:rPr lang="en-US" sz="1250" dirty="0">
                <a:solidFill>
                  <a:srgbClr val="D7E3F4"/>
                </a:solidFill>
                <a:latin typeface="Courier New" pitchFamily="34" charset="0"/>
                <a:ea typeface="Courier New" pitchFamily="34" charset="-122"/>
                <a:cs typeface="Courier New" pitchFamily="34" charset="-120"/>
              </a:rPr>
              <a:t>import org.wpilib.math.geometry.Pose2d;</a:t>
            </a:r>
            <a:endParaRPr lang="en-US" sz="1250" dirty="0"/>
          </a:p>
          <a:p>
            <a:pPr indent="0" marL="0">
              <a:lnSpc>
                <a:spcPct val="120000"/>
              </a:lnSpc>
              <a:buNone/>
            </a:pPr>
            <a:r>
              <a:rPr lang="en-US" sz="1250" dirty="0">
                <a:solidFill>
                  <a:srgbClr val="D7E3F4"/>
                </a:solidFill>
                <a:latin typeface="Courier New" pitchFamily="34" charset="0"/>
                <a:ea typeface="Courier New" pitchFamily="34" charset="-122"/>
                <a:cs typeface="Courier New" pitchFamily="34" charset="-120"/>
              </a:rPr>
              <a:t>import org.wpilib.math.geometry.Translation2d;</a:t>
            </a:r>
            <a:endParaRPr lang="en-US" sz="1250" dirty="0"/>
          </a:p>
          <a:p>
            <a:pPr indent="0" marL="0">
              <a:lnSpc>
                <a:spcPct val="120000"/>
              </a:lnSpc>
              <a:buNone/>
            </a:pPr>
            <a:r>
              <a:rPr lang="en-US" sz="1250" dirty="0">
                <a:solidFill>
                  <a:srgbClr val="D7E3F4"/>
                </a:solidFill>
                <a:latin typeface="Courier New" pitchFamily="34" charset="0"/>
                <a:ea typeface="Courier New" pitchFamily="34" charset="-122"/>
                <a:cs typeface="Courier New" pitchFamily="34" charset="-120"/>
              </a:rPr>
              <a:t>import org.wpilib.math.kinematics.ChassisVelocities;</a:t>
            </a:r>
            <a:endParaRPr lang="en-US" sz="1250" dirty="0"/>
          </a:p>
          <a:p>
            <a:pPr indent="0" marL="0">
              <a:lnSpc>
                <a:spcPct val="120000"/>
              </a:lnSpc>
              <a:buNone/>
            </a:pPr>
            <a:r>
              <a:rPr lang="en-US" sz="1250" dirty="0">
                <a:solidFill>
                  <a:srgbClr val="D7E3F4"/>
                </a:solidFill>
                <a:latin typeface="Courier New" pitchFamily="34" charset="0"/>
                <a:ea typeface="Courier New" pitchFamily="34" charset="-122"/>
                <a:cs typeface="Courier New" pitchFamily="34" charset="-120"/>
              </a:rPr>
              <a:t>import org.wpilib.math.util.MathUtil;</a:t>
            </a:r>
            <a:endParaRPr lang="en-US" sz="1250" dirty="0"/>
          </a:p>
          <a:p>
            <a:pPr indent="0" marL="0">
              <a:lnSpc>
                <a:spcPct val="120000"/>
              </a:lnSpc>
              <a:buNone/>
            </a:pPr>
            <a:endParaRPr lang="en-US" sz="1250" dirty="0"/>
          </a:p>
          <a:p>
            <a:pPr indent="0" marL="0">
              <a:lnSpc>
                <a:spcPct val="120000"/>
              </a:lnSpc>
              <a:buNone/>
            </a:pPr>
            <a:r>
              <a:rPr lang="en-US" sz="1250" dirty="0">
                <a:solidFill>
                  <a:srgbClr val="D7E3F4"/>
                </a:solidFill>
                <a:latin typeface="Courier New" pitchFamily="34" charset="0"/>
                <a:ea typeface="Courier New" pitchFamily="34" charset="-122"/>
                <a:cs typeface="Courier New" pitchFamily="34" charset="-120"/>
              </a:rPr>
              <a:t>import first.robot.Constants.DriveConstants;</a:t>
            </a:r>
            <a:endParaRPr lang="en-US" sz="1250" dirty="0"/>
          </a:p>
          <a:p>
            <a:pPr indent="0" marL="0">
              <a:lnSpc>
                <a:spcPct val="120000"/>
              </a:lnSpc>
              <a:buNone/>
            </a:pPr>
            <a:endParaRPr lang="en-US" sz="1250" dirty="0"/>
          </a:p>
          <a:p>
            <a:pPr indent="0" marL="0">
              <a:lnSpc>
                <a:spcPct val="120000"/>
              </a:lnSpc>
              <a:buNone/>
            </a:pPr>
            <a:r>
              <a:rPr lang="en-US" sz="1250" dirty="0">
                <a:solidFill>
                  <a:srgbClr val="FFD166"/>
                </a:solidFill>
                <a:latin typeface="Courier New" pitchFamily="34" charset="0"/>
                <a:ea typeface="Courier New" pitchFamily="34" charset="-122"/>
                <a:cs typeface="Courier New" pitchFamily="34" charset="-120"/>
              </a:rPr>
              <a:t>public class ChassisSimulation {</a:t>
            </a:r>
            <a:endParaRPr lang="en-US" sz="1250" dirty="0"/>
          </a:p>
          <a:p>
            <a:pPr indent="0" marL="0">
              <a:lnSpc>
                <a:spcPct val="120000"/>
              </a:lnSpc>
              <a:buNone/>
            </a:pPr>
            <a:r>
              <a:rPr lang="en-US" sz="1250" dirty="0">
                <a:solidFill>
                  <a:srgbClr val="9EF01A"/>
                </a:solidFill>
                <a:latin typeface="Courier New" pitchFamily="34" charset="0"/>
                <a:ea typeface="Courier New" pitchFamily="34" charset="-122"/>
                <a:cs typeface="Courier New" pitchFamily="34" charset="-120"/>
              </a:rPr>
              <a:t>  private Pose2d m_pose;</a:t>
            </a:r>
            <a:endParaRPr lang="en-US" sz="1250" dirty="0"/>
          </a:p>
          <a:p>
            <a:pPr indent="0" marL="0">
              <a:lnSpc>
                <a:spcPct val="120000"/>
              </a:lnSpc>
              <a:buNone/>
            </a:pPr>
            <a:r>
              <a:rPr lang="en-US" sz="1250" dirty="0">
                <a:solidFill>
                  <a:srgbClr val="9EF01A"/>
                </a:solidFill>
                <a:latin typeface="Courier New" pitchFamily="34" charset="0"/>
                <a:ea typeface="Courier New" pitchFamily="34" charset="-122"/>
                <a:cs typeface="Courier New" pitchFamily="34" charset="-120"/>
              </a:rPr>
              <a:t>  private ChassisVelocities m_velocity = new ChassisVelocities();</a:t>
            </a:r>
            <a:endParaRPr lang="en-US" sz="1250" dirty="0"/>
          </a:p>
          <a:p>
            <a:pPr indent="0" marL="0">
              <a:lnSpc>
                <a:spcPct val="120000"/>
              </a:lnSpc>
              <a:buNone/>
            </a:pPr>
            <a:endParaRPr lang="en-US" sz="1250" dirty="0"/>
          </a:p>
          <a:p>
            <a:pPr indent="0" marL="0">
              <a:lnSpc>
                <a:spcPct val="120000"/>
              </a:lnSpc>
              <a:buNone/>
            </a:pPr>
            <a:r>
              <a:rPr lang="en-US" sz="1250" dirty="0">
                <a:solidFill>
                  <a:srgbClr val="FFD166"/>
                </a:solidFill>
                <a:latin typeface="Courier New" pitchFamily="34" charset="0"/>
                <a:ea typeface="Courier New" pitchFamily="34" charset="-122"/>
                <a:cs typeface="Courier New" pitchFamily="34" charset="-120"/>
              </a:rPr>
              <a:t>  public ChassisSimulation(Pose2d startingPose) {</a:t>
            </a:r>
            <a:endParaRPr lang="en-US" sz="1250" dirty="0"/>
          </a:p>
          <a:p>
            <a:pPr indent="0" marL="0">
              <a:lnSpc>
                <a:spcPct val="120000"/>
              </a:lnSpc>
              <a:buNone/>
            </a:pPr>
            <a:r>
              <a:rPr lang="en-US" sz="1250" dirty="0">
                <a:solidFill>
                  <a:srgbClr val="9EF01A"/>
                </a:solidFill>
                <a:latin typeface="Courier New" pitchFamily="34" charset="0"/>
                <a:ea typeface="Courier New" pitchFamily="34" charset="-122"/>
                <a:cs typeface="Courier New" pitchFamily="34" charset="-120"/>
              </a:rPr>
              <a:t>    m_pose = startingPose;</a:t>
            </a:r>
            <a:endParaRPr lang="en-US" sz="1250" dirty="0"/>
          </a:p>
          <a:p>
            <a:pPr indent="0" marL="0">
              <a:lnSpc>
                <a:spcPct val="120000"/>
              </a:lnSpc>
              <a:buNone/>
            </a:pPr>
            <a:r>
              <a:rPr lang="en-US" sz="1250" dirty="0">
                <a:solidFill>
                  <a:srgbClr val="D7E3F4"/>
                </a:solidFill>
                <a:latin typeface="Courier New" pitchFamily="34" charset="0"/>
                <a:ea typeface="Courier New" pitchFamily="34" charset="-122"/>
                <a:cs typeface="Courier New" pitchFamily="34" charset="-120"/>
              </a:rPr>
              <a:t>  }</a:t>
            </a:r>
            <a:endParaRPr lang="en-US" sz="1250" dirty="0"/>
          </a:p>
        </p:txBody>
      </p:sp>
      <p:sp>
        <p:nvSpPr>
          <p:cNvPr id="12" name="Text 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GROUND TRUTH</a:t>
            </a:r>
            <a:endParaRPr lang="en-US" sz="2000" dirty="0"/>
          </a:p>
        </p:txBody>
      </p:sp>
      <p:sp>
        <p:nvSpPr>
          <p:cNvPr id="13" name="Text 1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6</a:t>
            </a:r>
            <a:endParaRPr lang="en-US" sz="2000" dirty="0"/>
          </a:p>
        </p:txBody>
      </p:sp>
      <p:pic>
        <p:nvPicPr>
          <p:cNvPr id="14"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cube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3 · A NEW FILE</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ChassisSimulation — one tick, following the wheels</a:t>
            </a:r>
            <a:endParaRPr lang="en-US" sz="3000" dirty="0"/>
          </a:p>
        </p:txBody>
      </p:sp>
      <p:sp>
        <p:nvSpPr>
          <p:cNvPr id="6" name="Shape 3"/>
          <p:cNvSpPr/>
          <p:nvPr/>
        </p:nvSpPr>
        <p:spPr>
          <a:xfrm>
            <a:off x="640080" y="1280160"/>
            <a:ext cx="10881360" cy="3931920"/>
          </a:xfrm>
          <a:prstGeom prst="roundRect">
            <a:avLst>
              <a:gd name="adj" fmla="val 2791"/>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426464"/>
            <a:ext cx="128016" cy="128016"/>
          </a:xfrm>
          <a:prstGeom prst="ellipse">
            <a:avLst/>
          </a:prstGeom>
          <a:solidFill>
            <a:srgbClr val="FF6B6B"/>
          </a:solidFill>
          <a:ln/>
        </p:spPr>
      </p:sp>
      <p:sp>
        <p:nvSpPr>
          <p:cNvPr id="8" name="Shape 5"/>
          <p:cNvSpPr/>
          <p:nvPr/>
        </p:nvSpPr>
        <p:spPr>
          <a:xfrm>
            <a:off x="11210544" y="1627632"/>
            <a:ext cx="128016" cy="128016"/>
          </a:xfrm>
          <a:prstGeom prst="ellipse">
            <a:avLst/>
          </a:prstGeom>
          <a:solidFill>
            <a:srgbClr val="FFD166"/>
          </a:solidFill>
          <a:ln/>
        </p:spPr>
      </p:sp>
      <p:sp>
        <p:nvSpPr>
          <p:cNvPr id="9" name="Shape 6"/>
          <p:cNvSpPr/>
          <p:nvPr/>
        </p:nvSpPr>
        <p:spPr>
          <a:xfrm>
            <a:off x="11210544" y="1828800"/>
            <a:ext cx="128016" cy="128016"/>
          </a:xfrm>
          <a:prstGeom prst="ellipse">
            <a:avLst/>
          </a:prstGeom>
          <a:solidFill>
            <a:srgbClr val="2EC4B6"/>
          </a:solidFill>
          <a:ln/>
        </p:spPr>
      </p:sp>
      <p:sp>
        <p:nvSpPr>
          <p:cNvPr id="10" name="Text 7"/>
          <p:cNvSpPr/>
          <p:nvPr/>
        </p:nvSpPr>
        <p:spPr>
          <a:xfrm>
            <a:off x="914400" y="140817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to ChassisSimulation — piece 2</a:t>
            </a:r>
            <a:endParaRPr lang="en-US" sz="1500" dirty="0"/>
          </a:p>
        </p:txBody>
      </p:sp>
      <p:sp>
        <p:nvSpPr>
          <p:cNvPr id="11" name="Text 8"/>
          <p:cNvSpPr/>
          <p:nvPr/>
        </p:nvSpPr>
        <p:spPr>
          <a:xfrm>
            <a:off x="914400" y="1737360"/>
            <a:ext cx="10195560" cy="3273552"/>
          </a:xfrm>
          <a:prstGeom prst="rect">
            <a:avLst/>
          </a:prstGeom>
          <a:noFill/>
          <a:ln/>
        </p:spPr>
        <p:txBody>
          <a:bodyPr wrap="square" lIns="0" tIns="0" rIns="0" bIns="0" rtlCol="0" anchor="t"/>
          <a:lstStyle/>
          <a:p>
            <a:pPr indent="0" marL="0">
              <a:lnSpc>
                <a:spcPct val="120000"/>
              </a:lnSpc>
              <a:buNone/>
            </a:pPr>
            <a:r>
              <a:rPr lang="en-US" sz="1300" dirty="0">
                <a:solidFill>
                  <a:srgbClr val="7FA8C9"/>
                </a:solidFill>
                <a:latin typeface="Courier New" pitchFamily="34" charset="0"/>
                <a:ea typeface="Courier New" pitchFamily="34" charset="-122"/>
                <a:cs typeface="Courier New" pitchFamily="34" charset="-120"/>
              </a:rPr>
              <a:t>/** Advance the chassis by one tick, following 'wheels' as closely as grip allows. */</a:t>
            </a:r>
            <a:endParaRPr lang="en-US" sz="1300" dirty="0"/>
          </a:p>
          <a:p>
            <a:pPr indent="0" marL="0">
              <a:lnSpc>
                <a:spcPct val="120000"/>
              </a:lnSpc>
              <a:buNone/>
            </a:pPr>
            <a:r>
              <a:rPr lang="en-US" sz="1300" dirty="0">
                <a:solidFill>
                  <a:srgbClr val="FFD166"/>
                </a:solidFill>
                <a:latin typeface="Courier New" pitchFamily="34" charset="0"/>
                <a:ea typeface="Courier New" pitchFamily="34" charset="-122"/>
                <a:cs typeface="Courier New" pitchFamily="34" charset="-120"/>
              </a:rPr>
              <a:t>public void update(ChassisVelocities wheels, double dtSeconds) {</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Translation2d nextVelocityXY = MathUtil.slewRateLimit(</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new Translation2d(m_velocity.vx, m_velocity.vy),</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new Translation2d(wheels.vx, wheels.vy),</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DriveConstants.kMaxAccelMps2,</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dtSeconds);</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double omega = chaseOmega(m_velocity.omega, wheels.omega, dtSeconds);</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m_velocity = new ChassisVelocities(nextVelocityXY.getX(), nextVelocityXY.getY(), omega);</a:t>
            </a:r>
            <a:endParaRPr lang="en-US" sz="1300" dirty="0"/>
          </a:p>
          <a:p>
            <a:pPr indent="0" marL="0">
              <a:lnSpc>
                <a:spcPct val="120000"/>
              </a:lnSpc>
              <a:buNone/>
            </a:pPr>
            <a:endParaRPr lang="en-US" sz="1300" dirty="0"/>
          </a:p>
          <a:p>
            <a:pPr indent="0" marL="0">
              <a:lnSpc>
                <a:spcPct val="120000"/>
              </a:lnSpc>
              <a:buNone/>
            </a:pPr>
            <a:r>
              <a:rPr lang="en-US" sz="1300" dirty="0">
                <a:solidFill>
                  <a:srgbClr val="7FA8C9"/>
                </a:solidFill>
                <a:latin typeface="Courier New" pitchFamily="34" charset="0"/>
                <a:ea typeface="Courier New" pitchFamily="34" charset="-122"/>
                <a:cs typeface="Courier New" pitchFamily="34" charset="-120"/>
              </a:rPr>
              <a:t>  // Exact integration: how far a constant twist carries the chassis,</a:t>
            </a:r>
            <a:endParaRPr lang="en-US" sz="1300" dirty="0"/>
          </a:p>
          <a:p>
            <a:pPr indent="0" marL="0">
              <a:lnSpc>
                <a:spcPct val="120000"/>
              </a:lnSpc>
              <a:buNone/>
            </a:pPr>
            <a:r>
              <a:rPr lang="en-US" sz="1300" dirty="0">
                <a:solidFill>
                  <a:srgbClr val="7FA8C9"/>
                </a:solidFill>
                <a:latin typeface="Courier New" pitchFamily="34" charset="0"/>
                <a:ea typeface="Courier New" pitchFamily="34" charset="-122"/>
                <a:cs typeface="Courier New" pitchFamily="34" charset="-120"/>
              </a:rPr>
              <a:t>  // curved turns included, not just a straight-line approximation.</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m_pose = m_pose.plus(m_velocity.toTwist2d(dtSeconds).exp());</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a:t>
            </a:r>
            <a:endParaRPr lang="en-US" sz="1300" dirty="0"/>
          </a:p>
        </p:txBody>
      </p:sp>
      <p:sp>
        <p:nvSpPr>
          <p:cNvPr id="12" name="Text 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GROUND TRUTH</a:t>
            </a:r>
            <a:endParaRPr lang="en-US" sz="2000" dirty="0"/>
          </a:p>
        </p:txBody>
      </p:sp>
      <p:sp>
        <p:nvSpPr>
          <p:cNvPr id="13" name="Text 1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7</a:t>
            </a:r>
            <a:endParaRPr lang="en-US" sz="2000" dirty="0"/>
          </a:p>
        </p:txBody>
      </p:sp>
      <p:pic>
        <p:nvPicPr>
          <p:cNvPr id="14"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FF5010"/>
          </a:solidFill>
          <a:ln/>
        </p:spPr>
      </p:sp>
      <p:pic>
        <p:nvPicPr>
          <p:cNvPr id="3" name="Image 0" descr="/home/user/BasicRobotLessons/docs/presentations/v3/template/assets/icons/compressarrowsalt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00" kern="0" dirty="0">
                <a:solidFill>
                  <a:srgbClr val="1B9AAA"/>
                </a:solidFill>
                <a:latin typeface="Calibri" pitchFamily="34" charset="0"/>
                <a:ea typeface="Calibri" pitchFamily="34" charset="-122"/>
                <a:cs typeface="Calibri" pitchFamily="34" charset="-120"/>
              </a:rPr>
              <a:t>SECTION 3 · READING THE CODE</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A vector rate limit, not two separate ones</a:t>
            </a:r>
            <a:endParaRPr lang="en-US" sz="3000" dirty="0"/>
          </a:p>
        </p:txBody>
      </p:sp>
      <p:sp>
        <p:nvSpPr>
          <p:cNvPr id="6" name="Shape 3"/>
          <p:cNvSpPr/>
          <p:nvPr/>
        </p:nvSpPr>
        <p:spPr>
          <a:xfrm>
            <a:off x="640080" y="1737360"/>
            <a:ext cx="10881360" cy="2286000"/>
          </a:xfrm>
          <a:prstGeom prst="roundRect">
            <a:avLst>
              <a:gd name="adj" fmla="val 4000"/>
            </a:avLst>
          </a:prstGeom>
          <a:solidFill>
            <a:srgbClr val="132A4C"/>
          </a:solidFill>
          <a:ln/>
        </p:spPr>
      </p:sp>
      <p:sp>
        <p:nvSpPr>
          <p:cNvPr id="7" name="Text 4"/>
          <p:cNvSpPr/>
          <p:nvPr/>
        </p:nvSpPr>
        <p:spPr>
          <a:xfrm>
            <a:off x="914400" y="2011680"/>
            <a:ext cx="10332720" cy="561975"/>
          </a:xfrm>
          <a:prstGeom prst="rect">
            <a:avLst/>
          </a:prstGeom>
          <a:noFill/>
          <a:ln/>
        </p:spPr>
        <p:txBody>
          <a:bodyPr wrap="square" lIns="0" tIns="0" rIns="0" bIns="0" rtlCol="0" anchor="t"/>
          <a:lstStyle/>
          <a:p>
            <a:pPr indent="0" marL="0">
              <a:lnSpc>
                <a:spcPct val="120000"/>
              </a:lnSpc>
              <a:buNone/>
            </a:pPr>
            <a:r>
              <a:rPr lang="en-US" sz="2100" b="1" dirty="0">
                <a:solidFill>
                  <a:srgbClr val="FFFFFF"/>
                </a:solidFill>
                <a:latin typeface="Cambria" pitchFamily="34" charset="0"/>
                <a:ea typeface="Cambria" pitchFamily="34" charset="-122"/>
                <a:cs typeface="Cambria" pitchFamily="34" charset="-120"/>
              </a:rPr>
              <a:t>Handing it a Translation2d instead of a bare number is the whole trick</a:t>
            </a:r>
            <a:endParaRPr lang="en-US" sz="2100" dirty="0"/>
          </a:p>
        </p:txBody>
      </p:sp>
      <p:sp>
        <p:nvSpPr>
          <p:cNvPr id="8" name="Text 5"/>
          <p:cNvSpPr/>
          <p:nvPr/>
        </p:nvSpPr>
        <p:spPr>
          <a:xfrm>
            <a:off x="914400" y="2573655"/>
            <a:ext cx="10332720" cy="1175385"/>
          </a:xfrm>
          <a:prstGeom prst="rect">
            <a:avLst/>
          </a:prstGeom>
          <a:noFill/>
          <a:ln/>
        </p:spPr>
        <p:txBody>
          <a:bodyPr wrap="square" lIns="0" tIns="0" rIns="0" bIns="0" rtlCol="0" anchor="t"/>
          <a:lstStyle/>
          <a:p>
            <a:pPr indent="0" marL="0">
              <a:lnSpc>
                <a:spcPct val="125000"/>
              </a:lnSpc>
              <a:buNone/>
            </a:pPr>
            <a:r>
              <a:rPr lang="en-US" sz="1900" dirty="0">
                <a:solidFill>
                  <a:srgbClr val="D7E3F4"/>
                </a:solidFill>
                <a:latin typeface="Calibri" pitchFamily="34" charset="0"/>
                <a:ea typeface="Calibri" pitchFamily="34" charset="-122"/>
                <a:cs typeface="Calibri" pitchFamily="34" charset="-120"/>
              </a:rPr>
              <a:t>vx and vy don't get clamped separately — they're bundled into one 2D vector and rate-limited as a magnitude, so a diagonal acceleration is limited by the same grip a straight-line one is, not double-counted on each axis.</a:t>
            </a:r>
            <a:endParaRPr lang="en-US" sz="1900" dirty="0"/>
          </a:p>
        </p:txBody>
      </p:sp>
      <p:sp>
        <p:nvSpPr>
          <p:cNvPr id="9" name="Shape 6"/>
          <p:cNvSpPr/>
          <p:nvPr/>
        </p:nvSpPr>
        <p:spPr>
          <a:xfrm>
            <a:off x="640080" y="4206240"/>
            <a:ext cx="10881360" cy="2011680"/>
          </a:xfrm>
          <a:prstGeom prst="roundRect">
            <a:avLst>
              <a:gd name="adj" fmla="val 4545"/>
            </a:avLst>
          </a:prstGeom>
          <a:solidFill>
            <a:srgbClr val="132A4C"/>
          </a:solidFill>
          <a:ln/>
        </p:spPr>
      </p:sp>
      <p:sp>
        <p:nvSpPr>
          <p:cNvPr id="10" name="Text 7"/>
          <p:cNvSpPr/>
          <p:nvPr/>
        </p:nvSpPr>
        <p:spPr>
          <a:xfrm>
            <a:off x="914400" y="4480560"/>
            <a:ext cx="10332720" cy="561975"/>
          </a:xfrm>
          <a:prstGeom prst="rect">
            <a:avLst/>
          </a:prstGeom>
          <a:noFill/>
          <a:ln/>
        </p:spPr>
        <p:txBody>
          <a:bodyPr wrap="square" lIns="0" tIns="0" rIns="0" bIns="0" rtlCol="0" anchor="t"/>
          <a:lstStyle/>
          <a:p>
            <a:pPr indent="0" marL="0">
              <a:lnSpc>
                <a:spcPct val="120000"/>
              </a:lnSpc>
              <a:buNone/>
            </a:pPr>
            <a:r>
              <a:rPr lang="en-US" sz="2100" b="1" dirty="0">
                <a:solidFill>
                  <a:srgbClr val="FFFFFF"/>
                </a:solidFill>
                <a:latin typeface="Cambria" pitchFamily="34" charset="0"/>
                <a:ea typeface="Cambria" pitchFamily="34" charset="-122"/>
                <a:cs typeface="Cambria" pitchFamily="34" charset="-120"/>
              </a:rPr>
              <a:t>A geometry type, repurposed to hold a velocity</a:t>
            </a:r>
            <a:endParaRPr lang="en-US" sz="2100" dirty="0"/>
          </a:p>
        </p:txBody>
      </p:sp>
      <p:sp>
        <p:nvSpPr>
          <p:cNvPr id="11" name="Text 8"/>
          <p:cNvSpPr/>
          <p:nvPr/>
        </p:nvSpPr>
        <p:spPr>
          <a:xfrm>
            <a:off x="914400" y="5042535"/>
            <a:ext cx="10332720" cy="901065"/>
          </a:xfrm>
          <a:prstGeom prst="rect">
            <a:avLst/>
          </a:prstGeom>
          <a:noFill/>
          <a:ln/>
        </p:spPr>
        <p:txBody>
          <a:bodyPr wrap="square" lIns="0" tIns="0" rIns="0" bIns="0" rtlCol="0" anchor="t"/>
          <a:lstStyle/>
          <a:p>
            <a:pPr indent="0" marL="0">
              <a:lnSpc>
                <a:spcPct val="125000"/>
              </a:lnSpc>
              <a:buNone/>
            </a:pPr>
            <a:r>
              <a:rPr lang="en-US" sz="1900" dirty="0">
                <a:solidFill>
                  <a:srgbClr val="D7E3F4"/>
                </a:solidFill>
                <a:latin typeface="Calibri" pitchFamily="34" charset="0"/>
                <a:ea typeface="Calibri" pitchFamily="34" charset="-122"/>
                <a:cs typeface="Calibri" pitchFamily="34" charset="-120"/>
              </a:rPr>
              <a:t>Translation2d is just an (x, y) pair. Nothing stops you from repurposing it to hold a velocity instead of a position — this is a legitimate use of one.</a:t>
            </a:r>
            <a:endParaRPr lang="en-US" sz="1900" dirty="0"/>
          </a:p>
        </p:txBody>
      </p:sp>
      <p:sp>
        <p:nvSpPr>
          <p:cNvPr id="12" name="Text 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7A93B8"/>
                </a:solidFill>
                <a:latin typeface="Calibri" pitchFamily="34" charset="0"/>
                <a:ea typeface="Calibri" pitchFamily="34" charset="-122"/>
                <a:cs typeface="Calibri" pitchFamily="34" charset="-120"/>
              </a:rPr>
              <a:t>LEARN JAVA + ROBOT PROGRAMMING · GROUND TRUTH</a:t>
            </a:r>
            <a:endParaRPr lang="en-US" sz="2000" dirty="0"/>
          </a:p>
        </p:txBody>
      </p:sp>
      <p:sp>
        <p:nvSpPr>
          <p:cNvPr id="13" name="Text 1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7A93B8"/>
                </a:solidFill>
                <a:latin typeface="Calibri" pitchFamily="34" charset="0"/>
                <a:ea typeface="Calibri" pitchFamily="34" charset="-122"/>
                <a:cs typeface="Calibri" pitchFamily="34" charset="-120"/>
              </a:rPr>
              <a:t>8</a:t>
            </a:r>
            <a:endParaRPr lang="en-US" sz="2000" dirty="0"/>
          </a:p>
        </p:txBody>
      </p:sp>
      <p:pic>
        <p:nvPicPr>
          <p:cNvPr id="14" name="Image 1" descr="/home/user/BasicRobotLessons/docs/presentations/v3/template/assets/logo/team5010-logo-onnavy.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cube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3 · A NEW FILE</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ChassisSimulation — chaseOmega, and a getter</a:t>
            </a:r>
            <a:endParaRPr lang="en-US" sz="3000" dirty="0"/>
          </a:p>
        </p:txBody>
      </p:sp>
      <p:sp>
        <p:nvSpPr>
          <p:cNvPr id="6" name="Shape 3"/>
          <p:cNvSpPr/>
          <p:nvPr/>
        </p:nvSpPr>
        <p:spPr>
          <a:xfrm>
            <a:off x="640080" y="1280160"/>
            <a:ext cx="10881360" cy="4206240"/>
          </a:xfrm>
          <a:prstGeom prst="roundRect">
            <a:avLst>
              <a:gd name="adj" fmla="val 2609"/>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426464"/>
            <a:ext cx="128016" cy="128016"/>
          </a:xfrm>
          <a:prstGeom prst="ellipse">
            <a:avLst/>
          </a:prstGeom>
          <a:solidFill>
            <a:srgbClr val="FF6B6B"/>
          </a:solidFill>
          <a:ln/>
        </p:spPr>
      </p:sp>
      <p:sp>
        <p:nvSpPr>
          <p:cNvPr id="8" name="Shape 5"/>
          <p:cNvSpPr/>
          <p:nvPr/>
        </p:nvSpPr>
        <p:spPr>
          <a:xfrm>
            <a:off x="11210544" y="1627632"/>
            <a:ext cx="128016" cy="128016"/>
          </a:xfrm>
          <a:prstGeom prst="ellipse">
            <a:avLst/>
          </a:prstGeom>
          <a:solidFill>
            <a:srgbClr val="FFD166"/>
          </a:solidFill>
          <a:ln/>
        </p:spPr>
      </p:sp>
      <p:sp>
        <p:nvSpPr>
          <p:cNvPr id="9" name="Shape 6"/>
          <p:cNvSpPr/>
          <p:nvPr/>
        </p:nvSpPr>
        <p:spPr>
          <a:xfrm>
            <a:off x="11210544" y="1828800"/>
            <a:ext cx="128016" cy="128016"/>
          </a:xfrm>
          <a:prstGeom prst="ellipse">
            <a:avLst/>
          </a:prstGeom>
          <a:solidFill>
            <a:srgbClr val="2EC4B6"/>
          </a:solidFill>
          <a:ln/>
        </p:spPr>
      </p:sp>
      <p:sp>
        <p:nvSpPr>
          <p:cNvPr id="10" name="Text 7"/>
          <p:cNvSpPr/>
          <p:nvPr/>
        </p:nvSpPr>
        <p:spPr>
          <a:xfrm>
            <a:off x="914400" y="140817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to ChassisSimulation — piece 3, closing out the class</a:t>
            </a:r>
            <a:endParaRPr lang="en-US" sz="1500" dirty="0"/>
          </a:p>
        </p:txBody>
      </p:sp>
      <p:sp>
        <p:nvSpPr>
          <p:cNvPr id="11" name="Text 8"/>
          <p:cNvSpPr/>
          <p:nvPr/>
        </p:nvSpPr>
        <p:spPr>
          <a:xfrm>
            <a:off x="914400" y="1737360"/>
            <a:ext cx="10195560" cy="3547872"/>
          </a:xfrm>
          <a:prstGeom prst="rect">
            <a:avLst/>
          </a:prstGeom>
          <a:noFill/>
          <a:ln/>
        </p:spPr>
        <p:txBody>
          <a:bodyPr wrap="square" lIns="0" tIns="0" rIns="0" bIns="0" rtlCol="0" anchor="t"/>
          <a:lstStyle/>
          <a:p>
            <a:pPr indent="0" marL="0">
              <a:lnSpc>
                <a:spcPct val="120000"/>
              </a:lnSpc>
              <a:buNone/>
            </a:pPr>
            <a:r>
              <a:rPr lang="en-US" sz="1200" dirty="0">
                <a:solidFill>
                  <a:srgbClr val="7FA8C9"/>
                </a:solidFill>
                <a:latin typeface="Courier New" pitchFamily="34" charset="0"/>
                <a:ea typeface="Courier New" pitchFamily="34" charset="-122"/>
                <a:cs typeface="Courier New" pitchFamily="34" charset="-120"/>
              </a:rPr>
              <a:t>/** Move 'current' toward 'target', never faster than the grip-limited angular rate. */</a:t>
            </a:r>
            <a:endParaRPr lang="en-US" sz="1200" dirty="0"/>
          </a:p>
          <a:p>
            <a:pPr indent="0" marL="0">
              <a:lnSpc>
                <a:spcPct val="120000"/>
              </a:lnSpc>
              <a:buNone/>
            </a:pPr>
            <a:r>
              <a:rPr lang="en-US" sz="1200" dirty="0">
                <a:solidFill>
                  <a:srgbClr val="FFD166"/>
                </a:solidFill>
                <a:latin typeface="Courier New" pitchFamily="34" charset="0"/>
                <a:ea typeface="Courier New" pitchFamily="34" charset="-122"/>
                <a:cs typeface="Courier New" pitchFamily="34" charset="-120"/>
              </a:rPr>
              <a:t>private double chaseOmega(double current, double target, double dtSeconds) {</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double maxStep = DriveConstants.kMaxAngularAccelRadPerSec2 * dtSeconds;</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double error = target - current;</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if (error &gt; maxStep) {</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return current + maxStep;</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 else if (error &lt; -maxStep) {</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return current - maxStep;</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 else {</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return target;</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a:t>
            </a:r>
            <a:endParaRPr lang="en-US" sz="1200" dirty="0"/>
          </a:p>
          <a:p>
            <a:pPr indent="0" marL="0">
              <a:lnSpc>
                <a:spcPct val="120000"/>
              </a:lnSpc>
              <a:buNone/>
            </a:pPr>
            <a:endParaRPr lang="en-US" sz="1200" dirty="0"/>
          </a:p>
          <a:p>
            <a:pPr indent="0" marL="0">
              <a:lnSpc>
                <a:spcPct val="120000"/>
              </a:lnSpc>
              <a:buNone/>
            </a:pPr>
            <a:r>
              <a:rPr lang="en-US" sz="1200" dirty="0">
                <a:solidFill>
                  <a:srgbClr val="FFD166"/>
                </a:solidFill>
                <a:latin typeface="Courier New" pitchFamily="34" charset="0"/>
                <a:ea typeface="Courier New" pitchFamily="34" charset="-122"/>
                <a:cs typeface="Courier New" pitchFamily="34" charset="-120"/>
              </a:rPr>
              <a:t>public Pose2d getPose() {</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return m_pose;</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a:t>
            </a:r>
            <a:endParaRPr lang="en-US" sz="1200" dirty="0"/>
          </a:p>
        </p:txBody>
      </p:sp>
      <p:sp>
        <p:nvSpPr>
          <p:cNvPr id="12" name="Text 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GROUND TRUTH</a:t>
            </a:r>
            <a:endParaRPr lang="en-US" sz="2000" dirty="0"/>
          </a:p>
        </p:txBody>
      </p:sp>
      <p:sp>
        <p:nvSpPr>
          <p:cNvPr id="13" name="Text 1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9</a:t>
            </a:r>
            <a:endParaRPr lang="en-US" sz="2000" dirty="0"/>
          </a:p>
        </p:txBody>
      </p:sp>
      <p:pic>
        <p:nvPicPr>
          <p:cNvPr id="14"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FF5010"/>
          </a:solidFill>
          <a:ln/>
        </p:spPr>
      </p:sp>
      <p:pic>
        <p:nvPicPr>
          <p:cNvPr id="3" name="Image 0" descr="/home/user/BasicRobotLessons/docs/presentations/v3/template/assets/icons/syncalt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00" kern="0" dirty="0">
                <a:solidFill>
                  <a:srgbClr val="1B9AAA"/>
                </a:solidFill>
                <a:latin typeface="Calibri" pitchFamily="34" charset="0"/>
                <a:ea typeface="Calibri" pitchFamily="34" charset="-122"/>
                <a:cs typeface="Calibri" pitchFamily="34" charset="-120"/>
              </a:rPr>
              <a:t>SECTION 3 · READING THE CODE</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2950" b="1" dirty="0">
                <a:solidFill>
                  <a:srgbClr val="FFFFFF"/>
                </a:solidFill>
                <a:latin typeface="Cambria" pitchFamily="34" charset="0"/>
                <a:ea typeface="Cambria" pitchFamily="34" charset="-122"/>
                <a:cs typeface="Cambria" pitchFamily="34" charset="-120"/>
              </a:rPr>
              <a:t>Twist2d.exp() — the same math odometry runs internally</a:t>
            </a:r>
            <a:endParaRPr lang="en-US" sz="2950" dirty="0"/>
          </a:p>
        </p:txBody>
      </p:sp>
      <p:sp>
        <p:nvSpPr>
          <p:cNvPr id="6" name="Shape 3"/>
          <p:cNvSpPr/>
          <p:nvPr/>
        </p:nvSpPr>
        <p:spPr>
          <a:xfrm>
            <a:off x="640080" y="1645920"/>
            <a:ext cx="10881360" cy="2103120"/>
          </a:xfrm>
          <a:prstGeom prst="roundRect">
            <a:avLst>
              <a:gd name="adj" fmla="val 4348"/>
            </a:avLst>
          </a:prstGeom>
          <a:solidFill>
            <a:srgbClr val="132A4C"/>
          </a:solidFill>
          <a:ln/>
        </p:spPr>
      </p:sp>
      <p:sp>
        <p:nvSpPr>
          <p:cNvPr id="7" name="Text 4"/>
          <p:cNvSpPr/>
          <p:nvPr/>
        </p:nvSpPr>
        <p:spPr>
          <a:xfrm>
            <a:off x="914400" y="1920240"/>
            <a:ext cx="10332720" cy="561975"/>
          </a:xfrm>
          <a:prstGeom prst="rect">
            <a:avLst/>
          </a:prstGeom>
          <a:noFill/>
          <a:ln/>
        </p:spPr>
        <p:txBody>
          <a:bodyPr wrap="square" lIns="0" tIns="0" rIns="0" bIns="0" rtlCol="0" anchor="t"/>
          <a:lstStyle/>
          <a:p>
            <a:pPr indent="0" marL="0">
              <a:lnSpc>
                <a:spcPct val="120000"/>
              </a:lnSpc>
              <a:buNone/>
            </a:pPr>
            <a:r>
              <a:rPr lang="en-US" sz="2100" b="1" dirty="0">
                <a:solidFill>
                  <a:srgbClr val="FFFFFF"/>
                </a:solidFill>
                <a:latin typeface="Cambria" pitchFamily="34" charset="0"/>
                <a:ea typeface="Cambria" pitchFamily="34" charset="-122"/>
                <a:cs typeface="Cambria" pitchFamily="34" charset="-120"/>
              </a:rPr>
              <a:t>toTwist2d(dt) — "this velocity, held for this long"</a:t>
            </a:r>
            <a:endParaRPr lang="en-US" sz="2100" dirty="0"/>
          </a:p>
        </p:txBody>
      </p:sp>
      <p:sp>
        <p:nvSpPr>
          <p:cNvPr id="8" name="Text 5"/>
          <p:cNvSpPr/>
          <p:nvPr/>
        </p:nvSpPr>
        <p:spPr>
          <a:xfrm>
            <a:off x="914400" y="2482215"/>
            <a:ext cx="10332720" cy="992505"/>
          </a:xfrm>
          <a:prstGeom prst="rect">
            <a:avLst/>
          </a:prstGeom>
          <a:noFill/>
          <a:ln/>
        </p:spPr>
        <p:txBody>
          <a:bodyPr wrap="square" lIns="0" tIns="0" rIns="0" bIns="0" rtlCol="0" anchor="t"/>
          <a:lstStyle/>
          <a:p>
            <a:pPr indent="0" marL="0">
              <a:lnSpc>
                <a:spcPct val="125000"/>
              </a:lnSpc>
              <a:buNone/>
            </a:pPr>
            <a:r>
              <a:rPr lang="en-US" sz="1900" dirty="0">
                <a:solidFill>
                  <a:srgbClr val="D7E3F4"/>
                </a:solidFill>
                <a:latin typeface="Calibri" pitchFamily="34" charset="0"/>
                <a:ea typeface="Calibri" pitchFamily="34" charset="-122"/>
                <a:cs typeface="Calibri" pitchFamily="34" charset="-120"/>
              </a:rPr>
              <a:t>m_velocity.toTwist2d(dtSeconds) turns a velocity into a Twist2d — how far the chassis moved in that instant, exactly the small nudge SwerveDriveOdometry computes every tick from your wheel encoders.</a:t>
            </a:r>
            <a:endParaRPr lang="en-US" sz="1900" dirty="0"/>
          </a:p>
        </p:txBody>
      </p:sp>
      <p:sp>
        <p:nvSpPr>
          <p:cNvPr id="9" name="Shape 6"/>
          <p:cNvSpPr/>
          <p:nvPr/>
        </p:nvSpPr>
        <p:spPr>
          <a:xfrm>
            <a:off x="640080" y="3886200"/>
            <a:ext cx="10881360" cy="2468880"/>
          </a:xfrm>
          <a:prstGeom prst="roundRect">
            <a:avLst>
              <a:gd name="adj" fmla="val 3704"/>
            </a:avLst>
          </a:prstGeom>
          <a:solidFill>
            <a:srgbClr val="132A4C"/>
          </a:solidFill>
          <a:ln/>
        </p:spPr>
      </p:sp>
      <p:sp>
        <p:nvSpPr>
          <p:cNvPr id="10" name="Text 7"/>
          <p:cNvSpPr/>
          <p:nvPr/>
        </p:nvSpPr>
        <p:spPr>
          <a:xfrm>
            <a:off x="914400" y="4160520"/>
            <a:ext cx="10332720" cy="561975"/>
          </a:xfrm>
          <a:prstGeom prst="rect">
            <a:avLst/>
          </a:prstGeom>
          <a:noFill/>
          <a:ln/>
        </p:spPr>
        <p:txBody>
          <a:bodyPr wrap="square" lIns="0" tIns="0" rIns="0" bIns="0" rtlCol="0" anchor="t"/>
          <a:lstStyle/>
          <a:p>
            <a:pPr indent="0" marL="0">
              <a:lnSpc>
                <a:spcPct val="120000"/>
              </a:lnSpc>
              <a:buNone/>
            </a:pPr>
            <a:r>
              <a:rPr lang="en-US" sz="2100" b="1" dirty="0">
                <a:solidFill>
                  <a:srgbClr val="FFFFFF"/>
                </a:solidFill>
                <a:latin typeface="Cambria" pitchFamily="34" charset="0"/>
                <a:ea typeface="Cambria" pitchFamily="34" charset="-122"/>
                <a:cs typeface="Cambria" pitchFamily="34" charset="-120"/>
              </a:rPr>
              <a:t>exp() turns that nudge into a curve, not a straight line</a:t>
            </a:r>
            <a:endParaRPr lang="en-US" sz="2100" dirty="0"/>
          </a:p>
        </p:txBody>
      </p:sp>
      <p:sp>
        <p:nvSpPr>
          <p:cNvPr id="11" name="Text 8"/>
          <p:cNvSpPr/>
          <p:nvPr/>
        </p:nvSpPr>
        <p:spPr>
          <a:xfrm>
            <a:off x="914400" y="4722495"/>
            <a:ext cx="10332720" cy="1358265"/>
          </a:xfrm>
          <a:prstGeom prst="rect">
            <a:avLst/>
          </a:prstGeom>
          <a:noFill/>
          <a:ln/>
        </p:spPr>
        <p:txBody>
          <a:bodyPr wrap="square" lIns="0" tIns="0" rIns="0" bIns="0" rtlCol="0" anchor="t"/>
          <a:lstStyle/>
          <a:p>
            <a:pPr indent="0" marL="0">
              <a:lnSpc>
                <a:spcPct val="125000"/>
              </a:lnSpc>
              <a:buNone/>
            </a:pPr>
            <a:r>
              <a:rPr lang="en-US" sz="1900" dirty="0">
                <a:solidFill>
                  <a:srgbClr val="D7E3F4"/>
                </a:solidFill>
                <a:latin typeface="Calibri" pitchFamily="34" charset="0"/>
                <a:ea typeface="Calibri" pitchFamily="34" charset="-122"/>
                <a:cs typeface="Calibri" pitchFamily="34" charset="-120"/>
              </a:rPr>
              <a:t>Twist2d.exp() accounts for the curve a turning chassis actually traces, and Pose2d.plus(Transform2d) composes it onto where the chassis already was — precisely what SwerveDriveOdometry.update(...) does under the hood, written out instead of hidden behind a library call.</a:t>
            </a:r>
            <a:endParaRPr lang="en-US" sz="1900" dirty="0"/>
          </a:p>
        </p:txBody>
      </p:sp>
      <p:sp>
        <p:nvSpPr>
          <p:cNvPr id="12" name="Text 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7A93B8"/>
                </a:solidFill>
                <a:latin typeface="Calibri" pitchFamily="34" charset="0"/>
                <a:ea typeface="Calibri" pitchFamily="34" charset="-122"/>
                <a:cs typeface="Calibri" pitchFamily="34" charset="-120"/>
              </a:rPr>
              <a:t>LEARN JAVA + ROBOT PROGRAMMING · GROUND TRUTH</a:t>
            </a:r>
            <a:endParaRPr lang="en-US" sz="2000" dirty="0"/>
          </a:p>
        </p:txBody>
      </p:sp>
      <p:sp>
        <p:nvSpPr>
          <p:cNvPr id="13" name="Text 1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7A93B8"/>
                </a:solidFill>
                <a:latin typeface="Calibri" pitchFamily="34" charset="0"/>
                <a:ea typeface="Calibri" pitchFamily="34" charset="-122"/>
                <a:cs typeface="Calibri" pitchFamily="34" charset="-120"/>
              </a:rPr>
              <a:t>10</a:t>
            </a:r>
            <a:endParaRPr lang="en-US" sz="2000" dirty="0"/>
          </a:p>
        </p:txBody>
      </p:sp>
      <p:pic>
        <p:nvPicPr>
          <p:cNvPr id="14" name="Image 1" descr="/home/user/BasicRobotLessons/docs/presentations/v3/template/assets/logo/team5010-logo-onnavy.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plug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4 · DRIVETRAIN.JAVA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One shared chassis, null on a real robot</a:t>
            </a:r>
            <a:endParaRPr lang="en-US" sz="3000" dirty="0"/>
          </a:p>
        </p:txBody>
      </p:sp>
      <p:sp>
        <p:nvSpPr>
          <p:cNvPr id="6" name="Shape 3"/>
          <p:cNvSpPr/>
          <p:nvPr/>
        </p:nvSpPr>
        <p:spPr>
          <a:xfrm>
            <a:off x="640080" y="1280160"/>
            <a:ext cx="10881360" cy="1371600"/>
          </a:xfrm>
          <a:prstGeom prst="roundRect">
            <a:avLst>
              <a:gd name="adj" fmla="val 8000"/>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426464"/>
            <a:ext cx="128016" cy="128016"/>
          </a:xfrm>
          <a:prstGeom prst="ellipse">
            <a:avLst/>
          </a:prstGeom>
          <a:solidFill>
            <a:srgbClr val="FF6B6B"/>
          </a:solidFill>
          <a:ln/>
        </p:spPr>
      </p:sp>
      <p:sp>
        <p:nvSpPr>
          <p:cNvPr id="8" name="Shape 5"/>
          <p:cNvSpPr/>
          <p:nvPr/>
        </p:nvSpPr>
        <p:spPr>
          <a:xfrm>
            <a:off x="11210544" y="1627632"/>
            <a:ext cx="128016" cy="128016"/>
          </a:xfrm>
          <a:prstGeom prst="ellipse">
            <a:avLst/>
          </a:prstGeom>
          <a:solidFill>
            <a:srgbClr val="FFD166"/>
          </a:solidFill>
          <a:ln/>
        </p:spPr>
      </p:sp>
      <p:sp>
        <p:nvSpPr>
          <p:cNvPr id="9" name="Shape 6"/>
          <p:cNvSpPr/>
          <p:nvPr/>
        </p:nvSpPr>
        <p:spPr>
          <a:xfrm>
            <a:off x="11210544" y="1828800"/>
            <a:ext cx="128016" cy="128016"/>
          </a:xfrm>
          <a:prstGeom prst="ellipse">
            <a:avLst/>
          </a:prstGeom>
          <a:solidFill>
            <a:srgbClr val="2EC4B6"/>
          </a:solidFill>
          <a:ln/>
        </p:spPr>
      </p:sp>
      <p:sp>
        <p:nvSpPr>
          <p:cNvPr id="10" name="Text 7"/>
          <p:cNvSpPr/>
          <p:nvPr/>
        </p:nvSpPr>
        <p:spPr>
          <a:xfrm>
            <a:off x="914400" y="140817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to Drivetrain, above the m_gyroIO field</a:t>
            </a:r>
            <a:endParaRPr lang="en-US" sz="1500" dirty="0"/>
          </a:p>
        </p:txBody>
      </p:sp>
      <p:sp>
        <p:nvSpPr>
          <p:cNvPr id="11" name="Text 8"/>
          <p:cNvSpPr/>
          <p:nvPr/>
        </p:nvSpPr>
        <p:spPr>
          <a:xfrm>
            <a:off x="914400" y="1737360"/>
            <a:ext cx="10195560" cy="713232"/>
          </a:xfrm>
          <a:prstGeom prst="rect">
            <a:avLst/>
          </a:prstGeom>
          <a:noFill/>
          <a:ln/>
        </p:spPr>
        <p:txBody>
          <a:bodyPr wrap="square" lIns="0" tIns="0" rIns="0" bIns="0" rtlCol="0" anchor="t"/>
          <a:lstStyle/>
          <a:p>
            <a:pPr indent="0" marL="0">
              <a:lnSpc>
                <a:spcPct val="120000"/>
              </a:lnSpc>
              <a:buNone/>
            </a:pPr>
            <a:r>
              <a:rPr lang="en-US" sz="1300" dirty="0">
                <a:solidFill>
                  <a:srgbClr val="7FA8C9"/>
                </a:solidFill>
                <a:latin typeface="Courier New" pitchFamily="34" charset="0"/>
                <a:ea typeface="Courier New" pitchFamily="34" charset="-122"/>
                <a:cs typeface="Courier New" pitchFamily="34" charset="-120"/>
              </a:rPr>
              <a:t>// The chassis's ground truth in the physics world — one, shared, null on</a:t>
            </a:r>
            <a:endParaRPr lang="en-US" sz="1300" dirty="0"/>
          </a:p>
          <a:p>
            <a:pPr indent="0" marL="0">
              <a:lnSpc>
                <a:spcPct val="120000"/>
              </a:lnSpc>
              <a:buNone/>
            </a:pPr>
            <a:r>
              <a:rPr lang="en-US" sz="1300" dirty="0">
                <a:solidFill>
                  <a:srgbClr val="7FA8C9"/>
                </a:solidFill>
                <a:latin typeface="Courier New" pitchFamily="34" charset="0"/>
                <a:ea typeface="Courier New" pitchFamily="34" charset="-122"/>
                <a:cs typeface="Courier New" pitchFamily="34" charset="-120"/>
              </a:rPr>
              <a:t>// a real robot (which already has a world) and in replay (which needs none).</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private static final ChassisSimulation m_chassisSim = createChassisSim();</a:t>
            </a:r>
            <a:endParaRPr lang="en-US" sz="1300" dirty="0"/>
          </a:p>
        </p:txBody>
      </p:sp>
      <p:sp>
        <p:nvSpPr>
          <p:cNvPr id="12" name="Shape 9"/>
          <p:cNvSpPr/>
          <p:nvPr/>
        </p:nvSpPr>
        <p:spPr>
          <a:xfrm>
            <a:off x="640080" y="2880360"/>
            <a:ext cx="10881360" cy="2331720"/>
          </a:xfrm>
          <a:prstGeom prst="roundRect">
            <a:avLst>
              <a:gd name="adj" fmla="val 4706"/>
            </a:avLst>
          </a:prstGeom>
          <a:solidFill>
            <a:srgbClr val="0B1F3A"/>
          </a:solidFill>
          <a:ln/>
          <a:effectLst>
            <a:outerShdw sx="100000" sy="100000" kx="0" ky="0" algn="bl" rotWithShape="0" blurRad="101600" dist="38100" dir="5400000">
              <a:srgbClr val="0B1F3A">
                <a:alpha val="35000"/>
              </a:srgbClr>
            </a:outerShdw>
          </a:effectLst>
        </p:spPr>
      </p:sp>
      <p:sp>
        <p:nvSpPr>
          <p:cNvPr id="13" name="Shape 10"/>
          <p:cNvSpPr/>
          <p:nvPr/>
        </p:nvSpPr>
        <p:spPr>
          <a:xfrm>
            <a:off x="11210544" y="3026664"/>
            <a:ext cx="128016" cy="128016"/>
          </a:xfrm>
          <a:prstGeom prst="ellipse">
            <a:avLst/>
          </a:prstGeom>
          <a:solidFill>
            <a:srgbClr val="FF6B6B"/>
          </a:solidFill>
          <a:ln/>
        </p:spPr>
      </p:sp>
      <p:sp>
        <p:nvSpPr>
          <p:cNvPr id="14" name="Shape 11"/>
          <p:cNvSpPr/>
          <p:nvPr/>
        </p:nvSpPr>
        <p:spPr>
          <a:xfrm>
            <a:off x="11210544" y="3227832"/>
            <a:ext cx="128016" cy="128016"/>
          </a:xfrm>
          <a:prstGeom prst="ellipse">
            <a:avLst/>
          </a:prstGeom>
          <a:solidFill>
            <a:srgbClr val="FFD166"/>
          </a:solidFill>
          <a:ln/>
        </p:spPr>
      </p:sp>
      <p:sp>
        <p:nvSpPr>
          <p:cNvPr id="15" name="Shape 12"/>
          <p:cNvSpPr/>
          <p:nvPr/>
        </p:nvSpPr>
        <p:spPr>
          <a:xfrm>
            <a:off x="11210544" y="3429000"/>
            <a:ext cx="128016" cy="128016"/>
          </a:xfrm>
          <a:prstGeom prst="ellipse">
            <a:avLst/>
          </a:prstGeom>
          <a:solidFill>
            <a:srgbClr val="2EC4B6"/>
          </a:solidFill>
          <a:ln/>
        </p:spPr>
      </p:sp>
      <p:sp>
        <p:nvSpPr>
          <p:cNvPr id="16" name="Text 13"/>
          <p:cNvSpPr/>
          <p:nvPr/>
        </p:nvSpPr>
        <p:spPr>
          <a:xfrm>
            <a:off x="914400" y="300837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the builder, next to makeModule</a:t>
            </a:r>
            <a:endParaRPr lang="en-US" sz="1500" dirty="0"/>
          </a:p>
        </p:txBody>
      </p:sp>
      <p:sp>
        <p:nvSpPr>
          <p:cNvPr id="17" name="Text 14"/>
          <p:cNvSpPr/>
          <p:nvPr/>
        </p:nvSpPr>
        <p:spPr>
          <a:xfrm>
            <a:off x="914400" y="3337560"/>
            <a:ext cx="10195560" cy="1673352"/>
          </a:xfrm>
          <a:prstGeom prst="rect">
            <a:avLst/>
          </a:prstGeom>
          <a:noFill/>
          <a:ln/>
        </p:spPr>
        <p:txBody>
          <a:bodyPr wrap="square" lIns="0" tIns="0" rIns="0" bIns="0" rtlCol="0" anchor="t"/>
          <a:lstStyle/>
          <a:p>
            <a:pPr indent="0" marL="0">
              <a:lnSpc>
                <a:spcPct val="120000"/>
              </a:lnSpc>
              <a:buNone/>
            </a:pPr>
            <a:r>
              <a:rPr lang="en-US" sz="1300" dirty="0">
                <a:solidFill>
                  <a:srgbClr val="7FA8C9"/>
                </a:solidFill>
                <a:latin typeface="Courier New" pitchFamily="34" charset="0"/>
                <a:ea typeface="Courier New" pitchFamily="34" charset="-122"/>
                <a:cs typeface="Courier New" pitchFamily="34" charset="-120"/>
              </a:rPr>
              <a:t>/** Builds the shared chassis ground truth. Sim only — null everywhere else. */</a:t>
            </a:r>
            <a:endParaRPr lang="en-US" sz="1300" dirty="0"/>
          </a:p>
          <a:p>
            <a:pPr indent="0" marL="0">
              <a:lnSpc>
                <a:spcPct val="120000"/>
              </a:lnSpc>
              <a:buNone/>
            </a:pPr>
            <a:r>
              <a:rPr lang="en-US" sz="1300" dirty="0">
                <a:solidFill>
                  <a:srgbClr val="FFD166"/>
                </a:solidFill>
                <a:latin typeface="Courier New" pitchFamily="34" charset="0"/>
                <a:ea typeface="Courier New" pitchFamily="34" charset="-122"/>
                <a:cs typeface="Courier New" pitchFamily="34" charset="-120"/>
              </a:rPr>
              <a:t>private static ChassisSimulation createChassisSim() {</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if (Constants.kCurrentMode != Constants.Mode.SIM) {</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return null; // a real robot already has a world; replay doesn't need one</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return new ChassisSimulation(DriveConstants.kSimStartingPose);</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a:t>
            </a:r>
            <a:endParaRPr lang="en-US" sz="1300" dirty="0"/>
          </a:p>
        </p:txBody>
      </p:sp>
      <p:sp>
        <p:nvSpPr>
          <p:cNvPr id="18" name="Text 15"/>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GROUND TRUTH</a:t>
            </a:r>
            <a:endParaRPr lang="en-US" sz="2000" dirty="0"/>
          </a:p>
        </p:txBody>
      </p:sp>
      <p:sp>
        <p:nvSpPr>
          <p:cNvPr id="19" name="Text 16"/>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11</a:t>
            </a:r>
            <a:endParaRPr lang="en-US" sz="2000" dirty="0"/>
          </a:p>
        </p:txBody>
      </p:sp>
      <p:pic>
        <p:nvPicPr>
          <p:cNvPr id="20"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plug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4 · DRIVETRAIN.JAVA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Move the chassis the way its wheels actually turned</a:t>
            </a:r>
            <a:endParaRPr lang="en-US" sz="3000" dirty="0"/>
          </a:p>
        </p:txBody>
      </p:sp>
      <p:sp>
        <p:nvSpPr>
          <p:cNvPr id="6" name="Shape 3"/>
          <p:cNvSpPr/>
          <p:nvPr/>
        </p:nvSpPr>
        <p:spPr>
          <a:xfrm>
            <a:off x="640080" y="1280160"/>
            <a:ext cx="10881360" cy="1645920"/>
          </a:xfrm>
          <a:prstGeom prst="roundRect">
            <a:avLst>
              <a:gd name="adj" fmla="val 6667"/>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426464"/>
            <a:ext cx="128016" cy="128016"/>
          </a:xfrm>
          <a:prstGeom prst="ellipse">
            <a:avLst/>
          </a:prstGeom>
          <a:solidFill>
            <a:srgbClr val="FF6B6B"/>
          </a:solidFill>
          <a:ln/>
        </p:spPr>
      </p:sp>
      <p:sp>
        <p:nvSpPr>
          <p:cNvPr id="8" name="Shape 5"/>
          <p:cNvSpPr/>
          <p:nvPr/>
        </p:nvSpPr>
        <p:spPr>
          <a:xfrm>
            <a:off x="11210544" y="1627632"/>
            <a:ext cx="128016" cy="128016"/>
          </a:xfrm>
          <a:prstGeom prst="ellipse">
            <a:avLst/>
          </a:prstGeom>
          <a:solidFill>
            <a:srgbClr val="FFD166"/>
          </a:solidFill>
          <a:ln/>
        </p:spPr>
      </p:sp>
      <p:sp>
        <p:nvSpPr>
          <p:cNvPr id="9" name="Shape 6"/>
          <p:cNvSpPr/>
          <p:nvPr/>
        </p:nvSpPr>
        <p:spPr>
          <a:xfrm>
            <a:off x="11210544" y="1828800"/>
            <a:ext cx="128016" cy="128016"/>
          </a:xfrm>
          <a:prstGeom prst="ellipse">
            <a:avLst/>
          </a:prstGeom>
          <a:solidFill>
            <a:srgbClr val="2EC4B6"/>
          </a:solidFill>
          <a:ln/>
        </p:spPr>
      </p:sp>
      <p:sp>
        <p:nvSpPr>
          <p:cNvPr id="10" name="Text 7"/>
          <p:cNvSpPr/>
          <p:nvPr/>
        </p:nvSpPr>
        <p:spPr>
          <a:xfrm>
            <a:off x="914400" y="140817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Register a second periodic in Drivetrain's constructor, below the first</a:t>
            </a:r>
            <a:endParaRPr lang="en-US" sz="1500" dirty="0"/>
          </a:p>
        </p:txBody>
      </p:sp>
      <p:sp>
        <p:nvSpPr>
          <p:cNvPr id="11" name="Text 8"/>
          <p:cNvSpPr/>
          <p:nvPr/>
        </p:nvSpPr>
        <p:spPr>
          <a:xfrm>
            <a:off x="914400" y="1737360"/>
            <a:ext cx="10195560" cy="987552"/>
          </a:xfrm>
          <a:prstGeom prst="rect">
            <a:avLst/>
          </a:prstGeom>
          <a:noFill/>
          <a:ln/>
        </p:spPr>
        <p:txBody>
          <a:bodyPr wrap="square" lIns="0" tIns="0" rIns="0" bIns="0" rtlCol="0" anchor="t"/>
          <a:lstStyle/>
          <a:p>
            <a:pPr indent="0" marL="0">
              <a:lnSpc>
                <a:spcPct val="120000"/>
              </a:lnSpc>
              <a:buNone/>
            </a:pPr>
            <a:r>
              <a:rPr lang="en-US" sz="1300" dirty="0">
                <a:solidFill>
                  <a:srgbClr val="FFD166"/>
                </a:solidFill>
                <a:latin typeface="Courier New" pitchFamily="34" charset="0"/>
                <a:ea typeface="Courier New" pitchFamily="34" charset="-122"/>
                <a:cs typeface="Courier New" pitchFamily="34" charset="-120"/>
              </a:rPr>
              <a:t>public Drivetrain() {</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Scheduler.getDefault().addPeriodic(this::periodic);</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Scheduler.getDefault().addPeriodic(this::simulateChassis);</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a:t>
            </a:r>
            <a:endParaRPr lang="en-US" sz="1300" dirty="0"/>
          </a:p>
        </p:txBody>
      </p:sp>
      <p:sp>
        <p:nvSpPr>
          <p:cNvPr id="12" name="Shape 9"/>
          <p:cNvSpPr/>
          <p:nvPr/>
        </p:nvSpPr>
        <p:spPr>
          <a:xfrm>
            <a:off x="640080" y="3108960"/>
            <a:ext cx="10881360" cy="3154680"/>
          </a:xfrm>
          <a:prstGeom prst="roundRect">
            <a:avLst>
              <a:gd name="adj" fmla="val 3478"/>
            </a:avLst>
          </a:prstGeom>
          <a:solidFill>
            <a:srgbClr val="0B1F3A"/>
          </a:solidFill>
          <a:ln/>
          <a:effectLst>
            <a:outerShdw sx="100000" sy="100000" kx="0" ky="0" algn="bl" rotWithShape="0" blurRad="101600" dist="38100" dir="5400000">
              <a:srgbClr val="0B1F3A">
                <a:alpha val="35000"/>
              </a:srgbClr>
            </a:outerShdw>
          </a:effectLst>
        </p:spPr>
      </p:sp>
      <p:sp>
        <p:nvSpPr>
          <p:cNvPr id="13" name="Shape 10"/>
          <p:cNvSpPr/>
          <p:nvPr/>
        </p:nvSpPr>
        <p:spPr>
          <a:xfrm>
            <a:off x="11210544" y="3255264"/>
            <a:ext cx="128016" cy="128016"/>
          </a:xfrm>
          <a:prstGeom prst="ellipse">
            <a:avLst/>
          </a:prstGeom>
          <a:solidFill>
            <a:srgbClr val="FF6B6B"/>
          </a:solidFill>
          <a:ln/>
        </p:spPr>
      </p:sp>
      <p:sp>
        <p:nvSpPr>
          <p:cNvPr id="14" name="Shape 11"/>
          <p:cNvSpPr/>
          <p:nvPr/>
        </p:nvSpPr>
        <p:spPr>
          <a:xfrm>
            <a:off x="11210544" y="3456432"/>
            <a:ext cx="128016" cy="128016"/>
          </a:xfrm>
          <a:prstGeom prst="ellipse">
            <a:avLst/>
          </a:prstGeom>
          <a:solidFill>
            <a:srgbClr val="FFD166"/>
          </a:solidFill>
          <a:ln/>
        </p:spPr>
      </p:sp>
      <p:sp>
        <p:nvSpPr>
          <p:cNvPr id="15" name="Shape 12"/>
          <p:cNvSpPr/>
          <p:nvPr/>
        </p:nvSpPr>
        <p:spPr>
          <a:xfrm>
            <a:off x="11210544" y="3657600"/>
            <a:ext cx="128016" cy="128016"/>
          </a:xfrm>
          <a:prstGeom prst="ellipse">
            <a:avLst/>
          </a:prstGeom>
          <a:solidFill>
            <a:srgbClr val="2EC4B6"/>
          </a:solidFill>
          <a:ln/>
        </p:spPr>
      </p:sp>
      <p:sp>
        <p:nvSpPr>
          <p:cNvPr id="16" name="Text 13"/>
          <p:cNvSpPr/>
          <p:nvPr/>
        </p:nvSpPr>
        <p:spPr>
          <a:xfrm>
            <a:off x="914400" y="323697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the method, next to periodic()</a:t>
            </a:r>
            <a:endParaRPr lang="en-US" sz="1500" dirty="0"/>
          </a:p>
        </p:txBody>
      </p:sp>
      <p:sp>
        <p:nvSpPr>
          <p:cNvPr id="17" name="Text 14"/>
          <p:cNvSpPr/>
          <p:nvPr/>
        </p:nvSpPr>
        <p:spPr>
          <a:xfrm>
            <a:off x="914400" y="3566160"/>
            <a:ext cx="10195560" cy="2496312"/>
          </a:xfrm>
          <a:prstGeom prst="rect">
            <a:avLst/>
          </a:prstGeom>
          <a:noFill/>
          <a:ln/>
        </p:spPr>
        <p:txBody>
          <a:bodyPr wrap="square" lIns="0" tIns="0" rIns="0" bIns="0" rtlCol="0" anchor="t"/>
          <a:lstStyle/>
          <a:p>
            <a:pPr indent="0" marL="0">
              <a:lnSpc>
                <a:spcPct val="120000"/>
              </a:lnSpc>
              <a:buNone/>
            </a:pPr>
            <a:r>
              <a:rPr lang="en-US" sz="1100" dirty="0">
                <a:solidFill>
                  <a:srgbClr val="7FA8C9"/>
                </a:solidFill>
                <a:latin typeface="Courier New" pitchFamily="34" charset="0"/>
                <a:ea typeface="Courier New" pitchFamily="34" charset="-122"/>
                <a:cs typeface="Courier New" pitchFamily="34" charset="-120"/>
              </a:rPr>
              <a:t>/** Moves the simulated chassis the way its wheels actually turned this tick. Sim only. */</a:t>
            </a:r>
            <a:endParaRPr lang="en-US" sz="1100" dirty="0"/>
          </a:p>
          <a:p>
            <a:pPr indent="0" marL="0">
              <a:lnSpc>
                <a:spcPct val="120000"/>
              </a:lnSpc>
              <a:buNone/>
            </a:pPr>
            <a:r>
              <a:rPr lang="en-US" sz="1100" dirty="0">
                <a:solidFill>
                  <a:srgbClr val="FFD166"/>
                </a:solidFill>
                <a:latin typeface="Courier New" pitchFamily="34" charset="0"/>
                <a:ea typeface="Courier New" pitchFamily="34" charset="-122"/>
                <a:cs typeface="Courier New" pitchFamily="34" charset="-120"/>
              </a:rPr>
              <a:t>private void simulateChassis() {</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if (m_chassisSim == null) {</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return; // a real robot moves itself</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SwerveModuleVelocity[] wheels = new SwerveModuleVelocity[4];</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for (int i = 0; i &lt; m_modules.length; i++) {</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wheels[i] = new SwerveModuleVelocity(</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m_modules[i].getDriveVelocityMetersPerSec(),</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Rotation2d.fromDegrees(m_modules[i].getSteerAngleDegrees()));</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m_chassisSim.update(m_kinematics.toChassisVelocities(wheels), 0.020);</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a:t>
            </a:r>
            <a:endParaRPr lang="en-US" sz="1100" dirty="0"/>
          </a:p>
        </p:txBody>
      </p:sp>
      <p:sp>
        <p:nvSpPr>
          <p:cNvPr id="18" name="Text 15"/>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GROUND TRUTH</a:t>
            </a:r>
            <a:endParaRPr lang="en-US" sz="2000" dirty="0"/>
          </a:p>
        </p:txBody>
      </p:sp>
      <p:sp>
        <p:nvSpPr>
          <p:cNvPr id="19" name="Text 16"/>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12</a:t>
            </a:r>
            <a:endParaRPr lang="en-US" sz="2000" dirty="0"/>
          </a:p>
        </p:txBody>
      </p:sp>
      <p:pic>
        <p:nvPicPr>
          <p:cNvPr id="20"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plug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4 · DRIVETRAIN.JAVA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Delete the fake gyro's feeds, then expose the truth</a:t>
            </a:r>
            <a:endParaRPr lang="en-US" sz="3000" dirty="0"/>
          </a:p>
        </p:txBody>
      </p:sp>
      <p:sp>
        <p:nvSpPr>
          <p:cNvPr id="6" name="Shape 3"/>
          <p:cNvSpPr/>
          <p:nvPr/>
        </p:nvSpPr>
        <p:spPr>
          <a:xfrm>
            <a:off x="640080" y="1280160"/>
            <a:ext cx="10881360" cy="1371600"/>
          </a:xfrm>
          <a:prstGeom prst="roundRect">
            <a:avLst>
              <a:gd name="adj" fmla="val 8000"/>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426464"/>
            <a:ext cx="128016" cy="128016"/>
          </a:xfrm>
          <a:prstGeom prst="ellipse">
            <a:avLst/>
          </a:prstGeom>
          <a:solidFill>
            <a:srgbClr val="FF6B6B"/>
          </a:solidFill>
          <a:ln/>
        </p:spPr>
      </p:sp>
      <p:sp>
        <p:nvSpPr>
          <p:cNvPr id="8" name="Shape 5"/>
          <p:cNvSpPr/>
          <p:nvPr/>
        </p:nvSpPr>
        <p:spPr>
          <a:xfrm>
            <a:off x="11210544" y="1627632"/>
            <a:ext cx="128016" cy="128016"/>
          </a:xfrm>
          <a:prstGeom prst="ellipse">
            <a:avLst/>
          </a:prstGeom>
          <a:solidFill>
            <a:srgbClr val="FFD166"/>
          </a:solidFill>
          <a:ln/>
        </p:spPr>
      </p:sp>
      <p:sp>
        <p:nvSpPr>
          <p:cNvPr id="9" name="Shape 6"/>
          <p:cNvSpPr/>
          <p:nvPr/>
        </p:nvSpPr>
        <p:spPr>
          <a:xfrm>
            <a:off x="11210544" y="1828800"/>
            <a:ext cx="128016" cy="128016"/>
          </a:xfrm>
          <a:prstGeom prst="ellipse">
            <a:avLst/>
          </a:prstGeom>
          <a:solidFill>
            <a:srgbClr val="2EC4B6"/>
          </a:solidFill>
          <a:ln/>
        </p:spPr>
      </p:sp>
      <p:sp>
        <p:nvSpPr>
          <p:cNvPr id="10" name="Text 7"/>
          <p:cNvSpPr/>
          <p:nvPr/>
        </p:nvSpPr>
        <p:spPr>
          <a:xfrm>
            <a:off x="914400" y="140817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DELETE from inside applyChassisSpeeds</a:t>
            </a:r>
            <a:endParaRPr lang="en-US" sz="1500" dirty="0"/>
          </a:p>
        </p:txBody>
      </p:sp>
      <p:sp>
        <p:nvSpPr>
          <p:cNvPr id="11" name="Text 8"/>
          <p:cNvSpPr/>
          <p:nvPr/>
        </p:nvSpPr>
        <p:spPr>
          <a:xfrm>
            <a:off x="914400" y="1737360"/>
            <a:ext cx="10195560" cy="713232"/>
          </a:xfrm>
          <a:prstGeom prst="rect">
            <a:avLst/>
          </a:prstGeom>
          <a:noFill/>
          <a:ln/>
        </p:spPr>
        <p:txBody>
          <a:bodyPr wrap="square" lIns="0" tIns="0" rIns="0" bIns="0" rtlCol="0" anchor="t"/>
          <a:lstStyle/>
          <a:p>
            <a:pPr indent="0" marL="0">
              <a:lnSpc>
                <a:spcPct val="120000"/>
              </a:lnSpc>
              <a:buNone/>
            </a:pPr>
            <a:r>
              <a:rPr lang="en-US" sz="1350" dirty="0">
                <a:solidFill>
                  <a:srgbClr val="FF8B8B"/>
                </a:solidFill>
                <a:latin typeface="Courier New" pitchFamily="34" charset="0"/>
                <a:ea typeface="Courier New" pitchFamily="34" charset="-122"/>
                <a:cs typeface="Courier New" pitchFamily="34" charset="-120"/>
              </a:rPr>
              <a:t>// nothing integrates a commanded rate by hand anymore; the shared</a:t>
            </a:r>
            <a:endParaRPr lang="en-US" sz="1350" dirty="0"/>
          </a:p>
          <a:p>
            <a:pPr indent="0" marL="0">
              <a:lnSpc>
                <a:spcPct val="120000"/>
              </a:lnSpc>
              <a:buNone/>
            </a:pPr>
            <a:r>
              <a:rPr lang="en-US" sz="1350" dirty="0">
                <a:solidFill>
                  <a:srgbClr val="FF8B8B"/>
                </a:solidFill>
                <a:latin typeface="Courier New" pitchFamily="34" charset="0"/>
                <a:ea typeface="Courier New" pitchFamily="34" charset="-122"/>
                <a:cs typeface="Courier New" pitchFamily="34" charset="-120"/>
              </a:rPr>
              <a:t>// chassis tracks heading itself now.</a:t>
            </a:r>
            <a:endParaRPr lang="en-US" sz="1350" dirty="0"/>
          </a:p>
          <a:p>
            <a:pPr indent="0" marL="0">
              <a:lnSpc>
                <a:spcPct val="120000"/>
              </a:lnSpc>
              <a:buNone/>
            </a:pPr>
            <a:r>
              <a:rPr lang="en-US" sz="1350" dirty="0">
                <a:solidFill>
                  <a:srgbClr val="FF6B6B"/>
                </a:solidFill>
                <a:latin typeface="Courier New" pitchFamily="34" charset="0"/>
                <a:ea typeface="Courier New" pitchFamily="34" charset="-122"/>
                <a:cs typeface="Courier New" pitchFamily="34" charset="-120"/>
              </a:rPr>
              <a:t>m_gyroIO.setSimRotationRate(speeds.omega / (2 * Math.PI));</a:t>
            </a:r>
            <a:endParaRPr lang="en-US" sz="1350" dirty="0"/>
          </a:p>
        </p:txBody>
      </p:sp>
      <p:sp>
        <p:nvSpPr>
          <p:cNvPr id="12" name="Shape 9"/>
          <p:cNvSpPr/>
          <p:nvPr/>
        </p:nvSpPr>
        <p:spPr>
          <a:xfrm>
            <a:off x="640080" y="2834640"/>
            <a:ext cx="10881360" cy="1097280"/>
          </a:xfrm>
          <a:prstGeom prst="roundRect">
            <a:avLst>
              <a:gd name="adj" fmla="val 10000"/>
            </a:avLst>
          </a:prstGeom>
          <a:solidFill>
            <a:srgbClr val="0B1F3A"/>
          </a:solidFill>
          <a:ln/>
          <a:effectLst>
            <a:outerShdw sx="100000" sy="100000" kx="0" ky="0" algn="bl" rotWithShape="0" blurRad="101600" dist="38100" dir="5400000">
              <a:srgbClr val="0B1F3A">
                <a:alpha val="35000"/>
              </a:srgbClr>
            </a:outerShdw>
          </a:effectLst>
        </p:spPr>
      </p:sp>
      <p:sp>
        <p:nvSpPr>
          <p:cNvPr id="13" name="Shape 10"/>
          <p:cNvSpPr/>
          <p:nvPr/>
        </p:nvSpPr>
        <p:spPr>
          <a:xfrm>
            <a:off x="11210544" y="2980944"/>
            <a:ext cx="128016" cy="128016"/>
          </a:xfrm>
          <a:prstGeom prst="ellipse">
            <a:avLst/>
          </a:prstGeom>
          <a:solidFill>
            <a:srgbClr val="FF6B6B"/>
          </a:solidFill>
          <a:ln/>
        </p:spPr>
      </p:sp>
      <p:sp>
        <p:nvSpPr>
          <p:cNvPr id="14" name="Shape 11"/>
          <p:cNvSpPr/>
          <p:nvPr/>
        </p:nvSpPr>
        <p:spPr>
          <a:xfrm>
            <a:off x="11210544" y="3182112"/>
            <a:ext cx="128016" cy="128016"/>
          </a:xfrm>
          <a:prstGeom prst="ellipse">
            <a:avLst/>
          </a:prstGeom>
          <a:solidFill>
            <a:srgbClr val="FFD166"/>
          </a:solidFill>
          <a:ln/>
        </p:spPr>
      </p:sp>
      <p:sp>
        <p:nvSpPr>
          <p:cNvPr id="15" name="Shape 12"/>
          <p:cNvSpPr/>
          <p:nvPr/>
        </p:nvSpPr>
        <p:spPr>
          <a:xfrm>
            <a:off x="11210544" y="3383280"/>
            <a:ext cx="128016" cy="128016"/>
          </a:xfrm>
          <a:prstGeom prst="ellipse">
            <a:avLst/>
          </a:prstGeom>
          <a:solidFill>
            <a:srgbClr val="2EC4B6"/>
          </a:solidFill>
          <a:ln/>
        </p:spPr>
      </p:sp>
      <p:sp>
        <p:nvSpPr>
          <p:cNvPr id="16" name="Text 13"/>
          <p:cNvSpPr/>
          <p:nvPr/>
        </p:nvSpPr>
        <p:spPr>
          <a:xfrm>
            <a:off x="914400" y="296265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DELETE from driveDistance, where it zeroed the rate</a:t>
            </a:r>
            <a:endParaRPr lang="en-US" sz="1500" dirty="0"/>
          </a:p>
        </p:txBody>
      </p:sp>
      <p:sp>
        <p:nvSpPr>
          <p:cNvPr id="17" name="Text 14"/>
          <p:cNvSpPr/>
          <p:nvPr/>
        </p:nvSpPr>
        <p:spPr>
          <a:xfrm>
            <a:off x="914400" y="3291840"/>
            <a:ext cx="10195560" cy="438912"/>
          </a:xfrm>
          <a:prstGeom prst="rect">
            <a:avLst/>
          </a:prstGeom>
          <a:noFill/>
          <a:ln/>
        </p:spPr>
        <p:txBody>
          <a:bodyPr wrap="square" lIns="0" tIns="0" rIns="0" bIns="0" rtlCol="0" anchor="t"/>
          <a:lstStyle/>
          <a:p>
            <a:pPr indent="0" marL="0">
              <a:lnSpc>
                <a:spcPct val="120000"/>
              </a:lnSpc>
              <a:buNone/>
            </a:pPr>
            <a:r>
              <a:rPr lang="en-US" sz="1400" dirty="0">
                <a:solidFill>
                  <a:srgbClr val="FF6B6B"/>
                </a:solidFill>
                <a:latin typeface="Courier New" pitchFamily="34" charset="0"/>
                <a:ea typeface="Courier New" pitchFamily="34" charset="-122"/>
                <a:cs typeface="Courier New" pitchFamily="34" charset="-120"/>
              </a:rPr>
              <a:t>m_gyroIO.setSimRotationRate(0.0);</a:t>
            </a:r>
            <a:endParaRPr lang="en-US" sz="1400" dirty="0"/>
          </a:p>
        </p:txBody>
      </p:sp>
      <p:sp>
        <p:nvSpPr>
          <p:cNvPr id="18" name="Shape 15"/>
          <p:cNvSpPr/>
          <p:nvPr/>
        </p:nvSpPr>
        <p:spPr>
          <a:xfrm>
            <a:off x="640080" y="4114800"/>
            <a:ext cx="10881360" cy="1645920"/>
          </a:xfrm>
          <a:prstGeom prst="roundRect">
            <a:avLst>
              <a:gd name="adj" fmla="val 6667"/>
            </a:avLst>
          </a:prstGeom>
          <a:solidFill>
            <a:srgbClr val="0B1F3A"/>
          </a:solidFill>
          <a:ln/>
          <a:effectLst>
            <a:outerShdw sx="100000" sy="100000" kx="0" ky="0" algn="bl" rotWithShape="0" blurRad="101600" dist="38100" dir="5400000">
              <a:srgbClr val="0B1F3A">
                <a:alpha val="35000"/>
              </a:srgbClr>
            </a:outerShdw>
          </a:effectLst>
        </p:spPr>
      </p:sp>
      <p:sp>
        <p:nvSpPr>
          <p:cNvPr id="19" name="Shape 16"/>
          <p:cNvSpPr/>
          <p:nvPr/>
        </p:nvSpPr>
        <p:spPr>
          <a:xfrm>
            <a:off x="11210544" y="4261104"/>
            <a:ext cx="128016" cy="128016"/>
          </a:xfrm>
          <a:prstGeom prst="ellipse">
            <a:avLst/>
          </a:prstGeom>
          <a:solidFill>
            <a:srgbClr val="FF6B6B"/>
          </a:solidFill>
          <a:ln/>
        </p:spPr>
      </p:sp>
      <p:sp>
        <p:nvSpPr>
          <p:cNvPr id="20" name="Shape 17"/>
          <p:cNvSpPr/>
          <p:nvPr/>
        </p:nvSpPr>
        <p:spPr>
          <a:xfrm>
            <a:off x="11210544" y="4462272"/>
            <a:ext cx="128016" cy="128016"/>
          </a:xfrm>
          <a:prstGeom prst="ellipse">
            <a:avLst/>
          </a:prstGeom>
          <a:solidFill>
            <a:srgbClr val="FFD166"/>
          </a:solidFill>
          <a:ln/>
        </p:spPr>
      </p:sp>
      <p:sp>
        <p:nvSpPr>
          <p:cNvPr id="21" name="Shape 18"/>
          <p:cNvSpPr/>
          <p:nvPr/>
        </p:nvSpPr>
        <p:spPr>
          <a:xfrm>
            <a:off x="11210544" y="4663440"/>
            <a:ext cx="128016" cy="128016"/>
          </a:xfrm>
          <a:prstGeom prst="ellipse">
            <a:avLst/>
          </a:prstGeom>
          <a:solidFill>
            <a:srgbClr val="2EC4B6"/>
          </a:solidFill>
          <a:ln/>
        </p:spPr>
      </p:sp>
      <p:sp>
        <p:nvSpPr>
          <p:cNvPr id="22" name="Text 19"/>
          <p:cNvSpPr/>
          <p:nvPr/>
        </p:nvSpPr>
        <p:spPr>
          <a:xfrm>
            <a:off x="914400" y="424281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next to getHeadingDegrees()</a:t>
            </a:r>
            <a:endParaRPr lang="en-US" sz="1500" dirty="0"/>
          </a:p>
        </p:txBody>
      </p:sp>
      <p:sp>
        <p:nvSpPr>
          <p:cNvPr id="23" name="Text 20"/>
          <p:cNvSpPr/>
          <p:nvPr/>
        </p:nvSpPr>
        <p:spPr>
          <a:xfrm>
            <a:off x="914400" y="4572000"/>
            <a:ext cx="10195560" cy="987552"/>
          </a:xfrm>
          <a:prstGeom prst="rect">
            <a:avLst/>
          </a:prstGeom>
          <a:noFill/>
          <a:ln/>
        </p:spPr>
        <p:txBody>
          <a:bodyPr wrap="square" lIns="0" tIns="0" rIns="0" bIns="0" rtlCol="0" anchor="t"/>
          <a:lstStyle/>
          <a:p>
            <a:pPr indent="0" marL="0">
              <a:lnSpc>
                <a:spcPct val="120000"/>
              </a:lnSpc>
              <a:buNone/>
            </a:pPr>
            <a:r>
              <a:rPr lang="en-US" sz="1400" dirty="0">
                <a:solidFill>
                  <a:srgbClr val="7FA8C9"/>
                </a:solidFill>
                <a:latin typeface="Courier New" pitchFamily="34" charset="0"/>
                <a:ea typeface="Courier New" pitchFamily="34" charset="-122"/>
                <a:cs typeface="Courier New" pitchFamily="34" charset="-120"/>
              </a:rPr>
              <a:t>/** Where the chassis really is, ground truth — null outside sim. */</a:t>
            </a:r>
            <a:endParaRPr lang="en-US" sz="1400" dirty="0"/>
          </a:p>
          <a:p>
            <a:pPr indent="0" marL="0">
              <a:lnSpc>
                <a:spcPct val="120000"/>
              </a:lnSpc>
              <a:buNone/>
            </a:pPr>
            <a:r>
              <a:rPr lang="en-US" sz="1400" dirty="0">
                <a:solidFill>
                  <a:srgbClr val="FFD166"/>
                </a:solidFill>
                <a:latin typeface="Courier New" pitchFamily="34" charset="0"/>
                <a:ea typeface="Courier New" pitchFamily="34" charset="-122"/>
                <a:cs typeface="Courier New" pitchFamily="34" charset="-120"/>
              </a:rPr>
              <a:t>public Pose2d getSimulatedPose() {</a:t>
            </a:r>
            <a:endParaRPr lang="en-US" sz="1400" dirty="0"/>
          </a:p>
          <a:p>
            <a:pPr indent="0" marL="0">
              <a:lnSpc>
                <a:spcPct val="120000"/>
              </a:lnSpc>
              <a:buNone/>
            </a:pPr>
            <a:r>
              <a:rPr lang="en-US" sz="1400" dirty="0">
                <a:solidFill>
                  <a:srgbClr val="9EF01A"/>
                </a:solidFill>
                <a:latin typeface="Courier New" pitchFamily="34" charset="0"/>
                <a:ea typeface="Courier New" pitchFamily="34" charset="-122"/>
                <a:cs typeface="Courier New" pitchFamily="34" charset="-120"/>
              </a:rPr>
              <a:t>  return m_chassisSim != null ? m_chassisSim.getPose() : null;</a:t>
            </a:r>
            <a:endParaRPr lang="en-US" sz="1400" dirty="0"/>
          </a:p>
          <a:p>
            <a:pPr indent="0" marL="0">
              <a:lnSpc>
                <a:spcPct val="120000"/>
              </a:lnSpc>
              <a:buNone/>
            </a:pPr>
            <a:r>
              <a:rPr lang="en-US" sz="1400" dirty="0">
                <a:solidFill>
                  <a:srgbClr val="D7E3F4"/>
                </a:solidFill>
                <a:latin typeface="Courier New" pitchFamily="34" charset="0"/>
                <a:ea typeface="Courier New" pitchFamily="34" charset="-122"/>
                <a:cs typeface="Courier New" pitchFamily="34" charset="-120"/>
              </a:rPr>
              <a:t>}</a:t>
            </a:r>
            <a:endParaRPr lang="en-US" sz="1400" dirty="0"/>
          </a:p>
        </p:txBody>
      </p:sp>
      <p:sp>
        <p:nvSpPr>
          <p:cNvPr id="24" name="Text 2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GROUND TRUTH</a:t>
            </a:r>
            <a:endParaRPr lang="en-US" sz="2000" dirty="0"/>
          </a:p>
        </p:txBody>
      </p:sp>
      <p:sp>
        <p:nvSpPr>
          <p:cNvPr id="25" name="Text 2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13</a:t>
            </a:r>
            <a:endParaRPr lang="en-US" sz="2000" dirty="0"/>
          </a:p>
        </p:txBody>
      </p:sp>
      <p:pic>
        <p:nvPicPr>
          <p:cNvPr id="26"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syncalt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5 · A REWRITTEN FILE</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The gyro stops pretending, and just reads the truth</a:t>
            </a:r>
            <a:endParaRPr lang="en-US" sz="3000" dirty="0"/>
          </a:p>
        </p:txBody>
      </p:sp>
      <p:sp>
        <p:nvSpPr>
          <p:cNvPr id="6" name="Shape 3"/>
          <p:cNvSpPr/>
          <p:nvPr/>
        </p:nvSpPr>
        <p:spPr>
          <a:xfrm>
            <a:off x="640080" y="1280160"/>
            <a:ext cx="10881360" cy="4297680"/>
          </a:xfrm>
          <a:prstGeom prst="roundRect">
            <a:avLst>
              <a:gd name="adj" fmla="val 2553"/>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426464"/>
            <a:ext cx="128016" cy="128016"/>
          </a:xfrm>
          <a:prstGeom prst="ellipse">
            <a:avLst/>
          </a:prstGeom>
          <a:solidFill>
            <a:srgbClr val="FF6B6B"/>
          </a:solidFill>
          <a:ln/>
        </p:spPr>
      </p:sp>
      <p:sp>
        <p:nvSpPr>
          <p:cNvPr id="8" name="Shape 5"/>
          <p:cNvSpPr/>
          <p:nvPr/>
        </p:nvSpPr>
        <p:spPr>
          <a:xfrm>
            <a:off x="11210544" y="1627632"/>
            <a:ext cx="128016" cy="128016"/>
          </a:xfrm>
          <a:prstGeom prst="ellipse">
            <a:avLst/>
          </a:prstGeom>
          <a:solidFill>
            <a:srgbClr val="FFD166"/>
          </a:solidFill>
          <a:ln/>
        </p:spPr>
      </p:sp>
      <p:sp>
        <p:nvSpPr>
          <p:cNvPr id="9" name="Shape 6"/>
          <p:cNvSpPr/>
          <p:nvPr/>
        </p:nvSpPr>
        <p:spPr>
          <a:xfrm>
            <a:off x="11210544" y="1828800"/>
            <a:ext cx="128016" cy="128016"/>
          </a:xfrm>
          <a:prstGeom prst="ellipse">
            <a:avLst/>
          </a:prstGeom>
          <a:solidFill>
            <a:srgbClr val="2EC4B6"/>
          </a:solidFill>
          <a:ln/>
        </p:spPr>
      </p:sp>
      <p:sp>
        <p:nvSpPr>
          <p:cNvPr id="10" name="Text 7"/>
          <p:cNvSpPr/>
          <p:nvPr/>
        </p:nvSpPr>
        <p:spPr>
          <a:xfrm>
            <a:off x="914400" y="140817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Replace the whole contents of GyroIOSim.java</a:t>
            </a:r>
            <a:endParaRPr lang="en-US" sz="1500" dirty="0"/>
          </a:p>
        </p:txBody>
      </p:sp>
      <p:sp>
        <p:nvSpPr>
          <p:cNvPr id="11" name="Text 8"/>
          <p:cNvSpPr/>
          <p:nvPr/>
        </p:nvSpPr>
        <p:spPr>
          <a:xfrm>
            <a:off x="914400" y="1737360"/>
            <a:ext cx="10195560" cy="3639312"/>
          </a:xfrm>
          <a:prstGeom prst="rect">
            <a:avLst/>
          </a:prstGeom>
          <a:noFill/>
          <a:ln/>
        </p:spPr>
        <p:txBody>
          <a:bodyPr wrap="square" lIns="0" tIns="0" rIns="0" bIns="0" rtlCol="0" anchor="t"/>
          <a:lstStyle/>
          <a:p>
            <a:pPr indent="0" marL="0">
              <a:lnSpc>
                <a:spcPct val="120000"/>
              </a:lnSpc>
              <a:buNone/>
            </a:pPr>
            <a:r>
              <a:rPr lang="en-US" sz="1400" dirty="0">
                <a:solidFill>
                  <a:srgbClr val="D7E3F4"/>
                </a:solidFill>
                <a:latin typeface="Courier New" pitchFamily="34" charset="0"/>
                <a:ea typeface="Courier New" pitchFamily="34" charset="-122"/>
                <a:cs typeface="Courier New" pitchFamily="34" charset="-120"/>
              </a:rPr>
              <a:t>package first.robot.subsystems;</a:t>
            </a:r>
            <a:endParaRPr lang="en-US" sz="1400" dirty="0"/>
          </a:p>
          <a:p>
            <a:pPr indent="0" marL="0">
              <a:lnSpc>
                <a:spcPct val="120000"/>
              </a:lnSpc>
              <a:buNone/>
            </a:pPr>
            <a:endParaRPr lang="en-US" sz="1400" dirty="0"/>
          </a:p>
          <a:p>
            <a:pPr indent="0" marL="0">
              <a:lnSpc>
                <a:spcPct val="120000"/>
              </a:lnSpc>
              <a:buNone/>
            </a:pPr>
            <a:r>
              <a:rPr lang="en-US" sz="1400" dirty="0">
                <a:solidFill>
                  <a:srgbClr val="7FA8C9"/>
                </a:solidFill>
                <a:latin typeface="Courier New" pitchFamily="34" charset="0"/>
                <a:ea typeface="Courier New" pitchFamily="34" charset="-122"/>
                <a:cs typeface="Courier New" pitchFamily="34" charset="-120"/>
              </a:rPr>
              <a:t>/** Reports the heading of the real simulated chassis — no integration of its own. */</a:t>
            </a:r>
            <a:endParaRPr lang="en-US" sz="1400" dirty="0"/>
          </a:p>
          <a:p>
            <a:pPr indent="0" marL="0">
              <a:lnSpc>
                <a:spcPct val="120000"/>
              </a:lnSpc>
              <a:buNone/>
            </a:pPr>
            <a:r>
              <a:rPr lang="en-US" sz="1400" dirty="0">
                <a:solidFill>
                  <a:srgbClr val="FFD166"/>
                </a:solidFill>
                <a:latin typeface="Courier New" pitchFamily="34" charset="0"/>
                <a:ea typeface="Courier New" pitchFamily="34" charset="-122"/>
                <a:cs typeface="Courier New" pitchFamily="34" charset="-120"/>
              </a:rPr>
              <a:t>public class GyroIOSim implements GyroIO {</a:t>
            </a:r>
            <a:endParaRPr lang="en-US" sz="1400" dirty="0"/>
          </a:p>
          <a:p>
            <a:pPr indent="0" marL="0">
              <a:lnSpc>
                <a:spcPct val="120000"/>
              </a:lnSpc>
              <a:buNone/>
            </a:pPr>
            <a:r>
              <a:rPr lang="en-US" sz="1400" dirty="0">
                <a:solidFill>
                  <a:srgbClr val="9EF01A"/>
                </a:solidFill>
                <a:latin typeface="Courier New" pitchFamily="34" charset="0"/>
                <a:ea typeface="Courier New" pitchFamily="34" charset="-122"/>
                <a:cs typeface="Courier New" pitchFamily="34" charset="-120"/>
              </a:rPr>
              <a:t>  private final ChassisSimulation m_chassisSim;</a:t>
            </a:r>
            <a:endParaRPr lang="en-US" sz="1400" dirty="0"/>
          </a:p>
          <a:p>
            <a:pPr indent="0" marL="0">
              <a:lnSpc>
                <a:spcPct val="120000"/>
              </a:lnSpc>
              <a:buNone/>
            </a:pPr>
            <a:endParaRPr lang="en-US" sz="1400" dirty="0"/>
          </a:p>
          <a:p>
            <a:pPr indent="0" marL="0">
              <a:lnSpc>
                <a:spcPct val="120000"/>
              </a:lnSpc>
              <a:buNone/>
            </a:pPr>
            <a:r>
              <a:rPr lang="en-US" sz="1400" dirty="0">
                <a:solidFill>
                  <a:srgbClr val="FFD166"/>
                </a:solidFill>
                <a:latin typeface="Courier New" pitchFamily="34" charset="0"/>
                <a:ea typeface="Courier New" pitchFamily="34" charset="-122"/>
                <a:cs typeface="Courier New" pitchFamily="34" charset="-120"/>
              </a:rPr>
              <a:t>  public GyroIOSim(ChassisSimulation chassisSim) {</a:t>
            </a:r>
            <a:endParaRPr lang="en-US" sz="1400" dirty="0"/>
          </a:p>
          <a:p>
            <a:pPr indent="0" marL="0">
              <a:lnSpc>
                <a:spcPct val="120000"/>
              </a:lnSpc>
              <a:buNone/>
            </a:pPr>
            <a:r>
              <a:rPr lang="en-US" sz="1400" dirty="0">
                <a:solidFill>
                  <a:srgbClr val="9EF01A"/>
                </a:solidFill>
                <a:latin typeface="Courier New" pitchFamily="34" charset="0"/>
                <a:ea typeface="Courier New" pitchFamily="34" charset="-122"/>
                <a:cs typeface="Courier New" pitchFamily="34" charset="-120"/>
              </a:rPr>
              <a:t>    m_chassisSim = chassisSim;</a:t>
            </a:r>
            <a:endParaRPr lang="en-US" sz="1400" dirty="0"/>
          </a:p>
          <a:p>
            <a:pPr indent="0" marL="0">
              <a:lnSpc>
                <a:spcPct val="120000"/>
              </a:lnSpc>
              <a:buNone/>
            </a:pPr>
            <a:r>
              <a:rPr lang="en-US" sz="1400" dirty="0">
                <a:solidFill>
                  <a:srgbClr val="D7E3F4"/>
                </a:solidFill>
                <a:latin typeface="Courier New" pitchFamily="34" charset="0"/>
                <a:ea typeface="Courier New" pitchFamily="34" charset="-122"/>
                <a:cs typeface="Courier New" pitchFamily="34" charset="-120"/>
              </a:rPr>
              <a:t>  }</a:t>
            </a:r>
            <a:endParaRPr lang="en-US" sz="1400" dirty="0"/>
          </a:p>
          <a:p>
            <a:pPr indent="0" marL="0">
              <a:lnSpc>
                <a:spcPct val="120000"/>
              </a:lnSpc>
              <a:buNone/>
            </a:pPr>
            <a:endParaRPr lang="en-US" sz="1400" dirty="0"/>
          </a:p>
          <a:p>
            <a:pPr indent="0" marL="0">
              <a:lnSpc>
                <a:spcPct val="120000"/>
              </a:lnSpc>
              <a:buNone/>
            </a:pPr>
            <a:r>
              <a:rPr lang="en-US" sz="1400" dirty="0">
                <a:solidFill>
                  <a:srgbClr val="FFD166"/>
                </a:solidFill>
                <a:latin typeface="Courier New" pitchFamily="34" charset="0"/>
                <a:ea typeface="Courier New" pitchFamily="34" charset="-122"/>
                <a:cs typeface="Courier New" pitchFamily="34" charset="-120"/>
              </a:rPr>
              <a:t>  @Override</a:t>
            </a:r>
            <a:endParaRPr lang="en-US" sz="1400" dirty="0"/>
          </a:p>
          <a:p>
            <a:pPr indent="0" marL="0">
              <a:lnSpc>
                <a:spcPct val="120000"/>
              </a:lnSpc>
              <a:buNone/>
            </a:pPr>
            <a:r>
              <a:rPr lang="en-US" sz="1400" dirty="0">
                <a:solidFill>
                  <a:srgbClr val="D7E3F4"/>
                </a:solidFill>
                <a:latin typeface="Courier New" pitchFamily="34" charset="0"/>
                <a:ea typeface="Courier New" pitchFamily="34" charset="-122"/>
                <a:cs typeface="Courier New" pitchFamily="34" charset="-120"/>
              </a:rPr>
              <a:t>  public void updateInputs(GyroIOInputs inputs) {</a:t>
            </a:r>
            <a:endParaRPr lang="en-US" sz="1400" dirty="0"/>
          </a:p>
          <a:p>
            <a:pPr indent="0" marL="0">
              <a:lnSpc>
                <a:spcPct val="120000"/>
              </a:lnSpc>
              <a:buNone/>
            </a:pPr>
            <a:r>
              <a:rPr lang="en-US" sz="1400" dirty="0">
                <a:solidFill>
                  <a:srgbClr val="9EF01A"/>
                </a:solidFill>
                <a:latin typeface="Courier New" pitchFamily="34" charset="0"/>
                <a:ea typeface="Courier New" pitchFamily="34" charset="-122"/>
                <a:cs typeface="Courier New" pitchFamily="34" charset="-120"/>
              </a:rPr>
              <a:t>    inputs.yawDegrees = m_chassisSim.getPose().getRotation().getDegrees();</a:t>
            </a:r>
            <a:endParaRPr lang="en-US" sz="1400" dirty="0"/>
          </a:p>
          <a:p>
            <a:pPr indent="0" marL="0">
              <a:lnSpc>
                <a:spcPct val="120000"/>
              </a:lnSpc>
              <a:buNone/>
            </a:pPr>
            <a:r>
              <a:rPr lang="en-US" sz="1400" dirty="0">
                <a:solidFill>
                  <a:srgbClr val="D7E3F4"/>
                </a:solidFill>
                <a:latin typeface="Courier New" pitchFamily="34" charset="0"/>
                <a:ea typeface="Courier New" pitchFamily="34" charset="-122"/>
                <a:cs typeface="Courier New" pitchFamily="34" charset="-120"/>
              </a:rPr>
              <a:t>  }</a:t>
            </a:r>
            <a:endParaRPr lang="en-US" sz="1400" dirty="0"/>
          </a:p>
          <a:p>
            <a:pPr indent="0" marL="0">
              <a:lnSpc>
                <a:spcPct val="120000"/>
              </a:lnSpc>
              <a:buNone/>
            </a:pPr>
            <a:r>
              <a:rPr lang="en-US" sz="1400" dirty="0">
                <a:solidFill>
                  <a:srgbClr val="D7E3F4"/>
                </a:solidFill>
                <a:latin typeface="Courier New" pitchFamily="34" charset="0"/>
                <a:ea typeface="Courier New" pitchFamily="34" charset="-122"/>
                <a:cs typeface="Courier New" pitchFamily="34" charset="-120"/>
              </a:rPr>
              <a:t>}</a:t>
            </a:r>
            <a:endParaRPr lang="en-US" sz="1400" dirty="0"/>
          </a:p>
        </p:txBody>
      </p:sp>
      <p:sp>
        <p:nvSpPr>
          <p:cNvPr id="12" name="Text 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GROUND TRUTH</a:t>
            </a:r>
            <a:endParaRPr lang="en-US" sz="2000" dirty="0"/>
          </a:p>
        </p:txBody>
      </p:sp>
      <p:sp>
        <p:nvSpPr>
          <p:cNvPr id="13" name="Text 1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14</a:t>
            </a:r>
            <a:endParaRPr lang="en-US" sz="2000" dirty="0"/>
          </a:p>
        </p:txBody>
      </p:sp>
      <p:pic>
        <p:nvPicPr>
          <p:cNvPr id="14"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plug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5 · GYROIO.JAVA + DRIVETRAIN.JAVA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A dead method, deleted — and the gyro gets its chassis</a:t>
            </a:r>
            <a:endParaRPr lang="en-US" sz="3000" dirty="0"/>
          </a:p>
        </p:txBody>
      </p:sp>
      <p:sp>
        <p:nvSpPr>
          <p:cNvPr id="6" name="Shape 3"/>
          <p:cNvSpPr/>
          <p:nvPr/>
        </p:nvSpPr>
        <p:spPr>
          <a:xfrm>
            <a:off x="640080" y="1280160"/>
            <a:ext cx="10881360" cy="1371600"/>
          </a:xfrm>
          <a:prstGeom prst="roundRect">
            <a:avLst>
              <a:gd name="adj" fmla="val 8000"/>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426464"/>
            <a:ext cx="128016" cy="128016"/>
          </a:xfrm>
          <a:prstGeom prst="ellipse">
            <a:avLst/>
          </a:prstGeom>
          <a:solidFill>
            <a:srgbClr val="FF6B6B"/>
          </a:solidFill>
          <a:ln/>
        </p:spPr>
      </p:sp>
      <p:sp>
        <p:nvSpPr>
          <p:cNvPr id="8" name="Shape 5"/>
          <p:cNvSpPr/>
          <p:nvPr/>
        </p:nvSpPr>
        <p:spPr>
          <a:xfrm>
            <a:off x="11210544" y="1627632"/>
            <a:ext cx="128016" cy="128016"/>
          </a:xfrm>
          <a:prstGeom prst="ellipse">
            <a:avLst/>
          </a:prstGeom>
          <a:solidFill>
            <a:srgbClr val="FFD166"/>
          </a:solidFill>
          <a:ln/>
        </p:spPr>
      </p:sp>
      <p:sp>
        <p:nvSpPr>
          <p:cNvPr id="9" name="Shape 6"/>
          <p:cNvSpPr/>
          <p:nvPr/>
        </p:nvSpPr>
        <p:spPr>
          <a:xfrm>
            <a:off x="11210544" y="1828800"/>
            <a:ext cx="128016" cy="128016"/>
          </a:xfrm>
          <a:prstGeom prst="ellipse">
            <a:avLst/>
          </a:prstGeom>
          <a:solidFill>
            <a:srgbClr val="2EC4B6"/>
          </a:solidFill>
          <a:ln/>
        </p:spPr>
      </p:sp>
      <p:sp>
        <p:nvSpPr>
          <p:cNvPr id="10" name="Text 7"/>
          <p:cNvSpPr/>
          <p:nvPr/>
        </p:nvSpPr>
        <p:spPr>
          <a:xfrm>
            <a:off x="914400" y="140817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DELETE from the GyroIO interface</a:t>
            </a:r>
            <a:endParaRPr lang="en-US" sz="1500" dirty="0"/>
          </a:p>
        </p:txBody>
      </p:sp>
      <p:sp>
        <p:nvSpPr>
          <p:cNvPr id="11" name="Text 8"/>
          <p:cNvSpPr/>
          <p:nvPr/>
        </p:nvSpPr>
        <p:spPr>
          <a:xfrm>
            <a:off x="914400" y="1737360"/>
            <a:ext cx="10195560" cy="713232"/>
          </a:xfrm>
          <a:prstGeom prst="rect">
            <a:avLst/>
          </a:prstGeom>
          <a:noFill/>
          <a:ln/>
        </p:spPr>
        <p:txBody>
          <a:bodyPr wrap="square" lIns="0" tIns="0" rIns="0" bIns="0" rtlCol="0" anchor="t"/>
          <a:lstStyle/>
          <a:p>
            <a:pPr indent="0" marL="0">
              <a:lnSpc>
                <a:spcPct val="120000"/>
              </a:lnSpc>
              <a:buNone/>
            </a:pPr>
            <a:r>
              <a:rPr lang="en-US" sz="1350" dirty="0">
                <a:solidFill>
                  <a:srgbClr val="FF8B8B"/>
                </a:solidFill>
                <a:latin typeface="Courier New" pitchFamily="34" charset="0"/>
                <a:ea typeface="Courier New" pitchFamily="34" charset="-122"/>
                <a:cs typeface="Courier New" pitchFamily="34" charset="-120"/>
              </a:rPr>
              <a:t>// nothing integrates a commanded rate anymore; the shared chassis</a:t>
            </a:r>
            <a:endParaRPr lang="en-US" sz="1350" dirty="0"/>
          </a:p>
          <a:p>
            <a:pPr indent="0" marL="0">
              <a:lnSpc>
                <a:spcPct val="120000"/>
              </a:lnSpc>
              <a:buNone/>
            </a:pPr>
            <a:r>
              <a:rPr lang="en-US" sz="1350" dirty="0">
                <a:solidFill>
                  <a:srgbClr val="FF8B8B"/>
                </a:solidFill>
                <a:latin typeface="Courier New" pitchFamily="34" charset="0"/>
                <a:ea typeface="Courier New" pitchFamily="34" charset="-122"/>
                <a:cs typeface="Courier New" pitchFamily="34" charset="-120"/>
              </a:rPr>
              <a:t>// tracks rotation and the gyro just reports it.</a:t>
            </a:r>
            <a:endParaRPr lang="en-US" sz="1350" dirty="0"/>
          </a:p>
          <a:p>
            <a:pPr indent="0" marL="0">
              <a:lnSpc>
                <a:spcPct val="120000"/>
              </a:lnSpc>
              <a:buNone/>
            </a:pPr>
            <a:r>
              <a:rPr lang="en-US" sz="1350" dirty="0">
                <a:solidFill>
                  <a:srgbClr val="FF6B6B"/>
                </a:solidFill>
                <a:latin typeface="Courier New" pitchFamily="34" charset="0"/>
                <a:ea typeface="Courier New" pitchFamily="34" charset="-122"/>
                <a:cs typeface="Courier New" pitchFamily="34" charset="-120"/>
              </a:rPr>
              <a:t>public default void setSimRotationRate(double omegaRevPerSec) {}</a:t>
            </a:r>
            <a:endParaRPr lang="en-US" sz="1350" dirty="0"/>
          </a:p>
        </p:txBody>
      </p:sp>
      <p:sp>
        <p:nvSpPr>
          <p:cNvPr id="12" name="Shape 9"/>
          <p:cNvSpPr/>
          <p:nvPr/>
        </p:nvSpPr>
        <p:spPr>
          <a:xfrm>
            <a:off x="640080" y="2880360"/>
            <a:ext cx="10881360" cy="2331720"/>
          </a:xfrm>
          <a:prstGeom prst="roundRect">
            <a:avLst>
              <a:gd name="adj" fmla="val 4706"/>
            </a:avLst>
          </a:prstGeom>
          <a:solidFill>
            <a:srgbClr val="0B1F3A"/>
          </a:solidFill>
          <a:ln/>
          <a:effectLst>
            <a:outerShdw sx="100000" sy="100000" kx="0" ky="0" algn="bl" rotWithShape="0" blurRad="101600" dist="38100" dir="5400000">
              <a:srgbClr val="0B1F3A">
                <a:alpha val="35000"/>
              </a:srgbClr>
            </a:outerShdw>
          </a:effectLst>
        </p:spPr>
      </p:sp>
      <p:sp>
        <p:nvSpPr>
          <p:cNvPr id="13" name="Shape 10"/>
          <p:cNvSpPr/>
          <p:nvPr/>
        </p:nvSpPr>
        <p:spPr>
          <a:xfrm>
            <a:off x="11210544" y="3026664"/>
            <a:ext cx="128016" cy="128016"/>
          </a:xfrm>
          <a:prstGeom prst="ellipse">
            <a:avLst/>
          </a:prstGeom>
          <a:solidFill>
            <a:srgbClr val="FF6B6B"/>
          </a:solidFill>
          <a:ln/>
        </p:spPr>
      </p:sp>
      <p:sp>
        <p:nvSpPr>
          <p:cNvPr id="14" name="Shape 11"/>
          <p:cNvSpPr/>
          <p:nvPr/>
        </p:nvSpPr>
        <p:spPr>
          <a:xfrm>
            <a:off x="11210544" y="3227832"/>
            <a:ext cx="128016" cy="128016"/>
          </a:xfrm>
          <a:prstGeom prst="ellipse">
            <a:avLst/>
          </a:prstGeom>
          <a:solidFill>
            <a:srgbClr val="FFD166"/>
          </a:solidFill>
          <a:ln/>
        </p:spPr>
      </p:sp>
      <p:sp>
        <p:nvSpPr>
          <p:cNvPr id="15" name="Shape 12"/>
          <p:cNvSpPr/>
          <p:nvPr/>
        </p:nvSpPr>
        <p:spPr>
          <a:xfrm>
            <a:off x="11210544" y="3429000"/>
            <a:ext cx="128016" cy="128016"/>
          </a:xfrm>
          <a:prstGeom prst="ellipse">
            <a:avLst/>
          </a:prstGeom>
          <a:solidFill>
            <a:srgbClr val="2EC4B6"/>
          </a:solidFill>
          <a:ln/>
        </p:spPr>
      </p:sp>
      <p:sp>
        <p:nvSpPr>
          <p:cNvPr id="16" name="Text 13"/>
          <p:cNvSpPr/>
          <p:nvPr/>
        </p:nvSpPr>
        <p:spPr>
          <a:xfrm>
            <a:off x="914400" y="300837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Edit the gyro switch in Drivetrain</a:t>
            </a:r>
            <a:endParaRPr lang="en-US" sz="1500" dirty="0"/>
          </a:p>
        </p:txBody>
      </p:sp>
      <p:sp>
        <p:nvSpPr>
          <p:cNvPr id="17" name="Text 14"/>
          <p:cNvSpPr/>
          <p:nvPr/>
        </p:nvSpPr>
        <p:spPr>
          <a:xfrm>
            <a:off x="914400" y="3337560"/>
            <a:ext cx="10195560" cy="1673352"/>
          </a:xfrm>
          <a:prstGeom prst="rect">
            <a:avLst/>
          </a:prstGeom>
          <a:noFill/>
          <a:ln/>
        </p:spPr>
        <p:txBody>
          <a:bodyPr wrap="square" lIns="0" tIns="0" rIns="0" bIns="0" rtlCol="0" anchor="t"/>
          <a:lstStyle/>
          <a:p>
            <a:pPr indent="0" marL="0">
              <a:lnSpc>
                <a:spcPct val="120000"/>
              </a:lnSpc>
              <a:buNone/>
            </a:pPr>
            <a:r>
              <a:rPr lang="en-US" sz="1400" dirty="0">
                <a:solidFill>
                  <a:srgbClr val="FFD166"/>
                </a:solidFill>
                <a:latin typeface="Courier New" pitchFamily="34" charset="0"/>
                <a:ea typeface="Courier New" pitchFamily="34" charset="-122"/>
                <a:cs typeface="Courier New" pitchFamily="34" charset="-120"/>
              </a:rPr>
              <a:t>private final GyroIO m_gyroIO = switch (Constants.kCurrentMode) {</a:t>
            </a:r>
            <a:endParaRPr lang="en-US" sz="1400" dirty="0"/>
          </a:p>
          <a:p>
            <a:pPr indent="0" marL="0">
              <a:lnSpc>
                <a:spcPct val="120000"/>
              </a:lnSpc>
              <a:buNone/>
            </a:pPr>
            <a:r>
              <a:rPr lang="en-US" sz="1400" dirty="0">
                <a:solidFill>
                  <a:srgbClr val="D7E3F4"/>
                </a:solidFill>
                <a:latin typeface="Courier New" pitchFamily="34" charset="0"/>
                <a:ea typeface="Courier New" pitchFamily="34" charset="-122"/>
                <a:cs typeface="Courier New" pitchFamily="34" charset="-120"/>
              </a:rPr>
              <a:t>  case REAL -&gt; new GyroIOPigeon2();</a:t>
            </a:r>
            <a:endParaRPr lang="en-US" sz="1400" dirty="0"/>
          </a:p>
          <a:p>
            <a:pPr indent="0" marL="0">
              <a:lnSpc>
                <a:spcPct val="120000"/>
              </a:lnSpc>
              <a:buNone/>
            </a:pPr>
            <a:r>
              <a:rPr lang="en-US" sz="1400" dirty="0">
                <a:solidFill>
                  <a:srgbClr val="9EF01A"/>
                </a:solidFill>
                <a:latin typeface="Courier New" pitchFamily="34" charset="0"/>
                <a:ea typeface="Courier New" pitchFamily="34" charset="-122"/>
                <a:cs typeface="Courier New" pitchFamily="34" charset="-120"/>
              </a:rPr>
              <a:t>  case SIM -&gt; new GyroIOSim(m_chassisSim);</a:t>
            </a:r>
            <a:endParaRPr lang="en-US" sz="1400" dirty="0"/>
          </a:p>
          <a:p>
            <a:pPr indent="0" marL="0">
              <a:lnSpc>
                <a:spcPct val="120000"/>
              </a:lnSpc>
              <a:buNone/>
            </a:pPr>
            <a:r>
              <a:rPr lang="en-US" sz="1400" dirty="0">
                <a:solidFill>
                  <a:srgbClr val="D7E3F4"/>
                </a:solidFill>
                <a:latin typeface="Courier New" pitchFamily="34" charset="0"/>
                <a:ea typeface="Courier New" pitchFamily="34" charset="-122"/>
                <a:cs typeface="Courier New" pitchFamily="34" charset="-120"/>
              </a:rPr>
              <a:t>  case REPLAY -&gt; new GyroIO() {}; // inputs come from the log</a:t>
            </a:r>
            <a:endParaRPr lang="en-US" sz="1400" dirty="0"/>
          </a:p>
          <a:p>
            <a:pPr indent="0" marL="0">
              <a:lnSpc>
                <a:spcPct val="120000"/>
              </a:lnSpc>
              <a:buNone/>
            </a:pPr>
            <a:r>
              <a:rPr lang="en-US" sz="1400" dirty="0">
                <a:solidFill>
                  <a:srgbClr val="D7E3F4"/>
                </a:solidFill>
                <a:latin typeface="Courier New" pitchFamily="34" charset="0"/>
                <a:ea typeface="Courier New" pitchFamily="34" charset="-122"/>
                <a:cs typeface="Courier New" pitchFamily="34" charset="-120"/>
              </a:rPr>
              <a:t>};</a:t>
            </a:r>
            <a:endParaRPr lang="en-US" sz="1400" dirty="0"/>
          </a:p>
        </p:txBody>
      </p:sp>
      <p:sp>
        <p:nvSpPr>
          <p:cNvPr id="18" name="Text 15"/>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GROUND TRUTH</a:t>
            </a:r>
            <a:endParaRPr lang="en-US" sz="2000" dirty="0"/>
          </a:p>
        </p:txBody>
      </p:sp>
      <p:sp>
        <p:nvSpPr>
          <p:cNvPr id="19" name="Text 16"/>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15</a:t>
            </a:r>
            <a:endParaRPr lang="en-US" sz="2000" dirty="0"/>
          </a:p>
        </p:txBody>
      </p:sp>
      <p:pic>
        <p:nvPicPr>
          <p:cNvPr id="20"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FF5010"/>
          </a:solidFill>
          <a:ln/>
        </p:spPr>
      </p:sp>
      <p:pic>
        <p:nvPicPr>
          <p:cNvPr id="3" name="Image 0" descr="/home/user/BasicRobotLessons/docs/presentations/v3/template/assets/icons/sitemap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00" kern="0" dirty="0">
                <a:solidFill>
                  <a:srgbClr val="1B9AAA"/>
                </a:solidFill>
                <a:latin typeface="Calibri" pitchFamily="34" charset="0"/>
                <a:ea typeface="Calibri" pitchFamily="34" charset="-122"/>
                <a:cs typeface="Calibri" pitchFamily="34" charset="-120"/>
              </a:rPr>
              <a:t>SECTION 5 · WHY THE ORDER MATTERS</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Field initializers run top to bottom</a:t>
            </a:r>
            <a:endParaRPr lang="en-US" sz="3000" dirty="0"/>
          </a:p>
        </p:txBody>
      </p:sp>
      <p:sp>
        <p:nvSpPr>
          <p:cNvPr id="6" name="Shape 3"/>
          <p:cNvSpPr/>
          <p:nvPr/>
        </p:nvSpPr>
        <p:spPr>
          <a:xfrm>
            <a:off x="640080" y="1828800"/>
            <a:ext cx="10881360" cy="3200400"/>
          </a:xfrm>
          <a:prstGeom prst="roundRect">
            <a:avLst>
              <a:gd name="adj" fmla="val 2857"/>
            </a:avLst>
          </a:prstGeom>
          <a:solidFill>
            <a:srgbClr val="132A4C"/>
          </a:solidFill>
          <a:ln/>
        </p:spPr>
      </p:sp>
      <p:sp>
        <p:nvSpPr>
          <p:cNvPr id="7" name="Text 4"/>
          <p:cNvSpPr/>
          <p:nvPr/>
        </p:nvSpPr>
        <p:spPr>
          <a:xfrm>
            <a:off x="914400" y="2103120"/>
            <a:ext cx="10332720" cy="577850"/>
          </a:xfrm>
          <a:prstGeom prst="rect">
            <a:avLst/>
          </a:prstGeom>
          <a:noFill/>
          <a:ln/>
        </p:spPr>
        <p:txBody>
          <a:bodyPr wrap="square" lIns="0" tIns="0" rIns="0" bIns="0" rtlCol="0" anchor="t"/>
          <a:lstStyle/>
          <a:p>
            <a:pPr indent="0" marL="0">
              <a:lnSpc>
                <a:spcPct val="120000"/>
              </a:lnSpc>
              <a:buNone/>
            </a:pPr>
            <a:r>
              <a:rPr lang="en-US" sz="2200" b="1" dirty="0">
                <a:solidFill>
                  <a:srgbClr val="FFFFFF"/>
                </a:solidFill>
                <a:latin typeface="Cambria" pitchFamily="34" charset="0"/>
                <a:ea typeface="Cambria" pitchFamily="34" charset="-122"/>
                <a:cs typeface="Cambria" pitchFamily="34" charset="-120"/>
              </a:rPr>
              <a:t>This is exactly why m_chassisSim had to come first</a:t>
            </a:r>
            <a:endParaRPr lang="en-US" sz="2200" dirty="0"/>
          </a:p>
        </p:txBody>
      </p:sp>
      <p:sp>
        <p:nvSpPr>
          <p:cNvPr id="8" name="Text 5"/>
          <p:cNvSpPr/>
          <p:nvPr/>
        </p:nvSpPr>
        <p:spPr>
          <a:xfrm>
            <a:off x="914400" y="2680970"/>
            <a:ext cx="10332720" cy="2073910"/>
          </a:xfrm>
          <a:prstGeom prst="rect">
            <a:avLst/>
          </a:prstGeom>
          <a:noFill/>
          <a:ln/>
        </p:spPr>
        <p:txBody>
          <a:bodyPr wrap="square" lIns="0" tIns="0" rIns="0" bIns="0" rtlCol="0" anchor="t"/>
          <a:lstStyle/>
          <a:p>
            <a:pPr indent="0" marL="0">
              <a:lnSpc>
                <a:spcPct val="125000"/>
              </a:lnSpc>
              <a:buNone/>
            </a:pPr>
            <a:r>
              <a:rPr lang="en-US" sz="2000" dirty="0">
                <a:solidFill>
                  <a:srgbClr val="D7E3F4"/>
                </a:solidFill>
                <a:latin typeface="Calibri" pitchFamily="34" charset="0"/>
                <a:ea typeface="Calibri" pitchFamily="34" charset="-122"/>
                <a:cs typeface="Calibri" pitchFamily="34" charset="-120"/>
              </a:rPr>
              <a:t>GyroIOSim's constructor needs a chassis that already exists. Because m_chassisSim was declared above m_gyroIO back in section 4, it's already built by the time the gyro field's initializer runs — the same ordering discipline Lesson 14 taught you with m_drivetrain before m_localizer.</a:t>
            </a:r>
            <a:endParaRPr lang="en-US" sz="2000" dirty="0"/>
          </a:p>
        </p:txBody>
      </p:sp>
      <p:sp>
        <p:nvSpPr>
          <p:cNvPr id="9" name="Text 6"/>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7A93B8"/>
                </a:solidFill>
                <a:latin typeface="Calibri" pitchFamily="34" charset="0"/>
                <a:ea typeface="Calibri" pitchFamily="34" charset="-122"/>
                <a:cs typeface="Calibri" pitchFamily="34" charset="-120"/>
              </a:rPr>
              <a:t>LEARN JAVA + ROBOT PROGRAMMING · GROUND TRUTH</a:t>
            </a:r>
            <a:endParaRPr lang="en-US" sz="2000" dirty="0"/>
          </a:p>
        </p:txBody>
      </p:sp>
      <p:sp>
        <p:nvSpPr>
          <p:cNvPr id="10" name="Text 7"/>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7A93B8"/>
                </a:solidFill>
                <a:latin typeface="Calibri" pitchFamily="34" charset="0"/>
                <a:ea typeface="Calibri" pitchFamily="34" charset="-122"/>
                <a:cs typeface="Calibri" pitchFamily="34" charset="-120"/>
              </a:rPr>
              <a:t>16</a:t>
            </a:r>
            <a:endParaRPr lang="en-US" sz="2000" dirty="0"/>
          </a:p>
        </p:txBody>
      </p:sp>
      <p:pic>
        <p:nvPicPr>
          <p:cNvPr id="11" name="Image 1" descr="/home/user/BasicRobotLessons/docs/presentations/v3/template/assets/logo/team5010-logo-onnavy.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broadcasttower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6 · DRIVETRAIN.JAVA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Publish the truth, alongside the estimate</a:t>
            </a:r>
            <a:endParaRPr lang="en-US" sz="3000" dirty="0"/>
          </a:p>
        </p:txBody>
      </p:sp>
      <p:sp>
        <p:nvSpPr>
          <p:cNvPr id="6" name="Shape 3"/>
          <p:cNvSpPr/>
          <p:nvPr/>
        </p:nvSpPr>
        <p:spPr>
          <a:xfrm>
            <a:off x="640080" y="1280160"/>
            <a:ext cx="10881360" cy="1783080"/>
          </a:xfrm>
          <a:prstGeom prst="roundRect">
            <a:avLst>
              <a:gd name="adj" fmla="val 6154"/>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426464"/>
            <a:ext cx="128016" cy="128016"/>
          </a:xfrm>
          <a:prstGeom prst="ellipse">
            <a:avLst/>
          </a:prstGeom>
          <a:solidFill>
            <a:srgbClr val="FF6B6B"/>
          </a:solidFill>
          <a:ln/>
        </p:spPr>
      </p:sp>
      <p:sp>
        <p:nvSpPr>
          <p:cNvPr id="8" name="Shape 5"/>
          <p:cNvSpPr/>
          <p:nvPr/>
        </p:nvSpPr>
        <p:spPr>
          <a:xfrm>
            <a:off x="11210544" y="1627632"/>
            <a:ext cx="128016" cy="128016"/>
          </a:xfrm>
          <a:prstGeom prst="ellipse">
            <a:avLst/>
          </a:prstGeom>
          <a:solidFill>
            <a:srgbClr val="FFD166"/>
          </a:solidFill>
          <a:ln/>
        </p:spPr>
      </p:sp>
      <p:sp>
        <p:nvSpPr>
          <p:cNvPr id="9" name="Shape 6"/>
          <p:cNvSpPr/>
          <p:nvPr/>
        </p:nvSpPr>
        <p:spPr>
          <a:xfrm>
            <a:off x="11210544" y="1828800"/>
            <a:ext cx="128016" cy="128016"/>
          </a:xfrm>
          <a:prstGeom prst="ellipse">
            <a:avLst/>
          </a:prstGeom>
          <a:solidFill>
            <a:srgbClr val="2EC4B6"/>
          </a:solidFill>
          <a:ln/>
        </p:spPr>
      </p:sp>
      <p:sp>
        <p:nvSpPr>
          <p:cNvPr id="10" name="Text 7"/>
          <p:cNvSpPr/>
          <p:nvPr/>
        </p:nvSpPr>
        <p:spPr>
          <a:xfrm>
            <a:off x="914400" y="140817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Log it at the end of periodic()</a:t>
            </a:r>
            <a:endParaRPr lang="en-US" sz="1500" dirty="0"/>
          </a:p>
        </p:txBody>
      </p:sp>
      <p:sp>
        <p:nvSpPr>
          <p:cNvPr id="11" name="Text 8"/>
          <p:cNvSpPr/>
          <p:nvPr/>
        </p:nvSpPr>
        <p:spPr>
          <a:xfrm>
            <a:off x="914400" y="1737360"/>
            <a:ext cx="10195560" cy="1124712"/>
          </a:xfrm>
          <a:prstGeom prst="rect">
            <a:avLst/>
          </a:prstGeom>
          <a:noFill/>
          <a:ln/>
        </p:spPr>
        <p:txBody>
          <a:bodyPr wrap="square" lIns="0" tIns="0" rIns="0" bIns="0" rtlCol="0" anchor="t"/>
          <a:lstStyle/>
          <a:p>
            <a:pPr indent="0" marL="0">
              <a:lnSpc>
                <a:spcPct val="120000"/>
              </a:lnSpc>
              <a:buNone/>
            </a:pPr>
            <a:r>
              <a:rPr lang="en-US" sz="1400" dirty="0">
                <a:solidFill>
                  <a:srgbClr val="9EF01A"/>
                </a:solidFill>
                <a:latin typeface="Courier New" pitchFamily="34" charset="0"/>
                <a:ea typeface="Courier New" pitchFamily="34" charset="-122"/>
                <a:cs typeface="Courier New" pitchFamily="34" charset="-120"/>
              </a:rPr>
              <a:t>if (m_chassisSim != null) {</a:t>
            </a:r>
            <a:endParaRPr lang="en-US" sz="1400" dirty="0"/>
          </a:p>
          <a:p>
            <a:pPr indent="0" marL="0">
              <a:lnSpc>
                <a:spcPct val="120000"/>
              </a:lnSpc>
              <a:buNone/>
            </a:pPr>
            <a:r>
              <a:rPr lang="en-US" sz="1400" dirty="0">
                <a:solidFill>
                  <a:srgbClr val="9EF01A"/>
                </a:solidFill>
                <a:latin typeface="Courier New" pitchFamily="34" charset="0"/>
                <a:ea typeface="Courier New" pitchFamily="34" charset="-122"/>
                <a:cs typeface="Courier New" pitchFamily="34" charset="-120"/>
              </a:rPr>
              <a:t>  Telemetry.log("Drivetrain/SimulatedPose", m_chassisSim.getPose(), Pose2d.struct);</a:t>
            </a:r>
            <a:endParaRPr lang="en-US" sz="1400" dirty="0"/>
          </a:p>
          <a:p>
            <a:pPr indent="0" marL="0">
              <a:lnSpc>
                <a:spcPct val="120000"/>
              </a:lnSpc>
              <a:buNone/>
            </a:pPr>
            <a:r>
              <a:rPr lang="en-US" sz="1400" dirty="0">
                <a:solidFill>
                  <a:srgbClr val="D7E3F4"/>
                </a:solidFill>
                <a:latin typeface="Courier New" pitchFamily="34" charset="0"/>
                <a:ea typeface="Courier New" pitchFamily="34" charset="-122"/>
                <a:cs typeface="Courier New" pitchFamily="34" charset="-120"/>
              </a:rPr>
              <a:t>}</a:t>
            </a:r>
            <a:endParaRPr lang="en-US" sz="1400" dirty="0"/>
          </a:p>
          <a:p>
            <a:pPr indent="0" marL="0">
              <a:lnSpc>
                <a:spcPct val="120000"/>
              </a:lnSpc>
              <a:buNone/>
            </a:pPr>
            <a:r>
              <a:rPr lang="en-US" sz="1400" dirty="0">
                <a:solidFill>
                  <a:srgbClr val="D7E3F4"/>
                </a:solidFill>
                <a:latin typeface="Courier New" pitchFamily="34" charset="0"/>
                <a:ea typeface="Courier New" pitchFamily="34" charset="-122"/>
                <a:cs typeface="Courier New" pitchFamily="34" charset="-120"/>
              </a:rPr>
              <a:t>}</a:t>
            </a:r>
            <a:endParaRPr lang="en-US" sz="1400" dirty="0"/>
          </a:p>
        </p:txBody>
      </p:sp>
      <p:sp>
        <p:nvSpPr>
          <p:cNvPr id="12" name="Shape 9"/>
          <p:cNvSpPr/>
          <p:nvPr/>
        </p:nvSpPr>
        <p:spPr>
          <a:xfrm>
            <a:off x="640080" y="3291840"/>
            <a:ext cx="10881360" cy="1463040"/>
          </a:xfrm>
          <a:prstGeom prst="roundRect">
            <a:avLst>
              <a:gd name="adj" fmla="val 6250"/>
            </a:avLst>
          </a:prstGeom>
          <a:solidFill>
            <a:srgbClr val="F3F6FA"/>
          </a:solidFill>
          <a:ln/>
        </p:spPr>
      </p:sp>
      <p:sp>
        <p:nvSpPr>
          <p:cNvPr id="13" name="Text 10"/>
          <p:cNvSpPr/>
          <p:nvPr/>
        </p:nvSpPr>
        <p:spPr>
          <a:xfrm>
            <a:off x="868680" y="3520440"/>
            <a:ext cx="10424160" cy="100584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The same Telemetry.log call that publishes Drivetrain/Heading a few lines up — handed a Pose2d and its .struct this time.</a:t>
            </a:r>
            <a:endParaRPr lang="en-US" sz="2000" dirty="0"/>
          </a:p>
        </p:txBody>
      </p:sp>
      <p:sp>
        <p:nvSpPr>
          <p:cNvPr id="14" name="Text 1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GROUND TRUTH</a:t>
            </a:r>
            <a:endParaRPr lang="en-US" sz="2000" dirty="0"/>
          </a:p>
        </p:txBody>
      </p:sp>
      <p:sp>
        <p:nvSpPr>
          <p:cNvPr id="15" name="Text 1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17</a:t>
            </a:r>
            <a:endParaRPr lang="en-US" sz="2000" dirty="0"/>
          </a:p>
        </p:txBody>
      </p:sp>
      <p:pic>
        <p:nvPicPr>
          <p:cNvPr id="16"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history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6 · DRIFT YOU DIDN'T HAVE TO FAKE</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Drive hard, and watch the two poses separate</a:t>
            </a:r>
            <a:endParaRPr lang="en-US" sz="3000" dirty="0"/>
          </a:p>
        </p:txBody>
      </p:sp>
      <p:sp>
        <p:nvSpPr>
          <p:cNvPr id="6" name="Shape 3"/>
          <p:cNvSpPr/>
          <p:nvPr/>
        </p:nvSpPr>
        <p:spPr>
          <a:xfrm>
            <a:off x="640080" y="1709928"/>
            <a:ext cx="502920" cy="502920"/>
          </a:xfrm>
          <a:prstGeom prst="ellipse">
            <a:avLst/>
          </a:prstGeom>
          <a:solidFill>
            <a:srgbClr val="1B9AAA"/>
          </a:solidFill>
          <a:ln/>
        </p:spPr>
      </p:sp>
      <p:sp>
        <p:nvSpPr>
          <p:cNvPr id="7" name="Text 4"/>
          <p:cNvSpPr/>
          <p:nvPr/>
        </p:nvSpPr>
        <p:spPr>
          <a:xfrm>
            <a:off x="640080" y="170992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8" name="Text 5"/>
          <p:cNvSpPr/>
          <p:nvPr/>
        </p:nvSpPr>
        <p:spPr>
          <a:xfrm>
            <a:off x="1371600" y="1636776"/>
            <a:ext cx="9875520" cy="384048"/>
          </a:xfrm>
          <a:prstGeom prst="rect">
            <a:avLst/>
          </a:prstGeom>
          <a:noFill/>
          <a:ln/>
        </p:spPr>
        <p:txBody>
          <a:bodyPr wrap="square" lIns="0" tIns="0" rIns="0" bIns="0" rtlCol="0" anchor="ctr"/>
          <a:lstStyle/>
          <a:p>
            <a:pPr indent="0" marL="0">
              <a:buNone/>
            </a:pPr>
            <a:r>
              <a:rPr lang="en-US" sz="2000" b="1" dirty="0">
                <a:solidFill>
                  <a:srgbClr val="13294B"/>
                </a:solidFill>
                <a:latin typeface="Cambria" pitchFamily="34" charset="0"/>
                <a:ea typeface="Cambria" pitchFamily="34" charset="-122"/>
                <a:cs typeface="Cambria" pitchFamily="34" charset="-120"/>
              </a:rPr>
              <a:t>AdvantageScope → Odometry tab</a:t>
            </a:r>
            <a:endParaRPr lang="en-US" sz="2000" dirty="0"/>
          </a:p>
        </p:txBody>
      </p:sp>
      <p:sp>
        <p:nvSpPr>
          <p:cNvPr id="9" name="Text 6"/>
          <p:cNvSpPr/>
          <p:nvPr/>
        </p:nvSpPr>
        <p:spPr>
          <a:xfrm>
            <a:off x="1371600" y="202082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5B6B84"/>
                </a:solidFill>
                <a:latin typeface="Calibri" pitchFamily="34" charset="0"/>
                <a:ea typeface="Calibri" pitchFamily="34" charset="-122"/>
                <a:cs typeface="Calibri" pitchFamily="34" charset="-120"/>
              </a:rPr>
              <a:t>Put both Localizer/Pose and Drivetrain/SimulatedPose on the field at once.</a:t>
            </a:r>
            <a:endParaRPr lang="en-US" sz="2000" dirty="0"/>
          </a:p>
        </p:txBody>
      </p:sp>
      <p:sp>
        <p:nvSpPr>
          <p:cNvPr id="10" name="Shape 7"/>
          <p:cNvSpPr/>
          <p:nvPr/>
        </p:nvSpPr>
        <p:spPr>
          <a:xfrm>
            <a:off x="640080" y="2624328"/>
            <a:ext cx="502920" cy="502920"/>
          </a:xfrm>
          <a:prstGeom prst="ellipse">
            <a:avLst/>
          </a:prstGeom>
          <a:solidFill>
            <a:srgbClr val="1B9AAA"/>
          </a:solidFill>
          <a:ln/>
        </p:spPr>
      </p:sp>
      <p:sp>
        <p:nvSpPr>
          <p:cNvPr id="11" name="Text 8"/>
          <p:cNvSpPr/>
          <p:nvPr/>
        </p:nvSpPr>
        <p:spPr>
          <a:xfrm>
            <a:off x="640080" y="262432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2" name="Text 9"/>
          <p:cNvSpPr/>
          <p:nvPr/>
        </p:nvSpPr>
        <p:spPr>
          <a:xfrm>
            <a:off x="1371600" y="2551176"/>
            <a:ext cx="9875520" cy="384048"/>
          </a:xfrm>
          <a:prstGeom prst="rect">
            <a:avLst/>
          </a:prstGeom>
          <a:noFill/>
          <a:ln/>
        </p:spPr>
        <p:txBody>
          <a:bodyPr wrap="square" lIns="0" tIns="0" rIns="0" bIns="0" rtlCol="0" anchor="ctr"/>
          <a:lstStyle/>
          <a:p>
            <a:pPr indent="0" marL="0">
              <a:buNone/>
            </a:pPr>
            <a:r>
              <a:rPr lang="en-US" sz="2000" b="1" dirty="0">
                <a:solidFill>
                  <a:srgbClr val="13294B"/>
                </a:solidFill>
                <a:latin typeface="Cambria" pitchFamily="34" charset="0"/>
                <a:ea typeface="Cambria" pitchFamily="34" charset="-122"/>
                <a:cs typeface="Cambria" pitchFamily="34" charset="-120"/>
              </a:rPr>
              <a:t>Drive gently</a:t>
            </a:r>
            <a:endParaRPr lang="en-US" sz="2000" dirty="0"/>
          </a:p>
        </p:txBody>
      </p:sp>
      <p:sp>
        <p:nvSpPr>
          <p:cNvPr id="13" name="Text 10"/>
          <p:cNvSpPr/>
          <p:nvPr/>
        </p:nvSpPr>
        <p:spPr>
          <a:xfrm>
            <a:off x="1371600" y="293522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5B6B84"/>
                </a:solidFill>
                <a:latin typeface="Calibri" pitchFamily="34" charset="0"/>
                <a:ea typeface="Calibri" pitchFamily="34" charset="-122"/>
                <a:cs typeface="Calibri" pitchFamily="34" charset="-120"/>
              </a:rPr>
              <a:t>The two poses sit right on top of each other.</a:t>
            </a:r>
            <a:endParaRPr lang="en-US" sz="2000" dirty="0"/>
          </a:p>
        </p:txBody>
      </p:sp>
      <p:sp>
        <p:nvSpPr>
          <p:cNvPr id="14" name="Shape 11"/>
          <p:cNvSpPr/>
          <p:nvPr/>
        </p:nvSpPr>
        <p:spPr>
          <a:xfrm>
            <a:off x="640080" y="3538728"/>
            <a:ext cx="502920" cy="502920"/>
          </a:xfrm>
          <a:prstGeom prst="ellipse">
            <a:avLst/>
          </a:prstGeom>
          <a:solidFill>
            <a:srgbClr val="1B9AAA"/>
          </a:solidFill>
          <a:ln/>
        </p:spPr>
      </p:sp>
      <p:sp>
        <p:nvSpPr>
          <p:cNvPr id="15" name="Text 12"/>
          <p:cNvSpPr/>
          <p:nvPr/>
        </p:nvSpPr>
        <p:spPr>
          <a:xfrm>
            <a:off x="640080" y="353872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6" name="Text 13"/>
          <p:cNvSpPr/>
          <p:nvPr/>
        </p:nvSpPr>
        <p:spPr>
          <a:xfrm>
            <a:off x="1371600" y="3465576"/>
            <a:ext cx="9875520" cy="384048"/>
          </a:xfrm>
          <a:prstGeom prst="rect">
            <a:avLst/>
          </a:prstGeom>
          <a:noFill/>
          <a:ln/>
        </p:spPr>
        <p:txBody>
          <a:bodyPr wrap="square" lIns="0" tIns="0" rIns="0" bIns="0" rtlCol="0" anchor="ctr"/>
          <a:lstStyle/>
          <a:p>
            <a:pPr indent="0" marL="0">
              <a:buNone/>
            </a:pPr>
            <a:r>
              <a:rPr lang="en-US" sz="2000" b="1" dirty="0">
                <a:solidFill>
                  <a:srgbClr val="13294B"/>
                </a:solidFill>
                <a:latin typeface="Cambria" pitchFamily="34" charset="0"/>
                <a:ea typeface="Cambria" pitchFamily="34" charset="-122"/>
                <a:cs typeface="Cambria" pitchFamily="34" charset="-120"/>
              </a:rPr>
              <a:t>Drive like you mean it</a:t>
            </a:r>
            <a:endParaRPr lang="en-US" sz="2000" dirty="0"/>
          </a:p>
        </p:txBody>
      </p:sp>
      <p:sp>
        <p:nvSpPr>
          <p:cNvPr id="17" name="Text 14"/>
          <p:cNvSpPr/>
          <p:nvPr/>
        </p:nvSpPr>
        <p:spPr>
          <a:xfrm>
            <a:off x="1371600" y="384962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5B6B84"/>
                </a:solidFill>
                <a:latin typeface="Calibri" pitchFamily="34" charset="0"/>
                <a:ea typeface="Calibri" pitchFamily="34" charset="-122"/>
                <a:cs typeface="Calibri" pitchFamily="34" charset="-120"/>
              </a:rPr>
              <a:t>Full stick from a stop, a hard reversal, a fast spin — watch them separate.</a:t>
            </a:r>
            <a:endParaRPr lang="en-US" sz="2000" dirty="0"/>
          </a:p>
        </p:txBody>
      </p:sp>
      <p:sp>
        <p:nvSpPr>
          <p:cNvPr id="18" name="Shape 15"/>
          <p:cNvSpPr/>
          <p:nvPr/>
        </p:nvSpPr>
        <p:spPr>
          <a:xfrm>
            <a:off x="640080" y="4453128"/>
            <a:ext cx="502920" cy="502920"/>
          </a:xfrm>
          <a:prstGeom prst="ellipse">
            <a:avLst/>
          </a:prstGeom>
          <a:solidFill>
            <a:srgbClr val="1B9AAA"/>
          </a:solidFill>
          <a:ln/>
        </p:spPr>
      </p:sp>
      <p:sp>
        <p:nvSpPr>
          <p:cNvPr id="19" name="Text 16"/>
          <p:cNvSpPr/>
          <p:nvPr/>
        </p:nvSpPr>
        <p:spPr>
          <a:xfrm>
            <a:off x="640080" y="445312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0" name="Text 17"/>
          <p:cNvSpPr/>
          <p:nvPr/>
        </p:nvSpPr>
        <p:spPr>
          <a:xfrm>
            <a:off x="1371600" y="4379976"/>
            <a:ext cx="9875520" cy="384048"/>
          </a:xfrm>
          <a:prstGeom prst="rect">
            <a:avLst/>
          </a:prstGeom>
          <a:noFill/>
          <a:ln/>
        </p:spPr>
        <p:txBody>
          <a:bodyPr wrap="square" lIns="0" tIns="0" rIns="0" bIns="0" rtlCol="0" anchor="ctr"/>
          <a:lstStyle/>
          <a:p>
            <a:pPr indent="0" marL="0">
              <a:buNone/>
            </a:pPr>
            <a:r>
              <a:rPr lang="en-US" sz="2000" b="1" dirty="0">
                <a:solidFill>
                  <a:srgbClr val="13294B"/>
                </a:solidFill>
                <a:latin typeface="Cambria" pitchFamily="34" charset="0"/>
                <a:ea typeface="Cambria" pitchFamily="34" charset="-122"/>
                <a:cs typeface="Cambria" pitchFamily="34" charset="-120"/>
              </a:rPr>
              <a:t>The estimate creeps ahead, and stays there</a:t>
            </a:r>
            <a:endParaRPr lang="en-US" sz="2000" dirty="0"/>
          </a:p>
        </p:txBody>
      </p:sp>
      <p:sp>
        <p:nvSpPr>
          <p:cNvPr id="21" name="Text 18"/>
          <p:cNvSpPr/>
          <p:nvPr/>
        </p:nvSpPr>
        <p:spPr>
          <a:xfrm>
            <a:off x="1371600" y="476402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5B6B84"/>
                </a:solidFill>
                <a:latin typeface="Calibri" pitchFamily="34" charset="0"/>
                <a:ea typeface="Calibri" pitchFamily="34" charset="-122"/>
                <a:cs typeface="Calibri" pitchFamily="34" charset="-120"/>
              </a:rPr>
              <a:t>Nothing resets it — addition never forgets.</a:t>
            </a:r>
            <a:endParaRPr lang="en-US" sz="2000" dirty="0"/>
          </a:p>
        </p:txBody>
      </p:sp>
      <p:sp>
        <p:nvSpPr>
          <p:cNvPr id="22" name="Text 1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GROUND TRUTH</a:t>
            </a:r>
            <a:endParaRPr lang="en-US" sz="2000" dirty="0"/>
          </a:p>
        </p:txBody>
      </p:sp>
      <p:sp>
        <p:nvSpPr>
          <p:cNvPr id="23" name="Text 2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18</a:t>
            </a:r>
            <a:endParaRPr lang="en-US" sz="2000" dirty="0"/>
          </a:p>
        </p:txBody>
      </p:sp>
      <p:pic>
        <p:nvPicPr>
          <p:cNvPr id="24"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camera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7 · ROBOT.JAVA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Closing the loop: vision checks itself against truth</a:t>
            </a:r>
            <a:endParaRPr lang="en-US" sz="3000" dirty="0"/>
          </a:p>
        </p:txBody>
      </p:sp>
      <p:sp>
        <p:nvSpPr>
          <p:cNvPr id="6" name="Shape 3"/>
          <p:cNvSpPr/>
          <p:nvPr/>
        </p:nvSpPr>
        <p:spPr>
          <a:xfrm>
            <a:off x="640080" y="1371600"/>
            <a:ext cx="10881360" cy="2743200"/>
          </a:xfrm>
          <a:prstGeom prst="roundRect">
            <a:avLst>
              <a:gd name="adj" fmla="val 4000"/>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517904"/>
            <a:ext cx="128016" cy="128016"/>
          </a:xfrm>
          <a:prstGeom prst="ellipse">
            <a:avLst/>
          </a:prstGeom>
          <a:solidFill>
            <a:srgbClr val="FF6B6B"/>
          </a:solidFill>
          <a:ln/>
        </p:spPr>
      </p:sp>
      <p:sp>
        <p:nvSpPr>
          <p:cNvPr id="8" name="Shape 5"/>
          <p:cNvSpPr/>
          <p:nvPr/>
        </p:nvSpPr>
        <p:spPr>
          <a:xfrm>
            <a:off x="11210544" y="1719072"/>
            <a:ext cx="128016" cy="128016"/>
          </a:xfrm>
          <a:prstGeom prst="ellipse">
            <a:avLst/>
          </a:prstGeom>
          <a:solidFill>
            <a:srgbClr val="FFD166"/>
          </a:solidFill>
          <a:ln/>
        </p:spPr>
      </p:sp>
      <p:sp>
        <p:nvSpPr>
          <p:cNvPr id="9" name="Shape 6"/>
          <p:cNvSpPr/>
          <p:nvPr/>
        </p:nvSpPr>
        <p:spPr>
          <a:xfrm>
            <a:off x="11210544" y="1920240"/>
            <a:ext cx="128016" cy="128016"/>
          </a:xfrm>
          <a:prstGeom prst="ellipse">
            <a:avLst/>
          </a:prstGeom>
          <a:solidFill>
            <a:srgbClr val="2EC4B6"/>
          </a:solidFill>
          <a:ln/>
        </p:spPr>
      </p:sp>
      <p:sp>
        <p:nvSpPr>
          <p:cNvPr id="10" name="Text 7"/>
          <p:cNvSpPr/>
          <p:nvPr/>
        </p:nvSpPr>
        <p:spPr>
          <a:xfrm>
            <a:off x="914400" y="149961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Change both camera suppliers in Robot's constructor</a:t>
            </a:r>
            <a:endParaRPr lang="en-US" sz="1500" dirty="0"/>
          </a:p>
        </p:txBody>
      </p:sp>
      <p:sp>
        <p:nvSpPr>
          <p:cNvPr id="11" name="Text 8"/>
          <p:cNvSpPr/>
          <p:nvPr/>
        </p:nvSpPr>
        <p:spPr>
          <a:xfrm>
            <a:off x="914400" y="1828800"/>
            <a:ext cx="10195560" cy="2084832"/>
          </a:xfrm>
          <a:prstGeom prst="rect">
            <a:avLst/>
          </a:prstGeom>
          <a:noFill/>
          <a:ln/>
        </p:spPr>
        <p:txBody>
          <a:bodyPr wrap="square" lIns="0" tIns="0" rIns="0" bIns="0" rtlCol="0" anchor="t"/>
          <a:lstStyle/>
          <a:p>
            <a:pPr indent="0" marL="0">
              <a:lnSpc>
                <a:spcPct val="120000"/>
              </a:lnSpc>
              <a:buNone/>
            </a:pPr>
            <a:r>
              <a:rPr lang="en-US" sz="1400" dirty="0">
                <a:solidFill>
                  <a:srgbClr val="9EF01A"/>
                </a:solidFill>
                <a:latin typeface="Courier New" pitchFamily="34" charset="0"/>
                <a:ea typeface="Courier New" pitchFamily="34" charset="-122"/>
                <a:cs typeface="Courier New" pitchFamily="34" charset="-120"/>
              </a:rPr>
              <a:t>frontCamera = LimelightPoseProvider.makeCamera(</a:t>
            </a:r>
            <a:endParaRPr lang="en-US" sz="1400" dirty="0"/>
          </a:p>
          <a:p>
            <a:pPr indent="0" marL="0">
              <a:lnSpc>
                <a:spcPct val="120000"/>
              </a:lnSpc>
              <a:buNone/>
            </a:pPr>
            <a:r>
              <a:rPr lang="en-US" sz="1400" dirty="0">
                <a:solidFill>
                  <a:srgbClr val="9EF01A"/>
                </a:solidFill>
                <a:latin typeface="Courier New" pitchFamily="34" charset="0"/>
                <a:ea typeface="Courier New" pitchFamily="34" charset="-122"/>
                <a:cs typeface="Courier New" pitchFamily="34" charset="-120"/>
              </a:rPr>
              <a:t>    VisionConstants.kFrontCameraName, VisionConstants.kFrontRobotToCamera,</a:t>
            </a:r>
            <a:endParaRPr lang="en-US" sz="1400" dirty="0"/>
          </a:p>
          <a:p>
            <a:pPr indent="0" marL="0">
              <a:lnSpc>
                <a:spcPct val="120000"/>
              </a:lnSpc>
              <a:buNone/>
            </a:pPr>
            <a:r>
              <a:rPr lang="en-US" sz="1400" dirty="0">
                <a:solidFill>
                  <a:srgbClr val="9EF01A"/>
                </a:solidFill>
                <a:latin typeface="Courier New" pitchFamily="34" charset="0"/>
                <a:ea typeface="Courier New" pitchFamily="34" charset="-122"/>
                <a:cs typeface="Courier New" pitchFamily="34" charset="-120"/>
              </a:rPr>
              <a:t>    drivetrain::getSimulatedPose);</a:t>
            </a:r>
            <a:endParaRPr lang="en-US" sz="1400" dirty="0"/>
          </a:p>
          <a:p>
            <a:pPr indent="0" marL="0">
              <a:lnSpc>
                <a:spcPct val="120000"/>
              </a:lnSpc>
              <a:buNone/>
            </a:pPr>
            <a:r>
              <a:rPr lang="en-US" sz="1400" dirty="0">
                <a:solidFill>
                  <a:srgbClr val="9EF01A"/>
                </a:solidFill>
                <a:latin typeface="Courier New" pitchFamily="34" charset="0"/>
                <a:ea typeface="Courier New" pitchFamily="34" charset="-122"/>
                <a:cs typeface="Courier New" pitchFamily="34" charset="-120"/>
              </a:rPr>
              <a:t>backCamera = LimelightPoseProvider.makeCamera(</a:t>
            </a:r>
            <a:endParaRPr lang="en-US" sz="1400" dirty="0"/>
          </a:p>
          <a:p>
            <a:pPr indent="0" marL="0">
              <a:lnSpc>
                <a:spcPct val="120000"/>
              </a:lnSpc>
              <a:buNone/>
            </a:pPr>
            <a:r>
              <a:rPr lang="en-US" sz="1400" dirty="0">
                <a:solidFill>
                  <a:srgbClr val="9EF01A"/>
                </a:solidFill>
                <a:latin typeface="Courier New" pitchFamily="34" charset="0"/>
                <a:ea typeface="Courier New" pitchFamily="34" charset="-122"/>
                <a:cs typeface="Courier New" pitchFamily="34" charset="-120"/>
              </a:rPr>
              <a:t>    VisionConstants.kBackCameraName, VisionConstants.kBackRobotToCamera,</a:t>
            </a:r>
            <a:endParaRPr lang="en-US" sz="1400" dirty="0"/>
          </a:p>
          <a:p>
            <a:pPr indent="0" marL="0">
              <a:lnSpc>
                <a:spcPct val="120000"/>
              </a:lnSpc>
              <a:buNone/>
            </a:pPr>
            <a:r>
              <a:rPr lang="en-US" sz="1400" dirty="0">
                <a:solidFill>
                  <a:srgbClr val="9EF01A"/>
                </a:solidFill>
                <a:latin typeface="Courier New" pitchFamily="34" charset="0"/>
                <a:ea typeface="Courier New" pitchFamily="34" charset="-122"/>
                <a:cs typeface="Courier New" pitchFamily="34" charset="-120"/>
              </a:rPr>
              <a:t>    drivetrain::getSimulatedPose);</a:t>
            </a:r>
            <a:endParaRPr lang="en-US" sz="1400" dirty="0"/>
          </a:p>
        </p:txBody>
      </p:sp>
      <p:sp>
        <p:nvSpPr>
          <p:cNvPr id="12" name="Shape 9"/>
          <p:cNvSpPr/>
          <p:nvPr/>
        </p:nvSpPr>
        <p:spPr>
          <a:xfrm>
            <a:off x="640080" y="4343400"/>
            <a:ext cx="10881360" cy="1874520"/>
          </a:xfrm>
          <a:prstGeom prst="roundRect">
            <a:avLst>
              <a:gd name="adj" fmla="val 4878"/>
            </a:avLst>
          </a:prstGeom>
          <a:solidFill>
            <a:srgbClr val="F3F6FA"/>
          </a:solidFill>
          <a:ln/>
        </p:spPr>
      </p:sp>
      <p:sp>
        <p:nvSpPr>
          <p:cNvPr id="13" name="Text 10"/>
          <p:cNvSpPr/>
          <p:nvPr/>
        </p:nvSpPr>
        <p:spPr>
          <a:xfrm>
            <a:off x="868680" y="4572000"/>
            <a:ext cx="10424160" cy="1417320"/>
          </a:xfrm>
          <a:prstGeom prst="rect">
            <a:avLst/>
          </a:prstGeom>
          <a:noFill/>
          <a:ln/>
        </p:spPr>
        <p:txBody>
          <a:bodyPr wrap="square" lIns="0" tIns="0" rIns="0" bIns="0" rtlCol="0" anchor="t"/>
          <a:lstStyle/>
          <a:p>
            <a:pPr indent="0" marL="0">
              <a:lnSpc>
                <a:spcPct val="125000"/>
              </a:lnSpc>
              <a:buNone/>
            </a:pPr>
            <a:r>
              <a:rPr lang="en-US" sz="1900" dirty="0">
                <a:solidFill>
                  <a:srgbClr val="13294B"/>
                </a:solidFill>
                <a:latin typeface="Calibri" pitchFamily="34" charset="0"/>
                <a:ea typeface="Calibri" pitchFamily="34" charset="-122"/>
                <a:cs typeface="Calibri" pitchFamily="34" charset="-120"/>
              </a:rPr>
              <a:t>That's the whole fix — drivetrain::getSimulatedPose in place of localizer::getPose. The simulated camera now renders from where the chassis actually is, so a correction it computes pulls the estimate toward something real, not toward itself.</a:t>
            </a:r>
            <a:endParaRPr lang="en-US" sz="1900" dirty="0"/>
          </a:p>
        </p:txBody>
      </p:sp>
      <p:sp>
        <p:nvSpPr>
          <p:cNvPr id="14" name="Text 1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GROUND TRUTH</a:t>
            </a:r>
            <a:endParaRPr lang="en-US" sz="2000" dirty="0"/>
          </a:p>
        </p:txBody>
      </p:sp>
      <p:sp>
        <p:nvSpPr>
          <p:cNvPr id="15" name="Text 1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19</a:t>
            </a:r>
            <a:endParaRPr lang="en-US" sz="2000" dirty="0"/>
          </a:p>
        </p:txBody>
      </p:sp>
      <p:pic>
        <p:nvPicPr>
          <p:cNvPr id="16"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mapmarker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7 · ROBOT.JAVA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One loose end: tell the estimate where it started</a:t>
            </a:r>
            <a:endParaRPr lang="en-US" sz="3000" dirty="0"/>
          </a:p>
        </p:txBody>
      </p:sp>
      <p:sp>
        <p:nvSpPr>
          <p:cNvPr id="6" name="Shape 3"/>
          <p:cNvSpPr/>
          <p:nvPr/>
        </p:nvSpPr>
        <p:spPr>
          <a:xfrm>
            <a:off x="640080" y="1371600"/>
            <a:ext cx="10881360" cy="1828800"/>
          </a:xfrm>
          <a:prstGeom prst="roundRect">
            <a:avLst>
              <a:gd name="adj" fmla="val 6000"/>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517904"/>
            <a:ext cx="128016" cy="128016"/>
          </a:xfrm>
          <a:prstGeom prst="ellipse">
            <a:avLst/>
          </a:prstGeom>
          <a:solidFill>
            <a:srgbClr val="FF6B6B"/>
          </a:solidFill>
          <a:ln/>
        </p:spPr>
      </p:sp>
      <p:sp>
        <p:nvSpPr>
          <p:cNvPr id="8" name="Shape 5"/>
          <p:cNvSpPr/>
          <p:nvPr/>
        </p:nvSpPr>
        <p:spPr>
          <a:xfrm>
            <a:off x="11210544" y="1719072"/>
            <a:ext cx="128016" cy="128016"/>
          </a:xfrm>
          <a:prstGeom prst="ellipse">
            <a:avLst/>
          </a:prstGeom>
          <a:solidFill>
            <a:srgbClr val="FFD166"/>
          </a:solidFill>
          <a:ln/>
        </p:spPr>
      </p:sp>
      <p:sp>
        <p:nvSpPr>
          <p:cNvPr id="9" name="Shape 6"/>
          <p:cNvSpPr/>
          <p:nvPr/>
        </p:nvSpPr>
        <p:spPr>
          <a:xfrm>
            <a:off x="11210544" y="1920240"/>
            <a:ext cx="128016" cy="128016"/>
          </a:xfrm>
          <a:prstGeom prst="ellipse">
            <a:avLst/>
          </a:prstGeom>
          <a:solidFill>
            <a:srgbClr val="2EC4B6"/>
          </a:solidFill>
          <a:ln/>
        </p:spPr>
      </p:sp>
      <p:sp>
        <p:nvSpPr>
          <p:cNvPr id="10" name="Text 7"/>
          <p:cNvSpPr/>
          <p:nvPr/>
        </p:nvSpPr>
        <p:spPr>
          <a:xfrm>
            <a:off x="914400" y="149961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to Robot's constructor, after the cameras are registered</a:t>
            </a:r>
            <a:endParaRPr lang="en-US" sz="1500" dirty="0"/>
          </a:p>
        </p:txBody>
      </p:sp>
      <p:sp>
        <p:nvSpPr>
          <p:cNvPr id="11" name="Text 8"/>
          <p:cNvSpPr/>
          <p:nvPr/>
        </p:nvSpPr>
        <p:spPr>
          <a:xfrm>
            <a:off x="914400" y="1828800"/>
            <a:ext cx="10195560" cy="1170432"/>
          </a:xfrm>
          <a:prstGeom prst="rect">
            <a:avLst/>
          </a:prstGeom>
          <a:noFill/>
          <a:ln/>
        </p:spPr>
        <p:txBody>
          <a:bodyPr wrap="square" lIns="0" tIns="0" rIns="0" bIns="0" rtlCol="0" anchor="t"/>
          <a:lstStyle/>
          <a:p>
            <a:pPr indent="0" marL="0">
              <a:lnSpc>
                <a:spcPct val="120000"/>
              </a:lnSpc>
              <a:buNone/>
            </a:pPr>
            <a:r>
              <a:rPr lang="en-US" sz="1350" dirty="0">
                <a:solidFill>
                  <a:srgbClr val="7FA8C9"/>
                </a:solidFill>
                <a:latin typeface="Courier New" pitchFamily="34" charset="0"/>
                <a:ea typeface="Courier New" pitchFamily="34" charset="-122"/>
                <a:cs typeface="Courier New" pitchFamily="34" charset="-120"/>
              </a:rPr>
              <a:t>// The simulated chassis starts at kSimStartingPose; tell the estimate</a:t>
            </a:r>
            <a:endParaRPr lang="en-US" sz="1350" dirty="0"/>
          </a:p>
          <a:p>
            <a:pPr indent="0" marL="0">
              <a:lnSpc>
                <a:spcPct val="120000"/>
              </a:lnSpc>
              <a:buNone/>
            </a:pPr>
            <a:r>
              <a:rPr lang="en-US" sz="1350" dirty="0">
                <a:solidFill>
                  <a:srgbClr val="7FA8C9"/>
                </a:solidFill>
                <a:latin typeface="Courier New" pitchFamily="34" charset="0"/>
                <a:ea typeface="Courier New" pitchFamily="34" charset="-122"/>
                <a:cs typeface="Courier New" pitchFamily="34" charset="-120"/>
              </a:rPr>
              <a:t>// where that is instead of guessing from (0, 0, 0°).</a:t>
            </a:r>
            <a:endParaRPr lang="en-US" sz="1350" dirty="0"/>
          </a:p>
          <a:p>
            <a:pPr indent="0" marL="0">
              <a:lnSpc>
                <a:spcPct val="120000"/>
              </a:lnSpc>
              <a:buNone/>
            </a:pPr>
            <a:r>
              <a:rPr lang="en-US" sz="1350" dirty="0">
                <a:solidFill>
                  <a:srgbClr val="9EF01A"/>
                </a:solidFill>
                <a:latin typeface="Courier New" pitchFamily="34" charset="0"/>
                <a:ea typeface="Courier New" pitchFamily="34" charset="-122"/>
                <a:cs typeface="Courier New" pitchFamily="34" charset="-120"/>
              </a:rPr>
              <a:t>if (Constants.kCurrentMode == Constants.Mode.SIM) {</a:t>
            </a:r>
            <a:endParaRPr lang="en-US" sz="1350" dirty="0"/>
          </a:p>
          <a:p>
            <a:pPr indent="0" marL="0">
              <a:lnSpc>
                <a:spcPct val="120000"/>
              </a:lnSpc>
              <a:buNone/>
            </a:pPr>
            <a:r>
              <a:rPr lang="en-US" sz="1350" dirty="0">
                <a:solidFill>
                  <a:srgbClr val="9EF01A"/>
                </a:solidFill>
                <a:latin typeface="Courier New" pitchFamily="34" charset="0"/>
                <a:ea typeface="Courier New" pitchFamily="34" charset="-122"/>
                <a:cs typeface="Courier New" pitchFamily="34" charset="-120"/>
              </a:rPr>
              <a:t>  localizer.resetPose(DriveConstants.kSimStartingPose);</a:t>
            </a:r>
            <a:endParaRPr lang="en-US" sz="1350" dirty="0"/>
          </a:p>
          <a:p>
            <a:pPr indent="0" marL="0">
              <a:lnSpc>
                <a:spcPct val="120000"/>
              </a:lnSpc>
              <a:buNone/>
            </a:pPr>
            <a:r>
              <a:rPr lang="en-US" sz="1350" dirty="0">
                <a:solidFill>
                  <a:srgbClr val="D7E3F4"/>
                </a:solidFill>
                <a:latin typeface="Courier New" pitchFamily="34" charset="0"/>
                <a:ea typeface="Courier New" pitchFamily="34" charset="-122"/>
                <a:cs typeface="Courier New" pitchFamily="34" charset="-120"/>
              </a:rPr>
              <a:t>}</a:t>
            </a:r>
            <a:endParaRPr lang="en-US" sz="1350" dirty="0"/>
          </a:p>
        </p:txBody>
      </p:sp>
      <p:sp>
        <p:nvSpPr>
          <p:cNvPr id="12" name="Shape 9"/>
          <p:cNvSpPr/>
          <p:nvPr/>
        </p:nvSpPr>
        <p:spPr>
          <a:xfrm>
            <a:off x="640080" y="3429000"/>
            <a:ext cx="10881360" cy="2560320"/>
          </a:xfrm>
          <a:prstGeom prst="roundRect">
            <a:avLst>
              <a:gd name="adj" fmla="val 3571"/>
            </a:avLst>
          </a:prstGeom>
          <a:solidFill>
            <a:srgbClr val="F3F6FA"/>
          </a:solidFill>
          <a:ln/>
        </p:spPr>
      </p:sp>
      <p:sp>
        <p:nvSpPr>
          <p:cNvPr id="13" name="Text 10"/>
          <p:cNvSpPr/>
          <p:nvPr/>
        </p:nvSpPr>
        <p:spPr>
          <a:xfrm>
            <a:off x="868680" y="3657600"/>
            <a:ext cx="10424160" cy="2103120"/>
          </a:xfrm>
          <a:prstGeom prst="rect">
            <a:avLst/>
          </a:prstGeom>
          <a:noFill/>
          <a:ln/>
        </p:spPr>
        <p:txBody>
          <a:bodyPr wrap="square" lIns="0" tIns="0" rIns="0" bIns="0" rtlCol="0" anchor="t"/>
          <a:lstStyle/>
          <a:p>
            <a:pPr indent="0" marL="0">
              <a:lnSpc>
                <a:spcPct val="125000"/>
              </a:lnSpc>
              <a:buNone/>
            </a:pPr>
            <a:r>
              <a:rPr lang="en-US" sz="1900" dirty="0">
                <a:solidFill>
                  <a:srgbClr val="13294B"/>
                </a:solidFill>
                <a:latin typeface="Calibri" pitchFamily="34" charset="0"/>
                <a:ea typeface="Calibri" pitchFamily="34" charset="-122"/>
                <a:cs typeface="Calibri" pitchFamily="34" charset="-120"/>
              </a:rPr>
              <a:t>The chassis sim starts at kSimStartingPose, but Localizer still starts at (0, 0, 0°), because odometry has no idea where it was switched on. Left alone, you'd watch two robots in different places and doubt your own code.</a:t>
            </a:r>
            <a:endParaRPr lang="en-US" sz="1900" dirty="0"/>
          </a:p>
        </p:txBody>
      </p:sp>
      <p:sp>
        <p:nvSpPr>
          <p:cNvPr id="14" name="Text 1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GROUND TRUTH</a:t>
            </a:r>
            <a:endParaRPr lang="en-US" sz="2000" dirty="0"/>
          </a:p>
        </p:txBody>
      </p:sp>
      <p:sp>
        <p:nvSpPr>
          <p:cNvPr id="15" name="Text 1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20</a:t>
            </a:r>
            <a:endParaRPr lang="en-US" sz="2000" dirty="0"/>
          </a:p>
        </p:txBody>
      </p:sp>
      <p:pic>
        <p:nvPicPr>
          <p:cNvPr id="16"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play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RUN IT</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2850" b="1" dirty="0">
                <a:solidFill>
                  <a:srgbClr val="13294B"/>
                </a:solidFill>
                <a:latin typeface="Cambria" pitchFamily="34" charset="0"/>
                <a:ea typeface="Cambria" pitchFamily="34" charset="-122"/>
                <a:cs typeface="Cambria" pitchFamily="34" charset="-120"/>
              </a:rPr>
              <a:t>Feel the grip limit, then watch vision pull the estimate home</a:t>
            </a:r>
            <a:endParaRPr lang="en-US" sz="2850" dirty="0"/>
          </a:p>
        </p:txBody>
      </p:sp>
      <p:sp>
        <p:nvSpPr>
          <p:cNvPr id="6" name="Shape 3"/>
          <p:cNvSpPr/>
          <p:nvPr/>
        </p:nvSpPr>
        <p:spPr>
          <a:xfrm>
            <a:off x="640080" y="1709928"/>
            <a:ext cx="502920" cy="502920"/>
          </a:xfrm>
          <a:prstGeom prst="ellipse">
            <a:avLst/>
          </a:prstGeom>
          <a:solidFill>
            <a:srgbClr val="1B9AAA"/>
          </a:solidFill>
          <a:ln/>
        </p:spPr>
      </p:sp>
      <p:sp>
        <p:nvSpPr>
          <p:cNvPr id="7" name="Text 4"/>
          <p:cNvSpPr/>
          <p:nvPr/>
        </p:nvSpPr>
        <p:spPr>
          <a:xfrm>
            <a:off x="640080" y="170992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8" name="Text 5"/>
          <p:cNvSpPr/>
          <p:nvPr/>
        </p:nvSpPr>
        <p:spPr>
          <a:xfrm>
            <a:off x="1371600" y="1636776"/>
            <a:ext cx="9875520" cy="384048"/>
          </a:xfrm>
          <a:prstGeom prst="rect">
            <a:avLst/>
          </a:prstGeom>
          <a:noFill/>
          <a:ln/>
        </p:spPr>
        <p:txBody>
          <a:bodyPr wrap="square" lIns="0" tIns="0" rIns="0" bIns="0" rtlCol="0" anchor="ctr"/>
          <a:lstStyle/>
          <a:p>
            <a:pPr indent="0" marL="0">
              <a:buNone/>
            </a:pPr>
            <a:r>
              <a:rPr lang="en-US" sz="2000" b="1" dirty="0">
                <a:solidFill>
                  <a:srgbClr val="13294B"/>
                </a:solidFill>
                <a:latin typeface="Cambria" pitchFamily="34" charset="0"/>
                <a:ea typeface="Cambria" pitchFamily="34" charset="-122"/>
                <a:cs typeface="Cambria" pitchFamily="34" charset="-120"/>
              </a:rPr>
              <a:t>./gradlew simulateJava → RobotTeleop</a:t>
            </a:r>
            <a:endParaRPr lang="en-US" sz="2000" dirty="0"/>
          </a:p>
        </p:txBody>
      </p:sp>
      <p:sp>
        <p:nvSpPr>
          <p:cNvPr id="9" name="Text 6"/>
          <p:cNvSpPr/>
          <p:nvPr/>
        </p:nvSpPr>
        <p:spPr>
          <a:xfrm>
            <a:off x="1371600" y="202082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5B6B84"/>
                </a:solidFill>
                <a:latin typeface="Calibri" pitchFamily="34" charset="0"/>
                <a:ea typeface="Calibri" pitchFamily="34" charset="-122"/>
                <a:cs typeface="Calibri" pitchFamily="34" charset="-120"/>
              </a:rPr>
              <a:t>Push the stick to full — the robot ramps up, the way a real chassis with real tires does.</a:t>
            </a:r>
            <a:endParaRPr lang="en-US" sz="2000" dirty="0"/>
          </a:p>
        </p:txBody>
      </p:sp>
      <p:sp>
        <p:nvSpPr>
          <p:cNvPr id="10" name="Shape 7"/>
          <p:cNvSpPr/>
          <p:nvPr/>
        </p:nvSpPr>
        <p:spPr>
          <a:xfrm>
            <a:off x="640080" y="2761488"/>
            <a:ext cx="502920" cy="502920"/>
          </a:xfrm>
          <a:prstGeom prst="ellipse">
            <a:avLst/>
          </a:prstGeom>
          <a:solidFill>
            <a:srgbClr val="1B9AAA"/>
          </a:solidFill>
          <a:ln/>
        </p:spPr>
      </p:sp>
      <p:sp>
        <p:nvSpPr>
          <p:cNvPr id="11" name="Text 8"/>
          <p:cNvSpPr/>
          <p:nvPr/>
        </p:nvSpPr>
        <p:spPr>
          <a:xfrm>
            <a:off x="640080" y="276148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2" name="Text 9"/>
          <p:cNvSpPr/>
          <p:nvPr/>
        </p:nvSpPr>
        <p:spPr>
          <a:xfrm>
            <a:off x="1371600" y="2688336"/>
            <a:ext cx="9875520" cy="384048"/>
          </a:xfrm>
          <a:prstGeom prst="rect">
            <a:avLst/>
          </a:prstGeom>
          <a:noFill/>
          <a:ln/>
        </p:spPr>
        <p:txBody>
          <a:bodyPr wrap="square" lIns="0" tIns="0" rIns="0" bIns="0" rtlCol="0" anchor="ctr"/>
          <a:lstStyle/>
          <a:p>
            <a:pPr indent="0" marL="0">
              <a:buNone/>
            </a:pPr>
            <a:r>
              <a:rPr lang="en-US" sz="2000" b="1" dirty="0">
                <a:solidFill>
                  <a:srgbClr val="13294B"/>
                </a:solidFill>
                <a:latin typeface="Cambria" pitchFamily="34" charset="0"/>
                <a:ea typeface="Cambria" pitchFamily="34" charset="-122"/>
                <a:cs typeface="Cambria" pitchFamily="34" charset="-120"/>
              </a:rPr>
              <a:t>Let go of the stick</a:t>
            </a:r>
            <a:endParaRPr lang="en-US" sz="2000" dirty="0"/>
          </a:p>
        </p:txBody>
      </p:sp>
      <p:sp>
        <p:nvSpPr>
          <p:cNvPr id="13" name="Text 10"/>
          <p:cNvSpPr/>
          <p:nvPr/>
        </p:nvSpPr>
        <p:spPr>
          <a:xfrm>
            <a:off x="1371600" y="307238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5B6B84"/>
                </a:solidFill>
                <a:latin typeface="Calibri" pitchFamily="34" charset="0"/>
                <a:ea typeface="Calibri" pitchFamily="34" charset="-122"/>
                <a:cs typeface="Calibri" pitchFamily="34" charset="-120"/>
              </a:rPr>
              <a:t>It coasts back down instead of stopping dead.</a:t>
            </a:r>
            <a:endParaRPr lang="en-US" sz="2000" dirty="0"/>
          </a:p>
        </p:txBody>
      </p:sp>
      <p:sp>
        <p:nvSpPr>
          <p:cNvPr id="14" name="Shape 11"/>
          <p:cNvSpPr/>
          <p:nvPr/>
        </p:nvSpPr>
        <p:spPr>
          <a:xfrm>
            <a:off x="640080" y="3813048"/>
            <a:ext cx="502920" cy="502920"/>
          </a:xfrm>
          <a:prstGeom prst="ellipse">
            <a:avLst/>
          </a:prstGeom>
          <a:solidFill>
            <a:srgbClr val="1B9AAA"/>
          </a:solidFill>
          <a:ln/>
        </p:spPr>
      </p:sp>
      <p:sp>
        <p:nvSpPr>
          <p:cNvPr id="15" name="Text 12"/>
          <p:cNvSpPr/>
          <p:nvPr/>
        </p:nvSpPr>
        <p:spPr>
          <a:xfrm>
            <a:off x="640080" y="381304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6" name="Text 13"/>
          <p:cNvSpPr/>
          <p:nvPr/>
        </p:nvSpPr>
        <p:spPr>
          <a:xfrm>
            <a:off x="1371600" y="3739896"/>
            <a:ext cx="9875520" cy="384048"/>
          </a:xfrm>
          <a:prstGeom prst="rect">
            <a:avLst/>
          </a:prstGeom>
          <a:noFill/>
          <a:ln/>
        </p:spPr>
        <p:txBody>
          <a:bodyPr wrap="square" lIns="0" tIns="0" rIns="0" bIns="0" rtlCol="0" anchor="ctr"/>
          <a:lstStyle/>
          <a:p>
            <a:pPr indent="0" marL="0">
              <a:buNone/>
            </a:pPr>
            <a:r>
              <a:rPr lang="en-US" sz="2000" b="1" dirty="0">
                <a:solidFill>
                  <a:srgbClr val="13294B"/>
                </a:solidFill>
                <a:latin typeface="Cambria" pitchFamily="34" charset="0"/>
                <a:ea typeface="Cambria" pitchFamily="34" charset="-122"/>
                <a:cs typeface="Cambria" pitchFamily="34" charset="-120"/>
              </a:rPr>
              <a:t>Drive hard enough to separate the two poses</a:t>
            </a:r>
            <a:endParaRPr lang="en-US" sz="2000" dirty="0"/>
          </a:p>
        </p:txBody>
      </p:sp>
      <p:sp>
        <p:nvSpPr>
          <p:cNvPr id="17" name="Text 14"/>
          <p:cNvSpPr/>
          <p:nvPr/>
        </p:nvSpPr>
        <p:spPr>
          <a:xfrm>
            <a:off x="1371600" y="412394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5B6B84"/>
                </a:solidFill>
                <a:latin typeface="Calibri" pitchFamily="34" charset="0"/>
                <a:ea typeface="Calibri" pitchFamily="34" charset="-122"/>
                <a:cs typeface="Calibri" pitchFamily="34" charset="-120"/>
              </a:rPr>
              <a:t>The way section 6 showed you, then park somewhere a tag is visible.</a:t>
            </a:r>
            <a:endParaRPr lang="en-US" sz="2000" dirty="0"/>
          </a:p>
        </p:txBody>
      </p:sp>
      <p:sp>
        <p:nvSpPr>
          <p:cNvPr id="18" name="Shape 15"/>
          <p:cNvSpPr/>
          <p:nvPr/>
        </p:nvSpPr>
        <p:spPr>
          <a:xfrm>
            <a:off x="640080" y="4864608"/>
            <a:ext cx="502920" cy="502920"/>
          </a:xfrm>
          <a:prstGeom prst="ellipse">
            <a:avLst/>
          </a:prstGeom>
          <a:solidFill>
            <a:srgbClr val="1B9AAA"/>
          </a:solidFill>
          <a:ln/>
        </p:spPr>
      </p:sp>
      <p:sp>
        <p:nvSpPr>
          <p:cNvPr id="19" name="Text 16"/>
          <p:cNvSpPr/>
          <p:nvPr/>
        </p:nvSpPr>
        <p:spPr>
          <a:xfrm>
            <a:off x="640080" y="486460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0" name="Text 17"/>
          <p:cNvSpPr/>
          <p:nvPr/>
        </p:nvSpPr>
        <p:spPr>
          <a:xfrm>
            <a:off x="1371600" y="4791456"/>
            <a:ext cx="9875520" cy="384048"/>
          </a:xfrm>
          <a:prstGeom prst="rect">
            <a:avLst/>
          </a:prstGeom>
          <a:noFill/>
          <a:ln/>
        </p:spPr>
        <p:txBody>
          <a:bodyPr wrap="square" lIns="0" tIns="0" rIns="0" bIns="0" rtlCol="0" anchor="ctr"/>
          <a:lstStyle/>
          <a:p>
            <a:pPr indent="0" marL="0">
              <a:buNone/>
            </a:pPr>
            <a:r>
              <a:rPr lang="en-US" sz="2000" b="1" dirty="0">
                <a:solidFill>
                  <a:srgbClr val="13294B"/>
                </a:solidFill>
                <a:latin typeface="Cambria" pitchFamily="34" charset="0"/>
                <a:ea typeface="Cambria" pitchFamily="34" charset="-122"/>
                <a:cs typeface="Cambria" pitchFamily="34" charset="-120"/>
              </a:rPr>
              <a:t>Watch Localizer/Pose get pulled back</a:t>
            </a:r>
            <a:endParaRPr lang="en-US" sz="2000" dirty="0"/>
          </a:p>
        </p:txBody>
      </p:sp>
      <p:sp>
        <p:nvSpPr>
          <p:cNvPr id="21" name="Text 18"/>
          <p:cNvSpPr/>
          <p:nvPr/>
        </p:nvSpPr>
        <p:spPr>
          <a:xfrm>
            <a:off x="1371600" y="517550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5B6B84"/>
                </a:solidFill>
                <a:latin typeface="Calibri" pitchFamily="34" charset="0"/>
                <a:ea typeface="Calibri" pitchFamily="34" charset="-122"/>
                <a:cs typeface="Calibri" pitchFamily="34" charset="-120"/>
              </a:rPr>
              <a:t>Toward Drivetrain/SimulatedPose — odometry for smoothness, vision for truth.</a:t>
            </a:r>
            <a:endParaRPr lang="en-US" sz="2000" dirty="0"/>
          </a:p>
        </p:txBody>
      </p:sp>
      <p:sp>
        <p:nvSpPr>
          <p:cNvPr id="22" name="Text 1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GROUND TRUTH</a:t>
            </a:r>
            <a:endParaRPr lang="en-US" sz="2000" dirty="0"/>
          </a:p>
        </p:txBody>
      </p:sp>
      <p:sp>
        <p:nvSpPr>
          <p:cNvPr id="23" name="Text 2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21</a:t>
            </a:r>
            <a:endParaRPr lang="en-US" sz="2000" dirty="0"/>
          </a:p>
        </p:txBody>
      </p:sp>
      <p:pic>
        <p:nvPicPr>
          <p:cNvPr id="24"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FF5010"/>
          </a:solidFill>
          <a:ln/>
        </p:spPr>
      </p:sp>
      <p:pic>
        <p:nvPicPr>
          <p:cNvPr id="3" name="Image 0" descr="/home/user/BasicRobotLessons/docs/presentations/v3/template/assets/icons/clipboardcheck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00" kern="0" dirty="0">
                <a:solidFill>
                  <a:srgbClr val="1B9AAA"/>
                </a:solidFill>
                <a:latin typeface="Calibri" pitchFamily="34" charset="0"/>
                <a:ea typeface="Calibri" pitchFamily="34" charset="-122"/>
                <a:cs typeface="Calibri" pitchFamily="34" charset="-120"/>
              </a:rPr>
              <a:t>BEFORE YOU MOVE ON</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Try it</a:t>
            </a:r>
            <a:endParaRPr lang="en-US" sz="3000" dirty="0"/>
          </a:p>
        </p:txBody>
      </p:sp>
      <p:sp>
        <p:nvSpPr>
          <p:cNvPr id="6" name="Shape 3"/>
          <p:cNvSpPr/>
          <p:nvPr/>
        </p:nvSpPr>
        <p:spPr>
          <a:xfrm>
            <a:off x="640080" y="1554480"/>
            <a:ext cx="5303520" cy="4480560"/>
          </a:xfrm>
          <a:prstGeom prst="roundRect">
            <a:avLst>
              <a:gd name="adj" fmla="val 2449"/>
            </a:avLst>
          </a:prstGeom>
          <a:solidFill>
            <a:srgbClr val="132A4C"/>
          </a:solidFill>
          <a:ln/>
        </p:spPr>
      </p:sp>
      <p:sp>
        <p:nvSpPr>
          <p:cNvPr id="7" name="Shape 4"/>
          <p:cNvSpPr/>
          <p:nvPr/>
        </p:nvSpPr>
        <p:spPr>
          <a:xfrm>
            <a:off x="960120" y="1783080"/>
            <a:ext cx="457200" cy="457200"/>
          </a:xfrm>
          <a:prstGeom prst="ellipse">
            <a:avLst/>
          </a:prstGeom>
          <a:solidFill>
            <a:srgbClr val="1B9AAA"/>
          </a:solidFill>
          <a:ln/>
        </p:spPr>
      </p:sp>
      <p:sp>
        <p:nvSpPr>
          <p:cNvPr id="8" name="Text 5"/>
          <p:cNvSpPr/>
          <p:nvPr/>
        </p:nvSpPr>
        <p:spPr>
          <a:xfrm>
            <a:off x="960120" y="1783080"/>
            <a:ext cx="45720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9" name="Text 6"/>
          <p:cNvSpPr/>
          <p:nvPr/>
        </p:nvSpPr>
        <p:spPr>
          <a:xfrm>
            <a:off x="1600200" y="1783080"/>
            <a:ext cx="2606040" cy="457200"/>
          </a:xfrm>
          <a:prstGeom prst="rect">
            <a:avLst/>
          </a:prstGeom>
          <a:noFill/>
          <a:ln/>
        </p:spPr>
        <p:txBody>
          <a:bodyPr wrap="square" lIns="0" tIns="0" rIns="0" bIns="0" rtlCol="0" anchor="ctr"/>
          <a:lstStyle/>
          <a:p>
            <a:pPr indent="0" marL="0">
              <a:lnSpc>
                <a:spcPct val="110000"/>
              </a:lnSpc>
              <a:buNone/>
            </a:pPr>
            <a:r>
              <a:rPr lang="en-US" sz="2000" b="1" dirty="0">
                <a:solidFill>
                  <a:srgbClr val="FFFFFF"/>
                </a:solidFill>
                <a:latin typeface="Cambria" pitchFamily="34" charset="0"/>
                <a:ea typeface="Cambria" pitchFamily="34" charset="-122"/>
                <a:cs typeface="Cambria" pitchFamily="34" charset="-120"/>
              </a:rPr>
              <a:t>Slicker tires</a:t>
            </a:r>
            <a:endParaRPr lang="en-US" sz="2000" dirty="0"/>
          </a:p>
        </p:txBody>
      </p:sp>
      <p:sp>
        <p:nvSpPr>
          <p:cNvPr id="10" name="Shape 7"/>
          <p:cNvSpPr/>
          <p:nvPr/>
        </p:nvSpPr>
        <p:spPr>
          <a:xfrm>
            <a:off x="4206240" y="1865376"/>
            <a:ext cx="1417320" cy="292608"/>
          </a:xfrm>
          <a:prstGeom prst="roundRect">
            <a:avLst>
              <a:gd name="adj" fmla="val 18750"/>
            </a:avLst>
          </a:prstGeom>
          <a:solidFill>
            <a:srgbClr val="FF5010"/>
          </a:solidFill>
          <a:ln/>
        </p:spPr>
      </p:sp>
      <p:sp>
        <p:nvSpPr>
          <p:cNvPr id="11" name="Text 8"/>
          <p:cNvSpPr/>
          <p:nvPr/>
        </p:nvSpPr>
        <p:spPr>
          <a:xfrm>
            <a:off x="4206240" y="1865376"/>
            <a:ext cx="1417320" cy="292608"/>
          </a:xfrm>
          <a:prstGeom prst="rect">
            <a:avLst/>
          </a:prstGeom>
          <a:noFill/>
          <a:ln/>
        </p:spPr>
        <p:txBody>
          <a:bodyPr wrap="square" lIns="0" tIns="0" rIns="0" bIns="0" rtlCol="0" anchor="ctr"/>
          <a:lstStyle/>
          <a:p>
            <a:pPr algn="ctr" indent="0" marL="0">
              <a:buNone/>
            </a:pPr>
            <a:r>
              <a:rPr lang="en-US" sz="1200" b="1" spc="50" kern="0" dirty="0">
                <a:solidFill>
                  <a:srgbClr val="0B1F3A"/>
                </a:solidFill>
                <a:latin typeface="Calibri" pitchFamily="34" charset="0"/>
                <a:ea typeface="Calibri" pitchFamily="34" charset="-122"/>
                <a:cs typeface="Calibri" pitchFamily="34" charset="-120"/>
              </a:rPr>
              <a:t>WRITE CODE</a:t>
            </a:r>
            <a:endParaRPr lang="en-US" sz="1200" dirty="0"/>
          </a:p>
        </p:txBody>
      </p:sp>
      <p:sp>
        <p:nvSpPr>
          <p:cNvPr id="12" name="Text 9"/>
          <p:cNvSpPr/>
          <p:nvPr/>
        </p:nvSpPr>
        <p:spPr>
          <a:xfrm>
            <a:off x="960120" y="2377440"/>
            <a:ext cx="4663440" cy="3383280"/>
          </a:xfrm>
          <a:prstGeom prst="rect">
            <a:avLst/>
          </a:prstGeom>
          <a:noFill/>
          <a:ln/>
        </p:spPr>
        <p:txBody>
          <a:bodyPr wrap="square" lIns="0" tIns="0" rIns="0" bIns="0" rtlCol="0" anchor="t"/>
          <a:lstStyle/>
          <a:p>
            <a:pPr indent="0" marL="0">
              <a:lnSpc>
                <a:spcPct val="125000"/>
              </a:lnSpc>
              <a:buNone/>
            </a:pPr>
            <a:r>
              <a:rPr lang="en-US" sz="2000" dirty="0">
                <a:solidFill>
                  <a:srgbClr val="CADCE8"/>
                </a:solidFill>
                <a:latin typeface="Calibri" pitchFamily="34" charset="0"/>
                <a:ea typeface="Calibri" pitchFamily="34" charset="-122"/>
                <a:cs typeface="Calibri" pitchFamily="34" charset="-120"/>
              </a:rPr>
              <a:t>Drop kWheelCoF to 0.4 and repeat hard driving. The estimate should peel away from ground truth far faster. Put it back — and if Lesson 13's Try It left a fake 1.1 wheel-slip multiplier in ModuleIOTalonFX, delete it now.</a:t>
            </a:r>
            <a:endParaRPr lang="en-US" sz="2000" dirty="0"/>
          </a:p>
        </p:txBody>
      </p:sp>
      <p:sp>
        <p:nvSpPr>
          <p:cNvPr id="13" name="Shape 10"/>
          <p:cNvSpPr/>
          <p:nvPr/>
        </p:nvSpPr>
        <p:spPr>
          <a:xfrm>
            <a:off x="6217920" y="1554480"/>
            <a:ext cx="5303520" cy="4480560"/>
          </a:xfrm>
          <a:prstGeom prst="roundRect">
            <a:avLst>
              <a:gd name="adj" fmla="val 2449"/>
            </a:avLst>
          </a:prstGeom>
          <a:solidFill>
            <a:srgbClr val="132A4C"/>
          </a:solidFill>
          <a:ln/>
        </p:spPr>
      </p:sp>
      <p:sp>
        <p:nvSpPr>
          <p:cNvPr id="14" name="Shape 11"/>
          <p:cNvSpPr/>
          <p:nvPr/>
        </p:nvSpPr>
        <p:spPr>
          <a:xfrm>
            <a:off x="6537960" y="1783080"/>
            <a:ext cx="457200" cy="457200"/>
          </a:xfrm>
          <a:prstGeom prst="ellipse">
            <a:avLst/>
          </a:prstGeom>
          <a:solidFill>
            <a:srgbClr val="1B9AAA"/>
          </a:solidFill>
          <a:ln/>
        </p:spPr>
      </p:sp>
      <p:sp>
        <p:nvSpPr>
          <p:cNvPr id="15" name="Text 12"/>
          <p:cNvSpPr/>
          <p:nvPr/>
        </p:nvSpPr>
        <p:spPr>
          <a:xfrm>
            <a:off x="6537960" y="1783080"/>
            <a:ext cx="45720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6" name="Text 13"/>
          <p:cNvSpPr/>
          <p:nvPr/>
        </p:nvSpPr>
        <p:spPr>
          <a:xfrm>
            <a:off x="7178040" y="1783080"/>
            <a:ext cx="4023360" cy="457200"/>
          </a:xfrm>
          <a:prstGeom prst="rect">
            <a:avLst/>
          </a:prstGeom>
          <a:noFill/>
          <a:ln/>
        </p:spPr>
        <p:txBody>
          <a:bodyPr wrap="square" lIns="0" tIns="0" rIns="0" bIns="0" rtlCol="0" anchor="ctr"/>
          <a:lstStyle/>
          <a:p>
            <a:pPr indent="0" marL="0">
              <a:lnSpc>
                <a:spcPct val="110000"/>
              </a:lnSpc>
              <a:buNone/>
            </a:pPr>
            <a:r>
              <a:rPr lang="en-US" sz="2000" b="1" dirty="0">
                <a:solidFill>
                  <a:srgbClr val="FFFFFF"/>
                </a:solidFill>
                <a:latin typeface="Cambria" pitchFamily="34" charset="0"/>
                <a:ea typeface="Cambria" pitchFamily="34" charset="-122"/>
                <a:cs typeface="Cambria" pitchFamily="34" charset="-120"/>
              </a:rPr>
              <a:t>Spin, not just a line</a:t>
            </a:r>
            <a:endParaRPr lang="en-US" sz="2000" dirty="0"/>
          </a:p>
        </p:txBody>
      </p:sp>
      <p:sp>
        <p:nvSpPr>
          <p:cNvPr id="17" name="Text 14"/>
          <p:cNvSpPr/>
          <p:nvPr/>
        </p:nvSpPr>
        <p:spPr>
          <a:xfrm>
            <a:off x="6537960" y="2377440"/>
            <a:ext cx="4663440" cy="3383280"/>
          </a:xfrm>
          <a:prstGeom prst="rect">
            <a:avLst/>
          </a:prstGeom>
          <a:noFill/>
          <a:ln/>
        </p:spPr>
        <p:txBody>
          <a:bodyPr wrap="square" lIns="0" tIns="0" rIns="0" bIns="0" rtlCol="0" anchor="t"/>
          <a:lstStyle/>
          <a:p>
            <a:pPr indent="0" marL="0">
              <a:lnSpc>
                <a:spcPct val="125000"/>
              </a:lnSpc>
              <a:buNone/>
            </a:pPr>
            <a:r>
              <a:rPr lang="en-US" sz="2000" dirty="0">
                <a:solidFill>
                  <a:srgbClr val="CADCE8"/>
                </a:solidFill>
                <a:latin typeface="Calibri" pitchFamily="34" charset="0"/>
                <a:ea typeface="Calibri" pitchFamily="34" charset="-122"/>
                <a:cs typeface="Calibri" pitchFamily="34" charset="-120"/>
              </a:rPr>
              <a:t>Command a fast turnToHeading from a stop and compare Drivetrain/Gyro/YawDegrees against how fast the raw commanded rate would have turned the robot with nothing limiting it.</a:t>
            </a:r>
            <a:endParaRPr lang="en-US" sz="2000" dirty="0"/>
          </a:p>
        </p:txBody>
      </p:sp>
      <p:sp>
        <p:nvSpPr>
          <p:cNvPr id="18" name="Text 15"/>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7A93B8"/>
                </a:solidFill>
                <a:latin typeface="Calibri" pitchFamily="34" charset="0"/>
                <a:ea typeface="Calibri" pitchFamily="34" charset="-122"/>
                <a:cs typeface="Calibri" pitchFamily="34" charset="-120"/>
              </a:rPr>
              <a:t>LEARN JAVA + ROBOT PROGRAMMING · GROUND TRUTH</a:t>
            </a:r>
            <a:endParaRPr lang="en-US" sz="2000" dirty="0"/>
          </a:p>
        </p:txBody>
      </p:sp>
      <p:sp>
        <p:nvSpPr>
          <p:cNvPr id="19" name="Text 16"/>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7A93B8"/>
                </a:solidFill>
                <a:latin typeface="Calibri" pitchFamily="34" charset="0"/>
                <a:ea typeface="Calibri" pitchFamily="34" charset="-122"/>
                <a:cs typeface="Calibri" pitchFamily="34" charset="-120"/>
              </a:rPr>
              <a:t>22</a:t>
            </a:r>
            <a:endParaRPr lang="en-US" sz="2000" dirty="0"/>
          </a:p>
        </p:txBody>
      </p:sp>
      <p:pic>
        <p:nvPicPr>
          <p:cNvPr id="20" name="Image 1" descr="/home/user/BasicRobotLessons/docs/presentations/v3/template/assets/logo/team5010-logo-onnavy.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FF5010"/>
          </a:solidFill>
          <a:ln/>
        </p:spPr>
      </p:sp>
      <p:pic>
        <p:nvPicPr>
          <p:cNvPr id="3" name="Image 0" descr="/home/user/BasicRobotLessons/docs/presentations/v3/template/assets/icons/clipboardcheck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00" kern="0" dirty="0">
                <a:solidFill>
                  <a:srgbClr val="1B9AAA"/>
                </a:solidFill>
                <a:latin typeface="Calibri" pitchFamily="34" charset="0"/>
                <a:ea typeface="Calibri" pitchFamily="34" charset="-122"/>
                <a:cs typeface="Calibri" pitchFamily="34" charset="-120"/>
              </a:rPr>
              <a:t>BEFORE YOU MOVE ON</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Try it, continued</a:t>
            </a:r>
            <a:endParaRPr lang="en-US" sz="3000" dirty="0"/>
          </a:p>
        </p:txBody>
      </p:sp>
      <p:sp>
        <p:nvSpPr>
          <p:cNvPr id="6" name="Shape 3"/>
          <p:cNvSpPr/>
          <p:nvPr/>
        </p:nvSpPr>
        <p:spPr>
          <a:xfrm>
            <a:off x="640080" y="1554480"/>
            <a:ext cx="10881360" cy="2651760"/>
          </a:xfrm>
          <a:prstGeom prst="roundRect">
            <a:avLst>
              <a:gd name="adj" fmla="val 4138"/>
            </a:avLst>
          </a:prstGeom>
          <a:solidFill>
            <a:srgbClr val="132A4C"/>
          </a:solidFill>
          <a:ln/>
        </p:spPr>
      </p:sp>
      <p:sp>
        <p:nvSpPr>
          <p:cNvPr id="7" name="Shape 4"/>
          <p:cNvSpPr/>
          <p:nvPr/>
        </p:nvSpPr>
        <p:spPr>
          <a:xfrm>
            <a:off x="960120" y="1783080"/>
            <a:ext cx="457200" cy="457200"/>
          </a:xfrm>
          <a:prstGeom prst="ellipse">
            <a:avLst/>
          </a:prstGeom>
          <a:solidFill>
            <a:srgbClr val="1B9AAA"/>
          </a:solidFill>
          <a:ln/>
        </p:spPr>
      </p:sp>
      <p:sp>
        <p:nvSpPr>
          <p:cNvPr id="8" name="Text 5"/>
          <p:cNvSpPr/>
          <p:nvPr/>
        </p:nvSpPr>
        <p:spPr>
          <a:xfrm>
            <a:off x="960120" y="1783080"/>
            <a:ext cx="45720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9" name="Text 6"/>
          <p:cNvSpPr/>
          <p:nvPr/>
        </p:nvSpPr>
        <p:spPr>
          <a:xfrm>
            <a:off x="1600200" y="1783080"/>
            <a:ext cx="8183880" cy="457200"/>
          </a:xfrm>
          <a:prstGeom prst="rect">
            <a:avLst/>
          </a:prstGeom>
          <a:noFill/>
          <a:ln/>
        </p:spPr>
        <p:txBody>
          <a:bodyPr wrap="square" lIns="0" tIns="0" rIns="0" bIns="0" rtlCol="0" anchor="ctr"/>
          <a:lstStyle/>
          <a:p>
            <a:pPr indent="0" marL="0">
              <a:lnSpc>
                <a:spcPct val="110000"/>
              </a:lnSpc>
              <a:buNone/>
            </a:pPr>
            <a:r>
              <a:rPr lang="en-US" sz="2000" b="1" dirty="0">
                <a:solidFill>
                  <a:srgbClr val="FFFFFF"/>
                </a:solidFill>
                <a:latin typeface="Cambria" pitchFamily="34" charset="0"/>
                <a:ea typeface="Cambria" pitchFamily="34" charset="-122"/>
                <a:cs typeface="Cambria" pitchFamily="34" charset="-120"/>
              </a:rPr>
              <a:t>Push the estimate somewhere wrong on purpose</a:t>
            </a:r>
            <a:endParaRPr lang="en-US" sz="2000" dirty="0"/>
          </a:p>
        </p:txBody>
      </p:sp>
      <p:sp>
        <p:nvSpPr>
          <p:cNvPr id="10" name="Shape 7"/>
          <p:cNvSpPr/>
          <p:nvPr/>
        </p:nvSpPr>
        <p:spPr>
          <a:xfrm>
            <a:off x="9784080" y="1865376"/>
            <a:ext cx="1417320" cy="292608"/>
          </a:xfrm>
          <a:prstGeom prst="roundRect">
            <a:avLst>
              <a:gd name="adj" fmla="val 18750"/>
            </a:avLst>
          </a:prstGeom>
          <a:solidFill>
            <a:srgbClr val="FF5010"/>
          </a:solidFill>
          <a:ln/>
        </p:spPr>
      </p:sp>
      <p:sp>
        <p:nvSpPr>
          <p:cNvPr id="11" name="Text 8"/>
          <p:cNvSpPr/>
          <p:nvPr/>
        </p:nvSpPr>
        <p:spPr>
          <a:xfrm>
            <a:off x="9784080" y="1865376"/>
            <a:ext cx="1417320" cy="292608"/>
          </a:xfrm>
          <a:prstGeom prst="rect">
            <a:avLst/>
          </a:prstGeom>
          <a:noFill/>
          <a:ln/>
        </p:spPr>
        <p:txBody>
          <a:bodyPr wrap="square" lIns="0" tIns="0" rIns="0" bIns="0" rtlCol="0" anchor="ctr"/>
          <a:lstStyle/>
          <a:p>
            <a:pPr algn="ctr" indent="0" marL="0">
              <a:buNone/>
            </a:pPr>
            <a:r>
              <a:rPr lang="en-US" sz="1200" b="1" spc="50" kern="0" dirty="0">
                <a:solidFill>
                  <a:srgbClr val="0B1F3A"/>
                </a:solidFill>
                <a:latin typeface="Calibri" pitchFamily="34" charset="0"/>
                <a:ea typeface="Calibri" pitchFamily="34" charset="-122"/>
                <a:cs typeface="Calibri" pitchFamily="34" charset="-120"/>
              </a:rPr>
              <a:t>WRITE CODE</a:t>
            </a:r>
            <a:endParaRPr lang="en-US" sz="1200" dirty="0"/>
          </a:p>
        </p:txBody>
      </p:sp>
      <p:sp>
        <p:nvSpPr>
          <p:cNvPr id="12" name="Text 9"/>
          <p:cNvSpPr/>
          <p:nvPr/>
        </p:nvSpPr>
        <p:spPr>
          <a:xfrm>
            <a:off x="960120" y="2377440"/>
            <a:ext cx="10241280" cy="1554480"/>
          </a:xfrm>
          <a:prstGeom prst="rect">
            <a:avLst/>
          </a:prstGeom>
          <a:noFill/>
          <a:ln/>
        </p:spPr>
        <p:txBody>
          <a:bodyPr wrap="square" lIns="0" tIns="0" rIns="0" bIns="0" rtlCol="0" anchor="t"/>
          <a:lstStyle/>
          <a:p>
            <a:pPr indent="0" marL="0">
              <a:lnSpc>
                <a:spcPct val="125000"/>
              </a:lnSpc>
              <a:buNone/>
            </a:pPr>
            <a:r>
              <a:rPr lang="en-US" sz="2000" dirty="0">
                <a:solidFill>
                  <a:srgbClr val="CADCE8"/>
                </a:solidFill>
                <a:latin typeface="Calibri" pitchFamily="34" charset="0"/>
                <a:ea typeface="Calibri" pitchFamily="34" charset="-122"/>
                <a:cs typeface="Calibri" pitchFamily="34" charset="-120"/>
              </a:rPr>
              <a:t>Call m_localizer.resetPose(...) from a temporary button binding, half a meter off from the chassis sim, then park where a tag is visible. Watch the estimate get pulled back — toward the truth this time.</a:t>
            </a:r>
            <a:endParaRPr lang="en-US" sz="2000" dirty="0"/>
          </a:p>
        </p:txBody>
      </p:sp>
      <p:sp>
        <p:nvSpPr>
          <p:cNvPr id="13" name="Text 10"/>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7A93B8"/>
                </a:solidFill>
                <a:latin typeface="Calibri" pitchFamily="34" charset="0"/>
                <a:ea typeface="Calibri" pitchFamily="34" charset="-122"/>
                <a:cs typeface="Calibri" pitchFamily="34" charset="-120"/>
              </a:rPr>
              <a:t>LEARN JAVA + ROBOT PROGRAMMING · GROUND TRUTH</a:t>
            </a:r>
            <a:endParaRPr lang="en-US" sz="2000" dirty="0"/>
          </a:p>
        </p:txBody>
      </p:sp>
      <p:sp>
        <p:nvSpPr>
          <p:cNvPr id="14" name="Text 11"/>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7A93B8"/>
                </a:solidFill>
                <a:latin typeface="Calibri" pitchFamily="34" charset="0"/>
                <a:ea typeface="Calibri" pitchFamily="34" charset="-122"/>
                <a:cs typeface="Calibri" pitchFamily="34" charset="-120"/>
              </a:rPr>
              <a:t>23</a:t>
            </a:r>
            <a:endParaRPr lang="en-US" sz="2000" dirty="0"/>
          </a:p>
        </p:txBody>
      </p:sp>
      <p:pic>
        <p:nvPicPr>
          <p:cNvPr id="15" name="Image 1" descr="/home/user/BasicRobotLessons/docs/presentations/v3/template/assets/logo/team5010-logo-onnavy.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graduationcap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WHAT YOU LEARNED</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The simulation finally has a body</a:t>
            </a:r>
            <a:endParaRPr lang="en-US" sz="3000" dirty="0"/>
          </a:p>
        </p:txBody>
      </p:sp>
      <p:sp>
        <p:nvSpPr>
          <p:cNvPr id="6" name="Text 3"/>
          <p:cNvSpPr/>
          <p:nvPr/>
        </p:nvSpPr>
        <p:spPr>
          <a:xfrm>
            <a:off x="640080" y="1600200"/>
            <a:ext cx="6309360" cy="4206240"/>
          </a:xfrm>
          <a:prstGeom prst="rect">
            <a:avLst/>
          </a:prstGeom>
          <a:noFill/>
          <a:ln/>
        </p:spPr>
        <p:txBody>
          <a:bodyPr wrap="square" lIns="0" tIns="0" rIns="0" bIns="0" rtlCol="0" anchor="t"/>
          <a:lstStyle/>
          <a:p>
            <a:pPr marL="342900" indent="-342900">
              <a:lnSpc>
                <a:spcPct val="115000"/>
              </a:lnSpc>
              <a:spcAft>
                <a:spcPts val="1000"/>
              </a:spcAft>
              <a:buSzPct val="100000"/>
              <a:buChar char="•"/>
            </a:pPr>
            <a:r>
              <a:rPr lang="en-US" sz="1800" dirty="0">
                <a:solidFill>
                  <a:srgbClr val="13294B"/>
                </a:solidFill>
                <a:latin typeface="Calibri" pitchFamily="34" charset="0"/>
                <a:ea typeface="Calibri" pitchFamily="34" charset="-122"/>
                <a:cs typeface="Calibri" pitchFamily="34" charset="-120"/>
              </a:rPr>
              <a:t>One shared chassis, following its wheels under a μg acceleration limit, replaced four drive motors that never knew about each other — and because the limit comes from grip alone, mass canceled right out of the formula.</a:t>
            </a:r>
            <a:endParaRPr lang="en-US" sz="1800" dirty="0"/>
          </a:p>
          <a:p>
            <a:pPr marL="342900" indent="-342900">
              <a:lnSpc>
                <a:spcPct val="115000"/>
              </a:lnSpc>
              <a:spcAft>
                <a:spcPts val="1000"/>
              </a:spcAft>
              <a:buSzPct val="100000"/>
              <a:buChar char="•"/>
            </a:pPr>
            <a:r>
              <a:rPr lang="en-US" sz="1800" dirty="0">
                <a:solidFill>
                  <a:srgbClr val="13294B"/>
                </a:solidFill>
                <a:latin typeface="Calibri" pitchFamily="34" charset="0"/>
                <a:ea typeface="Calibri" pitchFamily="34" charset="-122"/>
                <a:cs typeface="Calibri" pitchFamily="34" charset="-120"/>
              </a:rPr>
              <a:t>MathUtil.slewRateLimit on a Translation2d limited acceleration as a true 2D magnitude, and Twist2d.exp() gave you exact pose integration — the same math SwerveDriveOdometry has been running for you since Lesson 11, written out by hand this time.</a:t>
            </a:r>
            <a:endParaRPr lang="en-US" sz="1800" dirty="0"/>
          </a:p>
          <a:p>
            <a:pPr marL="342900" indent="-342900">
              <a:lnSpc>
                <a:spcPct val="115000"/>
              </a:lnSpc>
              <a:spcAft>
                <a:spcPts val="1000"/>
              </a:spcAft>
              <a:buSzPct val="100000"/>
              <a:buChar char="•"/>
            </a:pPr>
            <a:r>
              <a:rPr lang="en-US" sz="1800" dirty="0">
                <a:solidFill>
                  <a:srgbClr val="13294B"/>
                </a:solidFill>
                <a:latin typeface="Calibri" pitchFamily="34" charset="0"/>
                <a:ea typeface="Calibri" pitchFamily="34" charset="-122"/>
                <a:cs typeface="Calibri" pitchFamily="34" charset="-120"/>
              </a:rPr>
              <a:t>What's actually worth stopping on: an entire ground-truth chassis went into the project, and SwerveModule never heard about it — Lesson 13's IO-layer boundary made ground truth cheap.</a:t>
            </a:r>
            <a:endParaRPr lang="en-US" sz="1800" dirty="0"/>
          </a:p>
        </p:txBody>
      </p:sp>
      <p:sp>
        <p:nvSpPr>
          <p:cNvPr id="7" name="Shape 4"/>
          <p:cNvSpPr/>
          <p:nvPr/>
        </p:nvSpPr>
        <p:spPr>
          <a:xfrm>
            <a:off x="7269480" y="1600200"/>
            <a:ext cx="4297680" cy="4434840"/>
          </a:xfrm>
          <a:prstGeom prst="roundRect">
            <a:avLst>
              <a:gd name="adj" fmla="val 2553"/>
            </a:avLst>
          </a:prstGeom>
          <a:solidFill>
            <a:srgbClr val="0B1F3A"/>
          </a:solidFill>
          <a:ln/>
        </p:spPr>
      </p:sp>
      <p:sp>
        <p:nvSpPr>
          <p:cNvPr id="8" name="Text 5"/>
          <p:cNvSpPr/>
          <p:nvPr/>
        </p:nvSpPr>
        <p:spPr>
          <a:xfrm>
            <a:off x="7589520" y="1920240"/>
            <a:ext cx="3657600" cy="365760"/>
          </a:xfrm>
          <a:prstGeom prst="rect">
            <a:avLst/>
          </a:prstGeom>
          <a:noFill/>
          <a:ln/>
        </p:spPr>
        <p:txBody>
          <a:bodyPr wrap="square" lIns="0" tIns="0" rIns="0" bIns="0" rtlCol="0" anchor="ctr"/>
          <a:lstStyle/>
          <a:p>
            <a:pPr indent="0" marL="0">
              <a:buNone/>
            </a:pPr>
            <a:r>
              <a:rPr lang="en-US" sz="2000" b="1" spc="150" kern="0" dirty="0">
                <a:solidFill>
                  <a:srgbClr val="1B9AAA"/>
                </a:solidFill>
                <a:latin typeface="Calibri" pitchFamily="34" charset="0"/>
                <a:ea typeface="Calibri" pitchFamily="34" charset="-122"/>
                <a:cs typeface="Calibri" pitchFamily="34" charset="-120"/>
              </a:rPr>
              <a:t>NEXT</a:t>
            </a:r>
            <a:endParaRPr lang="en-US" sz="2000" dirty="0"/>
          </a:p>
        </p:txBody>
      </p:sp>
      <p:sp>
        <p:nvSpPr>
          <p:cNvPr id="9" name="Text 6"/>
          <p:cNvSpPr/>
          <p:nvPr/>
        </p:nvSpPr>
        <p:spPr>
          <a:xfrm>
            <a:off x="7589520" y="2331720"/>
            <a:ext cx="3657600" cy="502920"/>
          </a:xfrm>
          <a:prstGeom prst="rect">
            <a:avLst/>
          </a:prstGeom>
          <a:noFill/>
          <a:ln/>
        </p:spPr>
        <p:txBody>
          <a:bodyPr wrap="square" lIns="0" tIns="0" rIns="0" bIns="0" rtlCol="0" anchor="ctr"/>
          <a:lstStyle/>
          <a:p>
            <a:pPr indent="0" marL="0">
              <a:buNone/>
            </a:pPr>
            <a:r>
              <a:rPr lang="en-US" sz="2600" b="1" dirty="0">
                <a:solidFill>
                  <a:srgbClr val="FF5010"/>
                </a:solidFill>
                <a:latin typeface="Cambria" pitchFamily="34" charset="0"/>
                <a:ea typeface="Cambria" pitchFamily="34" charset="-122"/>
                <a:cs typeface="Cambria" pitchFamily="34" charset="-120"/>
              </a:rPr>
              <a:t>Lesson 17</a:t>
            </a:r>
            <a:endParaRPr lang="en-US" sz="2600" dirty="0"/>
          </a:p>
        </p:txBody>
      </p:sp>
      <p:sp>
        <p:nvSpPr>
          <p:cNvPr id="10" name="Text 7"/>
          <p:cNvSpPr/>
          <p:nvPr/>
        </p:nvSpPr>
        <p:spPr>
          <a:xfrm>
            <a:off x="7589520" y="2834640"/>
            <a:ext cx="3657600" cy="54864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B-Line Autos</a:t>
            </a:r>
            <a:endParaRPr lang="en-US" sz="2200" dirty="0"/>
          </a:p>
        </p:txBody>
      </p:sp>
      <p:sp>
        <p:nvSpPr>
          <p:cNvPr id="11" name="Text 8"/>
          <p:cNvSpPr/>
          <p:nvPr/>
        </p:nvSpPr>
        <p:spPr>
          <a:xfrm>
            <a:off x="7589520" y="3474720"/>
            <a:ext cx="3657600" cy="1554480"/>
          </a:xfrm>
          <a:prstGeom prst="rect">
            <a:avLst/>
          </a:prstGeom>
          <a:noFill/>
          <a:ln/>
        </p:spPr>
        <p:txBody>
          <a:bodyPr wrap="square" lIns="0" tIns="0" rIns="0" bIns="0" rtlCol="0" anchor="t"/>
          <a:lstStyle/>
          <a:p>
            <a:pPr indent="0" marL="0">
              <a:lnSpc>
                <a:spcPct val="130000"/>
              </a:lnSpc>
              <a:buNone/>
            </a:pPr>
            <a:r>
              <a:rPr lang="en-US" sz="2000" i="1" dirty="0">
                <a:solidFill>
                  <a:srgbClr val="CADCE8"/>
                </a:solidFill>
                <a:latin typeface="Calibri" pitchFamily="34" charset="0"/>
                <a:ea typeface="Calibri" pitchFamily="34" charset="-122"/>
                <a:cs typeface="Calibri" pitchFamily="34" charset="-120"/>
              </a:rPr>
              <a:t>An auto drawn as a shape on the field, and a robot that chases it.</a:t>
            </a:r>
            <a:endParaRPr lang="en-US" sz="2000" dirty="0"/>
          </a:p>
        </p:txBody>
      </p:sp>
      <p:sp>
        <p:nvSpPr>
          <p:cNvPr id="12" name="Shape 9"/>
          <p:cNvSpPr/>
          <p:nvPr/>
        </p:nvSpPr>
        <p:spPr>
          <a:xfrm>
            <a:off x="7589520" y="5120640"/>
            <a:ext cx="502920" cy="502920"/>
          </a:xfrm>
          <a:prstGeom prst="ellipse">
            <a:avLst/>
          </a:prstGeom>
          <a:solidFill>
            <a:srgbClr val="1B9AAA"/>
          </a:solidFill>
          <a:ln/>
        </p:spPr>
      </p:sp>
      <p:pic>
        <p:nvPicPr>
          <p:cNvPr id="13" name="Image 1" descr="/home/user/BasicRobotLessons/docs/presentations/v3/template/assets/icons/arrowright_white.png">    </p:cNvPr>
          <p:cNvPicPr>
            <a:picLocks noChangeAspect="1"/>
          </p:cNvPicPr>
          <p:nvPr/>
        </p:nvPicPr>
        <p:blipFill>
          <a:blip r:embed="rId2"/>
          <a:stretch>
            <a:fillRect/>
          </a:stretch>
        </p:blipFill>
        <p:spPr>
          <a:xfrm>
            <a:off x="7708392" y="5239512"/>
            <a:ext cx="265176" cy="265176"/>
          </a:xfrm>
          <a:prstGeom prst="rect">
            <a:avLst/>
          </a:prstGeom>
        </p:spPr>
      </p:pic>
      <p:sp>
        <p:nvSpPr>
          <p:cNvPr id="14" name="Text 10"/>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GROUND TRUTH</a:t>
            </a:r>
            <a:endParaRPr lang="en-US" sz="2000" dirty="0"/>
          </a:p>
        </p:txBody>
      </p:sp>
      <p:sp>
        <p:nvSpPr>
          <p:cNvPr id="15" name="Text 11"/>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24</a:t>
            </a:r>
            <a:endParaRPr lang="en-US" sz="2000" dirty="0"/>
          </a:p>
        </p:txBody>
      </p:sp>
      <p:pic>
        <p:nvPicPr>
          <p:cNvPr id="16" name="Image 2" descr="/home/user/BasicRobotLessons/docs/presentations/v3/template/assets/logo/team5010-logo-onwhite.png">    </p:cNvPr>
          <p:cNvPicPr>
            <a:picLocks noChangeAspect="1"/>
          </p:cNvPicPr>
          <p:nvPr/>
        </p:nvPicPr>
        <p:blipFill>
          <a:blip r:embed="rId3"/>
          <a:stretch>
            <a:fillRect/>
          </a:stretch>
        </p:blipFill>
        <p:spPr>
          <a:xfrm>
            <a:off x="10957255" y="164592"/>
            <a:ext cx="777240" cy="60585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16 — Ground Truth: Give the Simulation a Body</dc:title>
  <dc:subject>PptxGenJS Presentation</dc:subject>
  <dc:creator>Learn Java + Robot Programming</dc:creator>
  <cp:lastModifiedBy>Learn Java + Robot Programming</cp:lastModifiedBy>
  <cp:revision>1</cp:revision>
  <dcterms:created xsi:type="dcterms:W3CDTF">2026-10-11T21:53:55Z</dcterms:created>
  <dcterms:modified xsi:type="dcterms:W3CDTF">2026-10-11T21:53:55Z</dcterms:modified>
</cp:coreProperties>
</file>