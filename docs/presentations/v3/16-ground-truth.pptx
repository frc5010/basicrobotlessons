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odometry's own estimate, checked against nothing but itself. Today the simulation gets a real chassis body — mass-equivalent grip, a real acceleration limit, a heading tracked once instead of trusted from four separate encoders — and for the first time there's a second, independent truth to compare the estimate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Java syntax this lesson — the new ideas are all about the robot,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15's Try It asked you to give the simulated camera a shaky hand, and the estimate drifted off with nothing to pull it back, because there was no independent truth for vision to be right about. Today that changes: one shared chassis gets a body, and for the first time the number your odometry reports is no longer the only version of events. The best part is what doesn't change: SwerveModule, ModuleIOTalonFX, ModuleIOSim, Localizer, every command, every log key from Lessons 13-15 stay untouched — this all happens in one new class and two small edits, the IO layer from Lesson 13 doing exactly the job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sitting with because the answer is smaller than it looks — mass cancels, provided the heavier robot has proportionally more grip to move that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kMaxAngularAccelRadPerSec2 reuses the same idea sideways: a wheel turning the chassis in place traces a circle of radius Math.hypot(kHalfLength, kHalfWidth) — the corner-to-center distance you've had since Lesson 7 — bound by the same μg limit. Add import org.wpilib.math.geometry.Pose2d and import org.wpilib.math.geometry.Rotation2d to Constants.java — the first time this file has needed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fields, and notice what's not here: no per-wheel state at all. This class doesn't know or care how the chassis is being driven — only what velocity it's chasing and where that velocity has carried it. Ground truth — the Drivetrain's own estimate is still built from wheel encoders alone, and the two disagree exactly when the wheels slip, the way they would on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MathUtil.slewRateLimit(current, target, maxRate, dt) moves current toward target, never faster than maxRate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omega has no vector to join, so it gets a small helper of its own — the scalar sibling of slewRateLimit, written by hand because the library only ships the vector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that as the scalar sibling of slewRateLimit — same idea, one number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not approximating anything here — this is exact pose integration, curved turns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ChassisSimulation needs exactly one home: shared by every module (they're all bolted to the same frame), null on a real robot and in replay — the same shape Lesson 13's ModuleIO/GyroIO switch expressions already taught you to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it how much? Not as much as you asked the wheels to — as much as the wheels actually turned. A robot can't outrun its own wheels. What it can do is fall short of them: ask the tires for more than they can grip and the wheels spin faster than the chassis moves. That's slip, and it's exactly the gap the grip limit in ChassisSimulation creates. Watching the wheels is a job for every tick, whether a command is running or not — the same kind of job periodic() does — so it gets a periodic callback of its own. toChassisVelocities runs kinematics backward: four wheel velocities in, the one chassis velocity they add up to out — the reverse of the toSwerveModuleVelocities call applyChassisSpeeds has made since Lesson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deletions retire the fake gyro's bookkeeping, and one getter exposes the truth so the rest of the file — and Lesson 15's cameras — can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gave you a fake gyro that integrated the rotation rate you commanded — add omega × dt every tick and call it a heading. It was a reasonable lie with a tell: a robot commanded to spin always spun exactly as asked, with no acceleration limit slowing it down. The chassis sim you just built already tracks heading properly, grip limit and all — the gyro should just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deletion has a tail, and it's the good kind: nothing anywhere calls setSimRotationRate anymore, so the method itself is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declaration order isn't cosmetic — it's the sequence Java actually runs the initializers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an estimate. That's no longer true — the chassis sim tracks where the chassis actually is, independent of what any wheel reports, and it's been running since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wheel motors respond to a velocity command quickly (Lesson 12's firmware loop doing its job); the chassis is limited by the same grip you just gave it a number for. When you ask for more than the tires could really deliver, the wheels report motion that never fully became chassis motion, odometry counts every rotation as if it had, and the estimate creeps ahead of the truth — precisely the argument Lesson 14 opened with, except this time you're watching it happen instead of taking its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 admitted a compromise: VisionIOLimelightSim looked out from localizer::getPose — the very estimate vision was supposed to correct — because no independent truth existed yet. One does now, and the fix is a one-line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one-time correction, guarded by SIM, so a real robot's boot-time pose is left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time, a truth to compare against instead of a guess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is an observe-and-compare exercise — no code changes, just watching the gyro visibly lag the instant command, something Lesson 8's fake gyro could never have shown you because it had no concept of "too fast to actually achieve." Items 1 and 3 both involve real code 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Lesson 15's admitted compromise is gone. Vision checks its simulated eyesight against where the chassis actually is now, not against its own guess — the same one-line supplier swap you'd make to point a real camera at a real robot's real position, because that's what a real camera was doing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Ground Truth: Give the Simulation a Body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shared chassis, grip-limited acceleration, and a second truth to check against</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instead of four lonely motors</a:t>
            </a:r>
            <a:endParaRPr lang="en-US" sz="3000" dirty="0"/>
          </a:p>
        </p:txBody>
      </p:sp>
      <p:sp>
        <p:nvSpPr>
          <p:cNvPr id="6" name="Shape 3"/>
          <p:cNvSpPr/>
          <p:nvPr/>
        </p:nvSpPr>
        <p:spPr>
          <a:xfrm>
            <a:off x="640080" y="1554480"/>
            <a:ext cx="10881360" cy="1600200"/>
          </a:xfrm>
          <a:prstGeom prst="roundRect">
            <a:avLst>
              <a:gd name="adj" fmla="val 5714"/>
            </a:avLst>
          </a:prstGeom>
          <a:solidFill>
            <a:srgbClr val="F3F6FA"/>
          </a:solidFill>
          <a:ln/>
        </p:spPr>
      </p:sp>
      <p:sp>
        <p:nvSpPr>
          <p:cNvPr id="7" name="Text 4"/>
          <p:cNvSpPr/>
          <p:nvPr/>
        </p:nvSpPr>
        <p:spPr>
          <a:xfrm>
            <a:off x="960120" y="167335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Replace four drive motors that don't know about each other with one shared chassis body that follows its wheels only as hard as its tires can grip — and use it to check odometry against something other than itself for the first time.</a:t>
            </a:r>
            <a:endParaRPr lang="en-US" sz="18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indent="0" marL="0">
              <a:lnSpc>
                <a:spcPct val="125000"/>
              </a:lnSpc>
              <a:buNone/>
            </a:pPr>
            <a:r>
              <a:rPr lang="en-US" sz="1800" i="1" dirty="0">
                <a:solidFill>
                  <a:srgbClr val="5B6B84"/>
                </a:solidFill>
                <a:latin typeface="Calibri" pitchFamily="34" charset="0"/>
                <a:ea typeface="Calibri" pitchFamily="34" charset="-122"/>
                <a:cs typeface="Calibri" pitchFamily="34" charset="-120"/>
              </a:rPr>
              <a:t>None this lesson. Every tool below — private helper methods, a shared static field, if/else if/else — is one you already have. The new ideas are all about the robot, not the language.</a:t>
            </a:r>
            <a:endParaRPr lang="en-US" sz="18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weight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Ground truth — a second, independent "where"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Friction-limited acceleration: a = μg</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MathUtil.slewRateLimit — bounding a 2D magnitude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Twist2d.exp() — exact pose integration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PICTURE WORTH CORRECTING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Your simulation does not model your robot</a:t>
            </a:r>
            <a:endParaRPr lang="en-US" sz="3000" dirty="0"/>
          </a:p>
        </p:txBody>
      </p:sp>
      <p:sp>
        <p:nvSpPr>
          <p:cNvPr id="6" name="Shape 3"/>
          <p:cNvSpPr/>
          <p:nvPr/>
        </p:nvSpPr>
        <p:spPr>
          <a:xfrm>
            <a:off x="640080" y="1737360"/>
            <a:ext cx="10881360" cy="2194560"/>
          </a:xfrm>
          <a:prstGeom prst="roundRect">
            <a:avLst>
              <a:gd name="adj" fmla="val 4167"/>
            </a:avLst>
          </a:prstGeom>
          <a:solidFill>
            <a:srgbClr val="132A4C"/>
          </a:solidFill>
          <a:ln/>
        </p:spPr>
      </p:sp>
      <p:sp>
        <p:nvSpPr>
          <p:cNvPr id="7" name="Text 4"/>
          <p:cNvSpPr/>
          <p:nvPr/>
        </p:nvSpPr>
        <p:spPr>
          <a:xfrm>
            <a:off x="914400" y="2011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models eight motors, each in its own private universe</a:t>
            </a:r>
            <a:endParaRPr lang="en-US" sz="2200" dirty="0"/>
          </a:p>
        </p:txBody>
      </p:sp>
      <p:sp>
        <p:nvSpPr>
          <p:cNvPr id="8" name="Text 5"/>
          <p:cNvSpPr/>
          <p:nvPr/>
        </p:nvSpPr>
        <p:spPr>
          <a:xfrm>
            <a:off x="914400" y="25895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Four drive motors and four steering motors, each spinning a small flywheel, each unaware anything else exists. Module 0 has never once known module 1 is bolted to the same frame. The chassis has no mass. The tires have no grip.</a:t>
            </a:r>
            <a:endParaRPr lang="en-US" sz="1900" dirty="0"/>
          </a:p>
        </p:txBody>
      </p:sp>
      <p:sp>
        <p:nvSpPr>
          <p:cNvPr id="9" name="Shape 6"/>
          <p:cNvSpPr/>
          <p:nvPr/>
        </p:nvSpPr>
        <p:spPr>
          <a:xfrm>
            <a:off x="640080" y="4114800"/>
            <a:ext cx="10881360" cy="2194560"/>
          </a:xfrm>
          <a:prstGeom prst="roundRect">
            <a:avLst>
              <a:gd name="adj" fmla="val 4167"/>
            </a:avLst>
          </a:prstGeom>
          <a:solidFill>
            <a:srgbClr val="132A4C"/>
          </a:solidFill>
          <a:ln/>
        </p:spPr>
      </p:sp>
      <p:sp>
        <p:nvSpPr>
          <p:cNvPr id="10" name="Text 7"/>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You've gotten away with it — until now</a:t>
            </a:r>
            <a:endParaRPr lang="en-US" sz="2200" dirty="0"/>
          </a:p>
        </p:txBody>
      </p:sp>
      <p:sp>
        <p:nvSpPr>
          <p:cNvPr id="11" name="Text 8"/>
          <p:cNvSpPr/>
          <p:nvPr/>
        </p:nvSpPr>
        <p:spPr>
          <a:xfrm>
            <a:off x="914400" y="496697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Every wheel spins exactly as fast as it's told, so odometry has never once been wrong in simulation — just a precise record of what the motors did, with nothing independent to compare it to.</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PHYSICS IN ONE LINE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Grip decides the limit — mass cancels right out</a:t>
            </a:r>
            <a:endParaRPr lang="en-US" sz="3000" dirty="0"/>
          </a:p>
        </p:txBody>
      </p:sp>
      <p:sp>
        <p:nvSpPr>
          <p:cNvPr id="6" name="Shape 3"/>
          <p:cNvSpPr/>
          <p:nvPr/>
        </p:nvSpPr>
        <p:spPr>
          <a:xfrm>
            <a:off x="640080" y="1691640"/>
            <a:ext cx="10881360" cy="1737360"/>
          </a:xfrm>
          <a:prstGeom prst="roundRect">
            <a:avLst>
              <a:gd name="adj" fmla="val 6316"/>
            </a:avLst>
          </a:prstGeom>
          <a:solidFill>
            <a:srgbClr val="132A4C"/>
          </a:solidFill>
          <a:ln/>
        </p:spPr>
      </p:sp>
      <p:sp>
        <p:nvSpPr>
          <p:cNvPr id="7" name="Text 4"/>
          <p:cNvSpPr/>
          <p:nvPr/>
        </p:nvSpPr>
        <p:spPr>
          <a:xfrm>
            <a:off x="914400" y="1874520"/>
            <a:ext cx="10332720" cy="1417320"/>
          </a:xfrm>
          <a:prstGeom prst="rect">
            <a:avLst/>
          </a:prstGeom>
          <a:noFill/>
          <a:ln/>
        </p:spPr>
        <p:txBody>
          <a:bodyPr wrap="square" lIns="0" tIns="0" rIns="0" bIns="0" rtlCol="0" anchor="ctr"/>
          <a:lstStyle/>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F = μmg</a:t>
            </a:r>
            <a:endParaRPr lang="en-US" sz="2600" dirty="0"/>
          </a:p>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a = F / m</a:t>
            </a:r>
            <a:endParaRPr lang="en-US" sz="2600" dirty="0"/>
          </a:p>
          <a:p>
            <a:pPr algn="ctr" indent="0" marL="0">
              <a:lnSpc>
                <a:spcPct val="130000"/>
              </a:lnSpc>
              <a:buNone/>
            </a:pPr>
            <a:r>
              <a:rPr lang="en-US" sz="2600" b="1" dirty="0">
                <a:solidFill>
                  <a:srgbClr val="FF5010"/>
                </a:solidFill>
                <a:latin typeface="Courier New" pitchFamily="34" charset="0"/>
                <a:ea typeface="Courier New" pitchFamily="34" charset="-122"/>
                <a:cs typeface="Courier New" pitchFamily="34" charset="-120"/>
              </a:rPr>
              <a:t>a = μg</a:t>
            </a:r>
            <a:endParaRPr lang="en-US" sz="2600" dirty="0"/>
          </a:p>
        </p:txBody>
      </p:sp>
      <p:sp>
        <p:nvSpPr>
          <p:cNvPr id="8" name="Shape 5"/>
          <p:cNvSpPr/>
          <p:nvPr/>
        </p:nvSpPr>
        <p:spPr>
          <a:xfrm>
            <a:off x="640080" y="3657600"/>
            <a:ext cx="10881360" cy="2560320"/>
          </a:xfrm>
          <a:prstGeom prst="roundRect">
            <a:avLst>
              <a:gd name="adj" fmla="val 3571"/>
            </a:avLst>
          </a:prstGeom>
          <a:solidFill>
            <a:srgbClr val="132A4C"/>
          </a:solidFill>
          <a:ln/>
        </p:spPr>
      </p:sp>
      <p:sp>
        <p:nvSpPr>
          <p:cNvPr id="9" name="Text 6"/>
          <p:cNvSpPr/>
          <p:nvPr/>
        </p:nvSpPr>
        <p:spPr>
          <a:xfrm>
            <a:off x="914400" y="39319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The mass cancels — a heavier robot isn't slower to accelerate</a:t>
            </a:r>
            <a:endParaRPr lang="en-US" sz="2100" dirty="0"/>
          </a:p>
        </p:txBody>
      </p:sp>
      <p:sp>
        <p:nvSpPr>
          <p:cNvPr id="10" name="Text 7"/>
          <p:cNvSpPr/>
          <p:nvPr/>
        </p:nvSpPr>
        <p:spPr>
          <a:xfrm>
            <a:off x="914400" y="4493895"/>
            <a:ext cx="10332720" cy="14497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force a tire can supply before skidding is μmg — grip times mass times gravity. Divide by mass for acceleration and the mass drops out entirely: a = μg. That's exactly why real FRC robots don't scale wheel count or tire pressure down just because they're light. Grip alone decides how hard you can accelerate.</a:t>
            </a:r>
            <a:endParaRPr lang="en-US" sz="19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700" b="1" dirty="0">
                <a:solidFill>
                  <a:srgbClr val="13294B"/>
                </a:solidFill>
                <a:latin typeface="Cambria" pitchFamily="34" charset="0"/>
                <a:ea typeface="Cambria" pitchFamily="34" charset="-122"/>
                <a:cs typeface="Cambria" pitchFamily="34" charset="-120"/>
              </a:rPr>
              <a:t>Four constants: grip, the two acceleration limits, a starting pose</a:t>
            </a:r>
            <a:endParaRPr lang="en-US" sz="27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How hard the tires can grip, in sim — a Colson-wheel-on-carpet guess.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kWheelCoF = 1.2;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 μg — how hard the chassis can actually accelerate, independent</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of mass, because a heavier robot needs proportionally more force to</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move and proportionally more grip to supply 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kMaxAccelMps2 = kWheelCoF * 9.81;</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same grip limit, applied at each wheel's distance from center.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kMaxAngularAccelRadPerSec2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kMaxAccelMps2 / Math.hypot(kHalfLength, kHalfWidth);</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the simulated robot is placed on the field at startup.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Pose2d kSimStartingPose = new Pose2d(3, 3, new Rotation2d());</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state and construction</a:t>
            </a:r>
            <a:endParaRPr lang="en-US" sz="3000" dirty="0"/>
          </a:p>
        </p:txBody>
      </p:sp>
      <p:sp>
        <p:nvSpPr>
          <p:cNvPr id="6" name="Shape 3"/>
          <p:cNvSpPr/>
          <p:nvPr/>
        </p:nvSpPr>
        <p:spPr>
          <a:xfrm>
            <a:off x="640080" y="128016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src/main/java/first/robot/subsystems/ChassisSimulation.java — piece 1</a:t>
            </a:r>
            <a:endParaRPr lang="en-US" sz="1500" dirty="0"/>
          </a:p>
        </p:txBody>
      </p:sp>
      <p:sp>
        <p:nvSpPr>
          <p:cNvPr id="11" name="Text 8"/>
          <p:cNvSpPr/>
          <p:nvPr/>
        </p:nvSpPr>
        <p:spPr>
          <a:xfrm>
            <a:off x="914400" y="1737360"/>
            <a:ext cx="10195560" cy="345643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org.wpilib.math.geometry.Pose2d;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org.wpilib.math.geometry.Translation2d;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org.wpilib.math.kinematics.ChassisVelocities;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org.wpilib.math.util.MathUtil;</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first.robot.Constants.DriveConstants;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ChassisSimulation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Pose2d m_pose;</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ChassisVelocities m_velocity = new ChassisVelocities();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ChassisSimulation(Pose2d startingPose)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m_pose = startingPose;</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one tick, following the wheels</a:t>
            </a:r>
            <a:endParaRPr lang="en-US" sz="30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2</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Advance the chassis by one tick, following 'wheels' as closely as grip allows.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update(ChassisVelocities wheels, double dtSeconds)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Translation2d nextVelocityXY = MathUtil.slewRateLimit(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Translation2d(m_velocity.vx, m_velocity.vy),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Translation2d(wheels.vx, wheels.vy),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DriveConstants.kMaxAccelMps2,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omega = chaseOmega(m_velocity.omega, wheels.omega,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m_velocity = new ChassisVelocities(nextVelocityXY.getX(), nextVelocityXY.getY(), omega);</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Exact integration: how far a constant twist carries the chassis,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curved turns included, not just a straight-line approximation.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m_pose.plus(m_velocity.toTwist2d(dtSeconds).exp());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vector rate limit, not two separate ones</a:t>
            </a:r>
            <a:endParaRPr lang="en-US" sz="3000" dirty="0"/>
          </a:p>
        </p:txBody>
      </p:sp>
      <p:sp>
        <p:nvSpPr>
          <p:cNvPr id="6" name="Shape 3"/>
          <p:cNvSpPr/>
          <p:nvPr/>
        </p:nvSpPr>
        <p:spPr>
          <a:xfrm>
            <a:off x="640080" y="1737360"/>
            <a:ext cx="10881360" cy="2286000"/>
          </a:xfrm>
          <a:prstGeom prst="roundRect">
            <a:avLst>
              <a:gd name="adj" fmla="val 4000"/>
            </a:avLst>
          </a:prstGeom>
          <a:solidFill>
            <a:srgbClr val="132A4C"/>
          </a:solidFill>
          <a:ln/>
        </p:spPr>
      </p:sp>
      <p:sp>
        <p:nvSpPr>
          <p:cNvPr id="7" name="Text 4"/>
          <p:cNvSpPr/>
          <p:nvPr/>
        </p:nvSpPr>
        <p:spPr>
          <a:xfrm>
            <a:off x="914400" y="20116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Handing it a Translation2d instead of a bare number is the whole trick</a:t>
            </a:r>
            <a:endParaRPr lang="en-US" sz="2100" dirty="0"/>
          </a:p>
        </p:txBody>
      </p:sp>
      <p:sp>
        <p:nvSpPr>
          <p:cNvPr id="8" name="Text 5"/>
          <p:cNvSpPr/>
          <p:nvPr/>
        </p:nvSpPr>
        <p:spPr>
          <a:xfrm>
            <a:off x="914400" y="2573655"/>
            <a:ext cx="10332720" cy="117538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vx and vy don't get clamped separately — they're bundled into one 2D vector and rate-limited as a magnitude, so a diagonal acceleration is limited by the same grip a straight-line one is, not double-counted on each axis.</a:t>
            </a:r>
            <a:endParaRPr lang="en-US" sz="1900" dirty="0"/>
          </a:p>
        </p:txBody>
      </p:sp>
      <p:sp>
        <p:nvSpPr>
          <p:cNvPr id="9" name="Shape 6"/>
          <p:cNvSpPr/>
          <p:nvPr/>
        </p:nvSpPr>
        <p:spPr>
          <a:xfrm>
            <a:off x="640080" y="4206240"/>
            <a:ext cx="10881360" cy="2011680"/>
          </a:xfrm>
          <a:prstGeom prst="roundRect">
            <a:avLst>
              <a:gd name="adj" fmla="val 4545"/>
            </a:avLst>
          </a:prstGeom>
          <a:solidFill>
            <a:srgbClr val="132A4C"/>
          </a:solidFill>
          <a:ln/>
        </p:spPr>
      </p:sp>
      <p:sp>
        <p:nvSpPr>
          <p:cNvPr id="10" name="Text 7"/>
          <p:cNvSpPr/>
          <p:nvPr/>
        </p:nvSpPr>
        <p:spPr>
          <a:xfrm>
            <a:off x="914400" y="44805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geometry type, repurposed to hold a velocity</a:t>
            </a:r>
            <a:endParaRPr lang="en-US" sz="2100" dirty="0"/>
          </a:p>
        </p:txBody>
      </p:sp>
      <p:sp>
        <p:nvSpPr>
          <p:cNvPr id="11" name="Text 8"/>
          <p:cNvSpPr/>
          <p:nvPr/>
        </p:nvSpPr>
        <p:spPr>
          <a:xfrm>
            <a:off x="914400" y="5042535"/>
            <a:ext cx="10332720" cy="9010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Translation2d is just an (x, y) pair. Nothing stops you from repurposing it to hold a velocity instead of a position — this is a legitimate use of 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chaseOmega, and a getter</a:t>
            </a:r>
            <a:endParaRPr lang="en-US" sz="3000" dirty="0"/>
          </a:p>
        </p:txBody>
      </p:sp>
      <p:sp>
        <p:nvSpPr>
          <p:cNvPr id="6" name="Shape 3"/>
          <p:cNvSpPr/>
          <p:nvPr/>
        </p:nvSpPr>
        <p:spPr>
          <a:xfrm>
            <a:off x="640080" y="128016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3, closing out the class</a:t>
            </a:r>
            <a:endParaRPr lang="en-US" sz="1500" dirty="0"/>
          </a:p>
        </p:txBody>
      </p:sp>
      <p:sp>
        <p:nvSpPr>
          <p:cNvPr id="11" name="Text 8"/>
          <p:cNvSpPr/>
          <p:nvPr/>
        </p:nvSpPr>
        <p:spPr>
          <a:xfrm>
            <a:off x="914400" y="173736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Move 'current' toward 'target', never faster than the grip-limited angular rate.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chaseOmega(double current, double target, double dtSeconds)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maxStep = DriveConstants.kMaxAngularAccelRadPerSec2 * dtSeconds;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error = target - current;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if (error &gt;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if (error &lt;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target;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Pose2d getPose()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950" b="1" dirty="0">
                <a:solidFill>
                  <a:srgbClr val="13294B"/>
                </a:solidFill>
                <a:latin typeface="Cambria" pitchFamily="34" charset="0"/>
                <a:ea typeface="Cambria" pitchFamily="34" charset="-122"/>
                <a:cs typeface="Cambria" pitchFamily="34" charset="-120"/>
              </a:rPr>
              <a:t>Twist2d.exp() — the same math odometry runs internally</a:t>
            </a:r>
            <a:endParaRPr lang="en-US" sz="2950" dirty="0"/>
          </a:p>
        </p:txBody>
      </p:sp>
      <p:sp>
        <p:nvSpPr>
          <p:cNvPr id="6" name="Shape 3"/>
          <p:cNvSpPr/>
          <p:nvPr/>
        </p:nvSpPr>
        <p:spPr>
          <a:xfrm>
            <a:off x="640080" y="1645920"/>
            <a:ext cx="10881360" cy="2103120"/>
          </a:xfrm>
          <a:prstGeom prst="roundRect">
            <a:avLst>
              <a:gd name="adj" fmla="val 4348"/>
            </a:avLst>
          </a:prstGeom>
          <a:solidFill>
            <a:srgbClr val="132A4C"/>
          </a:solidFill>
          <a:ln/>
        </p:spPr>
      </p:sp>
      <p:sp>
        <p:nvSpPr>
          <p:cNvPr id="7" name="Text 4"/>
          <p:cNvSpPr/>
          <p:nvPr/>
        </p:nvSpPr>
        <p:spPr>
          <a:xfrm>
            <a:off x="914400" y="1920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toTwist2d(dt) — "this velocity, held for this long"</a:t>
            </a:r>
            <a:endParaRPr lang="en-US" sz="2100" dirty="0"/>
          </a:p>
        </p:txBody>
      </p:sp>
      <p:sp>
        <p:nvSpPr>
          <p:cNvPr id="8" name="Text 5"/>
          <p:cNvSpPr/>
          <p:nvPr/>
        </p:nvSpPr>
        <p:spPr>
          <a:xfrm>
            <a:off x="914400" y="2482215"/>
            <a:ext cx="10332720" cy="9925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m_velocity.toTwist2d(dtSeconds) turns a velocity into a Twist2d — how far the chassis moved in that instant, exactly the small nudge SwerveDriveOdometry computes every tick from your wheel encoders.</a:t>
            </a:r>
            <a:endParaRPr lang="en-US" sz="1900" dirty="0"/>
          </a:p>
        </p:txBody>
      </p:sp>
      <p:sp>
        <p:nvSpPr>
          <p:cNvPr id="9" name="Shape 6"/>
          <p:cNvSpPr/>
          <p:nvPr/>
        </p:nvSpPr>
        <p:spPr>
          <a:xfrm>
            <a:off x="640080" y="3886200"/>
            <a:ext cx="10881360" cy="2468880"/>
          </a:xfrm>
          <a:prstGeom prst="roundRect">
            <a:avLst>
              <a:gd name="adj" fmla="val 3704"/>
            </a:avLst>
          </a:prstGeom>
          <a:solidFill>
            <a:srgbClr val="132A4C"/>
          </a:solidFill>
          <a:ln/>
        </p:spPr>
      </p:sp>
      <p:sp>
        <p:nvSpPr>
          <p:cNvPr id="10" name="Text 7"/>
          <p:cNvSpPr/>
          <p:nvPr/>
        </p:nvSpPr>
        <p:spPr>
          <a:xfrm>
            <a:off x="914400" y="41605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exp() turns that nudge into a curve, not a straight line</a:t>
            </a:r>
            <a:endParaRPr lang="en-US" sz="2100" dirty="0"/>
          </a:p>
        </p:txBody>
      </p:sp>
      <p:sp>
        <p:nvSpPr>
          <p:cNvPr id="11" name="Text 8"/>
          <p:cNvSpPr/>
          <p:nvPr/>
        </p:nvSpPr>
        <p:spPr>
          <a:xfrm>
            <a:off x="914400" y="4722495"/>
            <a:ext cx="10332720" cy="13582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Twist2d.exp() accounts for the curve a turning chassis actually traces, and Pose2d.plus(Transform2d) composes it onto where the chassis already was — precisely what SwerveDriveOdometry.update(...) does under the hood, written out instead of hidden behind a library call.</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null on a real robot</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above the m_gyroIO field</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chassis's ground truth in the physics world — one, shared, null on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real robot (which already has a world) and in replay (which needs none).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private static final ChassisSimulation m_chassisSim = createChassisSim();</a:t>
            </a:r>
            <a:endParaRPr lang="en-US" sz="13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Builds the shared chassis ground truth. Sim only — null everywhere else.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static ChassisSimulation createChassisSim()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if (Constants.kCurrentMode != Constants.Mode.SIM)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null; // a real robot already has a world; replay doesn't need one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new ChassisSimulation(DriveConstants.kSimStartingPose);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Move the chassis the way its wheels actually turned</a:t>
            </a:r>
            <a:endParaRPr lang="en-US" sz="3000" dirty="0"/>
          </a:p>
        </p:txBody>
      </p:sp>
      <p:sp>
        <p:nvSpPr>
          <p:cNvPr id="6" name="Shape 3"/>
          <p:cNvSpPr/>
          <p:nvPr/>
        </p:nvSpPr>
        <p:spPr>
          <a:xfrm>
            <a:off x="640080" y="128016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Register a second periodic in Drivetrain's constructor, below the first</a:t>
            </a:r>
            <a:endParaRPr lang="en-US" sz="1500" dirty="0"/>
          </a:p>
        </p:txBody>
      </p:sp>
      <p:sp>
        <p:nvSpPr>
          <p:cNvPr id="11" name="Text 8"/>
          <p:cNvSpPr/>
          <p:nvPr/>
        </p:nvSpPr>
        <p:spPr>
          <a:xfrm>
            <a:off x="914400" y="1737360"/>
            <a:ext cx="10195560" cy="98755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Drivetrain()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Scheduler.getDefault().addPeriodic(this::periodic);</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Scheduler.getDefault().addPeriodic(this::simulateChassis);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3108960"/>
            <a:ext cx="10881360" cy="3154680"/>
          </a:xfrm>
          <a:prstGeom prst="roundRect">
            <a:avLst>
              <a:gd name="adj" fmla="val 3478"/>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255264"/>
            <a:ext cx="128016" cy="128016"/>
          </a:xfrm>
          <a:prstGeom prst="ellipse">
            <a:avLst/>
          </a:prstGeom>
          <a:solidFill>
            <a:srgbClr val="FF6B6B"/>
          </a:solidFill>
          <a:ln/>
        </p:spPr>
      </p:sp>
      <p:sp>
        <p:nvSpPr>
          <p:cNvPr id="14" name="Shape 11"/>
          <p:cNvSpPr/>
          <p:nvPr/>
        </p:nvSpPr>
        <p:spPr>
          <a:xfrm>
            <a:off x="11210544" y="3456432"/>
            <a:ext cx="128016" cy="128016"/>
          </a:xfrm>
          <a:prstGeom prst="ellipse">
            <a:avLst/>
          </a:prstGeom>
          <a:solidFill>
            <a:srgbClr val="FFD166"/>
          </a:solidFill>
          <a:ln/>
        </p:spPr>
      </p:sp>
      <p:sp>
        <p:nvSpPr>
          <p:cNvPr id="15" name="Shape 12"/>
          <p:cNvSpPr/>
          <p:nvPr/>
        </p:nvSpPr>
        <p:spPr>
          <a:xfrm>
            <a:off x="11210544" y="3657600"/>
            <a:ext cx="128016" cy="128016"/>
          </a:xfrm>
          <a:prstGeom prst="ellipse">
            <a:avLst/>
          </a:prstGeom>
          <a:solidFill>
            <a:srgbClr val="2EC4B6"/>
          </a:solidFill>
          <a:ln/>
        </p:spPr>
      </p:sp>
      <p:sp>
        <p:nvSpPr>
          <p:cNvPr id="16" name="Text 13"/>
          <p:cNvSpPr/>
          <p:nvPr/>
        </p:nvSpPr>
        <p:spPr>
          <a:xfrm>
            <a:off x="914400" y="32369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method, next to periodic()</a:t>
            </a:r>
            <a:endParaRPr lang="en-US" sz="1500" dirty="0"/>
          </a:p>
        </p:txBody>
      </p:sp>
      <p:sp>
        <p:nvSpPr>
          <p:cNvPr id="17" name="Text 14"/>
          <p:cNvSpPr/>
          <p:nvPr/>
        </p:nvSpPr>
        <p:spPr>
          <a:xfrm>
            <a:off x="914400" y="3566160"/>
            <a:ext cx="10195560" cy="249631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Moves the simulated chassis the way its wheels actually turned this tick. Sim only.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void simulateChassis()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(m_chassisSim == null)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return; // a real robot moves itself</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SwerveModuleVelocity[] wheels = new SwerveModuleVelocity[4];</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for (int i = 0; i &lt; m_modules.length; i++)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wheels[i] = new SwerveModuleVelocity(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m_modules[i].getDriveVelocityMetersPerSec(),</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Rotation2d.fromDegrees(m_modules[i].getSteerAngleDegrees()));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m_chassisSim.update(m_kinematics.toChassisVelocities(wheels), 0.020);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Delete the fake gyro's feeds, then expose the truth</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inside applyChassisSpeeds</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by hand anymore; the shared</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chassis tracks heading itself now.</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m_gyroIO.setSimRotationRate(speeds.omega / (2 * Math.PI));</a:t>
            </a:r>
            <a:endParaRPr lang="en-US" sz="1350" dirty="0"/>
          </a:p>
        </p:txBody>
      </p:sp>
      <p:sp>
        <p:nvSpPr>
          <p:cNvPr id="12" name="Shape 9"/>
          <p:cNvSpPr/>
          <p:nvPr/>
        </p:nvSpPr>
        <p:spPr>
          <a:xfrm>
            <a:off x="640080" y="283464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980944"/>
            <a:ext cx="128016" cy="128016"/>
          </a:xfrm>
          <a:prstGeom prst="ellipse">
            <a:avLst/>
          </a:prstGeom>
          <a:solidFill>
            <a:srgbClr val="FF6B6B"/>
          </a:solidFill>
          <a:ln/>
        </p:spPr>
      </p:sp>
      <p:sp>
        <p:nvSpPr>
          <p:cNvPr id="14" name="Shape 11"/>
          <p:cNvSpPr/>
          <p:nvPr/>
        </p:nvSpPr>
        <p:spPr>
          <a:xfrm>
            <a:off x="11210544" y="3182112"/>
            <a:ext cx="128016" cy="128016"/>
          </a:xfrm>
          <a:prstGeom prst="ellipse">
            <a:avLst/>
          </a:prstGeom>
          <a:solidFill>
            <a:srgbClr val="FFD166"/>
          </a:solidFill>
          <a:ln/>
        </p:spPr>
      </p:sp>
      <p:sp>
        <p:nvSpPr>
          <p:cNvPr id="15" name="Shape 12"/>
          <p:cNvSpPr/>
          <p:nvPr/>
        </p:nvSpPr>
        <p:spPr>
          <a:xfrm>
            <a:off x="11210544" y="3383280"/>
            <a:ext cx="128016" cy="128016"/>
          </a:xfrm>
          <a:prstGeom prst="ellipse">
            <a:avLst/>
          </a:prstGeom>
          <a:solidFill>
            <a:srgbClr val="2EC4B6"/>
          </a:solidFill>
          <a:ln/>
        </p:spPr>
      </p:sp>
      <p:sp>
        <p:nvSpPr>
          <p:cNvPr id="16" name="Text 13"/>
          <p:cNvSpPr/>
          <p:nvPr/>
        </p:nvSpPr>
        <p:spPr>
          <a:xfrm>
            <a:off x="914400" y="29626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driveDistance, where it zeroed the rate</a:t>
            </a:r>
            <a:endParaRPr lang="en-US" sz="1500" dirty="0"/>
          </a:p>
        </p:txBody>
      </p:sp>
      <p:sp>
        <p:nvSpPr>
          <p:cNvPr id="17" name="Text 14"/>
          <p:cNvSpPr/>
          <p:nvPr/>
        </p:nvSpPr>
        <p:spPr>
          <a:xfrm>
            <a:off x="914400" y="329184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m_gyroIO.setSimRotationRate(0.0);</a:t>
            </a:r>
            <a:endParaRPr lang="en-US" sz="1400" dirty="0"/>
          </a:p>
        </p:txBody>
      </p:sp>
      <p:sp>
        <p:nvSpPr>
          <p:cNvPr id="18" name="Shape 15"/>
          <p:cNvSpPr/>
          <p:nvPr/>
        </p:nvSpPr>
        <p:spPr>
          <a:xfrm>
            <a:off x="640080" y="41148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19" name="Shape 16"/>
          <p:cNvSpPr/>
          <p:nvPr/>
        </p:nvSpPr>
        <p:spPr>
          <a:xfrm>
            <a:off x="11210544" y="4261104"/>
            <a:ext cx="128016" cy="128016"/>
          </a:xfrm>
          <a:prstGeom prst="ellipse">
            <a:avLst/>
          </a:prstGeom>
          <a:solidFill>
            <a:srgbClr val="FF6B6B"/>
          </a:solidFill>
          <a:ln/>
        </p:spPr>
      </p:sp>
      <p:sp>
        <p:nvSpPr>
          <p:cNvPr id="20" name="Shape 17"/>
          <p:cNvSpPr/>
          <p:nvPr/>
        </p:nvSpPr>
        <p:spPr>
          <a:xfrm>
            <a:off x="11210544" y="4462272"/>
            <a:ext cx="128016" cy="128016"/>
          </a:xfrm>
          <a:prstGeom prst="ellipse">
            <a:avLst/>
          </a:prstGeom>
          <a:solidFill>
            <a:srgbClr val="FFD166"/>
          </a:solidFill>
          <a:ln/>
        </p:spPr>
      </p:sp>
      <p:sp>
        <p:nvSpPr>
          <p:cNvPr id="21" name="Shape 18"/>
          <p:cNvSpPr/>
          <p:nvPr/>
        </p:nvSpPr>
        <p:spPr>
          <a:xfrm>
            <a:off x="11210544" y="4663440"/>
            <a:ext cx="128016" cy="128016"/>
          </a:xfrm>
          <a:prstGeom prst="ellipse">
            <a:avLst/>
          </a:prstGeom>
          <a:solidFill>
            <a:srgbClr val="2EC4B6"/>
          </a:solidFill>
          <a:ln/>
        </p:spPr>
      </p:sp>
      <p:sp>
        <p:nvSpPr>
          <p:cNvPr id="22" name="Text 19"/>
          <p:cNvSpPr/>
          <p:nvPr/>
        </p:nvSpPr>
        <p:spPr>
          <a:xfrm>
            <a:off x="914400" y="42428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next to getHeadingDegrees()</a:t>
            </a:r>
            <a:endParaRPr lang="en-US" sz="1500" dirty="0"/>
          </a:p>
        </p:txBody>
      </p:sp>
      <p:sp>
        <p:nvSpPr>
          <p:cNvPr id="23" name="Text 20"/>
          <p:cNvSpPr/>
          <p:nvPr/>
        </p:nvSpPr>
        <p:spPr>
          <a:xfrm>
            <a:off x="914400" y="457200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the chassis really is, ground truth — null outside sim.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Pose2d getSimulatedPose()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m_chassisSim != null ? m_chassisSim.getPose() : null;</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 REWRITTEN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gyro stops pretending, and just reads the truth</a:t>
            </a:r>
            <a:endParaRPr lang="en-US" sz="3000" dirty="0"/>
          </a:p>
        </p:txBody>
      </p:sp>
      <p:sp>
        <p:nvSpPr>
          <p:cNvPr id="6" name="Shape 3"/>
          <p:cNvSpPr/>
          <p:nvPr/>
        </p:nvSpPr>
        <p:spPr>
          <a:xfrm>
            <a:off x="640080" y="128016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whole contents of GyroIOSim.java</a:t>
            </a:r>
            <a:endParaRPr lang="en-US" sz="1500" dirty="0"/>
          </a:p>
        </p:txBody>
      </p:sp>
      <p:sp>
        <p:nvSpPr>
          <p:cNvPr id="11" name="Text 8"/>
          <p:cNvSpPr/>
          <p:nvPr/>
        </p:nvSpPr>
        <p:spPr>
          <a:xfrm>
            <a:off x="914400" y="1737360"/>
            <a:ext cx="10195560" cy="363931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package first.robot.subsystems;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Reports the heading of the real simulated chassis — no integration of its own.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private final ChassisSimulation m_chassisSim;</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GyroIOSim(ChassisSimulation chassisSim)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 = 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m_chassisSim.getPose().getRotation().getDegrees();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GYROIO.JAVA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dead method, deleted — and the gyro gets its chassis</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the GyroIO interface</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anymore; the shared chassis</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tracks rotation and the gyro just reports it.</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public default void setSimRotationRate(double omegaRevPerSec) {}</a:t>
            </a:r>
            <a:endParaRPr lang="en-US" sz="135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gyro switch in Drivetrain</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REAL -&gt; new GyroIOPigeon2();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case SIM -&gt; new GyroIOSim(m_chassisSim);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REPLAY -&gt; new GyroIO() {}; // inputs come from the log</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WHY THE ORDER MATTERS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Field initializers run top to bottom</a:t>
            </a:r>
            <a:endParaRPr lang="en-US" sz="3000" dirty="0"/>
          </a:p>
        </p:txBody>
      </p:sp>
      <p:sp>
        <p:nvSpPr>
          <p:cNvPr id="6" name="Shape 3"/>
          <p:cNvSpPr/>
          <p:nvPr/>
        </p:nvSpPr>
        <p:spPr>
          <a:xfrm>
            <a:off x="640080" y="1828800"/>
            <a:ext cx="10881360" cy="3200400"/>
          </a:xfrm>
          <a:prstGeom prst="roundRect">
            <a:avLst>
              <a:gd name="adj" fmla="val 2857"/>
            </a:avLst>
          </a:prstGeom>
          <a:solidFill>
            <a:srgbClr val="132A4C"/>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is exactly why m_chassisSim had to come first</a:t>
            </a:r>
            <a:endParaRPr lang="en-US" sz="2200" dirty="0"/>
          </a:p>
        </p:txBody>
      </p:sp>
      <p:sp>
        <p:nvSpPr>
          <p:cNvPr id="8" name="Text 5"/>
          <p:cNvSpPr/>
          <p:nvPr/>
        </p:nvSpPr>
        <p:spPr>
          <a:xfrm>
            <a:off x="914400" y="2680970"/>
            <a:ext cx="10332720" cy="20739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GyroIOSim's constructor needs a chassis that already exists. Because m_chassisSim was declared above m_gyroIO back in section 4, it's already built by the time the gyro field's initializer runs — the same ordering discipline Lesson 14 taught you with m_drivetrain before m_localizer.</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Publish the truth, alongside the estimate</a:t>
            </a:r>
            <a:endParaRPr lang="en-US" sz="3000" dirty="0"/>
          </a:p>
        </p:txBody>
      </p:sp>
      <p:sp>
        <p:nvSpPr>
          <p:cNvPr id="6" name="Shape 3"/>
          <p:cNvSpPr/>
          <p:nvPr/>
        </p:nvSpPr>
        <p:spPr>
          <a:xfrm>
            <a:off x="640080" y="128016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Log it at the end of periodic()</a:t>
            </a:r>
            <a:endParaRPr lang="en-US" sz="1500" dirty="0"/>
          </a:p>
        </p:txBody>
      </p:sp>
      <p:sp>
        <p:nvSpPr>
          <p:cNvPr id="11" name="Text 8"/>
          <p:cNvSpPr/>
          <p:nvPr/>
        </p:nvSpPr>
        <p:spPr>
          <a:xfrm>
            <a:off x="914400" y="1737360"/>
            <a:ext cx="10195560" cy="11247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Telemetry.log("Drivetrain/SimulatedPose", m_chassisSim.getPose(), Pose2d.struct);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291840"/>
            <a:ext cx="10881360" cy="1463040"/>
          </a:xfrm>
          <a:prstGeom prst="roundRect">
            <a:avLst>
              <a:gd name="adj" fmla="val 6250"/>
            </a:avLst>
          </a:prstGeom>
          <a:solidFill>
            <a:srgbClr val="F3F6FA"/>
          </a:solidFill>
          <a:ln/>
        </p:spPr>
      </p:sp>
      <p:sp>
        <p:nvSpPr>
          <p:cNvPr id="13" name="Text 10"/>
          <p:cNvSpPr/>
          <p:nvPr/>
        </p:nvSpPr>
        <p:spPr>
          <a:xfrm>
            <a:off x="868680" y="3520440"/>
            <a:ext cx="10424160" cy="10058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same Telemetry.log call that publishes Drivetrain/Heading a few lines up — handed a Pose2d and its .struct this time.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DRIFT YOU DIDN'T HAVE TO FAKE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Drive hard, and watch the two poses separate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 Odometry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Put both Localizer/Pose and Drivetrain/SimulatedPose on the field at once.</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gently</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two poses sit right on top of each other.</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like you mean it</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Full stick from a stop, a hard reversal, a fast spin — watch them separate.</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The estimate creeps ahead, and stays there</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Nothing resets it — addition never forgets.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Closing the loop: vision checks itself against truth</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Change both camera suppliers in Robot's constructor</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frontCamera = LimelightPoseProvider.makeCamera(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VisionConstants.kFrontCameraName, VisionConstants.kFrontRobotToCamera,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backCamera = LimelightPoseProvider.makeCamera(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VisionConstants.kBackCameraName, VisionConstants.kBackRobotToCamera,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p:txBody>
      </p:sp>
      <p:sp>
        <p:nvSpPr>
          <p:cNvPr id="12" name="Shape 9"/>
          <p:cNvSpPr/>
          <p:nvPr/>
        </p:nvSpPr>
        <p:spPr>
          <a:xfrm>
            <a:off x="640080" y="4343400"/>
            <a:ext cx="10881360" cy="1874520"/>
          </a:xfrm>
          <a:prstGeom prst="roundRect">
            <a:avLst>
              <a:gd name="adj" fmla="val 4878"/>
            </a:avLst>
          </a:prstGeom>
          <a:solidFill>
            <a:srgbClr val="F3F6FA"/>
          </a:solidFill>
          <a:ln/>
        </p:spPr>
      </p:sp>
      <p:sp>
        <p:nvSpPr>
          <p:cNvPr id="13" name="Text 10"/>
          <p:cNvSpPr/>
          <p:nvPr/>
        </p:nvSpPr>
        <p:spPr>
          <a:xfrm>
            <a:off x="868680" y="4572000"/>
            <a:ext cx="10424160" cy="14173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That's the whole fix — drivetrain::getSimulatedPose in place of localizer::getPose. The simulated camera now renders from where the chassis actually is, so a correction it computes pulls the estimate toward something real, not toward itself.</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loose end: tell the estimate where it started</a:t>
            </a:r>
            <a:endParaRPr lang="en-US" sz="3000" dirty="0"/>
          </a:p>
        </p:txBody>
      </p:sp>
      <p:sp>
        <p:nvSpPr>
          <p:cNvPr id="6" name="Shape 3"/>
          <p:cNvSpPr/>
          <p:nvPr/>
        </p:nvSpPr>
        <p:spPr>
          <a:xfrm>
            <a:off x="640080" y="13716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constructor, after the cameras are registered</a:t>
            </a:r>
            <a:endParaRPr lang="en-US" sz="1500" dirty="0"/>
          </a:p>
        </p:txBody>
      </p:sp>
      <p:sp>
        <p:nvSpPr>
          <p:cNvPr id="11" name="Text 8"/>
          <p:cNvSpPr/>
          <p:nvPr/>
        </p:nvSpPr>
        <p:spPr>
          <a:xfrm>
            <a:off x="914400" y="1828800"/>
            <a:ext cx="10195560" cy="1170432"/>
          </a:xfrm>
          <a:prstGeom prst="rect">
            <a:avLst/>
          </a:prstGeom>
          <a:noFill/>
          <a:ln/>
        </p:spPr>
        <p:txBody>
          <a:bodyPr wrap="square" lIns="0" tIns="0" rIns="0" bIns="0" rtlCol="0" anchor="t"/>
          <a:lstStyle/>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The simulated chassis starts at kSimStartingPose; tell the estimate</a:t>
            </a:r>
            <a:endParaRPr lang="en-US" sz="1350" dirty="0"/>
          </a:p>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where that is instead of guessing from (0, 0, 0°).</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if (Constants.kCurrentMode == Constants.Mode.SIM) {</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  localizer.resetPose(DriveConstants.kSimStartingPose);</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a:t>
            </a:r>
            <a:endParaRPr lang="en-US" sz="1350" dirty="0"/>
          </a:p>
        </p:txBody>
      </p:sp>
      <p:sp>
        <p:nvSpPr>
          <p:cNvPr id="12" name="Shape 9"/>
          <p:cNvSpPr/>
          <p:nvPr/>
        </p:nvSpPr>
        <p:spPr>
          <a:xfrm>
            <a:off x="640080" y="3429000"/>
            <a:ext cx="10881360" cy="2560320"/>
          </a:xfrm>
          <a:prstGeom prst="roundRect">
            <a:avLst>
              <a:gd name="adj" fmla="val 3571"/>
            </a:avLst>
          </a:prstGeom>
          <a:solidFill>
            <a:srgbClr val="F3F6FA"/>
          </a:solidFill>
          <a:ln/>
        </p:spPr>
      </p:sp>
      <p:sp>
        <p:nvSpPr>
          <p:cNvPr id="13" name="Text 10"/>
          <p:cNvSpPr/>
          <p:nvPr/>
        </p:nvSpPr>
        <p:spPr>
          <a:xfrm>
            <a:off x="868680" y="3657600"/>
            <a:ext cx="10424160" cy="21031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chassis sim starts at kSimStartingPose, but Localizer still starts at (0, 0, 0°), because odometry has no idea where it was switched on. Left alone, you'd watch two robots in different places and doubt your own code.</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50" b="1" dirty="0">
                <a:solidFill>
                  <a:srgbClr val="13294B"/>
                </a:solidFill>
                <a:latin typeface="Cambria" pitchFamily="34" charset="0"/>
                <a:ea typeface="Cambria" pitchFamily="34" charset="-122"/>
                <a:cs typeface="Cambria" pitchFamily="34" charset="-120"/>
              </a:rPr>
              <a:t>Feel the grip limit, then watch vision pull the estimate home</a:t>
            </a:r>
            <a:endParaRPr lang="en-US" sz="285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to full — the robot ramps up, the way a real chassis with real tires does.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Let go of the stick</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coasts back down instead of stopping dead.</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hard enough to separate the two poses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way section 6 showed you, then park somewhere a tag is visible.</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Localizer/Pose get pulled back</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Toward Drivetrain/SimulatedPose — odometry for smoothness, vision for truth.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54480"/>
            <a:ext cx="10881360" cy="1325880"/>
          </a:xfrm>
          <a:prstGeom prst="roundRect">
            <a:avLst>
              <a:gd name="adj" fmla="val 8276"/>
            </a:avLst>
          </a:prstGeom>
          <a:solidFill>
            <a:srgbClr val="132A4C"/>
          </a:solidFill>
          <a:ln/>
        </p:spPr>
      </p:sp>
      <p:sp>
        <p:nvSpPr>
          <p:cNvPr id="7" name="Shape 4"/>
          <p:cNvSpPr/>
          <p:nvPr/>
        </p:nvSpPr>
        <p:spPr>
          <a:xfrm>
            <a:off x="960120" y="1783080"/>
            <a:ext cx="457200" cy="457200"/>
          </a:xfrm>
          <a:prstGeom prst="ellipse">
            <a:avLst/>
          </a:prstGeom>
          <a:solidFill>
            <a:srgbClr val="1B9AAA"/>
          </a:solidFill>
          <a:ln/>
        </p:spPr>
      </p:sp>
      <p:sp>
        <p:nvSpPr>
          <p:cNvPr id="8" name="Text 5"/>
          <p:cNvSpPr/>
          <p:nvPr/>
        </p:nvSpPr>
        <p:spPr>
          <a:xfrm>
            <a:off x="960120" y="17830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830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Make the tires slicker</a:t>
            </a:r>
            <a:endParaRPr lang="en-US" sz="2000" dirty="0"/>
          </a:p>
        </p:txBody>
      </p:sp>
      <p:sp>
        <p:nvSpPr>
          <p:cNvPr id="10" name="Shape 7"/>
          <p:cNvSpPr/>
          <p:nvPr/>
        </p:nvSpPr>
        <p:spPr>
          <a:xfrm>
            <a:off x="9784080" y="1865376"/>
            <a:ext cx="1417320" cy="292608"/>
          </a:xfrm>
          <a:prstGeom prst="roundRect">
            <a:avLst>
              <a:gd name="adj" fmla="val 18750"/>
            </a:avLst>
          </a:prstGeom>
          <a:solidFill>
            <a:srgbClr val="FF5010"/>
          </a:solidFill>
          <a:ln/>
        </p:spPr>
      </p:sp>
      <p:sp>
        <p:nvSpPr>
          <p:cNvPr id="11" name="Text 8"/>
          <p:cNvSpPr/>
          <p:nvPr/>
        </p:nvSpPr>
        <p:spPr>
          <a:xfrm>
            <a:off x="9784080" y="18653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774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Drop kWheelCoF to 0.4 and repeat hard driving. The estimate should peel away from ground truth far faster. Put it back — and if Lesson 13's Try It left a fake 1.1 wheel-slip multiplier in ModuleIOTalonFX, delete it now.</a:t>
            </a:r>
            <a:endParaRPr lang="en-US" sz="2000" dirty="0"/>
          </a:p>
        </p:txBody>
      </p:sp>
      <p:sp>
        <p:nvSpPr>
          <p:cNvPr id="13" name="Shape 10"/>
          <p:cNvSpPr/>
          <p:nvPr/>
        </p:nvSpPr>
        <p:spPr>
          <a:xfrm>
            <a:off x="640080" y="3154680"/>
            <a:ext cx="10881360" cy="1325880"/>
          </a:xfrm>
          <a:prstGeom prst="roundRect">
            <a:avLst>
              <a:gd name="adj" fmla="val 8276"/>
            </a:avLst>
          </a:prstGeom>
          <a:solidFill>
            <a:srgbClr val="132A4C"/>
          </a:solidFill>
          <a:ln/>
        </p:spPr>
      </p:sp>
      <p:sp>
        <p:nvSpPr>
          <p:cNvPr id="14" name="Shape 11"/>
          <p:cNvSpPr/>
          <p:nvPr/>
        </p:nvSpPr>
        <p:spPr>
          <a:xfrm>
            <a:off x="960120" y="3383280"/>
            <a:ext cx="457200" cy="457200"/>
          </a:xfrm>
          <a:prstGeom prst="ellipse">
            <a:avLst/>
          </a:prstGeom>
          <a:solidFill>
            <a:srgbClr val="1B9AAA"/>
          </a:solidFill>
          <a:ln/>
        </p:spPr>
      </p:sp>
      <p:sp>
        <p:nvSpPr>
          <p:cNvPr id="15" name="Text 12"/>
          <p:cNvSpPr/>
          <p:nvPr/>
        </p:nvSpPr>
        <p:spPr>
          <a:xfrm>
            <a:off x="960120" y="33832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1600200" y="3383280"/>
            <a:ext cx="960120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Feel the limit in a spin, not just a line</a:t>
            </a:r>
            <a:endParaRPr lang="en-US" sz="2000" dirty="0"/>
          </a:p>
        </p:txBody>
      </p:sp>
      <p:sp>
        <p:nvSpPr>
          <p:cNvPr id="17" name="Text 14"/>
          <p:cNvSpPr/>
          <p:nvPr/>
        </p:nvSpPr>
        <p:spPr>
          <a:xfrm>
            <a:off x="960120" y="39776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Command a fast turnToHeading from a stop and compare Drivetrain/Gyro/YawDegrees against how fast the raw commanded rate would have turned the robot with nothing limiting it.</a:t>
            </a:r>
            <a:endParaRPr lang="en-US" sz="2000" dirty="0"/>
          </a:p>
        </p:txBody>
      </p:sp>
      <p:sp>
        <p:nvSpPr>
          <p:cNvPr id="18" name="Shape 15"/>
          <p:cNvSpPr/>
          <p:nvPr/>
        </p:nvSpPr>
        <p:spPr>
          <a:xfrm>
            <a:off x="640080" y="4754880"/>
            <a:ext cx="10881360" cy="1325880"/>
          </a:xfrm>
          <a:prstGeom prst="roundRect">
            <a:avLst>
              <a:gd name="adj" fmla="val 8276"/>
            </a:avLst>
          </a:prstGeom>
          <a:solidFill>
            <a:srgbClr val="132A4C"/>
          </a:solidFill>
          <a:ln/>
        </p:spPr>
      </p:sp>
      <p:sp>
        <p:nvSpPr>
          <p:cNvPr id="19" name="Shape 16"/>
          <p:cNvSpPr/>
          <p:nvPr/>
        </p:nvSpPr>
        <p:spPr>
          <a:xfrm>
            <a:off x="960120" y="4983480"/>
            <a:ext cx="457200" cy="457200"/>
          </a:xfrm>
          <a:prstGeom prst="ellipse">
            <a:avLst/>
          </a:prstGeom>
          <a:solidFill>
            <a:srgbClr val="1B9AAA"/>
          </a:solidFill>
          <a:ln/>
        </p:spPr>
      </p:sp>
      <p:sp>
        <p:nvSpPr>
          <p:cNvPr id="20" name="Text 17"/>
          <p:cNvSpPr/>
          <p:nvPr/>
        </p:nvSpPr>
        <p:spPr>
          <a:xfrm>
            <a:off x="960120" y="49834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9834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Push the estimate somewhere wrong on purpose</a:t>
            </a:r>
            <a:endParaRPr lang="en-US" sz="2000" dirty="0"/>
          </a:p>
        </p:txBody>
      </p:sp>
      <p:sp>
        <p:nvSpPr>
          <p:cNvPr id="22" name="Shape 19"/>
          <p:cNvSpPr/>
          <p:nvPr/>
        </p:nvSpPr>
        <p:spPr>
          <a:xfrm>
            <a:off x="9784080" y="5065776"/>
            <a:ext cx="1417320" cy="292608"/>
          </a:xfrm>
          <a:prstGeom prst="roundRect">
            <a:avLst>
              <a:gd name="adj" fmla="val 18750"/>
            </a:avLst>
          </a:prstGeom>
          <a:solidFill>
            <a:srgbClr val="FF5010"/>
          </a:solidFill>
          <a:ln/>
        </p:spPr>
      </p:sp>
      <p:sp>
        <p:nvSpPr>
          <p:cNvPr id="23" name="Text 20"/>
          <p:cNvSpPr/>
          <p:nvPr/>
        </p:nvSpPr>
        <p:spPr>
          <a:xfrm>
            <a:off x="9784080" y="50657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55778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Call m_localizer.resetPose(...) from a temporary button binding, half a meter off from the chassis sim, then park where a tag is visible. Watch the estimate get pulled back — toward the truth this time.</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simulation finally has a body</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One shared chassis, following its wheels under a μg acceleration limit, replaced four drive motors that never knew about each other — and because the limit comes from grip alone, mass canceled right out of the formula.</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MathUtil.slewRateLimit on a Translation2d limited acceleration as a true 2D magnitude, and Twist2d.exp() gave you exact pose integration — the same math SwerveDriveOdometry has been running for you since Lesson 11, written out by hand this time.</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What's actually worth stopping on: an entire ground-truth chassis went into the project, and SwerveModule never heard about it — Lesson 13's IO-layer boundary made ground truth cheap.</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17</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B-Line Autos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An auto drawn as a shape on the field, and a robot that chases it.</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Ground Truth: Give the Simulation a Body</dc:title>
  <dc:subject>PptxGenJS Presentation</dc:subject>
  <dc:creator>Learn Java + Robot Programming</dc:creator>
  <cp:lastModifiedBy>Learn Java + Robot Programming</cp:lastModifiedBy>
  <cp:revision>1</cp:revision>
  <dcterms:created xsi:type="dcterms:W3CDTF">2026-09-27T22:57:23Z</dcterms:created>
  <dcterms:modified xsi:type="dcterms:W3CDTF">2026-09-27T22:57:23Z</dcterms:modified>
</cp:coreProperties>
</file>