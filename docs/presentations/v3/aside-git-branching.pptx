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WORKING WITH GIT</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Branches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One per lesson, merged into a main that always works</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place to be wrong that isn't main</a:t>
            </a:r>
            <a:endParaRPr lang="en-US" sz="3000" dirty="0"/>
          </a:p>
        </p:txBody>
      </p:sp>
      <p:sp>
        <p:nvSpPr>
          <p:cNvPr id="6" name="Shape 3"/>
          <p:cNvSpPr/>
          <p:nvPr/>
        </p:nvSpPr>
        <p:spPr>
          <a:xfrm>
            <a:off x="640080" y="1600200"/>
            <a:ext cx="10881360" cy="1463040"/>
          </a:xfrm>
          <a:prstGeom prst="roundRect">
            <a:avLst>
              <a:gd name="adj" fmla="val 6250"/>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Do each lesson on its own branch, merge it into main when it runs, and know exactly what to do the day two branches touch the same file.</a:t>
            </a:r>
            <a:endParaRPr lang="en-US" sz="2200" dirty="0"/>
          </a:p>
        </p:txBody>
      </p:sp>
      <p:sp>
        <p:nvSpPr>
          <p:cNvPr id="8" name="Text 5"/>
          <p:cNvSpPr/>
          <p:nvPr/>
        </p:nvSpPr>
        <p:spPr>
          <a:xfrm>
            <a:off x="640080" y="3291840"/>
            <a:ext cx="4572000" cy="365760"/>
          </a:xfrm>
          <a:prstGeom prst="rect">
            <a:avLst/>
          </a:prstGeom>
          <a:noFill/>
          <a:ln/>
        </p:spPr>
        <p:txBody>
          <a:bodyPr wrap="square" lIns="0" tIns="0" rIns="0" bIns="0" rtlCol="0" anchor="ctr"/>
          <a:lstStyle/>
          <a:p>
            <a:pPr indent="0" marL="0">
              <a:buNone/>
            </a:pPr>
            <a:r>
              <a:rPr lang="en-US" sz="2000" b="1" spc="100" kern="0" dirty="0">
                <a:solidFill>
                  <a:srgbClr val="FF5010"/>
                </a:solidFill>
                <a:latin typeface="Calibri" pitchFamily="34" charset="0"/>
                <a:ea typeface="Calibri" pitchFamily="34" charset="-122"/>
                <a:cs typeface="Calibri" pitchFamily="34" charset="-120"/>
              </a:rPr>
              <a:t>NEW CONCEPTS</a:t>
            </a:r>
            <a:endParaRPr lang="en-US" sz="2000" dirty="0"/>
          </a:p>
        </p:txBody>
      </p:sp>
      <p:sp>
        <p:nvSpPr>
          <p:cNvPr id="9" name="Text 6"/>
          <p:cNvSpPr/>
          <p:nvPr/>
        </p:nvSpPr>
        <p:spPr>
          <a:xfrm>
            <a:off x="685800" y="3749040"/>
            <a:ext cx="10241280" cy="21945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Branch — a movable label on a commit</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git switch — creating and moving between branches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Fast-forward vs. a merge commit</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Merge conflicts — the markers, and why "pick a side" is wrong</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Pull requests on GitHub — a merge with a conversation attached</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git rebase — replaying your commits onto a newer base</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2"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MENTAL MODEL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branch is a label, not a copy</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12763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Every commit points back at the one before it — your history is a chain.</a:t>
            </a:r>
            <a:endParaRPr lang="en-US" sz="2200" dirty="0"/>
          </a:p>
        </p:txBody>
      </p:sp>
      <p:sp>
        <p:nvSpPr>
          <p:cNvPr id="8" name="Text 5"/>
          <p:cNvSpPr/>
          <p:nvPr/>
        </p:nvSpPr>
        <p:spPr>
          <a:xfrm>
            <a:off x="914400" y="3150870"/>
            <a:ext cx="4800600" cy="24269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branch is a sticky note stuck to one commit in that chain. When you commit, Git slides the note forward to the new commit. Creating a branch is instant, no matter how big the project is, because nothing gets copied.</a:t>
            </a:r>
            <a:endParaRPr lang="en-US" sz="2000" dirty="0"/>
          </a:p>
        </p:txBody>
      </p:sp>
      <p:sp>
        <p:nvSpPr>
          <p:cNvPr id="9" name="Shape 6"/>
          <p:cNvSpPr/>
          <p:nvPr/>
        </p:nvSpPr>
        <p:spPr>
          <a:xfrm>
            <a:off x="6172200" y="1600200"/>
            <a:ext cx="5349240" cy="4251960"/>
          </a:xfrm>
          <a:prstGeom prst="roundRect">
            <a:avLst>
              <a:gd name="adj" fmla="val 2151"/>
            </a:avLst>
          </a:prstGeom>
          <a:solidFill>
            <a:srgbClr val="0B1F3A"/>
          </a:solidFill>
          <a:ln/>
        </p:spPr>
      </p:sp>
      <p:sp>
        <p:nvSpPr>
          <p:cNvPr id="10" name="Text 7"/>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THE WRONG PICTURE</a:t>
            </a:r>
            <a:endParaRPr lang="en-US" sz="2000" dirty="0"/>
          </a:p>
        </p:txBody>
      </p:sp>
      <p:sp>
        <p:nvSpPr>
          <p:cNvPr id="11" name="Text 8"/>
          <p:cNvSpPr/>
          <p:nvPr/>
        </p:nvSpPr>
        <p:spPr>
          <a:xfrm>
            <a:off x="6446520" y="233172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It isn't a copy of the project sitting in its own folder.</a:t>
            </a:r>
            <a:endParaRPr lang="en-US" sz="2200" dirty="0"/>
          </a:p>
        </p:txBody>
      </p:sp>
      <p:sp>
        <p:nvSpPr>
          <p:cNvPr id="12" name="Text 9"/>
          <p:cNvSpPr/>
          <p:nvPr/>
        </p:nvSpPr>
        <p:spPr>
          <a:xfrm>
            <a:off x="6446520" y="3258820"/>
            <a:ext cx="4800600" cy="23190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There's one folder, one set of files. Switching branches rewrites them to match whatever commit the label points at. Kept Robot_v2_FINAL_real.java next to Robot.java before? A branch replaces that habit.</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5"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branch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START A LESSON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new branch, every lesson</a:t>
            </a:r>
            <a:endParaRPr lang="en-US" sz="3000" dirty="0"/>
          </a:p>
        </p:txBody>
      </p:sp>
      <p:sp>
        <p:nvSpPr>
          <p:cNvPr id="6" name="Shape 3"/>
          <p:cNvSpPr/>
          <p:nvPr/>
        </p:nvSpPr>
        <p:spPr>
          <a:xfrm>
            <a:off x="640080" y="1508760"/>
            <a:ext cx="10881360" cy="2606040"/>
          </a:xfrm>
          <a:prstGeom prst="roundRect">
            <a:avLst>
              <a:gd name="adj" fmla="val 421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55064"/>
            <a:ext cx="128016" cy="128016"/>
          </a:xfrm>
          <a:prstGeom prst="ellipse">
            <a:avLst/>
          </a:prstGeom>
          <a:solidFill>
            <a:srgbClr val="FF6B6B"/>
          </a:solidFill>
          <a:ln/>
        </p:spPr>
      </p:sp>
      <p:sp>
        <p:nvSpPr>
          <p:cNvPr id="8" name="Shape 5"/>
          <p:cNvSpPr/>
          <p:nvPr/>
        </p:nvSpPr>
        <p:spPr>
          <a:xfrm>
            <a:off x="11210544" y="1856232"/>
            <a:ext cx="128016" cy="128016"/>
          </a:xfrm>
          <a:prstGeom prst="ellipse">
            <a:avLst/>
          </a:prstGeom>
          <a:solidFill>
            <a:srgbClr val="FFD166"/>
          </a:solidFill>
          <a:ln/>
        </p:spPr>
      </p:sp>
      <p:sp>
        <p:nvSpPr>
          <p:cNvPr id="9" name="Shape 6"/>
          <p:cNvSpPr/>
          <p:nvPr/>
        </p:nvSpPr>
        <p:spPr>
          <a:xfrm>
            <a:off x="11210544" y="2057400"/>
            <a:ext cx="128016" cy="128016"/>
          </a:xfrm>
          <a:prstGeom prst="ellipse">
            <a:avLst/>
          </a:prstGeom>
          <a:solidFill>
            <a:srgbClr val="2EC4B6"/>
          </a:solidFill>
          <a:ln/>
        </p:spPr>
      </p:sp>
      <p:sp>
        <p:nvSpPr>
          <p:cNvPr id="10" name="Text 7"/>
          <p:cNvSpPr/>
          <p:nvPr/>
        </p:nvSpPr>
        <p:spPr>
          <a:xfrm>
            <a:off x="914400" y="1709928"/>
            <a:ext cx="10195560" cy="2240280"/>
          </a:xfrm>
          <a:prstGeom prst="rect">
            <a:avLst/>
          </a:prstGeom>
          <a:noFill/>
          <a:ln/>
        </p:spPr>
        <p:txBody>
          <a:bodyPr wrap="square" lIns="0" tIns="0" rIns="0" bIns="0" rtlCol="0" anchor="t"/>
          <a:lstStyle/>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switch -c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Switched to a new branch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do the lesson, commit as you go</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git add .</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git commit -m "Lesson 1: spin a motor"</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branch</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main</a:t>
            </a:r>
            <a:endParaRPr lang="en-US" sz="1800" dirty="0"/>
          </a:p>
        </p:txBody>
      </p:sp>
      <p:sp>
        <p:nvSpPr>
          <p:cNvPr id="11" name="Shape 8"/>
          <p:cNvSpPr/>
          <p:nvPr/>
        </p:nvSpPr>
        <p:spPr>
          <a:xfrm>
            <a:off x="640080" y="4251960"/>
            <a:ext cx="10881360" cy="2057400"/>
          </a:xfrm>
          <a:prstGeom prst="roundRect">
            <a:avLst>
              <a:gd name="adj" fmla="val 4444"/>
            </a:avLst>
          </a:prstGeom>
          <a:solidFill>
            <a:srgbClr val="F3F6FA"/>
          </a:solidFill>
          <a:ln/>
        </p:spPr>
      </p:sp>
      <p:sp>
        <p:nvSpPr>
          <p:cNvPr id="12" name="Text 9"/>
          <p:cNvSpPr/>
          <p:nvPr/>
        </p:nvSpPr>
        <p:spPr>
          <a:xfrm>
            <a:off x="868680" y="4480560"/>
            <a:ext cx="1042416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switch -c creates the branch and moves you onto it in one step.</a:t>
            </a:r>
            <a:endParaRPr lang="en-US" sz="2100" dirty="0"/>
          </a:p>
        </p:txBody>
      </p:sp>
      <p:sp>
        <p:nvSpPr>
          <p:cNvPr id="13" name="Text 10"/>
          <p:cNvSpPr/>
          <p:nvPr/>
        </p:nvSpPr>
        <p:spPr>
          <a:xfrm>
            <a:off x="868680" y="5042535"/>
            <a:ext cx="10424160" cy="103822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Nothing about your files changes yet — main and lesson-01 point at the same commit until you make one. Commit as often as you like here; none of it touches main until you say so. The * in git branch's output marks the one you're standing on.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MERGE IT BACK</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lesson joins main once it runs</a:t>
            </a:r>
            <a:endParaRPr lang="en-US" sz="3000" dirty="0"/>
          </a:p>
        </p:txBody>
      </p:sp>
      <p:sp>
        <p:nvSpPr>
          <p:cNvPr id="6" name="Shape 3"/>
          <p:cNvSpPr/>
          <p:nvPr/>
        </p:nvSpPr>
        <p:spPr>
          <a:xfrm>
            <a:off x="640080" y="146304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664208"/>
            <a:ext cx="10195560" cy="1920240"/>
          </a:xfrm>
          <a:prstGeom prst="rect">
            <a:avLst/>
          </a:prstGeom>
          <a:noFill/>
          <a:ln/>
        </p:spPr>
        <p:txBody>
          <a:bodyPr wrap="square" lIns="0" tIns="0" rIns="0" bIns="0" rtlCol="0" anchor="t"/>
          <a:lstStyle/>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git switch main</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merge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Fast-forward</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Constants.java | 4 +++-</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1 file changed, 3 insertions(+), 1 deletion(-)</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branch -d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Deleted branch lesson-01 (was 79bf90a).</a:t>
            </a:r>
            <a:endParaRPr lang="en-US" sz="1800" dirty="0"/>
          </a:p>
        </p:txBody>
      </p:sp>
      <p:sp>
        <p:nvSpPr>
          <p:cNvPr id="11" name="Shape 8"/>
          <p:cNvSpPr/>
          <p:nvPr/>
        </p:nvSpPr>
        <p:spPr>
          <a:xfrm>
            <a:off x="640080" y="3931920"/>
            <a:ext cx="10881360" cy="2103120"/>
          </a:xfrm>
          <a:prstGeom prst="roundRect">
            <a:avLst>
              <a:gd name="adj" fmla="val 4348"/>
            </a:avLst>
          </a:prstGeom>
          <a:solidFill>
            <a:srgbClr val="F3F6FA"/>
          </a:solidFill>
          <a:ln/>
        </p:spPr>
      </p:sp>
      <p:sp>
        <p:nvSpPr>
          <p:cNvPr id="12" name="Text 9"/>
          <p:cNvSpPr/>
          <p:nvPr/>
        </p:nvSpPr>
        <p:spPr>
          <a:xfrm>
            <a:off x="914400" y="4206240"/>
            <a:ext cx="10332720" cy="15544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main hadn't moved, so merging just slides its label up to where lesson-01 already was — no new commit, no thinking required. Deleting the branch afterward only removes the label; Git refuses if the branch's work hasn't actually merged anywhere, so it's a free safety check.</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5"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SAME FILE, TWO BRANCHES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When Git refuses to guess</a:t>
            </a:r>
            <a:endParaRPr lang="en-US" sz="3000" dirty="0"/>
          </a:p>
        </p:txBody>
      </p:sp>
      <p:sp>
        <p:nvSpPr>
          <p:cNvPr id="6" name="Text 3"/>
          <p:cNvSpPr/>
          <p:nvPr/>
        </p:nvSpPr>
        <p:spPr>
          <a:xfrm>
            <a:off x="640080" y="1417320"/>
            <a:ext cx="10881360" cy="777240"/>
          </a:xfrm>
          <a:prstGeom prst="rect">
            <a:avLst/>
          </a:prstGeom>
          <a:noFill/>
          <a:ln/>
        </p:spPr>
        <p:txBody>
          <a:bodyPr wrap="square" lIns="0" tIns="0" rIns="0" bIns="0" rtlCol="0" anchor="t"/>
          <a:lstStyle/>
          <a:p>
            <a:pPr indent="0" marL="0">
              <a:lnSpc>
                <a:spcPct val="120000"/>
              </a:lnSpc>
              <a:buNone/>
            </a:pPr>
            <a:r>
              <a:rPr lang="en-US" sz="2100" i="1" dirty="0">
                <a:solidFill>
                  <a:srgbClr val="5B6B84"/>
                </a:solidFill>
                <a:latin typeface="Calibri" pitchFamily="34" charset="0"/>
                <a:ea typeface="Calibri" pitchFamily="34" charset="-122"/>
                <a:cs typeface="Calibri" pitchFamily="34" charset="-120"/>
              </a:rPr>
              <a:t>Lesson 18 adds an elevator, Lesson 20 adds an arm — both add a constants block to Constants.java. Merge the first, then the second:</a:t>
            </a:r>
            <a:endParaRPr lang="en-US" sz="2100" dirty="0"/>
          </a:p>
        </p:txBody>
      </p:sp>
      <p:sp>
        <p:nvSpPr>
          <p:cNvPr id="7" name="Shape 4"/>
          <p:cNvSpPr/>
          <p:nvPr/>
        </p:nvSpPr>
        <p:spPr>
          <a:xfrm>
            <a:off x="640080" y="2286000"/>
            <a:ext cx="10881360" cy="1920240"/>
          </a:xfrm>
          <a:prstGeom prst="roundRect">
            <a:avLst>
              <a:gd name="adj" fmla="val 5714"/>
            </a:avLst>
          </a:prstGeom>
          <a:solidFill>
            <a:srgbClr val="0B1F3A"/>
          </a:solidFill>
          <a:ln/>
          <a:effectLst>
            <a:outerShdw sx="100000" sy="100000" kx="0" ky="0" algn="bl" rotWithShape="0" blurRad="101600" dist="38100" dir="5400000">
              <a:srgbClr val="0B1F3A">
                <a:alpha val="35000"/>
              </a:srgbClr>
            </a:outerShdw>
          </a:effectLst>
        </p:spPr>
      </p:sp>
      <p:sp>
        <p:nvSpPr>
          <p:cNvPr id="8" name="Shape 5"/>
          <p:cNvSpPr/>
          <p:nvPr/>
        </p:nvSpPr>
        <p:spPr>
          <a:xfrm>
            <a:off x="11210544" y="2432304"/>
            <a:ext cx="128016" cy="128016"/>
          </a:xfrm>
          <a:prstGeom prst="ellipse">
            <a:avLst/>
          </a:prstGeom>
          <a:solidFill>
            <a:srgbClr val="FF6B6B"/>
          </a:solidFill>
          <a:ln/>
        </p:spPr>
      </p:sp>
      <p:sp>
        <p:nvSpPr>
          <p:cNvPr id="9" name="Shape 6"/>
          <p:cNvSpPr/>
          <p:nvPr/>
        </p:nvSpPr>
        <p:spPr>
          <a:xfrm>
            <a:off x="11210544" y="2633472"/>
            <a:ext cx="128016" cy="128016"/>
          </a:xfrm>
          <a:prstGeom prst="ellipse">
            <a:avLst/>
          </a:prstGeom>
          <a:solidFill>
            <a:srgbClr val="FFD166"/>
          </a:solidFill>
          <a:ln/>
        </p:spPr>
      </p:sp>
      <p:sp>
        <p:nvSpPr>
          <p:cNvPr id="10" name="Shape 7"/>
          <p:cNvSpPr/>
          <p:nvPr/>
        </p:nvSpPr>
        <p:spPr>
          <a:xfrm>
            <a:off x="11210544" y="2834640"/>
            <a:ext cx="128016" cy="128016"/>
          </a:xfrm>
          <a:prstGeom prst="ellipse">
            <a:avLst/>
          </a:prstGeom>
          <a:solidFill>
            <a:srgbClr val="2EC4B6"/>
          </a:solidFill>
          <a:ln/>
        </p:spPr>
      </p:sp>
      <p:sp>
        <p:nvSpPr>
          <p:cNvPr id="11" name="Text 8"/>
          <p:cNvSpPr/>
          <p:nvPr/>
        </p:nvSpPr>
        <p:spPr>
          <a:xfrm>
            <a:off x="914400" y="2487168"/>
            <a:ext cx="10195560" cy="1554480"/>
          </a:xfrm>
          <a:prstGeom prst="rect">
            <a:avLst/>
          </a:prstGeom>
          <a:noFill/>
          <a:ln/>
        </p:spPr>
        <p:txBody>
          <a:bodyPr wrap="square" lIns="0" tIns="0" rIns="0" bIns="0" rtlCol="0" anchor="t"/>
          <a:lstStyle/>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merge lesson-20</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Auto-merging Constants.java</a:t>
            </a:r>
            <a:endParaRPr lang="en-US" sz="1800" dirty="0"/>
          </a:p>
          <a:p>
            <a:pPr indent="0" marL="0">
              <a:lnSpc>
                <a:spcPct val="120000"/>
              </a:lnSpc>
              <a:buNone/>
            </a:pPr>
            <a:r>
              <a:rPr lang="en-US" sz="1800" dirty="0">
                <a:solidFill>
                  <a:srgbClr val="FF8B8B"/>
                </a:solidFill>
                <a:latin typeface="Courier New" pitchFamily="34" charset="0"/>
                <a:ea typeface="Courier New" pitchFamily="34" charset="-122"/>
                <a:cs typeface="Courier New" pitchFamily="34" charset="-120"/>
              </a:rPr>
              <a:t>CONFLICT (content): Merge conflict in Constants.java</a:t>
            </a:r>
            <a:endParaRPr lang="en-US" sz="1800" dirty="0"/>
          </a:p>
          <a:p>
            <a:pPr indent="0" marL="0">
              <a:lnSpc>
                <a:spcPct val="120000"/>
              </a:lnSpc>
              <a:buNone/>
            </a:pPr>
            <a:r>
              <a:rPr lang="en-US" sz="1800" dirty="0">
                <a:solidFill>
                  <a:srgbClr val="FF8B8B"/>
                </a:solidFill>
                <a:latin typeface="Courier New" pitchFamily="34" charset="0"/>
                <a:ea typeface="Courier New" pitchFamily="34" charset="-122"/>
                <a:cs typeface="Courier New" pitchFamily="34" charset="-120"/>
              </a:rPr>
              <a:t>Automatic merge failed; fix conflicts and then commit the result.</a:t>
            </a:r>
            <a:endParaRPr lang="en-US" sz="1800" dirty="0"/>
          </a:p>
        </p:txBody>
      </p:sp>
      <p:sp>
        <p:nvSpPr>
          <p:cNvPr id="12" name="Shape 9"/>
          <p:cNvSpPr/>
          <p:nvPr/>
        </p:nvSpPr>
        <p:spPr>
          <a:xfrm>
            <a:off x="640080" y="4434840"/>
            <a:ext cx="10881360" cy="1417320"/>
          </a:xfrm>
          <a:prstGeom prst="roundRect">
            <a:avLst>
              <a:gd name="adj" fmla="val 6452"/>
            </a:avLst>
          </a:prstGeom>
          <a:solidFill>
            <a:srgbClr val="F3F6FA"/>
          </a:solidFill>
          <a:ln/>
        </p:spPr>
      </p:sp>
      <p:sp>
        <p:nvSpPr>
          <p:cNvPr id="13" name="Text 10"/>
          <p:cNvSpPr/>
          <p:nvPr/>
        </p:nvSpPr>
        <p:spPr>
          <a:xfrm>
            <a:off x="868680" y="4663440"/>
            <a:ext cx="1042416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A conflict isn't an error — it's Git flagging two edits close enough together that it won't guess. Both edits are safe; it's holding them for you.</a:t>
            </a:r>
            <a:endParaRPr lang="en-US" sz="21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eckcirc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RESOLVING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answer is almost never "pick a side"</a:t>
            </a:r>
            <a:endParaRPr lang="en-US" sz="3000" dirty="0"/>
          </a:p>
        </p:txBody>
      </p:sp>
      <p:sp>
        <p:nvSpPr>
          <p:cNvPr id="6" name="Shape 3"/>
          <p:cNvSpPr/>
          <p:nvPr/>
        </p:nvSpPr>
        <p:spPr>
          <a:xfrm>
            <a:off x="640080" y="1371600"/>
            <a:ext cx="10881360" cy="3017520"/>
          </a:xfrm>
          <a:prstGeom prst="roundRect">
            <a:avLst>
              <a:gd name="adj" fmla="val 363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572768"/>
            <a:ext cx="10195560" cy="2651760"/>
          </a:xfrm>
          <a:prstGeom prst="rect">
            <a:avLst/>
          </a:prstGeom>
          <a:noFill/>
          <a:ln/>
        </p:spPr>
        <p:txBody>
          <a:bodyPr wrap="square" lIns="0" tIns="0" rIns="0" bIns="0" rtlCol="0" anchor="t"/>
          <a:lstStyle/>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public final class Constants {</a:t>
            </a:r>
            <a:endParaRPr lang="en-US" sz="1700" dirty="0"/>
          </a:p>
          <a:p>
            <a:pPr indent="0" marL="0">
              <a:lnSpc>
                <a:spcPct val="120000"/>
              </a:lnSpc>
              <a:buNone/>
            </a:pPr>
            <a:r>
              <a:rPr lang="en-US" sz="1700" dirty="0">
                <a:solidFill>
                  <a:srgbClr val="FF8B8B"/>
                </a:solidFill>
                <a:latin typeface="Courier New" pitchFamily="34" charset="0"/>
                <a:ea typeface="Courier New" pitchFamily="34" charset="-122"/>
                <a:cs typeface="Courier New" pitchFamily="34" charset="-120"/>
              </a:rPr>
              <a:t>&lt;&lt;&lt;&lt;&lt;&lt;&lt; HEAD</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public static class ElevatorConstants {</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public static final double kElevatorKG = 0.18;</a:t>
            </a:r>
            <a:endParaRPr lang="en-US" sz="1700" dirty="0"/>
          </a:p>
          <a:p>
            <a:pPr indent="0" marL="0">
              <a:lnSpc>
                <a:spcPct val="120000"/>
              </a:lnSpc>
              <a:buNone/>
            </a:pPr>
            <a:r>
              <a:rPr lang="en-US" sz="1700" dirty="0">
                <a:solidFill>
                  <a:srgbClr val="FF8B8B"/>
                </a:solidFill>
                <a:latin typeface="Courier New" pitchFamily="34" charset="0"/>
                <a:ea typeface="Courier New" pitchFamily="34" charset="-122"/>
                <a:cs typeface="Courier New" pitchFamily="34" charset="-120"/>
              </a:rPr>
              <a:t>=======</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public static class ArmConstants {</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public static final double kArmKG = 0.25;</a:t>
            </a:r>
            <a:endParaRPr lang="en-US" sz="1700" dirty="0"/>
          </a:p>
          <a:p>
            <a:pPr indent="0" marL="0">
              <a:lnSpc>
                <a:spcPct val="120000"/>
              </a:lnSpc>
              <a:buNone/>
            </a:pPr>
            <a:r>
              <a:rPr lang="en-US" sz="1700" dirty="0">
                <a:solidFill>
                  <a:srgbClr val="FF8B8B"/>
                </a:solidFill>
                <a:latin typeface="Courier New" pitchFamily="34" charset="0"/>
                <a:ea typeface="Courier New" pitchFamily="34" charset="-122"/>
                <a:cs typeface="Courier New" pitchFamily="34" charset="-120"/>
              </a:rPr>
              <a:t>&gt;&gt;&gt;&gt;&gt;&gt;&gt; lesson-20</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a:t>
            </a:r>
            <a:endParaRPr lang="en-US" sz="1700" dirty="0"/>
          </a:p>
        </p:txBody>
      </p:sp>
      <p:sp>
        <p:nvSpPr>
          <p:cNvPr id="11" name="Shape 8"/>
          <p:cNvSpPr/>
          <p:nvPr/>
        </p:nvSpPr>
        <p:spPr>
          <a:xfrm>
            <a:off x="640080" y="4526280"/>
            <a:ext cx="10881360" cy="1783080"/>
          </a:xfrm>
          <a:prstGeom prst="roundRect">
            <a:avLst>
              <a:gd name="adj" fmla="val 5128"/>
            </a:avLst>
          </a:prstGeom>
          <a:solidFill>
            <a:srgbClr val="F3F6FA"/>
          </a:solidFill>
          <a:ln/>
        </p:spPr>
      </p:sp>
      <p:sp>
        <p:nvSpPr>
          <p:cNvPr id="12" name="Text 9"/>
          <p:cNvSpPr/>
          <p:nvPr/>
        </p:nvSpPr>
        <p:spPr>
          <a:xfrm>
            <a:off x="868680" y="4754880"/>
            <a:ext cx="10424160" cy="13258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You want the elevator and the arm — both belong in the finished robot. Edit until both blocks are there and the markers are gone, then stage the file and commit. Most conflicts here are two additions landing close together — the fix is keep both, not choose one.</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5"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ithu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ON GITHUB</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pull request is a merge with a conversation</a:t>
            </a:r>
            <a:endParaRPr lang="en-US" sz="3000" dirty="0"/>
          </a:p>
        </p:txBody>
      </p:sp>
      <p:sp>
        <p:nvSpPr>
          <p:cNvPr id="6" name="Shape 3"/>
          <p:cNvSpPr/>
          <p:nvPr/>
        </p:nvSpPr>
        <p:spPr>
          <a:xfrm>
            <a:off x="640080" y="1600200"/>
            <a:ext cx="5212080" cy="1234440"/>
          </a:xfrm>
          <a:prstGeom prst="roundRect">
            <a:avLst>
              <a:gd name="adj" fmla="val 888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5541264" y="1746504"/>
            <a:ext cx="128016" cy="128016"/>
          </a:xfrm>
          <a:prstGeom prst="ellipse">
            <a:avLst/>
          </a:prstGeom>
          <a:solidFill>
            <a:srgbClr val="FF6B6B"/>
          </a:solidFill>
          <a:ln/>
        </p:spPr>
      </p:sp>
      <p:sp>
        <p:nvSpPr>
          <p:cNvPr id="8" name="Shape 5"/>
          <p:cNvSpPr/>
          <p:nvPr/>
        </p:nvSpPr>
        <p:spPr>
          <a:xfrm>
            <a:off x="5541264" y="1947672"/>
            <a:ext cx="128016" cy="128016"/>
          </a:xfrm>
          <a:prstGeom prst="ellipse">
            <a:avLst/>
          </a:prstGeom>
          <a:solidFill>
            <a:srgbClr val="FFD166"/>
          </a:solidFill>
          <a:ln/>
        </p:spPr>
      </p:sp>
      <p:sp>
        <p:nvSpPr>
          <p:cNvPr id="9" name="Shape 6"/>
          <p:cNvSpPr/>
          <p:nvPr/>
        </p:nvSpPr>
        <p:spPr>
          <a:xfrm>
            <a:off x="5541264" y="2148840"/>
            <a:ext cx="128016" cy="128016"/>
          </a:xfrm>
          <a:prstGeom prst="ellipse">
            <a:avLst/>
          </a:prstGeom>
          <a:solidFill>
            <a:srgbClr val="2EC4B6"/>
          </a:solidFill>
          <a:ln/>
        </p:spPr>
      </p:sp>
      <p:sp>
        <p:nvSpPr>
          <p:cNvPr id="10" name="Text 7"/>
          <p:cNvSpPr/>
          <p:nvPr/>
        </p:nvSpPr>
        <p:spPr>
          <a:xfrm>
            <a:off x="914400" y="1801368"/>
            <a:ext cx="4526280" cy="868680"/>
          </a:xfrm>
          <a:prstGeom prst="rect">
            <a:avLst/>
          </a:prstGeom>
          <a:noFill/>
          <a:ln/>
        </p:spPr>
        <p:txBody>
          <a:bodyPr wrap="square" lIns="0" tIns="0" rIns="0" bIns="0" rtlCol="0" anchor="t"/>
          <a:lstStyle/>
          <a:p>
            <a:pPr indent="0" marL="0">
              <a:lnSpc>
                <a:spcPct val="120000"/>
              </a:lnSpc>
              <a:buNone/>
            </a:pPr>
            <a:r>
              <a:rPr lang="en-US" sz="1900" dirty="0">
                <a:solidFill>
                  <a:srgbClr val="9EF01A"/>
                </a:solidFill>
                <a:latin typeface="Courier New" pitchFamily="34" charset="0"/>
                <a:ea typeface="Courier New" pitchFamily="34" charset="-122"/>
                <a:cs typeface="Courier New" pitchFamily="34" charset="-120"/>
              </a:rPr>
              <a:t>git push -u origin lesson-20</a:t>
            </a:r>
            <a:endParaRPr lang="en-US" sz="1900" dirty="0"/>
          </a:p>
        </p:txBody>
      </p:sp>
      <p:sp>
        <p:nvSpPr>
          <p:cNvPr id="11" name="Text 8"/>
          <p:cNvSpPr/>
          <p:nvPr/>
        </p:nvSpPr>
        <p:spPr>
          <a:xfrm>
            <a:off x="640080" y="3017520"/>
            <a:ext cx="5212080" cy="1005840"/>
          </a:xfrm>
          <a:prstGeom prst="rect">
            <a:avLst/>
          </a:prstGeom>
          <a:noFill/>
          <a:ln/>
        </p:spPr>
        <p:txBody>
          <a:bodyPr wrap="square" lIns="0" tIns="0" rIns="0" bIns="0" rtlCol="0" anchor="t"/>
          <a:lstStyle/>
          <a:p>
            <a:pPr indent="0" marL="0">
              <a:lnSpc>
                <a:spcPct val="125000"/>
              </a:lnSpc>
              <a:buNone/>
            </a:pPr>
            <a:r>
              <a:rPr lang="en-US" sz="2000" i="1" dirty="0">
                <a:solidFill>
                  <a:srgbClr val="5B6B84"/>
                </a:solidFill>
                <a:latin typeface="Calibri" pitchFamily="34" charset="0"/>
                <a:ea typeface="Calibri" pitchFamily="34" charset="-122"/>
                <a:cs typeface="Calibri" pitchFamily="34" charset="-120"/>
              </a:rPr>
              <a:t>-u links your branch to GitHub, once — after that, plain push and pull know where to go.</a:t>
            </a:r>
            <a:endParaRPr lang="en-US" sz="2000" dirty="0"/>
          </a:p>
        </p:txBody>
      </p:sp>
      <p:sp>
        <p:nvSpPr>
          <p:cNvPr id="12" name="Shape 9"/>
          <p:cNvSpPr/>
          <p:nvPr/>
        </p:nvSpPr>
        <p:spPr>
          <a:xfrm>
            <a:off x="6172200" y="1600200"/>
            <a:ext cx="5349240" cy="4251960"/>
          </a:xfrm>
          <a:prstGeom prst="roundRect">
            <a:avLst>
              <a:gd name="adj" fmla="val 2151"/>
            </a:avLst>
          </a:prstGeom>
          <a:solidFill>
            <a:srgbClr val="F3F6FA"/>
          </a:solidFill>
          <a:ln/>
        </p:spPr>
      </p:sp>
      <p:sp>
        <p:nvSpPr>
          <p:cNvPr id="13" name="Text 10"/>
          <p:cNvSpPr/>
          <p:nvPr/>
        </p:nvSpPr>
        <p:spPr>
          <a:xfrm>
            <a:off x="6446520" y="1874520"/>
            <a:ext cx="4800600" cy="122872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GitHub offers to open a pull request: a description, a diff, a comment thread.</a:t>
            </a:r>
            <a:endParaRPr lang="en-US" sz="2100" dirty="0"/>
          </a:p>
        </p:txBody>
      </p:sp>
      <p:sp>
        <p:nvSpPr>
          <p:cNvPr id="14" name="Text 11"/>
          <p:cNvSpPr/>
          <p:nvPr/>
        </p:nvSpPr>
        <p:spPr>
          <a:xfrm>
            <a:off x="6446520" y="3103245"/>
            <a:ext cx="4800600" cy="247459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Merging the PR merges the branch on GitHub — your laptop doesn't know yet. After it merges:</a:t>
            </a:r>
            <a:endParaRPr lang="en-US" sz="2000" dirty="0"/>
          </a:p>
          <a:p>
            <a:pPr indent="0" marL="0">
              <a:lnSpc>
                <a:spcPct val="125000"/>
              </a:lnSpc>
              <a:buNone/>
            </a:pPr>
            <a:endParaRPr lang="en-US" sz="2000" dirty="0"/>
          </a:p>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git switch main</a:t>
            </a:r>
            <a:endParaRPr lang="en-US" sz="2000" dirty="0"/>
          </a:p>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git pull</a:t>
            </a:r>
            <a:endParaRPr lang="en-US" sz="2000" dirty="0"/>
          </a:p>
          <a:p>
            <a:pPr indent="0" marL="0">
              <a:lnSpc>
                <a:spcPct val="125000"/>
              </a:lnSpc>
              <a:buNone/>
            </a:pPr>
            <a:endParaRPr lang="en-US" sz="2000" dirty="0"/>
          </a:p>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Now main matches GitHub, and your next branch starts from the real, current state everyone agrees on.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histor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WHEN MERGE ISN'T WHAT YOU WANT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rebase replays your commits on a newer base</a:t>
            </a:r>
            <a:endParaRPr lang="en-US" sz="3000" dirty="0"/>
          </a:p>
        </p:txBody>
      </p:sp>
      <p:sp>
        <p:nvSpPr>
          <p:cNvPr id="6" name="Shape 3"/>
          <p:cNvSpPr/>
          <p:nvPr/>
        </p:nvSpPr>
        <p:spPr>
          <a:xfrm>
            <a:off x="640080" y="1600200"/>
            <a:ext cx="53949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5724144" y="1746504"/>
            <a:ext cx="128016" cy="128016"/>
          </a:xfrm>
          <a:prstGeom prst="ellipse">
            <a:avLst/>
          </a:prstGeom>
          <a:solidFill>
            <a:srgbClr val="FF6B6B"/>
          </a:solidFill>
          <a:ln/>
        </p:spPr>
      </p:sp>
      <p:sp>
        <p:nvSpPr>
          <p:cNvPr id="8" name="Shape 5"/>
          <p:cNvSpPr/>
          <p:nvPr/>
        </p:nvSpPr>
        <p:spPr>
          <a:xfrm>
            <a:off x="5724144" y="1947672"/>
            <a:ext cx="128016" cy="128016"/>
          </a:xfrm>
          <a:prstGeom prst="ellipse">
            <a:avLst/>
          </a:prstGeom>
          <a:solidFill>
            <a:srgbClr val="FFD166"/>
          </a:solidFill>
          <a:ln/>
        </p:spPr>
      </p:sp>
      <p:sp>
        <p:nvSpPr>
          <p:cNvPr id="9" name="Shape 6"/>
          <p:cNvSpPr/>
          <p:nvPr/>
        </p:nvSpPr>
        <p:spPr>
          <a:xfrm>
            <a:off x="5724144" y="2148840"/>
            <a:ext cx="128016" cy="128016"/>
          </a:xfrm>
          <a:prstGeom prst="ellipse">
            <a:avLst/>
          </a:prstGeom>
          <a:solidFill>
            <a:srgbClr val="2EC4B6"/>
          </a:solidFill>
          <a:ln/>
        </p:spPr>
      </p:sp>
      <p:sp>
        <p:nvSpPr>
          <p:cNvPr id="10" name="Text 7"/>
          <p:cNvSpPr/>
          <p:nvPr/>
        </p:nvSpPr>
        <p:spPr>
          <a:xfrm>
            <a:off x="914400" y="1801368"/>
            <a:ext cx="4709160" cy="1920240"/>
          </a:xfrm>
          <a:prstGeom prst="rect">
            <a:avLst/>
          </a:prstGeom>
          <a:noFill/>
          <a:ln/>
        </p:spPr>
        <p:txBody>
          <a:bodyPr wrap="square" lIns="0" tIns="0" rIns="0" bIns="0" rtlCol="0" anchor="t"/>
          <a:lstStyle/>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git switch lesson-21</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git rebase main</a:t>
            </a:r>
            <a:endParaRPr lang="en-US" sz="1600" dirty="0"/>
          </a:p>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Auto-merging Constants.java</a:t>
            </a:r>
            <a:endParaRPr lang="en-US" sz="1600" dirty="0"/>
          </a:p>
          <a:p>
            <a:pPr indent="0" marL="0">
              <a:lnSpc>
                <a:spcPct val="120000"/>
              </a:lnSpc>
              <a:buNone/>
            </a:pPr>
            <a:r>
              <a:rPr lang="en-US" sz="1600" dirty="0">
                <a:solidFill>
                  <a:srgbClr val="FF8B8B"/>
                </a:solidFill>
                <a:latin typeface="Courier New" pitchFamily="34" charset="0"/>
                <a:ea typeface="Courier New" pitchFamily="34" charset="-122"/>
                <a:cs typeface="Courier New" pitchFamily="34" charset="-120"/>
              </a:rPr>
              <a:t>CONFLICT (content): Merge conflict</a:t>
            </a:r>
            <a:endParaRPr lang="en-US" sz="1600" dirty="0"/>
          </a:p>
          <a:p>
            <a:pPr indent="0" marL="0">
              <a:lnSpc>
                <a:spcPct val="120000"/>
              </a:lnSpc>
              <a:buNone/>
            </a:pPr>
            <a:r>
              <a:rPr lang="en-US" sz="1600" dirty="0">
                <a:solidFill>
                  <a:srgbClr val="FF8B8B"/>
                </a:solidFill>
                <a:latin typeface="Courier New" pitchFamily="34" charset="0"/>
                <a:ea typeface="Courier New" pitchFamily="34" charset="-122"/>
                <a:cs typeface="Courier New" pitchFamily="34" charset="-120"/>
              </a:rPr>
              <a:t>in Constants.java</a:t>
            </a:r>
            <a:endParaRPr lang="en-US" sz="1600" dirty="0"/>
          </a:p>
        </p:txBody>
      </p:sp>
      <p:sp>
        <p:nvSpPr>
          <p:cNvPr id="11" name="Shape 8"/>
          <p:cNvSpPr/>
          <p:nvPr/>
        </p:nvSpPr>
        <p:spPr>
          <a:xfrm>
            <a:off x="6263640" y="1600200"/>
            <a:ext cx="5257800" cy="2286000"/>
          </a:xfrm>
          <a:prstGeom prst="roundRect">
            <a:avLst>
              <a:gd name="adj" fmla="val 4800"/>
            </a:avLst>
          </a:prstGeom>
          <a:solidFill>
            <a:srgbClr val="132A4C"/>
          </a:solidFill>
          <a:ln/>
        </p:spPr>
      </p:sp>
      <p:sp>
        <p:nvSpPr>
          <p:cNvPr id="12" name="Text 9"/>
          <p:cNvSpPr/>
          <p:nvPr/>
        </p:nvSpPr>
        <p:spPr>
          <a:xfrm>
            <a:off x="6537960" y="1810512"/>
            <a:ext cx="4709160" cy="365760"/>
          </a:xfrm>
          <a:prstGeom prst="rect">
            <a:avLst/>
          </a:prstGeom>
          <a:noFill/>
          <a:ln/>
        </p:spPr>
        <p:txBody>
          <a:bodyPr wrap="square" lIns="0" tIns="0" rIns="0" bIns="0" rtlCol="0" anchor="ctr"/>
          <a:lstStyle/>
          <a:p>
            <a:pPr indent="0" marL="0">
              <a:buNone/>
            </a:pPr>
            <a:r>
              <a:rPr lang="en-US" sz="2000" b="1" spc="30" kern="0" dirty="0">
                <a:solidFill>
                  <a:srgbClr val="FF5010"/>
                </a:solidFill>
                <a:latin typeface="Calibri" pitchFamily="34" charset="0"/>
                <a:ea typeface="Calibri" pitchFamily="34" charset="-122"/>
                <a:cs typeface="Calibri" pitchFamily="34" charset="-120"/>
              </a:rPr>
              <a:t>THE ONE GENUINELY CONFUSING TWIST</a:t>
            </a:r>
            <a:endParaRPr lang="en-US" sz="2000" dirty="0"/>
          </a:p>
        </p:txBody>
      </p:sp>
      <p:sp>
        <p:nvSpPr>
          <p:cNvPr id="13" name="Text 10"/>
          <p:cNvSpPr/>
          <p:nvPr/>
        </p:nvSpPr>
        <p:spPr>
          <a:xfrm>
            <a:off x="6537960" y="2286000"/>
            <a:ext cx="4709160" cy="150876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HEAD is main here — not you. Rebase already moved you onto main and is replaying your commit as the incoming change. Read the labels, not the positions.</a:t>
            </a:r>
            <a:endParaRPr lang="en-US" sz="2000" dirty="0"/>
          </a:p>
        </p:txBody>
      </p:sp>
      <p:sp>
        <p:nvSpPr>
          <p:cNvPr id="14" name="Shape 11"/>
          <p:cNvSpPr/>
          <p:nvPr/>
        </p:nvSpPr>
        <p:spPr>
          <a:xfrm>
            <a:off x="640080" y="4114800"/>
            <a:ext cx="10881360" cy="1965960"/>
          </a:xfrm>
          <a:prstGeom prst="roundRect">
            <a:avLst>
              <a:gd name="adj" fmla="val 5581"/>
            </a:avLst>
          </a:prstGeom>
          <a:solidFill>
            <a:srgbClr val="132A4C"/>
          </a:solidFill>
          <a:ln/>
        </p:spPr>
      </p:sp>
      <p:sp>
        <p:nvSpPr>
          <p:cNvPr id="15" name="Text 12"/>
          <p:cNvSpPr/>
          <p:nvPr/>
        </p:nvSpPr>
        <p:spPr>
          <a:xfrm>
            <a:off x="914400" y="4297680"/>
            <a:ext cx="10332720" cy="640080"/>
          </a:xfrm>
          <a:prstGeom prst="rect">
            <a:avLst/>
          </a:prstGeom>
          <a:noFill/>
          <a:ln/>
        </p:spPr>
        <p:txBody>
          <a:bodyPr wrap="square" lIns="0" tIns="0" rIns="0" bIns="0" rtlCol="0" anchor="t"/>
          <a:lstStyle/>
          <a:p>
            <a:pPr indent="0" marL="0">
              <a:lnSpc>
                <a:spcPct val="125000"/>
              </a:lnSpc>
              <a:buNone/>
            </a:pPr>
            <a:r>
              <a:rPr lang="en-US" sz="2100" dirty="0">
                <a:solidFill>
                  <a:srgbClr val="D7E3F4"/>
                </a:solidFill>
                <a:latin typeface="Calibri" pitchFamily="34" charset="0"/>
                <a:ea typeface="Calibri" pitchFamily="34" charset="-122"/>
                <a:cs typeface="Calibri" pitchFamily="34" charset="-120"/>
              </a:rPr>
              <a:t>Resolve it the same way — edit, keep both, git add, then git rebase --continue. Notice the commit hash changes when it's done.</a:t>
            </a:r>
            <a:endParaRPr lang="en-US" sz="2100" dirty="0"/>
          </a:p>
        </p:txBody>
      </p:sp>
      <p:sp>
        <p:nvSpPr>
          <p:cNvPr id="16" name="Text 13"/>
          <p:cNvSpPr/>
          <p:nvPr/>
        </p:nvSpPr>
        <p:spPr>
          <a:xfrm>
            <a:off x="914400" y="4983480"/>
            <a:ext cx="10332720" cy="960120"/>
          </a:xfrm>
          <a:prstGeom prst="rect">
            <a:avLst/>
          </a:prstGeom>
          <a:noFill/>
          <a:ln/>
        </p:spPr>
        <p:txBody>
          <a:bodyPr wrap="square" lIns="0" tIns="0" rIns="0" bIns="0" rtlCol="0" anchor="t"/>
          <a:lstStyle/>
          <a:p>
            <a:pPr indent="0" marL="0">
              <a:lnSpc>
                <a:spcPct val="125000"/>
              </a:lnSpc>
              <a:buNone/>
            </a:pPr>
            <a:r>
              <a:rPr lang="en-US" sz="2100" i="1" dirty="0">
                <a:solidFill>
                  <a:srgbClr val="FF5010"/>
                </a:solidFill>
                <a:latin typeface="Cambria" pitchFamily="34" charset="0"/>
                <a:ea typeface="Cambria" pitchFamily="34" charset="-122"/>
                <a:cs typeface="Cambria" pitchFamily="34" charset="-120"/>
              </a:rPr>
              <a:t>Never rebase commits you've already pushed and someone else has pulled — the rewritten hashes leave anyone who has the old ones with a history that disagrees with yours.</a:t>
            </a:r>
            <a:endParaRPr lang="en-US" sz="21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9"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SO WHICH DO I USE?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Rebase to update, merge to deliver</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REBASE</a:t>
            </a:r>
            <a:endParaRPr lang="en-US" sz="2000" dirty="0"/>
          </a:p>
        </p:txBody>
      </p:sp>
      <p:sp>
        <p:nvSpPr>
          <p:cNvPr id="8" name="Text 5"/>
          <p:cNvSpPr/>
          <p:nvPr/>
        </p:nvSpPr>
        <p:spPr>
          <a:xfrm>
            <a:off x="914400" y="233172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Update your own in-progress branch onto a newer main.</a:t>
            </a:r>
            <a:endParaRPr lang="en-US" sz="2200" dirty="0"/>
          </a:p>
        </p:txBody>
      </p:sp>
      <p:sp>
        <p:nvSpPr>
          <p:cNvPr id="9" name="Text 6"/>
          <p:cNvSpPr/>
          <p:nvPr/>
        </p:nvSpPr>
        <p:spPr>
          <a:xfrm>
            <a:off x="914400" y="3258820"/>
            <a:ext cx="4800600" cy="23190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Safe because nobody else has your commits yet. It keeps your history a straight, readable line instead of a knot of bookkeeping merges.</a:t>
            </a:r>
            <a:endParaRPr lang="en-US" sz="2000" dirty="0"/>
          </a:p>
        </p:txBody>
      </p:sp>
      <p:sp>
        <p:nvSpPr>
          <p:cNvPr id="10" name="Shape 7"/>
          <p:cNvSpPr/>
          <p:nvPr/>
        </p:nvSpPr>
        <p:spPr>
          <a:xfrm>
            <a:off x="6172200" y="1600200"/>
            <a:ext cx="5349240" cy="4251960"/>
          </a:xfrm>
          <a:prstGeom prst="roundRect">
            <a:avLst>
              <a:gd name="adj" fmla="val 2151"/>
            </a:avLst>
          </a:prstGeom>
          <a:solidFill>
            <a:srgbClr val="0B1F3A"/>
          </a:solidFill>
          <a:ln/>
        </p:spPr>
      </p:sp>
      <p:sp>
        <p:nvSpPr>
          <p:cNvPr id="11" name="Text 8"/>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MERGE</a:t>
            </a:r>
            <a:endParaRPr lang="en-US" sz="2000" dirty="0"/>
          </a:p>
        </p:txBody>
      </p:sp>
      <p:sp>
        <p:nvSpPr>
          <p:cNvPr id="12" name="Text 9"/>
          <p:cNvSpPr/>
          <p:nvPr/>
        </p:nvSpPr>
        <p:spPr>
          <a:xfrm>
            <a:off x="6446520" y="233172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Deliver a finished branch into main.</a:t>
            </a:r>
            <a:endParaRPr lang="en-US" sz="2200" dirty="0"/>
          </a:p>
        </p:txBody>
      </p:sp>
      <p:sp>
        <p:nvSpPr>
          <p:cNvPr id="13" name="Text 10"/>
          <p:cNvSpPr/>
          <p:nvPr/>
        </p:nvSpPr>
        <p:spPr>
          <a:xfrm>
            <a:off x="6446520" y="3258820"/>
            <a:ext cx="4800600" cy="23190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Records the honest fact that two pieces of work happened independently and came together — exactly the diamond a merged conflict leaves behind.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2240280"/>
            <a:ext cx="5303520" cy="1828800"/>
          </a:xfrm>
          <a:prstGeom prst="roundRect">
            <a:avLst>
              <a:gd name="adj" fmla="val 6000"/>
            </a:avLst>
          </a:prstGeom>
          <a:solidFill>
            <a:srgbClr val="132A4C"/>
          </a:solidFill>
          <a:ln/>
        </p:spPr>
      </p:sp>
      <p:sp>
        <p:nvSpPr>
          <p:cNvPr id="7" name="Shape 4"/>
          <p:cNvSpPr/>
          <p:nvPr/>
        </p:nvSpPr>
        <p:spPr>
          <a:xfrm>
            <a:off x="960120" y="2514600"/>
            <a:ext cx="502920" cy="502920"/>
          </a:xfrm>
          <a:prstGeom prst="ellipse">
            <a:avLst/>
          </a:prstGeom>
          <a:solidFill>
            <a:srgbClr val="1B9AAA"/>
          </a:solidFill>
          <a:ln/>
        </p:spPr>
      </p:sp>
      <p:sp>
        <p:nvSpPr>
          <p:cNvPr id="8" name="Text 5"/>
          <p:cNvSpPr/>
          <p:nvPr/>
        </p:nvSpPr>
        <p:spPr>
          <a:xfrm>
            <a:off x="96012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960120" y="3200400"/>
            <a:ext cx="4663440" cy="731520"/>
          </a:xfrm>
          <a:prstGeom prst="rect">
            <a:avLst/>
          </a:prstGeom>
          <a:noFill/>
          <a:ln/>
        </p:spPr>
        <p:txBody>
          <a:bodyPr wrap="square" lIns="0" tIns="0" rIns="0" bIns="0" rtlCol="0" anchor="t"/>
          <a:lstStyle/>
          <a:p>
            <a:pPr indent="0" marL="0">
              <a:lnSpc>
                <a:spcPct val="110000"/>
              </a:lnSpc>
              <a:buNone/>
            </a:pPr>
            <a:r>
              <a:rPr lang="en-US" sz="2100" b="1" dirty="0">
                <a:solidFill>
                  <a:srgbClr val="FFFFFF"/>
                </a:solidFill>
                <a:latin typeface="Cambria" pitchFamily="34" charset="0"/>
                <a:ea typeface="Cambria" pitchFamily="34" charset="-122"/>
                <a:cs typeface="Cambria" pitchFamily="34" charset="-120"/>
              </a:rPr>
              <a:t>Cause a conflict on purpose</a:t>
            </a:r>
            <a:endParaRPr lang="en-US" sz="2100" dirty="0"/>
          </a:p>
        </p:txBody>
      </p:sp>
      <p:sp>
        <p:nvSpPr>
          <p:cNvPr id="10" name="Text 7"/>
          <p:cNvSpPr/>
          <p:nvPr/>
        </p:nvSpPr>
        <p:spPr>
          <a:xfrm>
            <a:off x="960120" y="3840480"/>
            <a:ext cx="4663440" cy="137160"/>
          </a:xfrm>
          <a:prstGeom prst="rect">
            <a:avLst/>
          </a:prstGeom>
          <a:noFill/>
          <a:ln/>
        </p:spPr>
        <p:txBody>
          <a:bodyPr wrap="square" lIns="0" tIns="0" rIns="0" bIns="0" rtlCol="0" anchor="t"/>
          <a:lstStyle/>
          <a:p>
            <a:pPr indent="0" marL="0">
              <a:lnSpc>
                <a:spcPct val="120000"/>
              </a:lnSpc>
              <a:buNone/>
            </a:pPr>
            <a:r>
              <a:rPr lang="en-US" sz="1800" dirty="0">
                <a:solidFill>
                  <a:srgbClr val="CADCE8"/>
                </a:solidFill>
                <a:latin typeface="Calibri" pitchFamily="34" charset="0"/>
                <a:ea typeface="Calibri" pitchFamily="34" charset="-122"/>
                <a:cs typeface="Calibri" pitchFamily="34" charset="-120"/>
              </a:rPr>
              <a:t>Two branches off main, both changing the same line. Merge the first, then the second — read the markers before resolving.</a:t>
            </a:r>
            <a:endParaRPr lang="en-US" sz="1800" dirty="0"/>
          </a:p>
        </p:txBody>
      </p:sp>
      <p:sp>
        <p:nvSpPr>
          <p:cNvPr id="11" name="Shape 8"/>
          <p:cNvSpPr/>
          <p:nvPr/>
        </p:nvSpPr>
        <p:spPr>
          <a:xfrm>
            <a:off x="6217920" y="2240280"/>
            <a:ext cx="5303520" cy="1828800"/>
          </a:xfrm>
          <a:prstGeom prst="roundRect">
            <a:avLst>
              <a:gd name="adj" fmla="val 6000"/>
            </a:avLst>
          </a:prstGeom>
          <a:solidFill>
            <a:srgbClr val="132A4C"/>
          </a:solidFill>
          <a:ln/>
        </p:spPr>
      </p:sp>
      <p:sp>
        <p:nvSpPr>
          <p:cNvPr id="12" name="Shape 9"/>
          <p:cNvSpPr/>
          <p:nvPr/>
        </p:nvSpPr>
        <p:spPr>
          <a:xfrm>
            <a:off x="6537960" y="2514600"/>
            <a:ext cx="502920" cy="502920"/>
          </a:xfrm>
          <a:prstGeom prst="ellipse">
            <a:avLst/>
          </a:prstGeom>
          <a:solidFill>
            <a:srgbClr val="1B9AAA"/>
          </a:solidFill>
          <a:ln/>
        </p:spPr>
      </p:sp>
      <p:sp>
        <p:nvSpPr>
          <p:cNvPr id="13" name="Text 10"/>
          <p:cNvSpPr/>
          <p:nvPr/>
        </p:nvSpPr>
        <p:spPr>
          <a:xfrm>
            <a:off x="653796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6537960" y="3200400"/>
            <a:ext cx="4663440" cy="731520"/>
          </a:xfrm>
          <a:prstGeom prst="rect">
            <a:avLst/>
          </a:prstGeom>
          <a:noFill/>
          <a:ln/>
        </p:spPr>
        <p:txBody>
          <a:bodyPr wrap="square" lIns="0" tIns="0" rIns="0" bIns="0" rtlCol="0" anchor="t"/>
          <a:lstStyle/>
          <a:p>
            <a:pPr indent="0" marL="0">
              <a:lnSpc>
                <a:spcPct val="110000"/>
              </a:lnSpc>
              <a:buNone/>
            </a:pPr>
            <a:r>
              <a:rPr lang="en-US" sz="2100" b="1" dirty="0">
                <a:solidFill>
                  <a:srgbClr val="FFFFFF"/>
                </a:solidFill>
                <a:latin typeface="Cambria" pitchFamily="34" charset="0"/>
                <a:ea typeface="Cambria" pitchFamily="34" charset="-122"/>
                <a:cs typeface="Cambria" pitchFamily="34" charset="-120"/>
              </a:rPr>
              <a:t>Then abort one</a:t>
            </a:r>
            <a:endParaRPr lang="en-US" sz="2100" dirty="0"/>
          </a:p>
        </p:txBody>
      </p:sp>
      <p:sp>
        <p:nvSpPr>
          <p:cNvPr id="15" name="Text 12"/>
          <p:cNvSpPr/>
          <p:nvPr/>
        </p:nvSpPr>
        <p:spPr>
          <a:xfrm>
            <a:off x="6537960" y="3840480"/>
            <a:ext cx="4663440" cy="137160"/>
          </a:xfrm>
          <a:prstGeom prst="rect">
            <a:avLst/>
          </a:prstGeom>
          <a:noFill/>
          <a:ln/>
        </p:spPr>
        <p:txBody>
          <a:bodyPr wrap="square" lIns="0" tIns="0" rIns="0" bIns="0" rtlCol="0" anchor="t"/>
          <a:lstStyle/>
          <a:p>
            <a:pPr indent="0" marL="0">
              <a:lnSpc>
                <a:spcPct val="120000"/>
              </a:lnSpc>
              <a:buNone/>
            </a:pPr>
            <a:r>
              <a:rPr lang="en-US" sz="1800" dirty="0">
                <a:solidFill>
                  <a:srgbClr val="CADCE8"/>
                </a:solidFill>
                <a:latin typeface="Calibri" pitchFamily="34" charset="0"/>
                <a:ea typeface="Calibri" pitchFamily="34" charset="-122"/>
                <a:cs typeface="Calibri" pitchFamily="34" charset="-120"/>
              </a:rPr>
              <a:t>Do it again, but run git merge --abort at the conflict. Confirm with git status that nothing happened at all.</a:t>
            </a:r>
            <a:endParaRPr lang="en-US" sz="1800" dirty="0"/>
          </a:p>
        </p:txBody>
      </p:sp>
      <p:sp>
        <p:nvSpPr>
          <p:cNvPr id="16" name="Shape 13"/>
          <p:cNvSpPr/>
          <p:nvPr/>
        </p:nvSpPr>
        <p:spPr>
          <a:xfrm>
            <a:off x="640080" y="4343400"/>
            <a:ext cx="5303520" cy="1828800"/>
          </a:xfrm>
          <a:prstGeom prst="roundRect">
            <a:avLst>
              <a:gd name="adj" fmla="val 6000"/>
            </a:avLst>
          </a:prstGeom>
          <a:solidFill>
            <a:srgbClr val="132A4C"/>
          </a:solidFill>
          <a:ln/>
        </p:spPr>
      </p:sp>
      <p:sp>
        <p:nvSpPr>
          <p:cNvPr id="17" name="Shape 14"/>
          <p:cNvSpPr/>
          <p:nvPr/>
        </p:nvSpPr>
        <p:spPr>
          <a:xfrm>
            <a:off x="960120" y="4617720"/>
            <a:ext cx="502920" cy="502920"/>
          </a:xfrm>
          <a:prstGeom prst="ellipse">
            <a:avLst/>
          </a:prstGeom>
          <a:solidFill>
            <a:srgbClr val="1B9AAA"/>
          </a:solidFill>
          <a:ln/>
        </p:spPr>
      </p:sp>
      <p:sp>
        <p:nvSpPr>
          <p:cNvPr id="18" name="Text 15"/>
          <p:cNvSpPr/>
          <p:nvPr/>
        </p:nvSpPr>
        <p:spPr>
          <a:xfrm>
            <a:off x="960120" y="4617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960120" y="5303520"/>
            <a:ext cx="4663440" cy="731520"/>
          </a:xfrm>
          <a:prstGeom prst="rect">
            <a:avLst/>
          </a:prstGeom>
          <a:noFill/>
          <a:ln/>
        </p:spPr>
        <p:txBody>
          <a:bodyPr wrap="square" lIns="0" tIns="0" rIns="0" bIns="0" rtlCol="0" anchor="t"/>
          <a:lstStyle/>
          <a:p>
            <a:pPr indent="0" marL="0">
              <a:lnSpc>
                <a:spcPct val="110000"/>
              </a:lnSpc>
              <a:buNone/>
            </a:pPr>
            <a:r>
              <a:rPr lang="en-US" sz="2100" b="1" dirty="0">
                <a:solidFill>
                  <a:srgbClr val="FFFFFF"/>
                </a:solidFill>
                <a:latin typeface="Cambria" pitchFamily="34" charset="0"/>
                <a:ea typeface="Cambria" pitchFamily="34" charset="-122"/>
                <a:cs typeface="Cambria" pitchFamily="34" charset="-120"/>
              </a:rPr>
              <a:t>Rebase the same scenario</a:t>
            </a:r>
            <a:endParaRPr lang="en-US" sz="2100" dirty="0"/>
          </a:p>
        </p:txBody>
      </p:sp>
      <p:sp>
        <p:nvSpPr>
          <p:cNvPr id="20" name="Text 17"/>
          <p:cNvSpPr/>
          <p:nvPr/>
        </p:nvSpPr>
        <p:spPr>
          <a:xfrm>
            <a:off x="960120" y="5943600"/>
            <a:ext cx="4663440" cy="137160"/>
          </a:xfrm>
          <a:prstGeom prst="rect">
            <a:avLst/>
          </a:prstGeom>
          <a:noFill/>
          <a:ln/>
        </p:spPr>
        <p:txBody>
          <a:bodyPr wrap="square" lIns="0" tIns="0" rIns="0" bIns="0" rtlCol="0" anchor="t"/>
          <a:lstStyle/>
          <a:p>
            <a:pPr indent="0" marL="0">
              <a:lnSpc>
                <a:spcPct val="120000"/>
              </a:lnSpc>
              <a:buNone/>
            </a:pPr>
            <a:r>
              <a:rPr lang="en-US" sz="1800" dirty="0">
                <a:solidFill>
                  <a:srgbClr val="CADCE8"/>
                </a:solidFill>
                <a:latin typeface="Calibri" pitchFamily="34" charset="0"/>
                <a:ea typeface="Calibri" pitchFamily="34" charset="-122"/>
                <a:cs typeface="Calibri" pitchFamily="34" charset="-120"/>
              </a:rPr>
              <a:t>Set it up a third time, but rebase instead of merging. Compare the graph — same files, a different story about how they got there.</a:t>
            </a:r>
            <a:endParaRPr lang="en-US" sz="1800" dirty="0"/>
          </a:p>
        </p:txBody>
      </p:sp>
      <p:sp>
        <p:nvSpPr>
          <p:cNvPr id="21" name="Shape 18"/>
          <p:cNvSpPr/>
          <p:nvPr/>
        </p:nvSpPr>
        <p:spPr>
          <a:xfrm>
            <a:off x="6217920" y="4343400"/>
            <a:ext cx="5303520" cy="1828800"/>
          </a:xfrm>
          <a:prstGeom prst="roundRect">
            <a:avLst>
              <a:gd name="adj" fmla="val 6000"/>
            </a:avLst>
          </a:prstGeom>
          <a:solidFill>
            <a:srgbClr val="132A4C"/>
          </a:solidFill>
          <a:ln/>
        </p:spPr>
      </p:sp>
      <p:sp>
        <p:nvSpPr>
          <p:cNvPr id="22" name="Shape 19"/>
          <p:cNvSpPr/>
          <p:nvPr/>
        </p:nvSpPr>
        <p:spPr>
          <a:xfrm>
            <a:off x="6537960" y="4617720"/>
            <a:ext cx="502920" cy="502920"/>
          </a:xfrm>
          <a:prstGeom prst="ellipse">
            <a:avLst/>
          </a:prstGeom>
          <a:solidFill>
            <a:srgbClr val="1B9AAA"/>
          </a:solidFill>
          <a:ln/>
        </p:spPr>
      </p:sp>
      <p:sp>
        <p:nvSpPr>
          <p:cNvPr id="23" name="Text 20"/>
          <p:cNvSpPr/>
          <p:nvPr/>
        </p:nvSpPr>
        <p:spPr>
          <a:xfrm>
            <a:off x="6537960" y="4617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4" name="Text 21"/>
          <p:cNvSpPr/>
          <p:nvPr/>
        </p:nvSpPr>
        <p:spPr>
          <a:xfrm>
            <a:off x="6537960" y="5303520"/>
            <a:ext cx="4663440" cy="731520"/>
          </a:xfrm>
          <a:prstGeom prst="rect">
            <a:avLst/>
          </a:prstGeom>
          <a:noFill/>
          <a:ln/>
        </p:spPr>
        <p:txBody>
          <a:bodyPr wrap="square" lIns="0" tIns="0" rIns="0" bIns="0" rtlCol="0" anchor="t"/>
          <a:lstStyle/>
          <a:p>
            <a:pPr indent="0" marL="0">
              <a:lnSpc>
                <a:spcPct val="110000"/>
              </a:lnSpc>
              <a:buNone/>
            </a:pPr>
            <a:r>
              <a:rPr lang="en-US" sz="2100" b="1" dirty="0">
                <a:solidFill>
                  <a:srgbClr val="FFFFFF"/>
                </a:solidFill>
                <a:latin typeface="Cambria" pitchFamily="34" charset="0"/>
                <a:ea typeface="Cambria" pitchFamily="34" charset="-122"/>
                <a:cs typeface="Cambria" pitchFamily="34" charset="-120"/>
              </a:rPr>
              <a:t>Do a real lesson on a branch</a:t>
            </a:r>
            <a:endParaRPr lang="en-US" sz="2100" dirty="0"/>
          </a:p>
        </p:txBody>
      </p:sp>
      <p:sp>
        <p:nvSpPr>
          <p:cNvPr id="25" name="Text 22"/>
          <p:cNvSpPr/>
          <p:nvPr/>
        </p:nvSpPr>
        <p:spPr>
          <a:xfrm>
            <a:off x="6537960" y="5943600"/>
            <a:ext cx="4663440" cy="137160"/>
          </a:xfrm>
          <a:prstGeom prst="rect">
            <a:avLst/>
          </a:prstGeom>
          <a:noFill/>
          <a:ln/>
        </p:spPr>
        <p:txBody>
          <a:bodyPr wrap="square" lIns="0" tIns="0" rIns="0" bIns="0" rtlCol="0" anchor="t"/>
          <a:lstStyle/>
          <a:p>
            <a:pPr indent="0" marL="0">
              <a:lnSpc>
                <a:spcPct val="120000"/>
              </a:lnSpc>
              <a:buNone/>
            </a:pPr>
            <a:r>
              <a:rPr lang="en-US" sz="1800" dirty="0">
                <a:solidFill>
                  <a:srgbClr val="CADCE8"/>
                </a:solidFill>
                <a:latin typeface="Calibri" pitchFamily="34" charset="0"/>
                <a:ea typeface="Calibri" pitchFamily="34" charset="-122"/>
                <a:cs typeface="Calibri" pitchFamily="34" charset="-120"/>
              </a:rPr>
              <a:t>switch -c, work, commit, switch main, merge, branch -d. Push it and open a pull request against your own repo before merging.</a:t>
            </a:r>
            <a:endParaRPr lang="en-US" sz="18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8" name="Image 1" descr="/home/user/BasicRobotLessons/docs/presentations/v3/template/assets/logo/team5010-logo.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label, not a copy</a:t>
            </a:r>
            <a:endParaRPr lang="en-US" sz="3000" dirty="0"/>
          </a:p>
        </p:txBody>
      </p:sp>
      <p:sp>
        <p:nvSpPr>
          <p:cNvPr id="6" name="Text 3"/>
          <p:cNvSpPr/>
          <p:nvPr/>
        </p:nvSpPr>
        <p:spPr>
          <a:xfrm>
            <a:off x="640080" y="1600200"/>
            <a:ext cx="6309360" cy="35661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2100" dirty="0">
                <a:solidFill>
                  <a:srgbClr val="13294B"/>
                </a:solidFill>
                <a:latin typeface="Calibri" pitchFamily="34" charset="0"/>
                <a:ea typeface="Calibri" pitchFamily="34" charset="-122"/>
                <a:cs typeface="Calibri" pitchFamily="34" charset="-120"/>
              </a:rPr>
              <a:t>A branch is a label on a commit — free to create, instant to switch.</a:t>
            </a:r>
            <a:endParaRPr lang="en-US" sz="2100" dirty="0"/>
          </a:p>
          <a:p>
            <a:pPr marL="342900" indent="-342900">
              <a:lnSpc>
                <a:spcPct val="120000"/>
              </a:lnSpc>
              <a:spcAft>
                <a:spcPts val="1200"/>
              </a:spcAft>
              <a:buSzPct val="100000"/>
              <a:buChar char="•"/>
            </a:pPr>
            <a:r>
              <a:rPr lang="en-US" sz="2100" dirty="0">
                <a:solidFill>
                  <a:srgbClr val="13294B"/>
                </a:solidFill>
                <a:latin typeface="Calibri" pitchFamily="34" charset="0"/>
                <a:ea typeface="Calibri" pitchFamily="34" charset="-122"/>
                <a:cs typeface="Calibri" pitchFamily="34" charset="-120"/>
              </a:rPr>
              <a:t>The loop: switch -c → work → commit → switch main → merge → branch -d.</a:t>
            </a:r>
            <a:endParaRPr lang="en-US" sz="2100" dirty="0"/>
          </a:p>
          <a:p>
            <a:pPr marL="342900" indent="-342900">
              <a:lnSpc>
                <a:spcPct val="120000"/>
              </a:lnSpc>
              <a:spcAft>
                <a:spcPts val="1200"/>
              </a:spcAft>
              <a:buSzPct val="100000"/>
              <a:buChar char="•"/>
            </a:pPr>
            <a:r>
              <a:rPr lang="en-US" sz="2100" dirty="0">
                <a:solidFill>
                  <a:srgbClr val="13294B"/>
                </a:solidFill>
                <a:latin typeface="Calibri" pitchFamily="34" charset="0"/>
                <a:ea typeface="Calibri" pitchFamily="34" charset="-122"/>
                <a:cs typeface="Calibri" pitchFamily="34" charset="-120"/>
              </a:rPr>
              <a:t>A conflict is Git refusing to guess, not Git breaking — read HEAD and the incoming side, and keep both when in doubt.</a:t>
            </a:r>
            <a:endParaRPr lang="en-US" sz="2100" dirty="0"/>
          </a:p>
        </p:txBody>
      </p:sp>
      <p:sp>
        <p:nvSpPr>
          <p:cNvPr id="7" name="Text 4"/>
          <p:cNvSpPr/>
          <p:nvPr/>
        </p:nvSpPr>
        <p:spPr>
          <a:xfrm>
            <a:off x="640080" y="5120640"/>
            <a:ext cx="6309360" cy="1005840"/>
          </a:xfrm>
          <a:prstGeom prst="rect">
            <a:avLst/>
          </a:prstGeom>
          <a:noFill/>
          <a:ln/>
        </p:spPr>
        <p:txBody>
          <a:bodyPr wrap="square" lIns="0" tIns="0" rIns="0" bIns="0" rtlCol="0" anchor="t"/>
          <a:lstStyle/>
          <a:p>
            <a:pPr indent="0" marL="0">
              <a:lnSpc>
                <a:spcPct val="125000"/>
              </a:lnSpc>
              <a:buNone/>
            </a:pPr>
            <a:r>
              <a:rPr lang="en-US" sz="2000" i="1" dirty="0">
                <a:solidFill>
                  <a:srgbClr val="5B6B84"/>
                </a:solidFill>
                <a:latin typeface="Cambria" pitchFamily="34" charset="0"/>
                <a:ea typeface="Cambria" pitchFamily="34" charset="-122"/>
                <a:cs typeface="Cambria" pitchFamily="34" charset="-120"/>
              </a:rPr>
              <a:t>rebase replays commits onto a newer base; merge records that two lines of work joined. Rebase your own; merge what's shared.</a:t>
            </a:r>
            <a:endParaRPr lang="en-US" sz="2000" dirty="0"/>
          </a:p>
        </p:txBody>
      </p:sp>
      <p:sp>
        <p:nvSpPr>
          <p:cNvPr id="8" name="Shape 5"/>
          <p:cNvSpPr/>
          <p:nvPr/>
        </p:nvSpPr>
        <p:spPr>
          <a:xfrm>
            <a:off x="7269480" y="1600200"/>
            <a:ext cx="4297680" cy="4434840"/>
          </a:xfrm>
          <a:prstGeom prst="roundRect">
            <a:avLst>
              <a:gd name="adj" fmla="val 2553"/>
            </a:avLst>
          </a:prstGeom>
          <a:solidFill>
            <a:srgbClr val="0B1F3A"/>
          </a:solidFill>
          <a:ln/>
        </p:spPr>
      </p:sp>
      <p:sp>
        <p:nvSpPr>
          <p:cNvPr id="9" name="Text 6"/>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20" kern="0" dirty="0">
                <a:solidFill>
                  <a:srgbClr val="1B9AAA"/>
                </a:solidFill>
                <a:latin typeface="Calibri" pitchFamily="34" charset="0"/>
                <a:ea typeface="Calibri" pitchFamily="34" charset="-122"/>
                <a:cs typeface="Calibri" pitchFamily="34" charset="-120"/>
              </a:rPr>
              <a:t>READY TO START</a:t>
            </a:r>
            <a:endParaRPr lang="en-US" sz="2000" dirty="0"/>
          </a:p>
        </p:txBody>
      </p:sp>
      <p:sp>
        <p:nvSpPr>
          <p:cNvPr id="10" name="Text 7"/>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0</a:t>
            </a:r>
            <a:endParaRPr lang="en-US" sz="2600" dirty="0"/>
          </a:p>
        </p:txBody>
      </p:sp>
      <p:sp>
        <p:nvSpPr>
          <p:cNvPr id="11" name="Text 8"/>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Orientation</a:t>
            </a:r>
            <a:endParaRPr lang="en-US" sz="2200" dirty="0"/>
          </a:p>
        </p:txBody>
      </p:sp>
      <p:sp>
        <p:nvSpPr>
          <p:cNvPr id="12" name="Text 9"/>
          <p:cNvSpPr/>
          <p:nvPr/>
        </p:nvSpPr>
        <p:spPr>
          <a:xfrm>
            <a:off x="7589520" y="347472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Run the robot and print a message.</a:t>
            </a:r>
            <a:endParaRPr lang="en-US" sz="2000" dirty="0"/>
          </a:p>
        </p:txBody>
      </p:sp>
      <p:sp>
        <p:nvSpPr>
          <p:cNvPr id="13" name="Shape 10"/>
          <p:cNvSpPr/>
          <p:nvPr/>
        </p:nvSpPr>
        <p:spPr>
          <a:xfrm>
            <a:off x="7589520" y="5120640"/>
            <a:ext cx="502920" cy="502920"/>
          </a:xfrm>
          <a:prstGeom prst="ellipse">
            <a:avLst/>
          </a:prstGeom>
          <a:solidFill>
            <a:srgbClr val="1B9AAA"/>
          </a:solidFill>
          <a:ln/>
        </p:spPr>
      </p:sp>
      <p:pic>
        <p:nvPicPr>
          <p:cNvPr id="14"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5"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6"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7" name="Image 2" descr="/home/user/BasicRobotLessons/docs/presentations/v3/template/assets/logo/team5010-logo.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Branches — Working with Git</dc:title>
  <dc:subject>PptxGenJS Presentation</dc:subject>
  <dc:creator>Learn Java + Robot Programming</dc:creator>
  <cp:lastModifiedBy>Learn Java + Robot Programming</cp:lastModifiedBy>
  <cp:revision>1</cp:revision>
  <dcterms:created xsi:type="dcterms:W3CDTF">2026-08-22T15:16:34Z</dcterms:created>
  <dcterms:modified xsi:type="dcterms:W3CDTF">2026-08-22T15:16:34Z</dcterms:modified>
</cp:coreProperties>
</file>