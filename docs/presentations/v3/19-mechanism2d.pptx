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18 ended with three traces on a graph, and they told you a lot about whether the control loop is behaving. They're the wrong tool for a different question: what is the robot doing right now? This lesson draws the elevator as a live stick figure that grows and shrinks as the carriage moves — and hangs a second piece off the top of it that follows along without a single line of code telling it to. That second part is the real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object you've built out of other objects so far was assembled once and then stood still. append(...) builds a structure: attach a child to a parent, and from then on moving the parent moves the child too, every tick, for free. The robot side is three small classes — a canvas, a point pinned to it, and segments — plus one rule you already know from Lesson 11's field: change the drawing, then log it, every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"what is the robot doing" from a graph, you have to read 0.75, remember that the elevator's range is 0 to 1.5 meters, and picture a carriage halfway up — doing the drawing in your head, fifty times a second, while also trying to debug something. You already met the fix in Lesson 11: odometry gave you an X, a Y and a heading, and instead of staring at three numbers you drew a robot on a field. By the end of this lesson you'll press D-pad up and watch a line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mechanism drawing is built from exactly three kinds of thing. The canvas is a Mechanism2d: you give it a width and a height in meters, and that's the window the viewer shows you. The anchor is a MechanismRoot2d, and you get one by asking the canvas for it with getRoot. Fixed is the whole idea — the base of a real elevator is bolted to the frame, so its dot never moves. The segments are MechanismLigament2ds: a length, an angle and a color, always drawn starting from whatever they're attached to. That last clause is doing more work than it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canvas hands you the anchor; the anchor hands you the segment. The constructors take plain doubles, which is a genuine exception to the "prefer measures" habit you've built since Lesson 10 — this particular corner of WPILib predates the Units library and was never updated. So when you reach for ElevatorConstants.kDisplayWidth, a Distance, you'll unpack it with .in(Meters) right at the call site: the "unpack only at a genuine double-only boundary" rule you already know, at a boundary you haven't hit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needs a few numbers of its own: how big the canvas is, how long the piece on top of the carriage should be, and what colors mean. The canvas is 2 meters tall for a 1.5 meter elevator, which leaves the carriage some headroom at the top of the frame rather than letting it run off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Wrapping a Color in a Color8Bit is the normal way to get from a name to a usable color. Building the two Color8Bits once, in Constants, matters slightly more than it looks: periodic() picks between them fifty times a second, and a constant it can point at beats a new object every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org.wpilib.smartdashboard is where Field2d lives too. A field and a mechanism drawing are the same kind of thing: a widget that holds a picture, which you change and then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fields, at the top of the class with the rest, for the reason fields always go there: the drawing has to survive between ticks. If you built it inside periodic() you'd construct a brand-new canvas every 20 milliseconds and throw it away, and the picture would be reassembled from scratch forever instead of being a thing that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declarations top to bottom and you're reading the robot from the floor up. The canvas is the window. m_base sits at the horizontal middle — kDisplayWidth / 2 — and at height 0: on the floor, dead center. m_carriage attaches to the base and points straight up at 90°, and it starts at length zero because the elevator starts stowed. m_effector attaches to the carriage and points at −90°, which is 90° back from its parent, so it sticks out sideways from the top of the carriage. The figure here is drawn mid-move, carriage about 1.2 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why m_carriage = m_base.append(new MechanismLigament2d(...)) works as one statement: you construct the ligament, hand it to its parent, and get a reference to it in return. And the effector's −90° doesn't mean "pointing down." It means "90° clockwise from whatever direction the carriage is pointing." This is the same idea as Lesson 15's Transform3d for the cameras — an offset measured relative to the thing it's mounted on, not to the field — arriving in a new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drawing changes every tick, and it gets logged every tick — the same order as Lesson 11's field: change it, then log it. setColor is the other new call, and it's carrying information rather than decoration: atGoal() is already computed, so feeding it into the color costs nothing and turns the drawing into a status light. The constructor doesn't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Telemetry.log treats the drawing exactly the way it treats Lesson 11's field: it sends what the drawing looks like at that moment. Log it once, in the constructor, and the viewer would show a carriage frozen at zero forever. So it goes in periodic(), right after the two lines that change it. Try It #4 has you make exactly that mistake on purpose,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to notice, and it's the actual reason this lesson exists. Count the ligaments you update in periodic(): one. There are two ligaments in the picture. When the carriage grows from 0.2 m to 0.75 m, the effector on top of it slides up 55 centimeters — and no line of code moved it. It moved because it's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SwerveModule holds two motors; that's assembly, and it's done the moment the constructor finishes. m_base → m_carriage → m_effector is a chain, and every tick the drawing walks it: place the base, draw the carriage from there, draw the effector from wherever the carriage ended up. Scale that up — an arm on top of an elevator, a wrist on the arm, a roller on the wrist. Raise the elevator and all three come with it. You update one number. In Lesson 20 a real arm takes m_effector's place, with its own motor, its own angle and its own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AdvantageScope, add a Mechanism tab and select /Telemetry/Elevator/Mechanism as its source. You get a vertical orange line that grows out of the floor when you press D-pad up, with a short stub sticking out sideways at the top, riding along. When the carriage settles on the goal, the line turns green. Press D-pad down and it shrinks back toward the floor; press right and it stops halfway. The picture is Elevator/HeightMeters — the same number as the graph, drawn instead of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Seeing the trace and the line together is how you build the instinct to read one from the other. SimGUI shows the same drawing without opening a second tool: menu NetworkTables → Telemetry → Elevator → Mechanism. Two viewers, like the field view in Lesson 11 — the quick glance while sim is already open, and the full tool for anything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Instead of green-when-arrived, color the carriage by where it is — one color below kScoreMid, another above. An if in periodic() and one more constant; nothing you haven't done since Lesson 5. 2: Ask the canvas for a second root a little to the side of m_base, and append one fixed ligament, 1.5 meters long, straight up, in gray — two lines in the field block, zero in periodic(). MechanismLigament2d has a five-argument form that also takes a line weight and a Color8Bit. 3: In periodic(), call m_effector.setAngle(45 * Math.sin(Timer.getTimestamp())) — Timer is org.wpilib.system.Timer. The stub waves while the carriage does whatever the D-pad says: its angle is its own, its position is the carriage's business. Take it back out afterwards; Lesson 20 wants that ligament. 4: Move the Telemetry.log("Elevator/Mechanism", ...) line into the constructor, so it runs once. The drawing freezes where it started while the graph keeps moving — a bug worth having seen once, since the same mistake would freeze Lesson 11's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short lesson with one idea in it, so make sure it's the one you take away. It isn't Mechanism2d — that's three classes and a handful of method calls, and you'll look up the exact names when you need them. It's what append does. Up to now, building an object out of other objects meant assembling something once. The chain m_base → m_carriage → m_effector sets up a relationship that keeps paying out: every tick, the effector's position is computed from the carriage's, and nothing has to remember to do it. That shape shows up everywhere in robot code once you know it — coordinate frames, transforms, pose composition. Lesson 15 already had you doing it with Transform3ds for the cameras without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19</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Drawing the Elevator</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Attach one piece to another, and it rides along</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encil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live stick figure of the elevator</a:t>
            </a:r>
            <a:endParaRPr lang="en-US" sz="3000" dirty="0"/>
          </a:p>
        </p:txBody>
      </p:sp>
      <p:sp>
        <p:nvSpPr>
          <p:cNvPr id="6" name="Shape 3"/>
          <p:cNvSpPr/>
          <p:nvPr/>
        </p:nvSpPr>
        <p:spPr>
          <a:xfrm>
            <a:off x="640080" y="1463040"/>
            <a:ext cx="10881360" cy="1600200"/>
          </a:xfrm>
          <a:prstGeom prst="roundRect">
            <a:avLst>
              <a:gd name="adj" fmla="val 5714"/>
            </a:avLst>
          </a:prstGeom>
          <a:solidFill>
            <a:srgbClr val="F3F6FA"/>
          </a:solidFill>
          <a:ln/>
        </p:spPr>
      </p:sp>
      <p:sp>
        <p:nvSpPr>
          <p:cNvPr id="7" name="Text 4"/>
          <p:cNvSpPr/>
          <p:nvPr/>
        </p:nvSpPr>
        <p:spPr>
          <a:xfrm>
            <a:off x="960120" y="1581912"/>
            <a:ext cx="10241280" cy="1371600"/>
          </a:xfrm>
          <a:prstGeom prst="rect">
            <a:avLst/>
          </a:prstGeom>
          <a:noFill/>
          <a:ln/>
        </p:spPr>
        <p:txBody>
          <a:bodyPr wrap="square" lIns="0" tIns="0" rIns="0" bIns="0" rtlCol="0" anchor="ctr"/>
          <a:lstStyle/>
          <a:p>
            <a:pPr indent="0" marL="0">
              <a:lnSpc>
                <a:spcPct val="120000"/>
              </a:lnSpc>
              <a:buNone/>
            </a:pPr>
            <a:r>
              <a:rPr lang="en-US" sz="1800" i="1" dirty="0">
                <a:solidFill>
                  <a:srgbClr val="13294B"/>
                </a:solidFill>
                <a:latin typeface="Cambria" pitchFamily="34" charset="0"/>
                <a:ea typeface="Cambria" pitchFamily="34" charset="-122"/>
                <a:cs typeface="Cambria" pitchFamily="34" charset="-120"/>
              </a:rPr>
              <a:t>Draw the elevator as a live stick figure that grows and shrinks as the carriage moves, and hang a second piece off the top of it that follows along without a single line of code telling it to.</a:t>
            </a:r>
            <a:endParaRPr lang="en-US" sz="1800" dirty="0"/>
          </a:p>
        </p:txBody>
      </p:sp>
      <p:sp>
        <p:nvSpPr>
          <p:cNvPr id="8" name="Shape 5"/>
          <p:cNvSpPr/>
          <p:nvPr/>
        </p:nvSpPr>
        <p:spPr>
          <a:xfrm>
            <a:off x="640080" y="324612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355848"/>
            <a:ext cx="237744" cy="237744"/>
          </a:xfrm>
          <a:prstGeom prst="rect">
            <a:avLst/>
          </a:prstGeom>
        </p:spPr>
      </p:pic>
      <p:sp>
        <p:nvSpPr>
          <p:cNvPr id="10" name="Text 6"/>
          <p:cNvSpPr/>
          <p:nvPr/>
        </p:nvSpPr>
        <p:spPr>
          <a:xfrm>
            <a:off x="123444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1304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Composition as attachment — append(...) builds a structure: move the parent and the child moves too, every tick</a:t>
            </a:r>
            <a:endParaRPr lang="en-US" sz="1900" dirty="0"/>
          </a:p>
        </p:txBody>
      </p:sp>
      <p:sp>
        <p:nvSpPr>
          <p:cNvPr id="12" name="Shape 8"/>
          <p:cNvSpPr/>
          <p:nvPr/>
        </p:nvSpPr>
        <p:spPr>
          <a:xfrm>
            <a:off x="6309360" y="3246120"/>
            <a:ext cx="457200" cy="457200"/>
          </a:xfrm>
          <a:prstGeom prst="ellipse">
            <a:avLst/>
          </a:prstGeom>
          <a:solidFill>
            <a:srgbClr val="FF5010"/>
          </a:solidFill>
          <a:ln/>
        </p:spPr>
      </p:sp>
      <p:pic>
        <p:nvPicPr>
          <p:cNvPr id="13" name="Image 2" descr="/home/user/BasicRobotLessons/docs/presentations/v3/template/assets/icons/robot_white.png">    </p:cNvPr>
          <p:cNvPicPr>
            <a:picLocks noChangeAspect="1"/>
          </p:cNvPicPr>
          <p:nvPr/>
        </p:nvPicPr>
        <p:blipFill>
          <a:blip r:embed="rId3"/>
          <a:stretch>
            <a:fillRect/>
          </a:stretch>
        </p:blipFill>
        <p:spPr>
          <a:xfrm>
            <a:off x="6419088" y="3355848"/>
            <a:ext cx="237744" cy="237744"/>
          </a:xfrm>
          <a:prstGeom prst="rect">
            <a:avLst/>
          </a:prstGeom>
        </p:spPr>
      </p:pic>
      <p:sp>
        <p:nvSpPr>
          <p:cNvPr id="14" name="Text 9"/>
          <p:cNvSpPr/>
          <p:nvPr/>
        </p:nvSpPr>
        <p:spPr>
          <a:xfrm>
            <a:off x="690372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13048"/>
            <a:ext cx="5257800" cy="24688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Mechanism2d — a canvas to draw a mechanism on</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MechanismRoot2d — a point pinned to it</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MechanismLigament2d — a segment with a length, an angle, a color</a:t>
            </a:r>
            <a:endParaRPr lang="en-US" sz="1900" dirty="0"/>
          </a:p>
          <a:p>
            <a:pPr marL="342900" indent="-342900">
              <a:lnSpc>
                <a:spcPct val="110000"/>
              </a:lnSpc>
              <a:spcAft>
                <a:spcPts val="600"/>
              </a:spcAft>
              <a:buSzPct val="100000"/>
              <a:buChar char="•"/>
            </a:pPr>
            <a:r>
              <a:rPr lang="en-US" sz="1900" dirty="0">
                <a:solidFill>
                  <a:srgbClr val="13294B"/>
                </a:solidFill>
                <a:latin typeface="Calibri" pitchFamily="34" charset="0"/>
                <a:ea typeface="Calibri" pitchFamily="34" charset="-122"/>
                <a:cs typeface="Calibri" pitchFamily="34" charset="-120"/>
              </a:rPr>
              <a:t>A drawing is logged like a number</a:t>
            </a:r>
            <a:endParaRPr lang="en-US" sz="19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NUMBERS VS. A SHAPE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graph and a picture answer different questions</a:t>
            </a:r>
            <a:endParaRPr lang="en-US" sz="3000" dirty="0"/>
          </a:p>
        </p:txBody>
      </p:sp>
      <p:sp>
        <p:nvSpPr>
          <p:cNvPr id="6" name="Shape 3"/>
          <p:cNvSpPr/>
          <p:nvPr/>
        </p:nvSpPr>
        <p:spPr>
          <a:xfrm>
            <a:off x="640080" y="1508760"/>
            <a:ext cx="5303520" cy="2926080"/>
          </a:xfrm>
          <a:prstGeom prst="roundRect">
            <a:avLst>
              <a:gd name="adj" fmla="val 3125"/>
            </a:avLst>
          </a:prstGeom>
          <a:solidFill>
            <a:srgbClr val="132A4C"/>
          </a:solidFill>
          <a:ln/>
        </p:spPr>
      </p:sp>
      <p:sp>
        <p:nvSpPr>
          <p:cNvPr id="7" name="Text 4"/>
          <p:cNvSpPr/>
          <p:nvPr/>
        </p:nvSpPr>
        <p:spPr>
          <a:xfrm>
            <a:off x="868680" y="1737360"/>
            <a:ext cx="484632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A GRAPH</a:t>
            </a:r>
            <a:endParaRPr lang="en-US" sz="2000" dirty="0"/>
          </a:p>
        </p:txBody>
      </p:sp>
      <p:sp>
        <p:nvSpPr>
          <p:cNvPr id="8" name="Text 5"/>
          <p:cNvSpPr/>
          <p:nvPr/>
        </p:nvSpPr>
        <p:spPr>
          <a:xfrm>
            <a:off x="868680" y="21945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Is the control loop behaving?</a:t>
            </a:r>
            <a:endParaRPr lang="en-US" sz="2200" dirty="0"/>
          </a:p>
        </p:txBody>
      </p:sp>
      <p:sp>
        <p:nvSpPr>
          <p:cNvPr id="9" name="Text 6"/>
          <p:cNvSpPr/>
          <p:nvPr/>
        </p:nvSpPr>
        <p:spPr>
          <a:xfrm>
            <a:off x="868680" y="2772410"/>
            <a:ext cx="4846320" cy="143383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Lesson 18's three traces: the goal stepped, the height eased after it.</a:t>
            </a:r>
            <a:endParaRPr lang="en-US" sz="2000" dirty="0"/>
          </a:p>
        </p:txBody>
      </p:sp>
      <p:sp>
        <p:nvSpPr>
          <p:cNvPr id="10" name="Shape 7"/>
          <p:cNvSpPr/>
          <p:nvPr/>
        </p:nvSpPr>
        <p:spPr>
          <a:xfrm>
            <a:off x="6217920" y="1508760"/>
            <a:ext cx="5303520" cy="2926080"/>
          </a:xfrm>
          <a:prstGeom prst="roundRect">
            <a:avLst>
              <a:gd name="adj" fmla="val 3125"/>
            </a:avLst>
          </a:prstGeom>
          <a:solidFill>
            <a:srgbClr val="132A4C"/>
          </a:solidFill>
          <a:ln/>
        </p:spPr>
      </p:sp>
      <p:sp>
        <p:nvSpPr>
          <p:cNvPr id="11" name="Text 8"/>
          <p:cNvSpPr/>
          <p:nvPr/>
        </p:nvSpPr>
        <p:spPr>
          <a:xfrm>
            <a:off x="6446520" y="1737360"/>
            <a:ext cx="484632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A PICTURE</a:t>
            </a:r>
            <a:endParaRPr lang="en-US" sz="2000" dirty="0"/>
          </a:p>
        </p:txBody>
      </p:sp>
      <p:sp>
        <p:nvSpPr>
          <p:cNvPr id="12" name="Text 9"/>
          <p:cNvSpPr/>
          <p:nvPr/>
        </p:nvSpPr>
        <p:spPr>
          <a:xfrm>
            <a:off x="6446520" y="2194560"/>
            <a:ext cx="4846320" cy="92710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What is the robot doing right now?</a:t>
            </a:r>
            <a:endParaRPr lang="en-US" sz="2200" dirty="0"/>
          </a:p>
        </p:txBody>
      </p:sp>
      <p:sp>
        <p:nvSpPr>
          <p:cNvPr id="13" name="Text 10"/>
          <p:cNvSpPr/>
          <p:nvPr/>
        </p:nvSpPr>
        <p:spPr>
          <a:xfrm>
            <a:off x="6446520" y="3121660"/>
            <a:ext cx="4846320" cy="108458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Read 0.75 off a graph and you're drawing the carriage in your head.</a:t>
            </a:r>
            <a:endParaRPr lang="en-US" sz="2000" dirty="0"/>
          </a:p>
        </p:txBody>
      </p:sp>
      <p:sp>
        <p:nvSpPr>
          <p:cNvPr id="14" name="Shape 11"/>
          <p:cNvSpPr/>
          <p:nvPr/>
        </p:nvSpPr>
        <p:spPr>
          <a:xfrm>
            <a:off x="640080" y="4663440"/>
            <a:ext cx="10881360" cy="1554480"/>
          </a:xfrm>
          <a:prstGeom prst="roundRect">
            <a:avLst>
              <a:gd name="adj" fmla="val 5882"/>
            </a:avLst>
          </a:prstGeom>
          <a:solidFill>
            <a:srgbClr val="132A4C"/>
          </a:solidFill>
          <a:ln/>
        </p:spPr>
      </p:sp>
      <p:sp>
        <p:nvSpPr>
          <p:cNvPr id="15" name="Text 12"/>
          <p:cNvSpPr/>
          <p:nvPr/>
        </p:nvSpPr>
        <p:spPr>
          <a:xfrm>
            <a:off x="868680" y="4892040"/>
            <a:ext cx="1042416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Mechanism2d is Lesson 11's Field2d move, for a mechanism</a:t>
            </a:r>
            <a:endParaRPr lang="en-US" sz="2200" dirty="0"/>
          </a:p>
        </p:txBody>
      </p:sp>
      <p:sp>
        <p:nvSpPr>
          <p:cNvPr id="16" name="Text 13"/>
          <p:cNvSpPr/>
          <p:nvPr/>
        </p:nvSpPr>
        <p:spPr>
          <a:xfrm>
            <a:off x="868680" y="5469890"/>
            <a:ext cx="10424160" cy="51943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Side-on, not top-down: a stick figure shaped by your sensor values.</a:t>
            </a:r>
            <a:endParaRPr lang="en-US" sz="2000" dirty="0"/>
          </a:p>
        </p:txBody>
      </p:sp>
      <p:sp>
        <p:nvSpPr>
          <p:cNvPr id="17" name="Text 1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8" name="Text 1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9"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ayer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2 · THREE PIECES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canvas, an anchor, and segments</a:t>
            </a:r>
            <a:endParaRPr lang="en-US" sz="3000" dirty="0"/>
          </a:p>
        </p:txBody>
      </p:sp>
      <p:sp>
        <p:nvSpPr>
          <p:cNvPr id="6" name="Shape 3"/>
          <p:cNvSpPr/>
          <p:nvPr/>
        </p:nvSpPr>
        <p:spPr>
          <a:xfrm>
            <a:off x="640080" y="1508760"/>
            <a:ext cx="3474720" cy="3566160"/>
          </a:xfrm>
          <a:prstGeom prst="roundRect">
            <a:avLst>
              <a:gd name="adj" fmla="val 3158"/>
            </a:avLst>
          </a:prstGeom>
          <a:solidFill>
            <a:srgbClr val="132A4C"/>
          </a:solidFill>
          <a:ln/>
        </p:spPr>
      </p:sp>
      <p:sp>
        <p:nvSpPr>
          <p:cNvPr id="7" name="Text 4"/>
          <p:cNvSpPr/>
          <p:nvPr/>
        </p:nvSpPr>
        <p:spPr>
          <a:xfrm>
            <a:off x="868680" y="1691640"/>
            <a:ext cx="301752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CANVAS</a:t>
            </a:r>
            <a:endParaRPr lang="en-US" sz="2000" dirty="0"/>
          </a:p>
        </p:txBody>
      </p:sp>
      <p:sp>
        <p:nvSpPr>
          <p:cNvPr id="8" name="Text 5"/>
          <p:cNvSpPr/>
          <p:nvPr/>
        </p:nvSpPr>
        <p:spPr>
          <a:xfrm>
            <a:off x="868680" y="2103120"/>
            <a:ext cx="31089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Mechanism2d</a:t>
            </a:r>
            <a:endParaRPr lang="en-US" sz="2000" dirty="0"/>
          </a:p>
        </p:txBody>
      </p:sp>
      <p:sp>
        <p:nvSpPr>
          <p:cNvPr id="9" name="Text 6"/>
          <p:cNvSpPr/>
          <p:nvPr/>
        </p:nvSpPr>
        <p:spPr>
          <a:xfrm>
            <a:off x="868680" y="2697480"/>
            <a:ext cx="3017520" cy="2194560"/>
          </a:xfrm>
          <a:prstGeom prst="rect">
            <a:avLst/>
          </a:prstGeom>
          <a:noFill/>
          <a:ln/>
        </p:spPr>
        <p:txBody>
          <a:bodyPr wrap="square" lIns="0" tIns="0" rIns="0" bIns="0" rtlCol="0" anchor="t"/>
          <a:lstStyle/>
          <a:p>
            <a:pPr indent="0" marL="0">
              <a:lnSpc>
                <a:spcPct val="110000"/>
              </a:lnSpc>
              <a:buNone/>
            </a:pPr>
            <a:r>
              <a:rPr lang="en-US" sz="2000" dirty="0">
                <a:solidFill>
                  <a:srgbClr val="D7E3F4"/>
                </a:solidFill>
                <a:latin typeface="Calibri" pitchFamily="34" charset="0"/>
                <a:ea typeface="Calibri" pitchFamily="34" charset="-122"/>
                <a:cs typeface="Calibri" pitchFamily="34" charset="-120"/>
              </a:rPr>
              <a:t>A window measured in meters. A coordinate space, not a picture — nothing is drawn yet.</a:t>
            </a:r>
            <a:endParaRPr lang="en-US" sz="2000" dirty="0"/>
          </a:p>
        </p:txBody>
      </p:sp>
      <p:sp>
        <p:nvSpPr>
          <p:cNvPr id="10" name="Shape 7"/>
          <p:cNvSpPr/>
          <p:nvPr/>
        </p:nvSpPr>
        <p:spPr>
          <a:xfrm>
            <a:off x="4343400" y="1508760"/>
            <a:ext cx="3474720" cy="3566160"/>
          </a:xfrm>
          <a:prstGeom prst="roundRect">
            <a:avLst>
              <a:gd name="adj" fmla="val 3158"/>
            </a:avLst>
          </a:prstGeom>
          <a:solidFill>
            <a:srgbClr val="132A4C"/>
          </a:solidFill>
          <a:ln/>
        </p:spPr>
      </p:sp>
      <p:sp>
        <p:nvSpPr>
          <p:cNvPr id="11" name="Text 8"/>
          <p:cNvSpPr/>
          <p:nvPr/>
        </p:nvSpPr>
        <p:spPr>
          <a:xfrm>
            <a:off x="4572000" y="1691640"/>
            <a:ext cx="301752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ANCHOR</a:t>
            </a:r>
            <a:endParaRPr lang="en-US" sz="2000" dirty="0"/>
          </a:p>
        </p:txBody>
      </p:sp>
      <p:sp>
        <p:nvSpPr>
          <p:cNvPr id="12" name="Text 9"/>
          <p:cNvSpPr/>
          <p:nvPr/>
        </p:nvSpPr>
        <p:spPr>
          <a:xfrm>
            <a:off x="4572000" y="2103120"/>
            <a:ext cx="31089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MechanismRoot2d</a:t>
            </a:r>
            <a:endParaRPr lang="en-US" sz="2000" dirty="0"/>
          </a:p>
        </p:txBody>
      </p:sp>
      <p:sp>
        <p:nvSpPr>
          <p:cNvPr id="13" name="Text 10"/>
          <p:cNvSpPr/>
          <p:nvPr/>
        </p:nvSpPr>
        <p:spPr>
          <a:xfrm>
            <a:off x="4572000" y="2697480"/>
            <a:ext cx="3017520" cy="2194560"/>
          </a:xfrm>
          <a:prstGeom prst="rect">
            <a:avLst/>
          </a:prstGeom>
          <a:noFill/>
          <a:ln/>
        </p:spPr>
        <p:txBody>
          <a:bodyPr wrap="square" lIns="0" tIns="0" rIns="0" bIns="0" rtlCol="0" anchor="t"/>
          <a:lstStyle/>
          <a:p>
            <a:pPr indent="0" marL="0">
              <a:lnSpc>
                <a:spcPct val="110000"/>
              </a:lnSpc>
              <a:buNone/>
            </a:pPr>
            <a:r>
              <a:rPr lang="en-US" sz="2000" dirty="0">
                <a:solidFill>
                  <a:srgbClr val="D7E3F4"/>
                </a:solidFill>
                <a:latin typeface="Calibri" pitchFamily="34" charset="0"/>
                <a:ea typeface="Calibri" pitchFamily="34" charset="-122"/>
                <a:cs typeface="Calibri" pitchFamily="34" charset="-120"/>
              </a:rPr>
              <a:t>A fixed point on the canvas, from getRoot(...). The base of a real elevator never moves.</a:t>
            </a:r>
            <a:endParaRPr lang="en-US" sz="2000" dirty="0"/>
          </a:p>
        </p:txBody>
      </p:sp>
      <p:sp>
        <p:nvSpPr>
          <p:cNvPr id="14" name="Shape 11"/>
          <p:cNvSpPr/>
          <p:nvPr/>
        </p:nvSpPr>
        <p:spPr>
          <a:xfrm>
            <a:off x="8046720" y="1508760"/>
            <a:ext cx="3474720" cy="3566160"/>
          </a:xfrm>
          <a:prstGeom prst="roundRect">
            <a:avLst>
              <a:gd name="adj" fmla="val 3158"/>
            </a:avLst>
          </a:prstGeom>
          <a:solidFill>
            <a:srgbClr val="132A4C"/>
          </a:solidFill>
          <a:ln/>
        </p:spPr>
      </p:sp>
      <p:sp>
        <p:nvSpPr>
          <p:cNvPr id="15" name="Text 12"/>
          <p:cNvSpPr/>
          <p:nvPr/>
        </p:nvSpPr>
        <p:spPr>
          <a:xfrm>
            <a:off x="8275320" y="1691640"/>
            <a:ext cx="301752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SEGMENT</a:t>
            </a:r>
            <a:endParaRPr lang="en-US" sz="2000" dirty="0"/>
          </a:p>
        </p:txBody>
      </p:sp>
      <p:sp>
        <p:nvSpPr>
          <p:cNvPr id="16" name="Text 13"/>
          <p:cNvSpPr/>
          <p:nvPr/>
        </p:nvSpPr>
        <p:spPr>
          <a:xfrm>
            <a:off x="8275320" y="2103120"/>
            <a:ext cx="31089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MechanismLigament2d</a:t>
            </a:r>
            <a:endParaRPr lang="en-US" sz="2000" dirty="0"/>
          </a:p>
        </p:txBody>
      </p:sp>
      <p:sp>
        <p:nvSpPr>
          <p:cNvPr id="17" name="Text 14"/>
          <p:cNvSpPr/>
          <p:nvPr/>
        </p:nvSpPr>
        <p:spPr>
          <a:xfrm>
            <a:off x="8275320" y="2697480"/>
            <a:ext cx="3017520" cy="2194560"/>
          </a:xfrm>
          <a:prstGeom prst="rect">
            <a:avLst/>
          </a:prstGeom>
          <a:noFill/>
          <a:ln/>
        </p:spPr>
        <p:txBody>
          <a:bodyPr wrap="square" lIns="0" tIns="0" rIns="0" bIns="0" rtlCol="0" anchor="t"/>
          <a:lstStyle/>
          <a:p>
            <a:pPr indent="0" marL="0">
              <a:lnSpc>
                <a:spcPct val="110000"/>
              </a:lnSpc>
              <a:buNone/>
            </a:pPr>
            <a:r>
              <a:rPr lang="en-US" sz="2000" dirty="0">
                <a:solidFill>
                  <a:srgbClr val="D7E3F4"/>
                </a:solidFill>
                <a:latin typeface="Calibri" pitchFamily="34" charset="0"/>
                <a:ea typeface="Calibri" pitchFamily="34" charset="-122"/>
                <a:cs typeface="Calibri" pitchFamily="34" charset="-120"/>
              </a:rPr>
              <a:t>A line with a length, an angle and a color, drawn from whatever it's attached to.</a:t>
            </a:r>
            <a:endParaRPr lang="en-US" sz="2000" dirty="0"/>
          </a:p>
        </p:txBody>
      </p:sp>
      <p:sp>
        <p:nvSpPr>
          <p:cNvPr id="18" name="Shape 15"/>
          <p:cNvSpPr/>
          <p:nvPr/>
        </p:nvSpPr>
        <p:spPr>
          <a:xfrm>
            <a:off x="640080" y="5303520"/>
            <a:ext cx="10881360" cy="914400"/>
          </a:xfrm>
          <a:prstGeom prst="roundRect">
            <a:avLst>
              <a:gd name="adj" fmla="val 10000"/>
            </a:avLst>
          </a:prstGeom>
          <a:solidFill>
            <a:srgbClr val="132A4C"/>
          </a:solidFill>
          <a:ln/>
        </p:spPr>
      </p:sp>
      <p:sp>
        <p:nvSpPr>
          <p:cNvPr id="19" name="Text 16"/>
          <p:cNvSpPr/>
          <p:nvPr/>
        </p:nvSpPr>
        <p:spPr>
          <a:xfrm>
            <a:off x="822960" y="5486400"/>
            <a:ext cx="10515600" cy="54864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"Drawn from whatever it's attached to" is the rest of this lesson.</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4</a:t>
            </a:r>
            <a:endParaRPr lang="en-US" sz="2000" dirty="0"/>
          </a:p>
        </p:txBody>
      </p:sp>
      <p:pic>
        <p:nvPicPr>
          <p:cNvPr id="2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d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THE THREE CALLS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Each piece comes from the one before it</a:t>
            </a:r>
            <a:endParaRPr lang="en-US" sz="3000" dirty="0"/>
          </a:p>
        </p:txBody>
      </p:sp>
      <p:sp>
        <p:nvSpPr>
          <p:cNvPr id="6" name="Shape 3"/>
          <p:cNvSpPr/>
          <p:nvPr/>
        </p:nvSpPr>
        <p:spPr>
          <a:xfrm>
            <a:off x="640080" y="1280160"/>
            <a:ext cx="10881360" cy="1874520"/>
          </a:xfrm>
          <a:prstGeom prst="roundRect">
            <a:avLst>
              <a:gd name="adj" fmla="val 585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this is only the shape of the three calls</a:t>
            </a:r>
            <a:endParaRPr lang="en-US" sz="1500" dirty="0"/>
          </a:p>
        </p:txBody>
      </p:sp>
      <p:sp>
        <p:nvSpPr>
          <p:cNvPr id="11" name="Text 8"/>
          <p:cNvSpPr/>
          <p:nvPr/>
        </p:nvSpPr>
        <p:spPr>
          <a:xfrm>
            <a:off x="914400" y="1737360"/>
            <a:ext cx="10195560" cy="1216152"/>
          </a:xfrm>
          <a:prstGeom prst="rect">
            <a:avLst/>
          </a:prstGeom>
          <a:noFill/>
          <a:ln/>
        </p:spPr>
        <p:txBody>
          <a:bodyPr wrap="square" lIns="0" tIns="0" rIns="0" bIns="0" rtlCol="0" anchor="t"/>
          <a:lstStyle/>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Mechanism2d canvas = new Mechanism2d(widthMeters, heightMeters);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MechanismRoot2d anchor = canvas.getRoot("Name", x, y);</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MechanismLigament2d segment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anchor.append(new MechanismLigament2d("Name", lengthMeters, angleDegrees));</a:t>
            </a:r>
            <a:endParaRPr lang="en-US" sz="1400" dirty="0"/>
          </a:p>
        </p:txBody>
      </p:sp>
      <p:sp>
        <p:nvSpPr>
          <p:cNvPr id="12" name="Shape 9"/>
          <p:cNvSpPr/>
          <p:nvPr/>
        </p:nvSpPr>
        <p:spPr>
          <a:xfrm>
            <a:off x="640080" y="3291840"/>
            <a:ext cx="10881360" cy="1371600"/>
          </a:xfrm>
          <a:prstGeom prst="roundRect">
            <a:avLst>
              <a:gd name="adj" fmla="val 6667"/>
            </a:avLst>
          </a:prstGeom>
          <a:solidFill>
            <a:srgbClr val="F3F6FA"/>
          </a:solidFill>
          <a:ln/>
        </p:spPr>
      </p:sp>
      <p:sp>
        <p:nvSpPr>
          <p:cNvPr id="13" name="Text 10"/>
          <p:cNvSpPr/>
          <p:nvPr/>
        </p:nvSpPr>
        <p:spPr>
          <a:xfrm>
            <a:off x="822960" y="3474720"/>
            <a:ext cx="1051560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Angles: counter-clockwise from pointing right</a:t>
            </a:r>
            <a:endParaRPr lang="en-US" sz="2200" dirty="0"/>
          </a:p>
        </p:txBody>
      </p:sp>
      <p:sp>
        <p:nvSpPr>
          <p:cNvPr id="14" name="Text 11"/>
          <p:cNvSpPr/>
          <p:nvPr/>
        </p:nvSpPr>
        <p:spPr>
          <a:xfrm>
            <a:off x="822960" y="4052570"/>
            <a:ext cx="10515600" cy="42799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Straight up is 90° — the convention you've held since Lesson 7.</a:t>
            </a:r>
            <a:endParaRPr lang="en-US" sz="2000" dirty="0"/>
          </a:p>
        </p:txBody>
      </p:sp>
      <p:sp>
        <p:nvSpPr>
          <p:cNvPr id="15" name="Shape 12"/>
          <p:cNvSpPr/>
          <p:nvPr/>
        </p:nvSpPr>
        <p:spPr>
          <a:xfrm>
            <a:off x="640080" y="4846320"/>
            <a:ext cx="10881360" cy="1371600"/>
          </a:xfrm>
          <a:prstGeom prst="roundRect">
            <a:avLst>
              <a:gd name="adj" fmla="val 6667"/>
            </a:avLst>
          </a:prstGeom>
          <a:solidFill>
            <a:srgbClr val="F3F6FA"/>
          </a:solidFill>
          <a:ln/>
        </p:spPr>
      </p:sp>
      <p:sp>
        <p:nvSpPr>
          <p:cNvPr id="16" name="Text 13"/>
          <p:cNvSpPr/>
          <p:nvPr/>
        </p:nvSpPr>
        <p:spPr>
          <a:xfrm>
            <a:off x="822960" y="5029200"/>
            <a:ext cx="1051560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All three take plain doubles, not measures</a:t>
            </a:r>
            <a:endParaRPr lang="en-US" sz="2200" dirty="0"/>
          </a:p>
        </p:txBody>
      </p:sp>
      <p:sp>
        <p:nvSpPr>
          <p:cNvPr id="17" name="Text 14"/>
          <p:cNvSpPr/>
          <p:nvPr/>
        </p:nvSpPr>
        <p:spPr>
          <a:xfrm>
            <a:off x="822960" y="5607050"/>
            <a:ext cx="10515600" cy="42799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This corner of WPILib predates Units. Unpack with .in(Meters) right at the call.</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canvas size, a stub length, two colors</a:t>
            </a:r>
            <a:endParaRPr lang="en-US" sz="3000" dirty="0"/>
          </a:p>
        </p:txBody>
      </p:sp>
      <p:sp>
        <p:nvSpPr>
          <p:cNvPr id="6" name="Shape 3"/>
          <p:cNvSpPr/>
          <p:nvPr/>
        </p:nvSpPr>
        <p:spPr>
          <a:xfrm>
            <a:off x="640080" y="1280160"/>
            <a:ext cx="10881360" cy="2834640"/>
          </a:xfrm>
          <a:prstGeom prst="roundRect">
            <a:avLst>
              <a:gd name="adj" fmla="val 387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ElevatorConstants in Constants.java, below kTolerance</a:t>
            </a:r>
            <a:endParaRPr lang="en-US" sz="1500" dirty="0"/>
          </a:p>
        </p:txBody>
      </p:sp>
      <p:sp>
        <p:nvSpPr>
          <p:cNvPr id="11" name="Text 8"/>
          <p:cNvSpPr/>
          <p:nvPr/>
        </p:nvSpPr>
        <p:spPr>
          <a:xfrm>
            <a:off x="914400" y="1737360"/>
            <a:ext cx="10195560" cy="217627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public static final Distance kTolerance = Centimeters.of(2);</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The stick-figure view. The canvas is measured in meters, like the field.</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Distance kDisplayWidth = Meters.of(1.0);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Distance kDisplayHeight = Meters.of(2.0);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Distance kEffectorLength = Centimeters.of(25);</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Color8Bit kMovingColor = new Color8Bit(Color.ORANGE);</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public static final Color8Bit kAtGoalColor = new Color8Bit(Color.LIME_GREEN);</a:t>
            </a:r>
            <a:endParaRPr lang="en-US" sz="1300" dirty="0"/>
          </a:p>
        </p:txBody>
      </p:sp>
      <p:sp>
        <p:nvSpPr>
          <p:cNvPr id="12" name="Shape 9"/>
          <p:cNvSpPr/>
          <p:nvPr/>
        </p:nvSpPr>
        <p:spPr>
          <a:xfrm>
            <a:off x="640080" y="4297680"/>
            <a:ext cx="10881360" cy="1325880"/>
          </a:xfrm>
          <a:prstGeom prst="roundRect">
            <a:avLst>
              <a:gd name="adj" fmla="val 827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4443984"/>
            <a:ext cx="128016" cy="128016"/>
          </a:xfrm>
          <a:prstGeom prst="ellipse">
            <a:avLst/>
          </a:prstGeom>
          <a:solidFill>
            <a:srgbClr val="FF6B6B"/>
          </a:solidFill>
          <a:ln/>
        </p:spPr>
      </p:sp>
      <p:sp>
        <p:nvSpPr>
          <p:cNvPr id="14" name="Shape 11"/>
          <p:cNvSpPr/>
          <p:nvPr/>
        </p:nvSpPr>
        <p:spPr>
          <a:xfrm>
            <a:off x="11210544" y="4645152"/>
            <a:ext cx="128016" cy="128016"/>
          </a:xfrm>
          <a:prstGeom prst="ellipse">
            <a:avLst/>
          </a:prstGeom>
          <a:solidFill>
            <a:srgbClr val="FFD166"/>
          </a:solidFill>
          <a:ln/>
        </p:spPr>
      </p:sp>
      <p:sp>
        <p:nvSpPr>
          <p:cNvPr id="15" name="Shape 12"/>
          <p:cNvSpPr/>
          <p:nvPr/>
        </p:nvSpPr>
        <p:spPr>
          <a:xfrm>
            <a:off x="11210544" y="4846320"/>
            <a:ext cx="128016" cy="128016"/>
          </a:xfrm>
          <a:prstGeom prst="ellipse">
            <a:avLst/>
          </a:prstGeom>
          <a:solidFill>
            <a:srgbClr val="2EC4B6"/>
          </a:solidFill>
          <a:ln/>
        </p:spPr>
      </p:sp>
      <p:sp>
        <p:nvSpPr>
          <p:cNvPr id="16" name="Text 13"/>
          <p:cNvSpPr/>
          <p:nvPr/>
        </p:nvSpPr>
        <p:spPr>
          <a:xfrm>
            <a:off x="914400" y="44256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Constants.java's imports, next to the measure types</a:t>
            </a:r>
            <a:endParaRPr lang="en-US" sz="1500" dirty="0"/>
          </a:p>
        </p:txBody>
      </p:sp>
      <p:sp>
        <p:nvSpPr>
          <p:cNvPr id="17" name="Text 14"/>
          <p:cNvSpPr/>
          <p:nvPr/>
        </p:nvSpPr>
        <p:spPr>
          <a:xfrm>
            <a:off x="914400" y="4754880"/>
            <a:ext cx="10195560" cy="6675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org.wpilib.util.Color;</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org.wpilib.util.Color8Bit;</a:t>
            </a:r>
            <a:endParaRPr lang="en-US" sz="1400" dirty="0"/>
          </a:p>
        </p:txBody>
      </p:sp>
      <p:sp>
        <p:nvSpPr>
          <p:cNvPr id="18" name="Shape 15"/>
          <p:cNvSpPr/>
          <p:nvPr/>
        </p:nvSpPr>
        <p:spPr>
          <a:xfrm>
            <a:off x="640080" y="5760720"/>
            <a:ext cx="10881360" cy="548640"/>
          </a:xfrm>
          <a:prstGeom prst="roundRect">
            <a:avLst>
              <a:gd name="adj" fmla="val 16667"/>
            </a:avLst>
          </a:prstGeom>
          <a:solidFill>
            <a:srgbClr val="F3F6FA"/>
          </a:solidFill>
          <a:ln/>
        </p:spPr>
      </p:sp>
      <p:sp>
        <p:nvSpPr>
          <p:cNvPr id="19" name="Text 16"/>
          <p:cNvSpPr/>
          <p:nvPr/>
        </p:nvSpPr>
        <p:spPr>
          <a:xfrm>
            <a:off x="731520" y="5852160"/>
            <a:ext cx="10698480" cy="3657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2 m tall for a 1.5 m elevator: headroom at the top.</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alett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TWO THINGS ABOUT COLORS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Color.ORANGE, not Color.kOrange</a:t>
            </a:r>
            <a:endParaRPr lang="en-US" sz="3000" dirty="0"/>
          </a:p>
        </p:txBody>
      </p:sp>
      <p:sp>
        <p:nvSpPr>
          <p:cNvPr id="6" name="Shape 3"/>
          <p:cNvSpPr/>
          <p:nvPr/>
        </p:nvSpPr>
        <p:spPr>
          <a:xfrm>
            <a:off x="640080" y="1508760"/>
            <a:ext cx="10881360" cy="2240280"/>
          </a:xfrm>
          <a:prstGeom prst="roundRect">
            <a:avLst>
              <a:gd name="adj" fmla="val 4082"/>
            </a:avLst>
          </a:prstGeom>
          <a:solidFill>
            <a:srgbClr val="132A4C"/>
          </a:solidFill>
          <a:ln/>
        </p:spPr>
      </p:sp>
      <p:sp>
        <p:nvSpPr>
          <p:cNvPr id="7" name="Text 4"/>
          <p:cNvSpPr/>
          <p:nvPr/>
        </p:nvSpPr>
        <p:spPr>
          <a:xfrm>
            <a:off x="914400" y="1783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This library class skips the k prefix</a:t>
            </a:r>
            <a:endParaRPr lang="en-US" sz="2200" dirty="0"/>
          </a:p>
        </p:txBody>
      </p:sp>
      <p:sp>
        <p:nvSpPr>
          <p:cNvPr id="8" name="Text 5"/>
          <p:cNvSpPr/>
          <p:nvPr/>
        </p:nvSpPr>
        <p:spPr>
          <a:xfrm>
            <a:off x="914400" y="236093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Every constant you write gets a k. Color's named colors are plain all-caps constants — worth knowing before the compiler says kOrange doesn't exist.</a:t>
            </a:r>
            <a:endParaRPr lang="en-US" sz="2000" dirty="0"/>
          </a:p>
        </p:txBody>
      </p:sp>
      <p:sp>
        <p:nvSpPr>
          <p:cNvPr id="9" name="Shape 6"/>
          <p:cNvSpPr/>
          <p:nvPr/>
        </p:nvSpPr>
        <p:spPr>
          <a:xfrm>
            <a:off x="640080" y="3977640"/>
            <a:ext cx="10881360" cy="2240280"/>
          </a:xfrm>
          <a:prstGeom prst="roundRect">
            <a:avLst>
              <a:gd name="adj" fmla="val 4082"/>
            </a:avLst>
          </a:prstGeom>
          <a:solidFill>
            <a:srgbClr val="132A4C"/>
          </a:solidFill>
          <a:ln/>
        </p:spPr>
      </p:sp>
      <p:sp>
        <p:nvSpPr>
          <p:cNvPr id="10" name="Text 7"/>
          <p:cNvSpPr/>
          <p:nvPr/>
        </p:nvSpPr>
        <p:spPr>
          <a:xfrm>
            <a:off x="914400" y="42519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Build the Color8Bits once</a:t>
            </a:r>
            <a:endParaRPr lang="en-US" sz="2200" dirty="0"/>
          </a:p>
        </p:txBody>
      </p:sp>
      <p:sp>
        <p:nvSpPr>
          <p:cNvPr id="11" name="Text 8"/>
          <p:cNvSpPr/>
          <p:nvPr/>
        </p:nvSpPr>
        <p:spPr>
          <a:xfrm>
            <a:off x="914400" y="482981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Color is a list of named colors; Color8Bit is the packed form a drawing wants. periodic() picks one fifty times a second — point at a constant.</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encil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classes, from Field2d's package</a:t>
            </a:r>
            <a:endParaRPr lang="en-US" sz="3000" dirty="0"/>
          </a:p>
        </p:txBody>
      </p:sp>
      <p:sp>
        <p:nvSpPr>
          <p:cNvPr id="6" name="Shape 3"/>
          <p:cNvSpPr/>
          <p:nvPr/>
        </p:nvSpPr>
        <p:spPr>
          <a:xfrm>
            <a:off x="640080" y="1280160"/>
            <a:ext cx="10881360" cy="1600200"/>
          </a:xfrm>
          <a:prstGeom prst="roundRect">
            <a:avLst>
              <a:gd name="adj" fmla="val 685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Elevator.java's imports</a:t>
            </a:r>
            <a:endParaRPr lang="en-US" sz="1500" dirty="0"/>
          </a:p>
        </p:txBody>
      </p:sp>
      <p:sp>
        <p:nvSpPr>
          <p:cNvPr id="11" name="Text 8"/>
          <p:cNvSpPr/>
          <p:nvPr/>
        </p:nvSpPr>
        <p:spPr>
          <a:xfrm>
            <a:off x="914400" y="1737360"/>
            <a:ext cx="10195560" cy="94183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org.wpilib.smartdashboard.Mechanism2d;</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org.wpilib.smartdashboard.MechanismLigament2d;</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import org.wpilib.smartdashboard.MechanismRoot2d;</a:t>
            </a:r>
            <a:endParaRPr lang="en-US" sz="1400" dirty="0"/>
          </a:p>
        </p:txBody>
      </p:sp>
      <p:sp>
        <p:nvSpPr>
          <p:cNvPr id="12" name="Shape 9"/>
          <p:cNvSpPr/>
          <p:nvPr/>
        </p:nvSpPr>
        <p:spPr>
          <a:xfrm>
            <a:off x="640080" y="3108960"/>
            <a:ext cx="10881360" cy="1554480"/>
          </a:xfrm>
          <a:prstGeom prst="roundRect">
            <a:avLst>
              <a:gd name="adj" fmla="val 5882"/>
            </a:avLst>
          </a:prstGeom>
          <a:solidFill>
            <a:srgbClr val="F3F6FA"/>
          </a:solidFill>
          <a:ln/>
        </p:spPr>
      </p:sp>
      <p:sp>
        <p:nvSpPr>
          <p:cNvPr id="13" name="Text 10"/>
          <p:cNvSpPr/>
          <p:nvPr/>
        </p:nvSpPr>
        <p:spPr>
          <a:xfrm>
            <a:off x="868680" y="3337560"/>
            <a:ext cx="1042416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Same package as Lesson 11's Field2d</a:t>
            </a:r>
            <a:endParaRPr lang="en-US" sz="2200" dirty="0"/>
          </a:p>
        </p:txBody>
      </p:sp>
      <p:sp>
        <p:nvSpPr>
          <p:cNvPr id="14" name="Text 11"/>
          <p:cNvSpPr/>
          <p:nvPr/>
        </p:nvSpPr>
        <p:spPr>
          <a:xfrm>
            <a:off x="868680" y="3915410"/>
            <a:ext cx="10424160" cy="5194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Not a coincidence: you're about to use these three the way you used Field2d.</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encil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Build the figure: four fields</a:t>
            </a:r>
            <a:endParaRPr lang="en-US" sz="3000" dirty="0"/>
          </a:p>
        </p:txBody>
      </p:sp>
      <p:sp>
        <p:nvSpPr>
          <p:cNvPr id="6" name="Shape 3"/>
          <p:cNvSpPr/>
          <p:nvPr/>
        </p:nvSpPr>
        <p:spPr>
          <a:xfrm>
            <a:off x="640080" y="1280160"/>
            <a:ext cx="10881360" cy="3931920"/>
          </a:xfrm>
          <a:prstGeom prst="roundRect">
            <a:avLst>
              <a:gd name="adj" fmla="val 279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Elevator, below m_goal</a:t>
            </a:r>
            <a:endParaRPr lang="en-US" sz="1500" dirty="0"/>
          </a:p>
        </p:txBody>
      </p:sp>
      <p:sp>
        <p:nvSpPr>
          <p:cNvPr id="11" name="Text 8"/>
          <p:cNvSpPr/>
          <p:nvPr/>
        </p:nvSpPr>
        <p:spPr>
          <a:xfrm>
            <a:off x="914400" y="1737360"/>
            <a:ext cx="10195560" cy="3273552"/>
          </a:xfrm>
          <a:prstGeom prst="rect">
            <a:avLst/>
          </a:prstGeom>
          <a:noFill/>
          <a:ln/>
        </p:spPr>
        <p:txBody>
          <a:bodyPr wrap="square" lIns="0" tIns="0" rIns="0" bIns="0" rtlCol="0" anchor="t"/>
          <a:lstStyle/>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Distance m_goal = ElevatorConstants.kStowed;</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The picture: a canvas, one point anchored to it, and a chain of segments.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Mechanism2d m_mechanism = new Mechanism2d(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ElevatorConstants.kDisplayWidth.in(Meters), ElevatorConstants.kDisplayHeight.in(Meters));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MechanismRoot2d m_base = m_mechanism.getRoot(</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"Base", ElevatorConstants.kDisplayWidth.in(Meters) / 2, 0);</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Straight up from the base. Its length is the carriage height.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MechanismLigament2d m_carriage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m_base.append(new MechanismLigament2d("Carriage", 0, 90));</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Rides on top of the carriage. Lesson 20 puts a real arm here.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private final MechanismLigament2d m_effector = m_carriage.append(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new MechanismLigament2d("Effector", ElevatorConstants.kEffectorLength.in(Meters), -90));</a:t>
            </a:r>
            <a:endParaRPr lang="en-US" sz="1200" dirty="0"/>
          </a:p>
        </p:txBody>
      </p:sp>
      <p:sp>
        <p:nvSpPr>
          <p:cNvPr id="12" name="Shape 9"/>
          <p:cNvSpPr/>
          <p:nvPr/>
        </p:nvSpPr>
        <p:spPr>
          <a:xfrm>
            <a:off x="640080" y="5394960"/>
            <a:ext cx="10881360" cy="914400"/>
          </a:xfrm>
          <a:prstGeom prst="roundRect">
            <a:avLst>
              <a:gd name="adj" fmla="val 10000"/>
            </a:avLst>
          </a:prstGeom>
          <a:solidFill>
            <a:srgbClr val="F3F6FA"/>
          </a:solidFill>
          <a:ln/>
        </p:spPr>
      </p:sp>
      <p:sp>
        <p:nvSpPr>
          <p:cNvPr id="13" name="Text 10"/>
          <p:cNvSpPr/>
          <p:nvPr/>
        </p:nvSpPr>
        <p:spPr>
          <a:xfrm>
            <a:off x="822960" y="5577840"/>
            <a:ext cx="10515600" cy="5486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Fields, because the drawing has to survive between ticks.</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arrowsaltv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4 · READING THE FIELDS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Top to bottom in the code, floor up on the robot</a:t>
            </a:r>
            <a:endParaRPr lang="en-US" sz="3000" dirty="0"/>
          </a:p>
        </p:txBody>
      </p:sp>
      <p:sp>
        <p:nvSpPr>
          <p:cNvPr id="6" name="Shape 3"/>
          <p:cNvSpPr/>
          <p:nvPr/>
        </p:nvSpPr>
        <p:spPr>
          <a:xfrm>
            <a:off x="640080" y="1508760"/>
            <a:ext cx="4754880" cy="4709160"/>
          </a:xfrm>
          <a:prstGeom prst="roundRect">
            <a:avLst>
              <a:gd name="adj" fmla="val 2330"/>
            </a:avLst>
          </a:prstGeom>
          <a:solidFill>
            <a:srgbClr val="132A4C"/>
          </a:solidFill>
          <a:ln/>
        </p:spPr>
      </p:sp>
      <p:sp>
        <p:nvSpPr>
          <p:cNvPr id="7" name="Shape 4"/>
          <p:cNvSpPr/>
          <p:nvPr/>
        </p:nvSpPr>
        <p:spPr>
          <a:xfrm>
            <a:off x="914400" y="1737360"/>
            <a:ext cx="2103120" cy="4206240"/>
          </a:xfrm>
          <a:prstGeom prst="rect">
            <a:avLst/>
          </a:prstGeom>
          <a:solidFill>
            <a:srgbClr val="0B1A33"/>
          </a:solidFill>
          <a:ln w="12700">
            <a:solidFill>
              <a:srgbClr val="3A5378"/>
            </a:solidFill>
            <a:prstDash val="solid"/>
          </a:ln>
        </p:spPr>
      </p:sp>
      <p:sp>
        <p:nvSpPr>
          <p:cNvPr id="8" name="Shape 5"/>
          <p:cNvSpPr/>
          <p:nvPr/>
        </p:nvSpPr>
        <p:spPr>
          <a:xfrm>
            <a:off x="1965960" y="3419856"/>
            <a:ext cx="0" cy="2523744"/>
          </a:xfrm>
          <a:prstGeom prst="line">
            <a:avLst/>
          </a:prstGeom>
          <a:noFill/>
          <a:ln w="76200">
            <a:solidFill>
              <a:srgbClr val="FFA500"/>
            </a:solidFill>
            <a:prstDash val="solid"/>
          </a:ln>
        </p:spPr>
      </p:sp>
      <p:sp>
        <p:nvSpPr>
          <p:cNvPr id="9" name="Shape 6"/>
          <p:cNvSpPr/>
          <p:nvPr/>
        </p:nvSpPr>
        <p:spPr>
          <a:xfrm>
            <a:off x="1965960" y="3419856"/>
            <a:ext cx="525780" cy="0"/>
          </a:xfrm>
          <a:prstGeom prst="line">
            <a:avLst/>
          </a:prstGeom>
          <a:noFill/>
          <a:ln w="50800">
            <a:solidFill>
              <a:srgbClr val="B8C4D6"/>
            </a:solidFill>
            <a:prstDash val="solid"/>
          </a:ln>
        </p:spPr>
      </p:sp>
      <p:sp>
        <p:nvSpPr>
          <p:cNvPr id="10" name="Shape 7"/>
          <p:cNvSpPr/>
          <p:nvPr/>
        </p:nvSpPr>
        <p:spPr>
          <a:xfrm>
            <a:off x="1883664" y="5861304"/>
            <a:ext cx="164592" cy="164592"/>
          </a:xfrm>
          <a:prstGeom prst="ellipse">
            <a:avLst/>
          </a:prstGeom>
          <a:solidFill>
            <a:srgbClr val="FFFFFF"/>
          </a:solidFill>
          <a:ln/>
        </p:spPr>
      </p:sp>
      <p:sp>
        <p:nvSpPr>
          <p:cNvPr id="11" name="Text 8"/>
          <p:cNvSpPr/>
          <p:nvPr/>
        </p:nvSpPr>
        <p:spPr>
          <a:xfrm>
            <a:off x="2651760" y="3236976"/>
            <a:ext cx="2103120" cy="365760"/>
          </a:xfrm>
          <a:prstGeom prst="rect">
            <a:avLst/>
          </a:prstGeom>
          <a:noFill/>
          <a:ln/>
        </p:spPr>
        <p:txBody>
          <a:bodyPr wrap="square" lIns="0" tIns="0" rIns="0" bIns="0" rtlCol="0" anchor="ctr"/>
          <a:lstStyle/>
          <a:p>
            <a:pPr indent="0" marL="0">
              <a:buNone/>
            </a:pPr>
            <a:r>
              <a:rPr lang="en-US" sz="2000" b="1" dirty="0">
                <a:solidFill>
                  <a:srgbClr val="B8C4D6"/>
                </a:solidFill>
                <a:latin typeface="Courier New" pitchFamily="34" charset="0"/>
                <a:ea typeface="Courier New" pitchFamily="34" charset="-122"/>
                <a:cs typeface="Courier New" pitchFamily="34" charset="-120"/>
              </a:rPr>
              <a:t>m_effector</a:t>
            </a:r>
            <a:endParaRPr lang="en-US" sz="2000" dirty="0"/>
          </a:p>
        </p:txBody>
      </p:sp>
      <p:sp>
        <p:nvSpPr>
          <p:cNvPr id="12" name="Text 9"/>
          <p:cNvSpPr/>
          <p:nvPr/>
        </p:nvSpPr>
        <p:spPr>
          <a:xfrm>
            <a:off x="2194560" y="4498848"/>
            <a:ext cx="2103120" cy="365760"/>
          </a:xfrm>
          <a:prstGeom prst="rect">
            <a:avLst/>
          </a:prstGeom>
          <a:noFill/>
          <a:ln/>
        </p:spPr>
        <p:txBody>
          <a:bodyPr wrap="square" lIns="0" tIns="0" rIns="0" bIns="0" rtlCol="0" anchor="ctr"/>
          <a:lstStyle/>
          <a:p>
            <a:pPr indent="0" marL="0">
              <a:buNone/>
            </a:pPr>
            <a:r>
              <a:rPr lang="en-US" sz="2000" b="1" dirty="0">
                <a:solidFill>
                  <a:srgbClr val="FFA500"/>
                </a:solidFill>
                <a:latin typeface="Courier New" pitchFamily="34" charset="0"/>
                <a:ea typeface="Courier New" pitchFamily="34" charset="-122"/>
                <a:cs typeface="Courier New" pitchFamily="34" charset="-120"/>
              </a:rPr>
              <a:t>m_carriage</a:t>
            </a:r>
            <a:endParaRPr lang="en-US" sz="2000" dirty="0"/>
          </a:p>
        </p:txBody>
      </p:sp>
      <p:sp>
        <p:nvSpPr>
          <p:cNvPr id="13" name="Text 10"/>
          <p:cNvSpPr/>
          <p:nvPr/>
        </p:nvSpPr>
        <p:spPr>
          <a:xfrm>
            <a:off x="2194560" y="5532120"/>
            <a:ext cx="1828800" cy="365760"/>
          </a:xfrm>
          <a:prstGeom prst="rect">
            <a:avLst/>
          </a:prstGeom>
          <a:noFill/>
          <a:ln/>
        </p:spPr>
        <p:txBody>
          <a:bodyPr wrap="square" lIns="0" tIns="0" rIns="0" bIns="0" rtlCol="0" anchor="ctr"/>
          <a:lstStyle/>
          <a:p>
            <a:pPr indent="0" marL="0">
              <a:buNone/>
            </a:pPr>
            <a:r>
              <a:rPr lang="en-US" sz="2000" b="1" dirty="0">
                <a:solidFill>
                  <a:srgbClr val="FFFFFF"/>
                </a:solidFill>
                <a:latin typeface="Courier New" pitchFamily="34" charset="0"/>
                <a:ea typeface="Courier New" pitchFamily="34" charset="-122"/>
                <a:cs typeface="Courier New" pitchFamily="34" charset="-120"/>
              </a:rPr>
              <a:t>m_base</a:t>
            </a:r>
            <a:endParaRPr lang="en-US" sz="2000" dirty="0"/>
          </a:p>
        </p:txBody>
      </p:sp>
      <p:sp>
        <p:nvSpPr>
          <p:cNvPr id="14" name="Shape 11"/>
          <p:cNvSpPr/>
          <p:nvPr/>
        </p:nvSpPr>
        <p:spPr>
          <a:xfrm>
            <a:off x="5669280" y="1508760"/>
            <a:ext cx="5852160" cy="1051560"/>
          </a:xfrm>
          <a:prstGeom prst="roundRect">
            <a:avLst>
              <a:gd name="adj" fmla="val 8696"/>
            </a:avLst>
          </a:prstGeom>
          <a:solidFill>
            <a:srgbClr val="132A4C"/>
          </a:solidFill>
          <a:ln/>
        </p:spPr>
      </p:sp>
      <p:sp>
        <p:nvSpPr>
          <p:cNvPr id="15" name="Text 12"/>
          <p:cNvSpPr/>
          <p:nvPr/>
        </p:nvSpPr>
        <p:spPr>
          <a:xfrm>
            <a:off x="5897880" y="1618488"/>
            <a:ext cx="5394960" cy="365760"/>
          </a:xfrm>
          <a:prstGeom prst="rect">
            <a:avLst/>
          </a:prstGeom>
          <a:noFill/>
          <a:ln/>
        </p:spPr>
        <p:txBody>
          <a:bodyPr wrap="square" lIns="0" tIns="0" rIns="0" bIns="0" rtlCol="0" anchor="ctr"/>
          <a:lstStyle/>
          <a:p>
            <a:pPr indent="0" marL="0">
              <a:buNone/>
            </a:pPr>
            <a:r>
              <a:rPr lang="en-US" sz="2000" b="1" dirty="0">
                <a:solidFill>
                  <a:srgbClr val="1B9AAA"/>
                </a:solidFill>
                <a:latin typeface="Courier New" pitchFamily="34" charset="0"/>
                <a:ea typeface="Courier New" pitchFamily="34" charset="-122"/>
                <a:cs typeface="Courier New" pitchFamily="34" charset="-120"/>
              </a:rPr>
              <a:t>m_mechanism</a:t>
            </a:r>
            <a:endParaRPr lang="en-US" sz="2000" dirty="0"/>
          </a:p>
        </p:txBody>
      </p:sp>
      <p:sp>
        <p:nvSpPr>
          <p:cNvPr id="16" name="Text 13"/>
          <p:cNvSpPr/>
          <p:nvPr/>
        </p:nvSpPr>
        <p:spPr>
          <a:xfrm>
            <a:off x="5897880" y="2029968"/>
            <a:ext cx="53949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The window: 1 m wide, 2 m tall.</a:t>
            </a:r>
            <a:endParaRPr lang="en-US" sz="2000" dirty="0"/>
          </a:p>
        </p:txBody>
      </p:sp>
      <p:sp>
        <p:nvSpPr>
          <p:cNvPr id="17" name="Shape 14"/>
          <p:cNvSpPr/>
          <p:nvPr/>
        </p:nvSpPr>
        <p:spPr>
          <a:xfrm>
            <a:off x="5669280" y="2697480"/>
            <a:ext cx="5852160" cy="1051560"/>
          </a:xfrm>
          <a:prstGeom prst="roundRect">
            <a:avLst>
              <a:gd name="adj" fmla="val 8696"/>
            </a:avLst>
          </a:prstGeom>
          <a:solidFill>
            <a:srgbClr val="132A4C"/>
          </a:solidFill>
          <a:ln/>
        </p:spPr>
      </p:sp>
      <p:sp>
        <p:nvSpPr>
          <p:cNvPr id="18" name="Text 15"/>
          <p:cNvSpPr/>
          <p:nvPr/>
        </p:nvSpPr>
        <p:spPr>
          <a:xfrm>
            <a:off x="5897880" y="2807208"/>
            <a:ext cx="5394960" cy="365760"/>
          </a:xfrm>
          <a:prstGeom prst="rect">
            <a:avLst/>
          </a:prstGeom>
          <a:noFill/>
          <a:ln/>
        </p:spPr>
        <p:txBody>
          <a:bodyPr wrap="square" lIns="0" tIns="0" rIns="0" bIns="0" rtlCol="0" anchor="ctr"/>
          <a:lstStyle/>
          <a:p>
            <a:pPr indent="0" marL="0">
              <a:buNone/>
            </a:pPr>
            <a:r>
              <a:rPr lang="en-US" sz="2000" b="1" dirty="0">
                <a:solidFill>
                  <a:srgbClr val="1B9AAA"/>
                </a:solidFill>
                <a:latin typeface="Courier New" pitchFamily="34" charset="0"/>
                <a:ea typeface="Courier New" pitchFamily="34" charset="-122"/>
                <a:cs typeface="Courier New" pitchFamily="34" charset="-120"/>
              </a:rPr>
              <a:t>m_base</a:t>
            </a:r>
            <a:endParaRPr lang="en-US" sz="2000" dirty="0"/>
          </a:p>
        </p:txBody>
      </p:sp>
      <p:sp>
        <p:nvSpPr>
          <p:cNvPr id="19" name="Text 16"/>
          <p:cNvSpPr/>
          <p:nvPr/>
        </p:nvSpPr>
        <p:spPr>
          <a:xfrm>
            <a:off x="5897880" y="3218688"/>
            <a:ext cx="53949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Dead center, on the floor.</a:t>
            </a:r>
            <a:endParaRPr lang="en-US" sz="2000" dirty="0"/>
          </a:p>
        </p:txBody>
      </p:sp>
      <p:sp>
        <p:nvSpPr>
          <p:cNvPr id="20" name="Shape 17"/>
          <p:cNvSpPr/>
          <p:nvPr/>
        </p:nvSpPr>
        <p:spPr>
          <a:xfrm>
            <a:off x="5669280" y="3886200"/>
            <a:ext cx="5852160" cy="1051560"/>
          </a:xfrm>
          <a:prstGeom prst="roundRect">
            <a:avLst>
              <a:gd name="adj" fmla="val 8696"/>
            </a:avLst>
          </a:prstGeom>
          <a:solidFill>
            <a:srgbClr val="132A4C"/>
          </a:solidFill>
          <a:ln/>
        </p:spPr>
      </p:sp>
      <p:sp>
        <p:nvSpPr>
          <p:cNvPr id="21" name="Text 18"/>
          <p:cNvSpPr/>
          <p:nvPr/>
        </p:nvSpPr>
        <p:spPr>
          <a:xfrm>
            <a:off x="5897880" y="3995928"/>
            <a:ext cx="5394960" cy="365760"/>
          </a:xfrm>
          <a:prstGeom prst="rect">
            <a:avLst/>
          </a:prstGeom>
          <a:noFill/>
          <a:ln/>
        </p:spPr>
        <p:txBody>
          <a:bodyPr wrap="square" lIns="0" tIns="0" rIns="0" bIns="0" rtlCol="0" anchor="ctr"/>
          <a:lstStyle/>
          <a:p>
            <a:pPr indent="0" marL="0">
              <a:buNone/>
            </a:pPr>
            <a:r>
              <a:rPr lang="en-US" sz="2000" b="1" dirty="0">
                <a:solidFill>
                  <a:srgbClr val="1B9AAA"/>
                </a:solidFill>
                <a:latin typeface="Courier New" pitchFamily="34" charset="0"/>
                <a:ea typeface="Courier New" pitchFamily="34" charset="-122"/>
                <a:cs typeface="Courier New" pitchFamily="34" charset="-120"/>
              </a:rPr>
              <a:t>m_carriage</a:t>
            </a:r>
            <a:endParaRPr lang="en-US" sz="2000" dirty="0"/>
          </a:p>
        </p:txBody>
      </p:sp>
      <p:sp>
        <p:nvSpPr>
          <p:cNvPr id="22" name="Text 19"/>
          <p:cNvSpPr/>
          <p:nvPr/>
        </p:nvSpPr>
        <p:spPr>
          <a:xfrm>
            <a:off x="5897880" y="4407408"/>
            <a:ext cx="53949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Straight up at 90°, length 0 to start.</a:t>
            </a:r>
            <a:endParaRPr lang="en-US" sz="2000" dirty="0"/>
          </a:p>
        </p:txBody>
      </p:sp>
      <p:sp>
        <p:nvSpPr>
          <p:cNvPr id="23" name="Shape 20"/>
          <p:cNvSpPr/>
          <p:nvPr/>
        </p:nvSpPr>
        <p:spPr>
          <a:xfrm>
            <a:off x="5669280" y="5074920"/>
            <a:ext cx="5852160" cy="1051560"/>
          </a:xfrm>
          <a:prstGeom prst="roundRect">
            <a:avLst>
              <a:gd name="adj" fmla="val 8696"/>
            </a:avLst>
          </a:prstGeom>
          <a:solidFill>
            <a:srgbClr val="132A4C"/>
          </a:solidFill>
          <a:ln/>
        </p:spPr>
      </p:sp>
      <p:sp>
        <p:nvSpPr>
          <p:cNvPr id="24" name="Text 21"/>
          <p:cNvSpPr/>
          <p:nvPr/>
        </p:nvSpPr>
        <p:spPr>
          <a:xfrm>
            <a:off x="5897880" y="5184648"/>
            <a:ext cx="5394960" cy="365760"/>
          </a:xfrm>
          <a:prstGeom prst="rect">
            <a:avLst/>
          </a:prstGeom>
          <a:noFill/>
          <a:ln/>
        </p:spPr>
        <p:txBody>
          <a:bodyPr wrap="square" lIns="0" tIns="0" rIns="0" bIns="0" rtlCol="0" anchor="ctr"/>
          <a:lstStyle/>
          <a:p>
            <a:pPr indent="0" marL="0">
              <a:buNone/>
            </a:pPr>
            <a:r>
              <a:rPr lang="en-US" sz="2000" b="1" dirty="0">
                <a:solidFill>
                  <a:srgbClr val="1B9AAA"/>
                </a:solidFill>
                <a:latin typeface="Courier New" pitchFamily="34" charset="0"/>
                <a:ea typeface="Courier New" pitchFamily="34" charset="-122"/>
                <a:cs typeface="Courier New" pitchFamily="34" charset="-120"/>
              </a:rPr>
              <a:t>m_effector</a:t>
            </a:r>
            <a:endParaRPr lang="en-US" sz="2000" dirty="0"/>
          </a:p>
        </p:txBody>
      </p:sp>
      <p:sp>
        <p:nvSpPr>
          <p:cNvPr id="25" name="Text 22"/>
          <p:cNvSpPr/>
          <p:nvPr/>
        </p:nvSpPr>
        <p:spPr>
          <a:xfrm>
            <a:off x="5897880" y="5596128"/>
            <a:ext cx="5394960" cy="411480"/>
          </a:xfrm>
          <a:prstGeom prst="rect">
            <a:avLst/>
          </a:prstGeom>
          <a:noFill/>
          <a:ln/>
        </p:spPr>
        <p:txBody>
          <a:bodyPr wrap="square" lIns="0" tIns="0" rIns="0" bIns="0" rtlCol="0" anchor="ctr"/>
          <a:lstStyle/>
          <a:p>
            <a:pPr indent="0" marL="0">
              <a:buNone/>
            </a:pPr>
            <a:r>
              <a:rPr lang="en-US" sz="2000" dirty="0">
                <a:solidFill>
                  <a:srgbClr val="D7E3F4"/>
                </a:solidFill>
                <a:latin typeface="Calibri" pitchFamily="34" charset="0"/>
                <a:ea typeface="Calibri" pitchFamily="34" charset="-122"/>
                <a:cs typeface="Calibri" pitchFamily="34" charset="-120"/>
              </a:rPr>
              <a:t>On the carriage, at −90°: sideways.</a:t>
            </a:r>
            <a:endParaRPr lang="en-US" sz="2000" dirty="0"/>
          </a:p>
        </p:txBody>
      </p:sp>
      <p:sp>
        <p:nvSpPr>
          <p:cNvPr id="26" name="Text 2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27" name="Text 2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28"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n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4 · TWO DETAILS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append hands back the child, angles are relative</a:t>
            </a:r>
            <a:endParaRPr lang="en-US" sz="3000" dirty="0"/>
          </a:p>
        </p:txBody>
      </p:sp>
      <p:sp>
        <p:nvSpPr>
          <p:cNvPr id="6" name="Shape 3"/>
          <p:cNvSpPr/>
          <p:nvPr/>
        </p:nvSpPr>
        <p:spPr>
          <a:xfrm>
            <a:off x="640080" y="1508760"/>
            <a:ext cx="10881360" cy="2240280"/>
          </a:xfrm>
          <a:prstGeom prst="roundRect">
            <a:avLst>
              <a:gd name="adj" fmla="val 4082"/>
            </a:avLst>
          </a:prstGeom>
          <a:solidFill>
            <a:srgbClr val="132A4C"/>
          </a:solidFill>
          <a:ln/>
        </p:spPr>
      </p:sp>
      <p:sp>
        <p:nvSpPr>
          <p:cNvPr id="7" name="Text 4"/>
          <p:cNvSpPr/>
          <p:nvPr/>
        </p:nvSpPr>
        <p:spPr>
          <a:xfrm>
            <a:off x="914400" y="1783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append hands you back what you appended</a:t>
            </a:r>
            <a:endParaRPr lang="en-US" sz="2200" dirty="0"/>
          </a:p>
        </p:txBody>
      </p:sp>
      <p:sp>
        <p:nvSpPr>
          <p:cNvPr id="8" name="Text 5"/>
          <p:cNvSpPr/>
          <p:nvPr/>
        </p:nvSpPr>
        <p:spPr>
          <a:xfrm>
            <a:off x="914400" y="236093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Construct the ligament, hand it to its parent, keep a reference to move it later — one statement, no temporary variable.</a:t>
            </a:r>
            <a:endParaRPr lang="en-US" sz="2000" dirty="0"/>
          </a:p>
        </p:txBody>
      </p:sp>
      <p:sp>
        <p:nvSpPr>
          <p:cNvPr id="9" name="Shape 6"/>
          <p:cNvSpPr/>
          <p:nvPr/>
        </p:nvSpPr>
        <p:spPr>
          <a:xfrm>
            <a:off x="640080" y="3977640"/>
            <a:ext cx="10881360" cy="2240280"/>
          </a:xfrm>
          <a:prstGeom prst="roundRect">
            <a:avLst>
              <a:gd name="adj" fmla="val 4082"/>
            </a:avLst>
          </a:prstGeom>
          <a:solidFill>
            <a:srgbClr val="132A4C"/>
          </a:solidFill>
          <a:ln/>
        </p:spPr>
      </p:sp>
      <p:sp>
        <p:nvSpPr>
          <p:cNvPr id="10" name="Text 7"/>
          <p:cNvSpPr/>
          <p:nvPr/>
        </p:nvSpPr>
        <p:spPr>
          <a:xfrm>
            <a:off x="914400" y="42519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A child's angle is measured from its parent</a:t>
            </a:r>
            <a:endParaRPr lang="en-US" sz="2200" dirty="0"/>
          </a:p>
        </p:txBody>
      </p:sp>
      <p:sp>
        <p:nvSpPr>
          <p:cNvPr id="11" name="Text 8"/>
          <p:cNvSpPr/>
          <p:nvPr/>
        </p:nvSpPr>
        <p:spPr>
          <a:xfrm>
            <a:off x="914400" y="482981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−90° means 90° clockwise from the carriage, which points up — so the effector points right. Lesson 15's camera Transform3d was the same idea.</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11</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ELEVATOR.JAVA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Move it, then log it — every tick</a:t>
            </a:r>
            <a:endParaRPr lang="en-US" sz="3000" dirty="0"/>
          </a:p>
        </p:txBody>
      </p:sp>
      <p:sp>
        <p:nvSpPr>
          <p:cNvPr id="6" name="Shape 3"/>
          <p:cNvSpPr/>
          <p:nvPr/>
        </p:nvSpPr>
        <p:spPr>
          <a:xfrm>
            <a:off x="640080" y="1280160"/>
            <a:ext cx="10881360" cy="3520440"/>
          </a:xfrm>
          <a:prstGeom prst="roundRect">
            <a:avLst>
              <a:gd name="adj" fmla="val 311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Update periodic() — add this after the existing telemetry calls</a:t>
            </a:r>
            <a:endParaRPr lang="en-US" sz="1500" dirty="0"/>
          </a:p>
        </p:txBody>
      </p:sp>
      <p:sp>
        <p:nvSpPr>
          <p:cNvPr id="11" name="Text 8"/>
          <p:cNvSpPr/>
          <p:nvPr/>
        </p:nvSpPr>
        <p:spPr>
          <a:xfrm>
            <a:off x="914400" y="1737360"/>
            <a:ext cx="10195560" cy="286207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Telemetry.log("Elevator/GoalMeters", m_goal.in(Meters));</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The picture is built once and changed every tick; only the carriage</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changes, and the effector rides along with it for free. Then log it,</a:t>
            </a: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 like every number above: the log is a snapshot of the drawing right now.</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m_carriage.setLength(m_inputs.heightMeters);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m_carriage.setColor(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atGoal() ? ElevatorConstants.kAtGoalColor : ElevatorConstants.kMovingColor);</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Telemetry.log("Elevator/Mechanism", m_mechanism);</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p:txBody>
      </p:sp>
      <p:sp>
        <p:nvSpPr>
          <p:cNvPr id="12" name="Shape 9"/>
          <p:cNvSpPr/>
          <p:nvPr/>
        </p:nvSpPr>
        <p:spPr>
          <a:xfrm>
            <a:off x="640080" y="4983480"/>
            <a:ext cx="10881360" cy="1280160"/>
          </a:xfrm>
          <a:prstGeom prst="roundRect">
            <a:avLst>
              <a:gd name="adj" fmla="val 7143"/>
            </a:avLst>
          </a:prstGeom>
          <a:solidFill>
            <a:srgbClr val="F3F6FA"/>
          </a:solidFill>
          <a:ln/>
        </p:spPr>
      </p:sp>
      <p:sp>
        <p:nvSpPr>
          <p:cNvPr id="13" name="Text 10"/>
          <p:cNvSpPr/>
          <p:nvPr/>
        </p:nvSpPr>
        <p:spPr>
          <a:xfrm>
            <a:off x="868680" y="5212080"/>
            <a:ext cx="10424160" cy="8229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setColor carries information: orange while it travels, green the moment it settles. atGoal() was already computed.</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amera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5 · LOGGED LIKE A NUMBER</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Telemetry.log sends what it looks like right now</a:t>
            </a:r>
            <a:endParaRPr lang="en-US" sz="3000" dirty="0"/>
          </a:p>
        </p:txBody>
      </p:sp>
      <p:sp>
        <p:nvSpPr>
          <p:cNvPr id="6" name="Shape 3"/>
          <p:cNvSpPr/>
          <p:nvPr/>
        </p:nvSpPr>
        <p:spPr>
          <a:xfrm>
            <a:off x="640080" y="1508760"/>
            <a:ext cx="5303520" cy="3291840"/>
          </a:xfrm>
          <a:prstGeom prst="roundRect">
            <a:avLst>
              <a:gd name="adj" fmla="val 2778"/>
            </a:avLst>
          </a:prstGeom>
          <a:solidFill>
            <a:srgbClr val="132A4C"/>
          </a:solidFill>
          <a:ln/>
        </p:spPr>
      </p:sp>
      <p:sp>
        <p:nvSpPr>
          <p:cNvPr id="7" name="Text 4"/>
          <p:cNvSpPr/>
          <p:nvPr/>
        </p:nvSpPr>
        <p:spPr>
          <a:xfrm>
            <a:off x="868680" y="1737360"/>
            <a:ext cx="4846320" cy="365760"/>
          </a:xfrm>
          <a:prstGeom prst="rect">
            <a:avLst/>
          </a:prstGeom>
          <a:noFill/>
          <a:ln/>
        </p:spPr>
        <p:txBody>
          <a:bodyPr wrap="square" lIns="0" tIns="0" rIns="0" bIns="0" rtlCol="0" anchor="ctr"/>
          <a:lstStyle/>
          <a:p>
            <a:pPr indent="0" marL="0">
              <a:buNone/>
            </a:pPr>
            <a:r>
              <a:rPr lang="en-US" sz="2000" b="1" spc="50" kern="0" dirty="0">
                <a:solidFill>
                  <a:srgbClr val="1B9AAA"/>
                </a:solidFill>
                <a:latin typeface="Calibri" pitchFamily="34" charset="0"/>
                <a:ea typeface="Calibri" pitchFamily="34" charset="-122"/>
                <a:cs typeface="Calibri" pitchFamily="34" charset="-120"/>
              </a:rPr>
              <a:t>LOGGED EVERY TICK</a:t>
            </a:r>
            <a:endParaRPr lang="en-US" sz="2000" dirty="0"/>
          </a:p>
        </p:txBody>
      </p:sp>
      <p:sp>
        <p:nvSpPr>
          <p:cNvPr id="8" name="Text 5"/>
          <p:cNvSpPr/>
          <p:nvPr/>
        </p:nvSpPr>
        <p:spPr>
          <a:xfrm>
            <a:off x="868680" y="21945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The viewer follows the carriage</a:t>
            </a:r>
            <a:endParaRPr lang="en-US" sz="2200" dirty="0"/>
          </a:p>
        </p:txBody>
      </p:sp>
      <p:sp>
        <p:nvSpPr>
          <p:cNvPr id="9" name="Text 6"/>
          <p:cNvSpPr/>
          <p:nvPr/>
        </p:nvSpPr>
        <p:spPr>
          <a:xfrm>
            <a:off x="868680" y="2772410"/>
            <a:ext cx="4846320" cy="17995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Change it, then log it, right after — like every number above.</a:t>
            </a:r>
            <a:endParaRPr lang="en-US" sz="2000" dirty="0"/>
          </a:p>
        </p:txBody>
      </p:sp>
      <p:sp>
        <p:nvSpPr>
          <p:cNvPr id="10" name="Shape 7"/>
          <p:cNvSpPr/>
          <p:nvPr/>
        </p:nvSpPr>
        <p:spPr>
          <a:xfrm>
            <a:off x="6217920" y="1508760"/>
            <a:ext cx="5303520" cy="3291840"/>
          </a:xfrm>
          <a:prstGeom prst="roundRect">
            <a:avLst>
              <a:gd name="adj" fmla="val 2778"/>
            </a:avLst>
          </a:prstGeom>
          <a:solidFill>
            <a:srgbClr val="132A4C"/>
          </a:solidFill>
          <a:ln/>
        </p:spPr>
      </p:sp>
      <p:sp>
        <p:nvSpPr>
          <p:cNvPr id="11" name="Text 8"/>
          <p:cNvSpPr/>
          <p:nvPr/>
        </p:nvSpPr>
        <p:spPr>
          <a:xfrm>
            <a:off x="6446520" y="1737360"/>
            <a:ext cx="484632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LOGGED ONCE</a:t>
            </a:r>
            <a:endParaRPr lang="en-US" sz="2000" dirty="0"/>
          </a:p>
        </p:txBody>
      </p:sp>
      <p:sp>
        <p:nvSpPr>
          <p:cNvPr id="12" name="Text 9"/>
          <p:cNvSpPr/>
          <p:nvPr/>
        </p:nvSpPr>
        <p:spPr>
          <a:xfrm>
            <a:off x="6446520" y="21945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Frozen at zero, forever</a:t>
            </a:r>
            <a:endParaRPr lang="en-US" sz="2200" dirty="0"/>
          </a:p>
        </p:txBody>
      </p:sp>
      <p:sp>
        <p:nvSpPr>
          <p:cNvPr id="13" name="Text 10"/>
          <p:cNvSpPr/>
          <p:nvPr/>
        </p:nvSpPr>
        <p:spPr>
          <a:xfrm>
            <a:off x="6446520" y="2772410"/>
            <a:ext cx="4846320" cy="179959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Log it only in the constructor and the viewer keeps that first snapshot.</a:t>
            </a:r>
            <a:endParaRPr lang="en-US" sz="2000" dirty="0"/>
          </a:p>
        </p:txBody>
      </p:sp>
      <p:sp>
        <p:nvSpPr>
          <p:cNvPr id="14" name="Shape 11"/>
          <p:cNvSpPr/>
          <p:nvPr/>
        </p:nvSpPr>
        <p:spPr>
          <a:xfrm>
            <a:off x="640080" y="5029200"/>
            <a:ext cx="10881360" cy="1188720"/>
          </a:xfrm>
          <a:prstGeom prst="roundRect">
            <a:avLst>
              <a:gd name="adj" fmla="val 7692"/>
            </a:avLst>
          </a:prstGeom>
          <a:solidFill>
            <a:srgbClr val="132A4C"/>
          </a:solidFill>
          <a:ln/>
        </p:spPr>
      </p:sp>
      <p:sp>
        <p:nvSpPr>
          <p:cNvPr id="15" name="Text 12"/>
          <p:cNvSpPr/>
          <p:nvPr/>
        </p:nvSpPr>
        <p:spPr>
          <a:xfrm>
            <a:off x="868680" y="5257800"/>
            <a:ext cx="10424160" cy="7315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The same rule Lesson 11's field follows. A drawing is logged like a number.</a:t>
            </a:r>
            <a:endParaRPr lang="en-US" sz="2000" dirty="0"/>
          </a:p>
        </p:txBody>
      </p:sp>
      <p:sp>
        <p:nvSpPr>
          <p:cNvPr id="16" name="Text 1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7" name="Text 1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13</a:t>
            </a:r>
            <a:endParaRPr lang="en-US" sz="2000" dirty="0"/>
          </a:p>
        </p:txBody>
      </p:sp>
      <p:pic>
        <p:nvPicPr>
          <p:cNvPr id="18"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n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THE PAYOFF</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One length changed. Two things moved.</a:t>
            </a:r>
            <a:endParaRPr lang="en-US" sz="3000" dirty="0"/>
          </a:p>
        </p:txBody>
      </p:sp>
      <p:sp>
        <p:nvSpPr>
          <p:cNvPr id="6" name="Shape 3"/>
          <p:cNvSpPr/>
          <p:nvPr/>
        </p:nvSpPr>
        <p:spPr>
          <a:xfrm>
            <a:off x="640080" y="1508760"/>
            <a:ext cx="5303520" cy="3611880"/>
          </a:xfrm>
          <a:prstGeom prst="roundRect">
            <a:avLst>
              <a:gd name="adj" fmla="val 3038"/>
            </a:avLst>
          </a:prstGeom>
          <a:solidFill>
            <a:srgbClr val="132A4C"/>
          </a:solidFill>
          <a:ln/>
        </p:spPr>
      </p:sp>
      <p:sp>
        <p:nvSpPr>
          <p:cNvPr id="7" name="Shape 4"/>
          <p:cNvSpPr/>
          <p:nvPr/>
        </p:nvSpPr>
        <p:spPr>
          <a:xfrm>
            <a:off x="1005840" y="1783080"/>
            <a:ext cx="1508760" cy="3017520"/>
          </a:xfrm>
          <a:prstGeom prst="rect">
            <a:avLst/>
          </a:prstGeom>
          <a:solidFill>
            <a:srgbClr val="0B1A33"/>
          </a:solidFill>
          <a:ln w="12700">
            <a:solidFill>
              <a:srgbClr val="3A5378"/>
            </a:solidFill>
            <a:prstDash val="solid"/>
          </a:ln>
        </p:spPr>
      </p:sp>
      <p:sp>
        <p:nvSpPr>
          <p:cNvPr id="8" name="Shape 5"/>
          <p:cNvSpPr/>
          <p:nvPr/>
        </p:nvSpPr>
        <p:spPr>
          <a:xfrm>
            <a:off x="1760220" y="4498848"/>
            <a:ext cx="0" cy="301752"/>
          </a:xfrm>
          <a:prstGeom prst="line">
            <a:avLst/>
          </a:prstGeom>
          <a:noFill/>
          <a:ln w="76200">
            <a:solidFill>
              <a:srgbClr val="FFA500"/>
            </a:solidFill>
            <a:prstDash val="solid"/>
          </a:ln>
        </p:spPr>
      </p:sp>
      <p:sp>
        <p:nvSpPr>
          <p:cNvPr id="9" name="Shape 6"/>
          <p:cNvSpPr/>
          <p:nvPr/>
        </p:nvSpPr>
        <p:spPr>
          <a:xfrm>
            <a:off x="1760220" y="4498848"/>
            <a:ext cx="377190" cy="0"/>
          </a:xfrm>
          <a:prstGeom prst="line">
            <a:avLst/>
          </a:prstGeom>
          <a:noFill/>
          <a:ln w="50800">
            <a:solidFill>
              <a:srgbClr val="B8C4D6"/>
            </a:solidFill>
            <a:prstDash val="solid"/>
          </a:ln>
        </p:spPr>
      </p:sp>
      <p:sp>
        <p:nvSpPr>
          <p:cNvPr id="10" name="Shape 7"/>
          <p:cNvSpPr/>
          <p:nvPr/>
        </p:nvSpPr>
        <p:spPr>
          <a:xfrm>
            <a:off x="1677924" y="4718304"/>
            <a:ext cx="164592" cy="164592"/>
          </a:xfrm>
          <a:prstGeom prst="ellipse">
            <a:avLst/>
          </a:prstGeom>
          <a:solidFill>
            <a:srgbClr val="FFFFFF"/>
          </a:solidFill>
          <a:ln/>
        </p:spPr>
      </p:sp>
      <p:sp>
        <p:nvSpPr>
          <p:cNvPr id="11" name="Text 8"/>
          <p:cNvSpPr/>
          <p:nvPr/>
        </p:nvSpPr>
        <p:spPr>
          <a:xfrm>
            <a:off x="2834640" y="1828800"/>
            <a:ext cx="2880360" cy="82296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Carriage at 0.20 m</a:t>
            </a:r>
            <a:endParaRPr lang="en-US" sz="2200" dirty="0"/>
          </a:p>
        </p:txBody>
      </p:sp>
      <p:sp>
        <p:nvSpPr>
          <p:cNvPr id="12" name="Text 9"/>
          <p:cNvSpPr/>
          <p:nvPr/>
        </p:nvSpPr>
        <p:spPr>
          <a:xfrm>
            <a:off x="2834640" y="2743200"/>
            <a:ext cx="2880360" cy="2011680"/>
          </a:xfrm>
          <a:prstGeom prst="rect">
            <a:avLst/>
          </a:prstGeom>
          <a:noFill/>
          <a:ln/>
        </p:spPr>
        <p:txBody>
          <a:bodyPr wrap="square" lIns="0" tIns="0" rIns="0" bIns="0" rtlCol="0" anchor="t"/>
          <a:lstStyle/>
          <a:p>
            <a:pPr indent="0" marL="0">
              <a:lnSpc>
                <a:spcPct val="110000"/>
              </a:lnSpc>
              <a:buNone/>
            </a:pPr>
            <a:r>
              <a:rPr lang="en-US" sz="2000" dirty="0">
                <a:solidFill>
                  <a:srgbClr val="D7E3F4"/>
                </a:solidFill>
                <a:latin typeface="Calibri" pitchFamily="34" charset="0"/>
                <a:ea typeface="Calibri" pitchFamily="34" charset="-122"/>
                <a:cs typeface="Calibri" pitchFamily="34" charset="-120"/>
              </a:rPr>
              <a:t>The effector sits at its top.</a:t>
            </a:r>
            <a:endParaRPr lang="en-US" sz="2000" dirty="0"/>
          </a:p>
        </p:txBody>
      </p:sp>
      <p:sp>
        <p:nvSpPr>
          <p:cNvPr id="13" name="Shape 10"/>
          <p:cNvSpPr/>
          <p:nvPr/>
        </p:nvSpPr>
        <p:spPr>
          <a:xfrm>
            <a:off x="6217920" y="1508760"/>
            <a:ext cx="5303520" cy="3611880"/>
          </a:xfrm>
          <a:prstGeom prst="roundRect">
            <a:avLst>
              <a:gd name="adj" fmla="val 3038"/>
            </a:avLst>
          </a:prstGeom>
          <a:solidFill>
            <a:srgbClr val="132A4C"/>
          </a:solidFill>
          <a:ln/>
        </p:spPr>
      </p:sp>
      <p:sp>
        <p:nvSpPr>
          <p:cNvPr id="14" name="Shape 11"/>
          <p:cNvSpPr/>
          <p:nvPr/>
        </p:nvSpPr>
        <p:spPr>
          <a:xfrm>
            <a:off x="6583680" y="1783080"/>
            <a:ext cx="1508760" cy="3017520"/>
          </a:xfrm>
          <a:prstGeom prst="rect">
            <a:avLst/>
          </a:prstGeom>
          <a:solidFill>
            <a:srgbClr val="0B1A33"/>
          </a:solidFill>
          <a:ln w="12700">
            <a:solidFill>
              <a:srgbClr val="3A5378"/>
            </a:solidFill>
            <a:prstDash val="solid"/>
          </a:ln>
        </p:spPr>
      </p:sp>
      <p:sp>
        <p:nvSpPr>
          <p:cNvPr id="15" name="Shape 12"/>
          <p:cNvSpPr/>
          <p:nvPr/>
        </p:nvSpPr>
        <p:spPr>
          <a:xfrm>
            <a:off x="7338060" y="3669030"/>
            <a:ext cx="0" cy="1131570"/>
          </a:xfrm>
          <a:prstGeom prst="line">
            <a:avLst/>
          </a:prstGeom>
          <a:noFill/>
          <a:ln w="76200">
            <a:solidFill>
              <a:srgbClr val="FFA500"/>
            </a:solidFill>
            <a:prstDash val="solid"/>
          </a:ln>
        </p:spPr>
      </p:sp>
      <p:sp>
        <p:nvSpPr>
          <p:cNvPr id="16" name="Shape 13"/>
          <p:cNvSpPr/>
          <p:nvPr/>
        </p:nvSpPr>
        <p:spPr>
          <a:xfrm>
            <a:off x="7338060" y="3669030"/>
            <a:ext cx="377190" cy="0"/>
          </a:xfrm>
          <a:prstGeom prst="line">
            <a:avLst/>
          </a:prstGeom>
          <a:noFill/>
          <a:ln w="50800">
            <a:solidFill>
              <a:srgbClr val="B8C4D6"/>
            </a:solidFill>
            <a:prstDash val="solid"/>
          </a:ln>
        </p:spPr>
      </p:sp>
      <p:sp>
        <p:nvSpPr>
          <p:cNvPr id="17" name="Shape 14"/>
          <p:cNvSpPr/>
          <p:nvPr/>
        </p:nvSpPr>
        <p:spPr>
          <a:xfrm>
            <a:off x="7255764" y="4718304"/>
            <a:ext cx="164592" cy="164592"/>
          </a:xfrm>
          <a:prstGeom prst="ellipse">
            <a:avLst/>
          </a:prstGeom>
          <a:solidFill>
            <a:srgbClr val="FFFFFF"/>
          </a:solidFill>
          <a:ln/>
        </p:spPr>
      </p:sp>
      <p:sp>
        <p:nvSpPr>
          <p:cNvPr id="18" name="Text 15"/>
          <p:cNvSpPr/>
          <p:nvPr/>
        </p:nvSpPr>
        <p:spPr>
          <a:xfrm>
            <a:off x="8412480" y="1828800"/>
            <a:ext cx="2880360" cy="82296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Carriage at 0.75 m</a:t>
            </a:r>
            <a:endParaRPr lang="en-US" sz="2200" dirty="0"/>
          </a:p>
        </p:txBody>
      </p:sp>
      <p:sp>
        <p:nvSpPr>
          <p:cNvPr id="19" name="Text 16"/>
          <p:cNvSpPr/>
          <p:nvPr/>
        </p:nvSpPr>
        <p:spPr>
          <a:xfrm>
            <a:off x="8412480" y="2743200"/>
            <a:ext cx="2880360" cy="2011680"/>
          </a:xfrm>
          <a:prstGeom prst="rect">
            <a:avLst/>
          </a:prstGeom>
          <a:noFill/>
          <a:ln/>
        </p:spPr>
        <p:txBody>
          <a:bodyPr wrap="square" lIns="0" tIns="0" rIns="0" bIns="0" rtlCol="0" anchor="t"/>
          <a:lstStyle/>
          <a:p>
            <a:pPr indent="0" marL="0">
              <a:lnSpc>
                <a:spcPct val="110000"/>
              </a:lnSpc>
              <a:buNone/>
            </a:pPr>
            <a:r>
              <a:rPr lang="en-US" sz="2000" dirty="0">
                <a:solidFill>
                  <a:srgbClr val="D7E3F4"/>
                </a:solidFill>
                <a:latin typeface="Calibri" pitchFamily="34" charset="0"/>
                <a:ea typeface="Calibri" pitchFamily="34" charset="-122"/>
                <a:cs typeface="Calibri" pitchFamily="34" charset="-120"/>
              </a:rPr>
              <a:t>The effector is 55 cm higher. No code moved it.</a:t>
            </a:r>
            <a:endParaRPr lang="en-US" sz="2000" dirty="0"/>
          </a:p>
        </p:txBody>
      </p:sp>
      <p:sp>
        <p:nvSpPr>
          <p:cNvPr id="20" name="Shape 17"/>
          <p:cNvSpPr/>
          <p:nvPr/>
        </p:nvSpPr>
        <p:spPr>
          <a:xfrm>
            <a:off x="640080" y="5349240"/>
            <a:ext cx="10881360" cy="868680"/>
          </a:xfrm>
          <a:prstGeom prst="roundRect">
            <a:avLst>
              <a:gd name="adj" fmla="val 10526"/>
            </a:avLst>
          </a:prstGeom>
          <a:solidFill>
            <a:srgbClr val="132A4C"/>
          </a:solidFill>
          <a:ln/>
        </p:spPr>
      </p:sp>
      <p:sp>
        <p:nvSpPr>
          <p:cNvPr id="21" name="Text 18"/>
          <p:cNvSpPr/>
          <p:nvPr/>
        </p:nvSpPr>
        <p:spPr>
          <a:xfrm>
            <a:off x="822960" y="5532120"/>
            <a:ext cx="10515600" cy="50292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Drawing a child always starts from wherever its parent ended.</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14</a:t>
            </a:r>
            <a:endParaRPr lang="en-US" sz="2000" dirty="0"/>
          </a:p>
        </p:txBody>
      </p:sp>
      <p:pic>
        <p:nvPicPr>
          <p:cNvPr id="2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ASSEMBLY VS. STRUCTURE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chain the drawing walks every tick</a:t>
            </a:r>
            <a:endParaRPr lang="en-US" sz="3000" dirty="0"/>
          </a:p>
        </p:txBody>
      </p:sp>
      <p:sp>
        <p:nvSpPr>
          <p:cNvPr id="6" name="Shape 3"/>
          <p:cNvSpPr/>
          <p:nvPr/>
        </p:nvSpPr>
        <p:spPr>
          <a:xfrm>
            <a:off x="640080" y="1508760"/>
            <a:ext cx="5303520" cy="2743200"/>
          </a:xfrm>
          <a:prstGeom prst="roundRect">
            <a:avLst>
              <a:gd name="adj" fmla="val 3333"/>
            </a:avLst>
          </a:prstGeom>
          <a:solidFill>
            <a:srgbClr val="F3F6FA"/>
          </a:solidFill>
          <a:ln/>
        </p:spPr>
      </p:sp>
      <p:sp>
        <p:nvSpPr>
          <p:cNvPr id="7" name="Text 4"/>
          <p:cNvSpPr/>
          <p:nvPr/>
        </p:nvSpPr>
        <p:spPr>
          <a:xfrm>
            <a:off x="868680" y="1737360"/>
            <a:ext cx="484632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ASSEMBLY</a:t>
            </a:r>
            <a:endParaRPr lang="en-US" sz="2000" dirty="0"/>
          </a:p>
        </p:txBody>
      </p:sp>
      <p:sp>
        <p:nvSpPr>
          <p:cNvPr id="8" name="Text 5"/>
          <p:cNvSpPr/>
          <p:nvPr/>
        </p:nvSpPr>
        <p:spPr>
          <a:xfrm>
            <a:off x="868680" y="21945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SwerveModule holds two motors</a:t>
            </a:r>
            <a:endParaRPr lang="en-US" sz="2200" dirty="0"/>
          </a:p>
        </p:txBody>
      </p:sp>
      <p:sp>
        <p:nvSpPr>
          <p:cNvPr id="9" name="Text 6"/>
          <p:cNvSpPr/>
          <p:nvPr/>
        </p:nvSpPr>
        <p:spPr>
          <a:xfrm>
            <a:off x="868680" y="277241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Done the moment its constructor finishes.</a:t>
            </a:r>
            <a:endParaRPr lang="en-US" sz="2000" dirty="0"/>
          </a:p>
        </p:txBody>
      </p:sp>
      <p:sp>
        <p:nvSpPr>
          <p:cNvPr id="10" name="Shape 7"/>
          <p:cNvSpPr/>
          <p:nvPr/>
        </p:nvSpPr>
        <p:spPr>
          <a:xfrm>
            <a:off x="6217920" y="1508760"/>
            <a:ext cx="5303520" cy="2743200"/>
          </a:xfrm>
          <a:prstGeom prst="roundRect">
            <a:avLst>
              <a:gd name="adj" fmla="val 3333"/>
            </a:avLst>
          </a:prstGeom>
          <a:solidFill>
            <a:srgbClr val="F3F6FA"/>
          </a:solidFill>
          <a:ln/>
        </p:spPr>
      </p:sp>
      <p:sp>
        <p:nvSpPr>
          <p:cNvPr id="11" name="Text 8"/>
          <p:cNvSpPr/>
          <p:nvPr/>
        </p:nvSpPr>
        <p:spPr>
          <a:xfrm>
            <a:off x="6446520" y="1737360"/>
            <a:ext cx="484632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STRUCTURE</a:t>
            </a:r>
            <a:endParaRPr lang="en-US" sz="2000" dirty="0"/>
          </a:p>
        </p:txBody>
      </p:sp>
      <p:sp>
        <p:nvSpPr>
          <p:cNvPr id="12" name="Text 9"/>
          <p:cNvSpPr/>
          <p:nvPr/>
        </p:nvSpPr>
        <p:spPr>
          <a:xfrm>
            <a:off x="6446520" y="2194560"/>
            <a:ext cx="48463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base → carriage → effector</a:t>
            </a:r>
            <a:endParaRPr lang="en-US" sz="2200" dirty="0"/>
          </a:p>
        </p:txBody>
      </p:sp>
      <p:sp>
        <p:nvSpPr>
          <p:cNvPr id="13" name="Text 10"/>
          <p:cNvSpPr/>
          <p:nvPr/>
        </p:nvSpPr>
        <p:spPr>
          <a:xfrm>
            <a:off x="6446520" y="2772410"/>
            <a:ext cx="4846320" cy="125095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Change one link and everything downstream follows.</a:t>
            </a:r>
            <a:endParaRPr lang="en-US" sz="2000" dirty="0"/>
          </a:p>
        </p:txBody>
      </p:sp>
      <p:sp>
        <p:nvSpPr>
          <p:cNvPr id="14" name="Shape 11"/>
          <p:cNvSpPr/>
          <p:nvPr/>
        </p:nvSpPr>
        <p:spPr>
          <a:xfrm>
            <a:off x="640080" y="4480560"/>
            <a:ext cx="10881360" cy="1737360"/>
          </a:xfrm>
          <a:prstGeom prst="roundRect">
            <a:avLst>
              <a:gd name="adj" fmla="val 5263"/>
            </a:avLst>
          </a:prstGeom>
          <a:solidFill>
            <a:srgbClr val="0B1F3A"/>
          </a:solidFill>
          <a:ln/>
        </p:spPr>
      </p:sp>
      <p:sp>
        <p:nvSpPr>
          <p:cNvPr id="15" name="Text 12"/>
          <p:cNvSpPr/>
          <p:nvPr/>
        </p:nvSpPr>
        <p:spPr>
          <a:xfrm>
            <a:off x="914400" y="4617720"/>
            <a:ext cx="10332720" cy="1463040"/>
          </a:xfrm>
          <a:prstGeom prst="rect">
            <a:avLst/>
          </a:prstGeom>
          <a:noFill/>
          <a:ln/>
        </p:spPr>
        <p:txBody>
          <a:bodyPr wrap="square" lIns="0" tIns="0" rIns="0" bIns="0" rtlCol="0" anchor="ctr"/>
          <a:lstStyle/>
          <a:p>
            <a:pPr indent="0" marL="0">
              <a:lnSpc>
                <a:spcPct val="115000"/>
              </a:lnSpc>
              <a:buNone/>
            </a:pPr>
            <a:r>
              <a:rPr lang="en-US" sz="2100" dirty="0">
                <a:solidFill>
                  <a:srgbClr val="FFFFFF"/>
                </a:solidFill>
                <a:latin typeface="Cambria" pitchFamily="34" charset="0"/>
                <a:ea typeface="Cambria" pitchFamily="34" charset="-122"/>
                <a:cs typeface="Cambria" pitchFamily="34" charset="-120"/>
              </a:rPr>
              <a:t>m_effector has no motor behind it, and you won't touch it again. </a:t>
            </a:r>
            <a:pPr indent="0" marL="0">
              <a:lnSpc>
                <a:spcPct val="115000"/>
              </a:lnSpc>
              <a:buNone/>
            </a:pPr>
            <a:r>
              <a:rPr lang="en-US" sz="2100" b="1" dirty="0">
                <a:solidFill>
                  <a:srgbClr val="FF5010"/>
                </a:solidFill>
                <a:latin typeface="Cambria" pitchFamily="34" charset="0"/>
                <a:ea typeface="Cambria" pitchFamily="34" charset="-122"/>
                <a:cs typeface="Cambria" pitchFamily="34" charset="-120"/>
              </a:rPr>
              <a:t>That is the point: Lesson 20 puts a real arm there, and the two lines that move the carriage don't change.</a:t>
            </a:r>
            <a:endParaRPr lang="en-US" sz="2100" dirty="0"/>
          </a:p>
        </p:txBody>
      </p:sp>
      <p:sp>
        <p:nvSpPr>
          <p:cNvPr id="16" name="Text 1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7" name="Text 1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8"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WATCH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Press D-pad up and watch a line grow</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./gradlew simulateJava, then Teleoperated</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D-pad presets from Lesson 18 still drive it.</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AdvantageScope: add a Mechanism tab</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Source: /Telemetry/Elevator/Mechanism.</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Press D-pad up</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An orange line grows from the floor, a short stub riding at its top.</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Wait for it to settle</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line turns green. Down shrinks it; right stops it halfway.</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16</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READ ONE FROM THE OTHER</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graph and the picture are one event</a:t>
            </a:r>
            <a:endParaRPr lang="en-US" sz="3000" dirty="0"/>
          </a:p>
        </p:txBody>
      </p:sp>
      <p:sp>
        <p:nvSpPr>
          <p:cNvPr id="6" name="Shape 3"/>
          <p:cNvSpPr/>
          <p:nvPr/>
        </p:nvSpPr>
        <p:spPr>
          <a:xfrm>
            <a:off x="640080" y="1508760"/>
            <a:ext cx="10881360" cy="2103120"/>
          </a:xfrm>
          <a:prstGeom prst="roundRect">
            <a:avLst>
              <a:gd name="adj" fmla="val 4348"/>
            </a:avLst>
          </a:prstGeom>
          <a:solidFill>
            <a:srgbClr val="F3F6FA"/>
          </a:solidFill>
          <a:ln/>
        </p:spPr>
      </p:sp>
      <p:sp>
        <p:nvSpPr>
          <p:cNvPr id="7" name="Text 4"/>
          <p:cNvSpPr/>
          <p:nvPr/>
        </p:nvSpPr>
        <p:spPr>
          <a:xfrm>
            <a:off x="914400" y="1783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Put the Mechanism tab and the HeightMeters graph side by side</a:t>
            </a:r>
            <a:endParaRPr lang="en-US" sz="2200" dirty="0"/>
          </a:p>
        </p:txBody>
      </p:sp>
      <p:sp>
        <p:nvSpPr>
          <p:cNvPr id="8" name="Text 5"/>
          <p:cNvSpPr/>
          <p:nvPr/>
        </p:nvSpPr>
        <p:spPr>
          <a:xfrm>
            <a:off x="914400" y="2360930"/>
            <a:ext cx="10332720" cy="9766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Press a preset. The trace easing toward the goal and the line growing are the same event.</a:t>
            </a:r>
            <a:endParaRPr lang="en-US" sz="2000" dirty="0"/>
          </a:p>
        </p:txBody>
      </p:sp>
      <p:sp>
        <p:nvSpPr>
          <p:cNvPr id="9" name="Shape 6"/>
          <p:cNvSpPr/>
          <p:nvPr/>
        </p:nvSpPr>
        <p:spPr>
          <a:xfrm>
            <a:off x="640080" y="3840480"/>
            <a:ext cx="10881360" cy="2377440"/>
          </a:xfrm>
          <a:prstGeom prst="roundRect">
            <a:avLst>
              <a:gd name="adj" fmla="val 3846"/>
            </a:avLst>
          </a:prstGeom>
          <a:solidFill>
            <a:srgbClr val="F3F6FA"/>
          </a:solidFill>
          <a:ln/>
        </p:spPr>
      </p:sp>
      <p:sp>
        <p:nvSpPr>
          <p:cNvPr id="10" name="Text 7"/>
          <p:cNvSpPr/>
          <p:nvPr/>
        </p:nvSpPr>
        <p:spPr>
          <a:xfrm>
            <a:off x="914400" y="411480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Or glance at it inside SimGUI</a:t>
            </a:r>
            <a:endParaRPr lang="en-US" sz="2200" dirty="0"/>
          </a:p>
        </p:txBody>
      </p:sp>
      <p:sp>
        <p:nvSpPr>
          <p:cNvPr id="11" name="Text 8"/>
          <p:cNvSpPr/>
          <p:nvPr/>
        </p:nvSpPr>
        <p:spPr>
          <a:xfrm>
            <a:off x="914400" y="4692650"/>
            <a:ext cx="10332720" cy="125095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NetworkTables → Telemetry → Elevator → Mechanism. The quick look while sim is open; AdvantageScope for anything careful — same as Lesson 11's field.</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508760"/>
            <a:ext cx="5303520" cy="2286000"/>
          </a:xfrm>
          <a:prstGeom prst="roundRect">
            <a:avLst>
              <a:gd name="adj" fmla="val 4800"/>
            </a:avLst>
          </a:prstGeom>
          <a:solidFill>
            <a:srgbClr val="132A4C"/>
          </a:solidFill>
          <a:ln/>
        </p:spPr>
      </p:sp>
      <p:sp>
        <p:nvSpPr>
          <p:cNvPr id="7" name="Shape 4"/>
          <p:cNvSpPr/>
          <p:nvPr/>
        </p:nvSpPr>
        <p:spPr>
          <a:xfrm>
            <a:off x="960120" y="1737360"/>
            <a:ext cx="457200" cy="457200"/>
          </a:xfrm>
          <a:prstGeom prst="ellipse">
            <a:avLst/>
          </a:prstGeom>
          <a:solidFill>
            <a:srgbClr val="1B9AAA"/>
          </a:solidFill>
          <a:ln/>
        </p:spPr>
      </p:sp>
      <p:sp>
        <p:nvSpPr>
          <p:cNvPr id="8" name="Text 5"/>
          <p:cNvSpPr/>
          <p:nvPr/>
        </p:nvSpPr>
        <p:spPr>
          <a:xfrm>
            <a:off x="96012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Color by height</a:t>
            </a:r>
            <a:endParaRPr lang="en-US" sz="2000" dirty="0"/>
          </a:p>
        </p:txBody>
      </p:sp>
      <p:sp>
        <p:nvSpPr>
          <p:cNvPr id="10" name="Shape 7"/>
          <p:cNvSpPr/>
          <p:nvPr/>
        </p:nvSpPr>
        <p:spPr>
          <a:xfrm>
            <a:off x="4206240" y="1819656"/>
            <a:ext cx="1417320" cy="292608"/>
          </a:xfrm>
          <a:prstGeom prst="roundRect">
            <a:avLst>
              <a:gd name="adj" fmla="val 18750"/>
            </a:avLst>
          </a:prstGeom>
          <a:solidFill>
            <a:srgbClr val="FF5010"/>
          </a:solidFill>
          <a:ln/>
        </p:spPr>
      </p:sp>
      <p:sp>
        <p:nvSpPr>
          <p:cNvPr id="11" name="Text 8"/>
          <p:cNvSpPr/>
          <p:nvPr/>
        </p:nvSpPr>
        <p:spPr>
          <a:xfrm>
            <a:off x="420624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3317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One color below kScoreMid, another above: an if, one constant.</a:t>
            </a:r>
            <a:endParaRPr lang="en-US" sz="2000" dirty="0"/>
          </a:p>
        </p:txBody>
      </p:sp>
      <p:sp>
        <p:nvSpPr>
          <p:cNvPr id="13" name="Shape 10"/>
          <p:cNvSpPr/>
          <p:nvPr/>
        </p:nvSpPr>
        <p:spPr>
          <a:xfrm>
            <a:off x="6217920" y="1508760"/>
            <a:ext cx="5303520" cy="2286000"/>
          </a:xfrm>
          <a:prstGeom prst="roundRect">
            <a:avLst>
              <a:gd name="adj" fmla="val 4800"/>
            </a:avLst>
          </a:prstGeom>
          <a:solidFill>
            <a:srgbClr val="132A4C"/>
          </a:solidFill>
          <a:ln/>
        </p:spPr>
      </p:sp>
      <p:sp>
        <p:nvSpPr>
          <p:cNvPr id="14" name="Shape 11"/>
          <p:cNvSpPr/>
          <p:nvPr/>
        </p:nvSpPr>
        <p:spPr>
          <a:xfrm>
            <a:off x="6537960" y="1737360"/>
            <a:ext cx="457200" cy="457200"/>
          </a:xfrm>
          <a:prstGeom prst="ellipse">
            <a:avLst/>
          </a:prstGeom>
          <a:solidFill>
            <a:srgbClr val="1B9AAA"/>
          </a:solidFill>
          <a:ln/>
        </p:spPr>
      </p:sp>
      <p:sp>
        <p:nvSpPr>
          <p:cNvPr id="15" name="Text 12"/>
          <p:cNvSpPr/>
          <p:nvPr/>
        </p:nvSpPr>
        <p:spPr>
          <a:xfrm>
            <a:off x="6537960" y="17373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7373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 travel ruler</a:t>
            </a:r>
            <a:endParaRPr lang="en-US" sz="2000" dirty="0"/>
          </a:p>
        </p:txBody>
      </p:sp>
      <p:sp>
        <p:nvSpPr>
          <p:cNvPr id="17" name="Shape 14"/>
          <p:cNvSpPr/>
          <p:nvPr/>
        </p:nvSpPr>
        <p:spPr>
          <a:xfrm>
            <a:off x="9784080" y="1819656"/>
            <a:ext cx="1417320" cy="292608"/>
          </a:xfrm>
          <a:prstGeom prst="roundRect">
            <a:avLst>
              <a:gd name="adj" fmla="val 18750"/>
            </a:avLst>
          </a:prstGeom>
          <a:solidFill>
            <a:srgbClr val="FF5010"/>
          </a:solidFill>
          <a:ln/>
        </p:spPr>
      </p:sp>
      <p:sp>
        <p:nvSpPr>
          <p:cNvPr id="18" name="Text 15"/>
          <p:cNvSpPr/>
          <p:nvPr/>
        </p:nvSpPr>
        <p:spPr>
          <a:xfrm>
            <a:off x="9784080" y="18196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3317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 second root and one fixed 1.5 m gray ligament beside the carriage.</a:t>
            </a:r>
            <a:endParaRPr lang="en-US" sz="2000" dirty="0"/>
          </a:p>
        </p:txBody>
      </p:sp>
      <p:sp>
        <p:nvSpPr>
          <p:cNvPr id="20" name="Shape 17"/>
          <p:cNvSpPr/>
          <p:nvPr/>
        </p:nvSpPr>
        <p:spPr>
          <a:xfrm>
            <a:off x="640080" y="4069080"/>
            <a:ext cx="5303520" cy="2286000"/>
          </a:xfrm>
          <a:prstGeom prst="roundRect">
            <a:avLst>
              <a:gd name="adj" fmla="val 4800"/>
            </a:avLst>
          </a:prstGeom>
          <a:solidFill>
            <a:srgbClr val="132A4C"/>
          </a:solidFill>
          <a:ln/>
        </p:spPr>
      </p:sp>
      <p:sp>
        <p:nvSpPr>
          <p:cNvPr id="21" name="Shape 18"/>
          <p:cNvSpPr/>
          <p:nvPr/>
        </p:nvSpPr>
        <p:spPr>
          <a:xfrm>
            <a:off x="960120" y="4297680"/>
            <a:ext cx="457200" cy="457200"/>
          </a:xfrm>
          <a:prstGeom prst="ellipse">
            <a:avLst/>
          </a:prstGeom>
          <a:solidFill>
            <a:srgbClr val="1B9AAA"/>
          </a:solidFill>
          <a:ln/>
        </p:spPr>
      </p:sp>
      <p:sp>
        <p:nvSpPr>
          <p:cNvPr id="22" name="Text 19"/>
          <p:cNvSpPr/>
          <p:nvPr/>
        </p:nvSpPr>
        <p:spPr>
          <a:xfrm>
            <a:off x="960120" y="42976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976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Wiggle the stub</a:t>
            </a:r>
            <a:endParaRPr lang="en-US" sz="2000" dirty="0"/>
          </a:p>
        </p:txBody>
      </p:sp>
      <p:sp>
        <p:nvSpPr>
          <p:cNvPr id="24" name="Shape 21"/>
          <p:cNvSpPr/>
          <p:nvPr/>
        </p:nvSpPr>
        <p:spPr>
          <a:xfrm>
            <a:off x="4206240" y="4379976"/>
            <a:ext cx="1417320" cy="292608"/>
          </a:xfrm>
          <a:prstGeom prst="roundRect">
            <a:avLst>
              <a:gd name="adj" fmla="val 18750"/>
            </a:avLst>
          </a:prstGeom>
          <a:solidFill>
            <a:srgbClr val="FF5010"/>
          </a:solidFill>
          <a:ln/>
        </p:spPr>
      </p:sp>
      <p:sp>
        <p:nvSpPr>
          <p:cNvPr id="25" name="Text 22"/>
          <p:cNvSpPr/>
          <p:nvPr/>
        </p:nvSpPr>
        <p:spPr>
          <a:xfrm>
            <a:off x="4206240" y="43799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6" name="Text 23"/>
          <p:cNvSpPr/>
          <p:nvPr/>
        </p:nvSpPr>
        <p:spPr>
          <a:xfrm>
            <a:off x="960120" y="489204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m_effector.setAngle(45 * Math.sin(Timer.getTimestamp())).</a:t>
            </a:r>
            <a:endParaRPr lang="en-US" sz="2000" dirty="0"/>
          </a:p>
        </p:txBody>
      </p:sp>
      <p:sp>
        <p:nvSpPr>
          <p:cNvPr id="27" name="Shape 24"/>
          <p:cNvSpPr/>
          <p:nvPr/>
        </p:nvSpPr>
        <p:spPr>
          <a:xfrm>
            <a:off x="6217920" y="4069080"/>
            <a:ext cx="5303520" cy="2286000"/>
          </a:xfrm>
          <a:prstGeom prst="roundRect">
            <a:avLst>
              <a:gd name="adj" fmla="val 4800"/>
            </a:avLst>
          </a:prstGeom>
          <a:solidFill>
            <a:srgbClr val="132A4C"/>
          </a:solidFill>
          <a:ln/>
        </p:spPr>
      </p:sp>
      <p:sp>
        <p:nvSpPr>
          <p:cNvPr id="28" name="Shape 25"/>
          <p:cNvSpPr/>
          <p:nvPr/>
        </p:nvSpPr>
        <p:spPr>
          <a:xfrm>
            <a:off x="6537960" y="4297680"/>
            <a:ext cx="457200" cy="457200"/>
          </a:xfrm>
          <a:prstGeom prst="ellipse">
            <a:avLst/>
          </a:prstGeom>
          <a:solidFill>
            <a:srgbClr val="1B9AAA"/>
          </a:solidFill>
          <a:ln/>
        </p:spPr>
      </p:sp>
      <p:sp>
        <p:nvSpPr>
          <p:cNvPr id="29" name="Text 26"/>
          <p:cNvSpPr/>
          <p:nvPr/>
        </p:nvSpPr>
        <p:spPr>
          <a:xfrm>
            <a:off x="6537960" y="429768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30" name="Text 27"/>
          <p:cNvSpPr/>
          <p:nvPr/>
        </p:nvSpPr>
        <p:spPr>
          <a:xfrm>
            <a:off x="7178040" y="429768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Freeze the drawing</a:t>
            </a:r>
            <a:endParaRPr lang="en-US" sz="2000" dirty="0"/>
          </a:p>
        </p:txBody>
      </p:sp>
      <p:sp>
        <p:nvSpPr>
          <p:cNvPr id="31" name="Shape 28"/>
          <p:cNvSpPr/>
          <p:nvPr/>
        </p:nvSpPr>
        <p:spPr>
          <a:xfrm>
            <a:off x="9784080" y="4379976"/>
            <a:ext cx="1417320" cy="292608"/>
          </a:xfrm>
          <a:prstGeom prst="roundRect">
            <a:avLst>
              <a:gd name="adj" fmla="val 18750"/>
            </a:avLst>
          </a:prstGeom>
          <a:solidFill>
            <a:srgbClr val="FF5010"/>
          </a:solidFill>
          <a:ln/>
        </p:spPr>
      </p:sp>
      <p:sp>
        <p:nvSpPr>
          <p:cNvPr id="32" name="Text 29"/>
          <p:cNvSpPr/>
          <p:nvPr/>
        </p:nvSpPr>
        <p:spPr>
          <a:xfrm>
            <a:off x="9784080" y="437997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3" name="Text 30"/>
          <p:cNvSpPr/>
          <p:nvPr/>
        </p:nvSpPr>
        <p:spPr>
          <a:xfrm>
            <a:off x="6537960" y="489204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Log it once, in the constructor. Watch the graph keep moving.</a:t>
            </a:r>
            <a:endParaRPr lang="en-US" sz="2000" dirty="0"/>
          </a:p>
        </p:txBody>
      </p:sp>
      <p:sp>
        <p:nvSpPr>
          <p:cNvPr id="34" name="Text 3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35" name="Text 3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18</a:t>
            </a:r>
            <a:endParaRPr lang="en-US" sz="2000" dirty="0"/>
          </a:p>
        </p:txBody>
      </p:sp>
      <p:pic>
        <p:nvPicPr>
          <p:cNvPr id="36"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Attach it once, and it keeps paying out</a:t>
            </a:r>
            <a:endParaRPr lang="en-US" sz="3000" dirty="0"/>
          </a:p>
        </p:txBody>
      </p:sp>
      <p:sp>
        <p:nvSpPr>
          <p:cNvPr id="6" name="Text 3"/>
          <p:cNvSpPr/>
          <p:nvPr/>
        </p:nvSpPr>
        <p:spPr>
          <a:xfrm>
            <a:off x="640080" y="1600200"/>
            <a:ext cx="6309360" cy="44348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The idea isn't Mechanism2d — it's what append does: a relationship that holds every tick, forever.</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A canvas, an anchor and segments; a child's angle is measured from its parent.</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You changed one number and two things moved.</a:t>
            </a:r>
            <a:endParaRPr lang="en-US" sz="1800" dirty="0"/>
          </a:p>
          <a:p>
            <a:pPr marL="342900" indent="-342900">
              <a:lnSpc>
                <a:spcPct val="115000"/>
              </a:lnSpc>
              <a:spcAft>
                <a:spcPts val="1000"/>
              </a:spcAft>
              <a:buSzPct val="100000"/>
              <a:buChar char="•"/>
            </a:pPr>
            <a:r>
              <a:rPr lang="en-US" sz="1800" dirty="0">
                <a:solidFill>
                  <a:srgbClr val="13294B"/>
                </a:solidFill>
                <a:latin typeface="Calibri" pitchFamily="34" charset="0"/>
                <a:ea typeface="Calibri" pitchFamily="34" charset="-122"/>
                <a:cs typeface="Calibri" pitchFamily="34" charset="-120"/>
              </a:rPr>
              <a:t>A drawing is logged like a number: change it, then log it, every tick.</a:t>
            </a:r>
            <a:endParaRPr lang="en-US" sz="18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20</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Intake Arm</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The stub on top of the carriage stops being a placeholder.</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DRAWING THE ELEVATOR</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19 — A Picture of the Elevator</dc:title>
  <dc:subject>PptxGenJS Presentation</dc:subject>
  <dc:creator>Learn Java + Robot Programming</dc:creator>
  <cp:lastModifiedBy>Learn Java + Robot Programming</cp:lastModifiedBy>
  <cp:revision>1</cp:revision>
  <dcterms:created xsi:type="dcterms:W3CDTF">2026-10-13T16:43:22Z</dcterms:created>
  <dcterms:modified xsi:type="dcterms:W3CDTF">2026-10-13T16:43:22Z</dcterms:modified>
</cp:coreProperties>
</file>