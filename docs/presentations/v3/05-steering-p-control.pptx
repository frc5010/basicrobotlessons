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swerve module's steering motor has to point the wheel at a commanded angle. The model students bring in is "if I want 90°, I'll set the motor to 90°" — reasonable, and not how motors work. A motor takes an effort, not a destination; there is no "go to 90°" knob. This lesson is the single most important idea in robotics: look at where you are, compare to where you want to be, push in the right direction, and keep re-checking until they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words to learn that will follow students their whole robotics career: setpoint (where you want to be), measurement (where you are), error (setpoint minus measurement). The bigger the error, the harder you push; when error hits zero, you stop. That's the whole idea, and everything else in this lesson is just writing it down in Java.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because this is the idea the rest of the course builds on: a motor takes an effort — a speed, a voltage — not a destination. You have to drive it there yourself, tick after tick, by looking at where it is and comparing to where you want it. That's feedback control, and P control (proportional control) is the simplest useful form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steering motor is a second TalonFX, and it needs the same sim plumbing the drive motor got in Lesson 4 — the ordering rule applies again, m_steerSim is built by asking m_steerMotor for its sim state, so the motor field comes first. No new imports are needed; everything here arrived in Lesson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four-step loop Lesson 4 established for the drive motor, copied for the steering motor: tell the sim the battery voltage, read the voltage the TalonFX is applying, feed that into the physics model and advance time by one tick, then push the resulting motion back into the fake encoder. Everything this module needs in sim lives inside the module — Robot doesn't need to know a second motor showed up, which is worth calling out explicitly since it's easy to assume adding hardware means touching Robot.java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a question-method, Lesson 3 style: ask the motor for its position, hand back degrees. Degrees is just another unit constant, the same family as Rotations from Lesson 3 — .in(...) doesn't care which one you ask for. Worth being upfront about the simplification: a real steering module has a big reduction between the motor and the wheel — this one steers through 25:1 — but to keep this lesson focused on P control rather than unit conversion, the sensor is treated as 1:1 with the wheel for now. Lesson 6 applies the gear-ratio pattern to the drive motor, and Lesson 7 gives steering its real 25:1 as part of growing up — this is a deliberate, named simplification, not 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calibration step that has to happen before the code means anything: the CANcoder's own zero is wherever its magnet happens to be glued on — probably not "wheel pointing forward." You measure that gap once, with a number called the magnet offset. Configured with that number, the CANcoder reports exactly 0 when the wheel is at true forward. This class is new — SteerConstants doesn't exist yet before this slide — and it's worth being explicit that it's created here specifically so the next slide's constructor code has something to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getSteerAngleDegrees() trusts the steering motor's own sensor completely, and that sensor has a blind spot: it's relative, counting rotations from wherever it happened to be when the robot powered on, not from any fixed reference. On the bench that's invisible, because the robot gets built with the wheel already close to "forward." On a real match day, after being unplugged, carried around, and replugged a dozen times, there's no guarantee the wheel is anywhere near where it was last time — and the sensor has no way to know. We won't make the steering motor read the CANcoder continuously yet — that's a firmware trick for Lesson 12. For now: read it once, right when the robot boots, and tell the steering motor's own sensor to start counting from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imports for com.ctre.phoenix6.configs.CANcoderConfiguration, com.ctre.phoenix6.hardware.CANcoder, and first.robot.Constants.SteerConstants (this last one lets the code write SteerConstants directly instead of Constants.SteerConstants). Two calls do all the work. getConfigurator().apply(...) is a pattern that shows up constantly from here on: build a small object describing what you want, hand it to the device once, done. setPosition(...) is new — every Phoenix device lets you tell it what its own sensor should currently read, which is exactly what priming means: not moving the wheel, just correcting what the motor believes about where it already is. Two callouts worth mentioning if asked: a CAN device needs a moment after power-on before it reports real values, so if a prime ever looks like it read 0 instead of the real angle, that's the usual suspect; and a CANcoder reads counterclockwise-positive by default — if yours reads backwards, set MagnetSensor.SensorDirection = SensorDirectionValue.Clockwise_Positive, or priming will confidently seed the wrong zero every single boot.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lesson — read it slowly, because this little method is the seed of every controller students will ever write. runRepeatedly(...).whenCanceled(...).named(...) is a chain built twice already: runRepeatedly is Lesson 2's shape, running fresh every tick, exactly what a controller needs since it has to keep re-measuring; whenCanceled is Lesson 1's shape, cleanup that fires once when something takes the module away. steerToAngle is just the first method that needed both at once. Also worth naming explicitly: the lambda remembers targetDegrees — a parameter of steerToAngle used tick after tick, long after the method returned. Lambdas hold onto the variables around them when they were created, which is the "tiny bit of state" this lesson promised, and it's why one factory method can produce a go-to-90 command and a go-to-0 command that each remember their own target. Also point out the comment about motors holding their last value: when this command is interrupted, its per-tick math stops running, so unless 0 is commanded in cleanup, the motor keeps applying whatever fraction it was last given and the wheel drifts.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out loud as a story, not just numbers: with kP = 0.0005, an error of 70° gives output = 0.035, about 3.5% power toward the target — a Kraken X60 spinning something this light doesn't need much to get moving. As the motor turns and measurement rises, error shrinks, so output shrinks with it. Near 90°, error is roughly 0, output is roughly 0 — it eases in and holds. That gentle slow-down is what "proportional" buys you: no slamming into the target. And the math handles direction for free — overshoot past 90° and error goes negative, so output goes negative and the motor pushes back. The sign of the error carries which way to go; the size carries how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clamp shows off if / else if / else — one decision, three branches, exactly one of which runs. Without it, a large error could compute an output like 5.0, which the motor can't do; clamping keeps commands sane. It's private, like applyDeadband was back in Lesson 2 — internal plumbing, placed right below the method that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 itself is a tuning constant, a number you'll adjust over and over, and numbers like that live in Constants.java in a nested class named for the subsystem area they belong to. SteerConstants already exists — it was created a few slides ago, for the magnet offset — so this is the class's second job, not a new class. That's the whole philosophy of Constants.java: one named number, one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 onTrue, where Lesson 1 used whileTrue. whileTrue runs a command while you hold the button; onTrue schedules it once when the button is pressed and then walks away. Since steerToAngle is built on runRepeatedly, it never finishes on its own — so a single tap of the left button sends the module to 90° and holds it there, no need to keep the button down. Tap the top button and the scheduler swaps commands: one command per mechanism, so scheduling the go-to-0 command cancels the go-to-90 one, firing its whenCanceled cleanup on the way out. Worth calling out as a callout of its own: while a steering command owns the module, the joystick stops driving the wheel — the Lesson 2 default command only runs when no other command is using the mechanism, and steerToAngle never lets go. That's the one-command-per-mechanism rule doing exactly what it promised; it's fine here since we're steering, not driving, and the module learns to do both at once when it grows up in Lesson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watch the controller work, log the steering angle from the same place the drive readings have been logging since Lesson 3 — logTelemetry() already exists and already runs every tick via the addPeriodic call from a few slides back; this is one more line inside it, not a new method or a new callback. Skip this and the next slide's tuning instructions have nothing to point AdvantageScope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Tuning kP by watching the plot is the job — start at 0.0005, double it until it oscillates, then back off. This intuition transfers to every controller students will ever write, so it's worth letting them actually watch all three states (too small, too big, just right) rather than just telling them what each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these three genuinely expect written code, tagged accordingly. The shortest-path exercise is worth setting up with the wrinkle it fixes: ask for 0° while sitting at 350°. Error = 0 − 350 = −350, so it spins almost all the way around backwards — when it could have nudged +10° forward. Real steering code wraps the error to the range −180°…+180° so it always takes the short path; the two while loops in the exercise are the fix, and it's students' first while loop — it repeats until the condition is false. Logging the error is Lesson 3's refinement applied again: a value that only exists inside a command gets logged where it's computed — a real Telemetry.log call to add, not just an observation. The kP = 0 / negative-kP exercise is a genuine predict-then-check, not code-writing: 0 means no output ever, so the wheel never moves regardless of error; negative kP pushes the wrong direction and error grows instead of shrinking.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control earns its billing as the most important idea in robotics, so it's worth saying one more time: motors take effort, not destinations, so you close the gap yourself — setpoint − measurement = error, output = kP × error, and the shrinking error eases you into the target while its sign steers the direction. Hold onto the shape of steerToAngle: measure, subtract, multiply, clamp, command. The same five moves point a whole chassis at a compass heading in Lesson 8 — only the sensor changes, which is a sign something real was learned. One more habit worth naming as smaller but just as real: priming. The steering motor's own sensor only knows change, not place, so it got a memory — read the CANcoder once at startup, tell the motor's sensor to match. It isn't the whole fix — Lesson 12 finishes that job — but it's the part that matters on the very first boot, which is most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5</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Steering with P Control</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Turn to an angle, and hold it there</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ull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simplest feedback that actually works</a:t>
            </a:r>
            <a:endParaRPr lang="en-US" sz="3000" dirty="0"/>
          </a:p>
        </p:txBody>
      </p:sp>
      <p:sp>
        <p:nvSpPr>
          <p:cNvPr id="6" name="Shape 3"/>
          <p:cNvSpPr/>
          <p:nvPr/>
        </p:nvSpPr>
        <p:spPr>
          <a:xfrm>
            <a:off x="640080" y="1600200"/>
            <a:ext cx="10881360" cy="1280160"/>
          </a:xfrm>
          <a:prstGeom prst="roundRect">
            <a:avLst>
              <a:gd name="adj" fmla="val 7143"/>
            </a:avLst>
          </a:prstGeom>
          <a:solidFill>
            <a:srgbClr val="F3F6FA"/>
          </a:solidFill>
          <a:ln/>
        </p:spPr>
      </p:sp>
      <p:sp>
        <p:nvSpPr>
          <p:cNvPr id="7" name="Text 4"/>
          <p:cNvSpPr/>
          <p:nvPr/>
        </p:nvSpPr>
        <p:spPr>
          <a:xfrm>
            <a:off x="960120" y="1737360"/>
            <a:ext cx="10241280" cy="1005840"/>
          </a:xfrm>
          <a:prstGeom prst="rect">
            <a:avLst/>
          </a:prstGeom>
          <a:noFill/>
          <a:ln/>
        </p:spPr>
        <p:txBody>
          <a:bodyPr wrap="square" lIns="0" tIns="0" rIns="0" bIns="0" rtlCol="0" anchor="ctr"/>
          <a:lstStyle/>
          <a:p>
            <a:pPr indent="0" marL="0">
              <a:lnSpc>
                <a:spcPct val="125000"/>
              </a:lnSpc>
              <a:buNone/>
            </a:pPr>
            <a:r>
              <a:rPr lang="en-US" sz="2200" i="1" dirty="0">
                <a:solidFill>
                  <a:srgbClr val="13294B"/>
                </a:solidFill>
                <a:latin typeface="Cambria" pitchFamily="34" charset="0"/>
                <a:ea typeface="Cambria" pitchFamily="34" charset="-122"/>
                <a:cs typeface="Cambria" pitchFamily="34" charset="-120"/>
              </a:rPr>
              <a:t>Add the module's steering motor and make it turn to a target angle on its own, using error times a gain.</a:t>
            </a:r>
            <a:endParaRPr lang="en-US" sz="2200" dirty="0"/>
          </a:p>
        </p:txBody>
      </p:sp>
      <p:sp>
        <p:nvSpPr>
          <p:cNvPr id="8" name="Shape 5"/>
          <p:cNvSpPr/>
          <p:nvPr/>
        </p:nvSpPr>
        <p:spPr>
          <a:xfrm>
            <a:off x="640080" y="310896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218688"/>
            <a:ext cx="237744" cy="237744"/>
          </a:xfrm>
          <a:prstGeom prst="rect">
            <a:avLst/>
          </a:prstGeom>
        </p:spPr>
      </p:pic>
      <p:sp>
        <p:nvSpPr>
          <p:cNvPr id="10" name="Text 6"/>
          <p:cNvSpPr/>
          <p:nvPr/>
        </p:nvSpPr>
        <p:spPr>
          <a:xfrm>
            <a:off x="1234440" y="313639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675888"/>
            <a:ext cx="5257800"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if / else, and comparisons in depth</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Arithmetic that means something (error)</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A lambda remembering a target</a:t>
            </a:r>
            <a:endParaRPr lang="en-US" sz="2000" dirty="0"/>
          </a:p>
        </p:txBody>
      </p:sp>
      <p:sp>
        <p:nvSpPr>
          <p:cNvPr id="12" name="Shape 8"/>
          <p:cNvSpPr/>
          <p:nvPr/>
        </p:nvSpPr>
        <p:spPr>
          <a:xfrm>
            <a:off x="6309360" y="3108960"/>
            <a:ext cx="457200" cy="457200"/>
          </a:xfrm>
          <a:prstGeom prst="ellipse">
            <a:avLst/>
          </a:prstGeom>
          <a:solidFill>
            <a:srgbClr val="FF5010"/>
          </a:solidFill>
          <a:ln/>
        </p:spPr>
      </p:sp>
      <p:pic>
        <p:nvPicPr>
          <p:cNvPr id="13" name="Image 2" descr="/home/user/BasicRobotLessons/docs/presentations/v3/template/assets/icons/compass_white.png">    </p:cNvPr>
          <p:cNvPicPr>
            <a:picLocks noChangeAspect="1"/>
          </p:cNvPicPr>
          <p:nvPr/>
        </p:nvPicPr>
        <p:blipFill>
          <a:blip r:embed="rId3"/>
          <a:stretch>
            <a:fillRect/>
          </a:stretch>
        </p:blipFill>
        <p:spPr>
          <a:xfrm>
            <a:off x="6419088" y="3218688"/>
            <a:ext cx="237744" cy="237744"/>
          </a:xfrm>
          <a:prstGeom prst="rect">
            <a:avLst/>
          </a:prstGeom>
        </p:spPr>
      </p:pic>
      <p:sp>
        <p:nvSpPr>
          <p:cNvPr id="14" name="Text 9"/>
          <p:cNvSpPr/>
          <p:nvPr/>
        </p:nvSpPr>
        <p:spPr>
          <a:xfrm>
            <a:off x="6903720" y="313639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675888"/>
            <a:ext cx="5257800"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Setpoint, measurement, error</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Proportional (P) control</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A CANcoder, and priming</a:t>
            </a:r>
            <a:endParaRPr lang="en-US" sz="20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ompas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 · THE PROBLEM</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 motor takes an effort, not a destination</a:t>
            </a:r>
            <a:endParaRPr lang="en-US" sz="3000" dirty="0"/>
          </a:p>
        </p:txBody>
      </p:sp>
      <p:sp>
        <p:nvSpPr>
          <p:cNvPr id="6" name="Shape 3"/>
          <p:cNvSpPr/>
          <p:nvPr/>
        </p:nvSpPr>
        <p:spPr>
          <a:xfrm>
            <a:off x="640080" y="1691640"/>
            <a:ext cx="3520440" cy="3200400"/>
          </a:xfrm>
          <a:prstGeom prst="roundRect">
            <a:avLst>
              <a:gd name="adj" fmla="val 3429"/>
            </a:avLst>
          </a:prstGeom>
          <a:solidFill>
            <a:srgbClr val="132A4C"/>
          </a:solidFill>
          <a:ln/>
        </p:spPr>
      </p:sp>
      <p:sp>
        <p:nvSpPr>
          <p:cNvPr id="7" name="Text 4"/>
          <p:cNvSpPr/>
          <p:nvPr/>
        </p:nvSpPr>
        <p:spPr>
          <a:xfrm>
            <a:off x="914400" y="1920240"/>
            <a:ext cx="2971800" cy="365760"/>
          </a:xfrm>
          <a:prstGeom prst="rect">
            <a:avLst/>
          </a:prstGeom>
          <a:noFill/>
          <a:ln/>
        </p:spPr>
        <p:txBody>
          <a:bodyPr wrap="square" lIns="0" tIns="0" rIns="0" bIns="0" rtlCol="0" anchor="ctr"/>
          <a:lstStyle/>
          <a:p>
            <a:pPr indent="0" marL="0">
              <a:buNone/>
            </a:pPr>
            <a:r>
              <a:rPr lang="en-US" sz="2000" b="1" spc="50" kern="0" dirty="0">
                <a:solidFill>
                  <a:srgbClr val="FF5010"/>
                </a:solidFill>
                <a:latin typeface="Calibri" pitchFamily="34" charset="0"/>
                <a:ea typeface="Calibri" pitchFamily="34" charset="-122"/>
                <a:cs typeface="Calibri" pitchFamily="34" charset="-120"/>
              </a:rPr>
              <a:t>SETPOINT</a:t>
            </a:r>
            <a:endParaRPr lang="en-US" sz="2000" dirty="0"/>
          </a:p>
        </p:txBody>
      </p:sp>
      <p:sp>
        <p:nvSpPr>
          <p:cNvPr id="8" name="Text 5"/>
          <p:cNvSpPr/>
          <p:nvPr/>
        </p:nvSpPr>
        <p:spPr>
          <a:xfrm>
            <a:off x="914400" y="2331720"/>
            <a:ext cx="29718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90°</a:t>
            </a:r>
            <a:endParaRPr lang="en-US" sz="4400" dirty="0"/>
          </a:p>
        </p:txBody>
      </p:sp>
      <p:sp>
        <p:nvSpPr>
          <p:cNvPr id="9" name="Text 6"/>
          <p:cNvSpPr/>
          <p:nvPr/>
        </p:nvSpPr>
        <p:spPr>
          <a:xfrm>
            <a:off x="914400" y="3337560"/>
            <a:ext cx="2971800" cy="1371600"/>
          </a:xfrm>
          <a:prstGeom prst="rect">
            <a:avLst/>
          </a:prstGeom>
          <a:noFill/>
          <a:ln/>
        </p:spPr>
        <p:txBody>
          <a:bodyPr wrap="square" lIns="0" tIns="0" rIns="0" bIns="0" rtlCol="0" anchor="t"/>
          <a:lstStyle/>
          <a:p>
            <a:pPr indent="0" marL="0">
              <a:lnSpc>
                <a:spcPct val="120000"/>
              </a:lnSpc>
              <a:buNone/>
            </a:pPr>
            <a:r>
              <a:rPr lang="en-US" sz="2000" dirty="0">
                <a:solidFill>
                  <a:srgbClr val="CADCE8"/>
                </a:solidFill>
                <a:latin typeface="Calibri" pitchFamily="34" charset="0"/>
                <a:ea typeface="Calibri" pitchFamily="34" charset="-122"/>
                <a:cs typeface="Calibri" pitchFamily="34" charset="-120"/>
              </a:rPr>
              <a:t>Where you want to be.</a:t>
            </a:r>
            <a:endParaRPr lang="en-US" sz="2000" dirty="0"/>
          </a:p>
        </p:txBody>
      </p:sp>
      <p:sp>
        <p:nvSpPr>
          <p:cNvPr id="10" name="Shape 7"/>
          <p:cNvSpPr/>
          <p:nvPr/>
        </p:nvSpPr>
        <p:spPr>
          <a:xfrm>
            <a:off x="4343400" y="1691640"/>
            <a:ext cx="3520440" cy="3200400"/>
          </a:xfrm>
          <a:prstGeom prst="roundRect">
            <a:avLst>
              <a:gd name="adj" fmla="val 3429"/>
            </a:avLst>
          </a:prstGeom>
          <a:solidFill>
            <a:srgbClr val="132A4C"/>
          </a:solidFill>
          <a:ln/>
        </p:spPr>
      </p:sp>
      <p:sp>
        <p:nvSpPr>
          <p:cNvPr id="11" name="Text 8"/>
          <p:cNvSpPr/>
          <p:nvPr/>
        </p:nvSpPr>
        <p:spPr>
          <a:xfrm>
            <a:off x="4617720" y="1920240"/>
            <a:ext cx="2971800" cy="365760"/>
          </a:xfrm>
          <a:prstGeom prst="rect">
            <a:avLst/>
          </a:prstGeom>
          <a:noFill/>
          <a:ln/>
        </p:spPr>
        <p:txBody>
          <a:bodyPr wrap="square" lIns="0" tIns="0" rIns="0" bIns="0" rtlCol="0" anchor="ctr"/>
          <a:lstStyle/>
          <a:p>
            <a:pPr indent="0" marL="0">
              <a:buNone/>
            </a:pPr>
            <a:r>
              <a:rPr lang="en-US" sz="2000" b="1" spc="50" kern="0" dirty="0">
                <a:solidFill>
                  <a:srgbClr val="FF5010"/>
                </a:solidFill>
                <a:latin typeface="Calibri" pitchFamily="34" charset="0"/>
                <a:ea typeface="Calibri" pitchFamily="34" charset="-122"/>
                <a:cs typeface="Calibri" pitchFamily="34" charset="-120"/>
              </a:rPr>
              <a:t>MEASUREMENT</a:t>
            </a:r>
            <a:endParaRPr lang="en-US" sz="2000" dirty="0"/>
          </a:p>
        </p:txBody>
      </p:sp>
      <p:sp>
        <p:nvSpPr>
          <p:cNvPr id="12" name="Text 9"/>
          <p:cNvSpPr/>
          <p:nvPr/>
        </p:nvSpPr>
        <p:spPr>
          <a:xfrm>
            <a:off x="4617720" y="2331720"/>
            <a:ext cx="29718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20°</a:t>
            </a:r>
            <a:endParaRPr lang="en-US" sz="4400" dirty="0"/>
          </a:p>
        </p:txBody>
      </p:sp>
      <p:sp>
        <p:nvSpPr>
          <p:cNvPr id="13" name="Text 10"/>
          <p:cNvSpPr/>
          <p:nvPr/>
        </p:nvSpPr>
        <p:spPr>
          <a:xfrm>
            <a:off x="4617720" y="3337560"/>
            <a:ext cx="2971800" cy="1371600"/>
          </a:xfrm>
          <a:prstGeom prst="rect">
            <a:avLst/>
          </a:prstGeom>
          <a:noFill/>
          <a:ln/>
        </p:spPr>
        <p:txBody>
          <a:bodyPr wrap="square" lIns="0" tIns="0" rIns="0" bIns="0" rtlCol="0" anchor="t"/>
          <a:lstStyle/>
          <a:p>
            <a:pPr indent="0" marL="0">
              <a:lnSpc>
                <a:spcPct val="120000"/>
              </a:lnSpc>
              <a:buNone/>
            </a:pPr>
            <a:r>
              <a:rPr lang="en-US" sz="2000" dirty="0">
                <a:solidFill>
                  <a:srgbClr val="CADCE8"/>
                </a:solidFill>
                <a:latin typeface="Calibri" pitchFamily="34" charset="0"/>
                <a:ea typeface="Calibri" pitchFamily="34" charset="-122"/>
                <a:cs typeface="Calibri" pitchFamily="34" charset="-120"/>
              </a:rPr>
              <a:t>Where you are.</a:t>
            </a:r>
            <a:endParaRPr lang="en-US" sz="2000" dirty="0"/>
          </a:p>
        </p:txBody>
      </p:sp>
      <p:sp>
        <p:nvSpPr>
          <p:cNvPr id="14" name="Shape 11"/>
          <p:cNvSpPr/>
          <p:nvPr/>
        </p:nvSpPr>
        <p:spPr>
          <a:xfrm>
            <a:off x="8046720" y="1691640"/>
            <a:ext cx="3520440" cy="3200400"/>
          </a:xfrm>
          <a:prstGeom prst="roundRect">
            <a:avLst>
              <a:gd name="adj" fmla="val 3429"/>
            </a:avLst>
          </a:prstGeom>
          <a:solidFill>
            <a:srgbClr val="132A4C"/>
          </a:solidFill>
          <a:ln/>
        </p:spPr>
      </p:sp>
      <p:sp>
        <p:nvSpPr>
          <p:cNvPr id="15" name="Text 12"/>
          <p:cNvSpPr/>
          <p:nvPr/>
        </p:nvSpPr>
        <p:spPr>
          <a:xfrm>
            <a:off x="8321040" y="1920240"/>
            <a:ext cx="2971800" cy="365760"/>
          </a:xfrm>
          <a:prstGeom prst="rect">
            <a:avLst/>
          </a:prstGeom>
          <a:noFill/>
          <a:ln/>
        </p:spPr>
        <p:txBody>
          <a:bodyPr wrap="square" lIns="0" tIns="0" rIns="0" bIns="0" rtlCol="0" anchor="ctr"/>
          <a:lstStyle/>
          <a:p>
            <a:pPr indent="0" marL="0">
              <a:buNone/>
            </a:pPr>
            <a:r>
              <a:rPr lang="en-US" sz="2000" b="1" spc="50" kern="0" dirty="0">
                <a:solidFill>
                  <a:srgbClr val="FF5010"/>
                </a:solidFill>
                <a:latin typeface="Calibri" pitchFamily="34" charset="0"/>
                <a:ea typeface="Calibri" pitchFamily="34" charset="-122"/>
                <a:cs typeface="Calibri" pitchFamily="34" charset="-120"/>
              </a:rPr>
              <a:t>ERROR</a:t>
            </a:r>
            <a:endParaRPr lang="en-US" sz="2000" dirty="0"/>
          </a:p>
        </p:txBody>
      </p:sp>
      <p:sp>
        <p:nvSpPr>
          <p:cNvPr id="16" name="Text 13"/>
          <p:cNvSpPr/>
          <p:nvPr/>
        </p:nvSpPr>
        <p:spPr>
          <a:xfrm>
            <a:off x="8321040" y="2331720"/>
            <a:ext cx="29718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70°</a:t>
            </a:r>
            <a:endParaRPr lang="en-US" sz="4400" dirty="0"/>
          </a:p>
        </p:txBody>
      </p:sp>
      <p:sp>
        <p:nvSpPr>
          <p:cNvPr id="17" name="Text 14"/>
          <p:cNvSpPr/>
          <p:nvPr/>
        </p:nvSpPr>
        <p:spPr>
          <a:xfrm>
            <a:off x="8321040" y="3337560"/>
            <a:ext cx="2971800" cy="1371600"/>
          </a:xfrm>
          <a:prstGeom prst="rect">
            <a:avLst/>
          </a:prstGeom>
          <a:noFill/>
          <a:ln/>
        </p:spPr>
        <p:txBody>
          <a:bodyPr wrap="square" lIns="0" tIns="0" rIns="0" bIns="0" rtlCol="0" anchor="t"/>
          <a:lstStyle/>
          <a:p>
            <a:pPr indent="0" marL="0">
              <a:lnSpc>
                <a:spcPct val="120000"/>
              </a:lnSpc>
              <a:buNone/>
            </a:pPr>
            <a:r>
              <a:rPr lang="en-US" sz="2000" dirty="0">
                <a:solidFill>
                  <a:srgbClr val="CADCE8"/>
                </a:solidFill>
                <a:latin typeface="Calibri" pitchFamily="34" charset="0"/>
                <a:ea typeface="Calibri" pitchFamily="34" charset="-122"/>
                <a:cs typeface="Calibri" pitchFamily="34" charset="-120"/>
              </a:rPr>
              <a:t>Setpoint minus measurement.</a:t>
            </a:r>
            <a:endParaRPr lang="en-US" sz="2000" dirty="0"/>
          </a:p>
        </p:txBody>
      </p:sp>
      <p:sp>
        <p:nvSpPr>
          <p:cNvPr id="18" name="Text 15"/>
          <p:cNvSpPr/>
          <p:nvPr/>
        </p:nvSpPr>
        <p:spPr>
          <a:xfrm>
            <a:off x="640080" y="5074920"/>
            <a:ext cx="10881360" cy="1097280"/>
          </a:xfrm>
          <a:prstGeom prst="rect">
            <a:avLst/>
          </a:prstGeom>
          <a:noFill/>
          <a:ln/>
        </p:spPr>
        <p:txBody>
          <a:bodyPr wrap="square" lIns="0" tIns="0" rIns="0" bIns="0" rtlCol="0" anchor="t"/>
          <a:lstStyle/>
          <a:p>
            <a:pPr indent="0" marL="0">
              <a:lnSpc>
                <a:spcPct val="125000"/>
              </a:lnSpc>
              <a:buNone/>
            </a:pPr>
            <a:r>
              <a:rPr lang="en-US" sz="2200" i="1" dirty="0">
                <a:solidFill>
                  <a:srgbClr val="FFFFFF"/>
                </a:solidFill>
                <a:latin typeface="Cambria" pitchFamily="34" charset="0"/>
                <a:ea typeface="Cambria" pitchFamily="34" charset="-122"/>
                <a:cs typeface="Cambria" pitchFamily="34" charset="-120"/>
              </a:rPr>
              <a:t>The bigger the error, the harder you push. When error hits zero, you stop.</a:t>
            </a:r>
            <a:endParaRPr lang="en-US" sz="2200" dirty="0"/>
          </a:p>
        </p:txBody>
      </p:sp>
      <p:sp>
        <p:nvSpPr>
          <p:cNvPr id="19" name="Text 16"/>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20" name="Text 17"/>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a:t>
            </a:r>
            <a:endParaRPr lang="en-US" sz="2000" dirty="0"/>
          </a:p>
        </p:txBody>
      </p:sp>
      <p:pic>
        <p:nvPicPr>
          <p:cNvPr id="21"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DRIVEMODULE.JAVA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second motor, the same sim pattern</a:t>
            </a:r>
            <a:endParaRPr lang="en-US" sz="3000" dirty="0"/>
          </a:p>
        </p:txBody>
      </p:sp>
      <p:sp>
        <p:nvSpPr>
          <p:cNvPr id="6" name="Shape 3"/>
          <p:cNvSpPr/>
          <p:nvPr/>
        </p:nvSpPr>
        <p:spPr>
          <a:xfrm>
            <a:off x="640080" y="1600200"/>
            <a:ext cx="10881360" cy="2743200"/>
          </a:xfrm>
          <a:prstGeom prst="roundRect">
            <a:avLst>
              <a:gd name="adj" fmla="val 4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DriveModule, below the drive motor's fields</a:t>
            </a:r>
            <a:endParaRPr lang="en-US" sz="1500" dirty="0"/>
          </a:p>
        </p:txBody>
      </p:sp>
      <p:sp>
        <p:nvSpPr>
          <p:cNvPr id="11" name="Text 8"/>
          <p:cNvSpPr/>
          <p:nvPr/>
        </p:nvSpPr>
        <p:spPr>
          <a:xfrm>
            <a:off x="914400" y="2057400"/>
            <a:ext cx="10195560" cy="2084832"/>
          </a:xfrm>
          <a:prstGeom prst="rect">
            <a:avLst/>
          </a:prstGeom>
          <a:noFill/>
          <a:ln/>
        </p:spPr>
        <p:txBody>
          <a:bodyPr wrap="square" lIns="0" tIns="0" rIns="0" bIns="0" rtlCol="0" anchor="t"/>
          <a:lstStyle/>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private final TalonFX m_steerMotor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new TalonFX(Constants.DriveConstants.kSteerMotorPort, new CANBus(CANPort.CAN_S0));</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Sim plumbing for the steering motor (same pattern as the drive motor).</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private final TalonFXSimState m_steerSim = m_steerMotor.getSimState();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private final DCMotorSim m_steerModel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new DCMotorSim(</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Models.singleJointedArmFromPhysicalConstants(DCMotor.getKrakenX60(1), 0.004, 1.0),</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DCMotor.getKrakenX60(1));</a:t>
            </a:r>
            <a:endParaRPr lang="en-US" sz="1100" dirty="0"/>
          </a:p>
        </p:txBody>
      </p:sp>
      <p:sp>
        <p:nvSpPr>
          <p:cNvPr id="12" name="Shape 9"/>
          <p:cNvSpPr/>
          <p:nvPr/>
        </p:nvSpPr>
        <p:spPr>
          <a:xfrm>
            <a:off x="640080" y="4709160"/>
            <a:ext cx="10881360" cy="1600200"/>
          </a:xfrm>
          <a:prstGeom prst="roundRect">
            <a:avLst>
              <a:gd name="adj" fmla="val 5714"/>
            </a:avLst>
          </a:prstGeom>
          <a:solidFill>
            <a:srgbClr val="F3F6FA"/>
          </a:solidFill>
          <a:ln/>
        </p:spPr>
      </p:sp>
      <p:sp>
        <p:nvSpPr>
          <p:cNvPr id="13" name="Text 10"/>
          <p:cNvSpPr/>
          <p:nvPr/>
        </p:nvSpPr>
        <p:spPr>
          <a:xfrm>
            <a:off x="822960" y="4892040"/>
            <a:ext cx="10515600" cy="12344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Same three fields the drive motor got in Lesson 4 — sim state, then a physics model. Robot.simulationPeriodic() doesn't change at all; the next slide shows where the steer physics actually gets stepped.</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DRIVEMODULE.JAVA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Step the steer physics, same loop as the drive motor</a:t>
            </a:r>
            <a:endParaRPr lang="en-US" sz="3000" dirty="0"/>
          </a:p>
        </p:txBody>
      </p:sp>
      <p:sp>
        <p:nvSpPr>
          <p:cNvPr id="6" name="Shape 3"/>
          <p:cNvSpPr/>
          <p:nvPr/>
        </p:nvSpPr>
        <p:spPr>
          <a:xfrm>
            <a:off x="640080" y="1600200"/>
            <a:ext cx="10881360" cy="2606040"/>
          </a:xfrm>
          <a:prstGeom prst="roundRect">
            <a:avLst>
              <a:gd name="adj" fmla="val 421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Edit DriveModule's simulatePeriodic(), right after the drive motor's four steps</a:t>
            </a:r>
            <a:endParaRPr lang="en-US" sz="1500" dirty="0"/>
          </a:p>
        </p:txBody>
      </p:sp>
      <p:sp>
        <p:nvSpPr>
          <p:cNvPr id="11" name="Text 8"/>
          <p:cNvSpPr/>
          <p:nvPr/>
        </p:nvSpPr>
        <p:spPr>
          <a:xfrm>
            <a:off x="914400" y="2057400"/>
            <a:ext cx="10195560" cy="1947672"/>
          </a:xfrm>
          <a:prstGeom prst="rect">
            <a:avLst/>
          </a:prstGeom>
          <a:noFill/>
          <a:ln/>
        </p:spPr>
        <p:txBody>
          <a:bodyPr wrap="square" lIns="0" tIns="0" rIns="0" bIns="0" rtlCol="0" anchor="t"/>
          <a:lstStyle/>
          <a:p>
            <a:pPr indent="0" marL="0">
              <a:lnSpc>
                <a:spcPct val="120000"/>
              </a:lnSpc>
              <a:buNone/>
            </a:pPr>
            <a:r>
              <a:rPr lang="en-US" sz="1250" dirty="0">
                <a:solidFill>
                  <a:srgbClr val="FFD166"/>
                </a:solidFill>
                <a:latin typeface="Courier New" pitchFamily="34" charset="0"/>
                <a:ea typeface="Courier New" pitchFamily="34" charset="-122"/>
                <a:cs typeface="Courier New" pitchFamily="34" charset="-120"/>
              </a:rPr>
              <a:t>public void simulatePeriodic() {</a:t>
            </a:r>
            <a:endParaRPr lang="en-US" sz="1250" dirty="0"/>
          </a:p>
          <a:p>
            <a:pPr indent="0" marL="0">
              <a:lnSpc>
                <a:spcPct val="120000"/>
              </a:lnSpc>
              <a:buNone/>
            </a:pPr>
            <a:r>
              <a:rPr lang="en-US" sz="1250" dirty="0">
                <a:solidFill>
                  <a:srgbClr val="7FA8C9"/>
                </a:solidFill>
                <a:latin typeface="Courier New" pitchFamily="34" charset="0"/>
                <a:ea typeface="Courier New" pitchFamily="34" charset="-122"/>
                <a:cs typeface="Courier New" pitchFamily="34" charset="-120"/>
              </a:rPr>
              <a:t>  // ...the drive motor's four steps stay here, unchanged...</a:t>
            </a:r>
            <a:endParaRPr lang="en-US" sz="1250" dirty="0"/>
          </a:p>
          <a:p>
            <a:pPr indent="0" marL="0">
              <a:lnSpc>
                <a:spcPct val="120000"/>
              </a:lnSpc>
              <a:buNone/>
            </a:pP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m_steerSim.setSupplyVoltage(RobotController.getBatteryVoltage());</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m_steerModel.setInputVoltage(m_steerSim.getMotorVoltage());</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m_steerModel.update(0.020);</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m_steerSim.setRawRotorPosition(m_steerModel.getAngularPosition() / (2 * Math.PI));</a:t>
            </a:r>
            <a:endParaRPr lang="en-US" sz="1250" dirty="0"/>
          </a:p>
          <a:p>
            <a:pPr indent="0" marL="0">
              <a:lnSpc>
                <a:spcPct val="120000"/>
              </a:lnSpc>
              <a:buNone/>
            </a:pPr>
            <a:r>
              <a:rPr lang="en-US" sz="1250" dirty="0">
                <a:solidFill>
                  <a:srgbClr val="9EF01A"/>
                </a:solidFill>
                <a:latin typeface="Courier New" pitchFamily="34" charset="0"/>
                <a:ea typeface="Courier New" pitchFamily="34" charset="-122"/>
                <a:cs typeface="Courier New" pitchFamily="34" charset="-120"/>
              </a:rPr>
              <a:t>  m_steerSim.setRotorVelocity(m_steerModel.getAngularVelocity() / (2 * Math.PI));</a:t>
            </a:r>
            <a:endParaRPr lang="en-US" sz="1250" dirty="0"/>
          </a:p>
          <a:p>
            <a:pPr indent="0" marL="0">
              <a:lnSpc>
                <a:spcPct val="120000"/>
              </a:lnSpc>
              <a:buNone/>
            </a:pPr>
            <a:r>
              <a:rPr lang="en-US" sz="1250" dirty="0">
                <a:solidFill>
                  <a:srgbClr val="D7E3F4"/>
                </a:solidFill>
                <a:latin typeface="Courier New" pitchFamily="34" charset="0"/>
                <a:ea typeface="Courier New" pitchFamily="34" charset="-122"/>
                <a:cs typeface="Courier New" pitchFamily="34" charset="-120"/>
              </a:rPr>
              <a:t>}</a:t>
            </a:r>
            <a:endParaRPr lang="en-US" sz="1250" dirty="0"/>
          </a:p>
        </p:txBody>
      </p:sp>
      <p:sp>
        <p:nvSpPr>
          <p:cNvPr id="12" name="Shape 9"/>
          <p:cNvSpPr/>
          <p:nvPr/>
        </p:nvSpPr>
        <p:spPr>
          <a:xfrm>
            <a:off x="640080" y="4434840"/>
            <a:ext cx="10881360" cy="1874520"/>
          </a:xfrm>
          <a:prstGeom prst="roundRect">
            <a:avLst>
              <a:gd name="adj" fmla="val 4878"/>
            </a:avLst>
          </a:prstGeom>
          <a:solidFill>
            <a:srgbClr val="F3F6FA"/>
          </a:solidFill>
          <a:ln/>
        </p:spPr>
      </p:sp>
      <p:sp>
        <p:nvSpPr>
          <p:cNvPr id="13" name="Text 10"/>
          <p:cNvSpPr/>
          <p:nvPr/>
        </p:nvSpPr>
        <p:spPr>
          <a:xfrm>
            <a:off x="822960" y="4617720"/>
            <a:ext cx="10515600" cy="15087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Same loop, second motor — battery volts in, model steps forward 20 ms, the model's motion feeds back into the fake rotor. Notice what you didn't have to touch: Robot.simulationPeriodic() still just calls module.simulatePeriodic(), one line, from Lesson 4.</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hartlin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DRIVEMODULE.JAVA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Read the angle — pretending 1:1 for now</a:t>
            </a:r>
            <a:endParaRPr lang="en-US" sz="3000" dirty="0"/>
          </a:p>
        </p:txBody>
      </p:sp>
      <p:sp>
        <p:nvSpPr>
          <p:cNvPr id="6" name="Shape 3"/>
          <p:cNvSpPr/>
          <p:nvPr/>
        </p:nvSpPr>
        <p:spPr>
          <a:xfrm>
            <a:off x="640080" y="1600200"/>
            <a:ext cx="10881360" cy="1965960"/>
          </a:xfrm>
          <a:prstGeom prst="roundRect">
            <a:avLst>
              <a:gd name="adj" fmla="val 558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DriveModule, with your other public methods</a:t>
            </a:r>
            <a:endParaRPr lang="en-US" sz="1500" dirty="0"/>
          </a:p>
        </p:txBody>
      </p:sp>
      <p:sp>
        <p:nvSpPr>
          <p:cNvPr id="11" name="Text 8"/>
          <p:cNvSpPr/>
          <p:nvPr/>
        </p:nvSpPr>
        <p:spPr>
          <a:xfrm>
            <a:off x="914400" y="2057400"/>
            <a:ext cx="10195560" cy="1307592"/>
          </a:xfrm>
          <a:prstGeom prst="rect">
            <a:avLst/>
          </a:prstGeom>
          <a:noFill/>
          <a:ln/>
        </p:spPr>
        <p:txBody>
          <a:bodyPr wrap="square" lIns="0" tIns="0" rIns="0" bIns="0" rtlCol="0" anchor="t"/>
          <a:lstStyle/>
          <a:p>
            <a:pPr indent="0" marL="0">
              <a:lnSpc>
                <a:spcPct val="120000"/>
              </a:lnSpc>
              <a:buNone/>
            </a:pPr>
            <a:r>
              <a:rPr lang="en-US" sz="1600" dirty="0">
                <a:solidFill>
                  <a:srgbClr val="7FA8C9"/>
                </a:solidFill>
                <a:latin typeface="Courier New" pitchFamily="34" charset="0"/>
                <a:ea typeface="Courier New" pitchFamily="34" charset="-122"/>
                <a:cs typeface="Courier New" pitchFamily="34" charset="-120"/>
              </a:rPr>
              <a:t>/** Current steering angle in degrees. */</a:t>
            </a:r>
            <a:endParaRPr lang="en-US" sz="1600" dirty="0"/>
          </a:p>
          <a:p>
            <a:pPr indent="0" marL="0">
              <a:lnSpc>
                <a:spcPct val="120000"/>
              </a:lnSpc>
              <a:buNone/>
            </a:pPr>
            <a:r>
              <a:rPr lang="en-US" sz="1600" dirty="0">
                <a:solidFill>
                  <a:srgbClr val="FFD166"/>
                </a:solidFill>
                <a:latin typeface="Courier New" pitchFamily="34" charset="0"/>
                <a:ea typeface="Courier New" pitchFamily="34" charset="-122"/>
                <a:cs typeface="Courier New" pitchFamily="34" charset="-120"/>
              </a:rPr>
              <a:t>public double getSteerAngleDegrees() {</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  return m_steerMotor.getPosition().getValue().in(Degrees);</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a:t>
            </a:r>
            <a:endParaRPr lang="en-US" sz="1600" dirty="0"/>
          </a:p>
        </p:txBody>
      </p:sp>
      <p:sp>
        <p:nvSpPr>
          <p:cNvPr id="12" name="Shape 9"/>
          <p:cNvSpPr/>
          <p:nvPr/>
        </p:nvSpPr>
        <p:spPr>
          <a:xfrm>
            <a:off x="640080" y="3794760"/>
            <a:ext cx="10881360" cy="2560320"/>
          </a:xfrm>
          <a:prstGeom prst="roundRect">
            <a:avLst>
              <a:gd name="adj" fmla="val 3571"/>
            </a:avLst>
          </a:prstGeom>
          <a:solidFill>
            <a:srgbClr val="F3F6FA"/>
          </a:solidFill>
          <a:ln/>
        </p:spPr>
      </p:sp>
      <p:sp>
        <p:nvSpPr>
          <p:cNvPr id="13" name="Text 10"/>
          <p:cNvSpPr/>
          <p:nvPr/>
        </p:nvSpPr>
        <p:spPr>
          <a:xfrm>
            <a:off x="822960" y="3977640"/>
            <a:ext cx="10515600" cy="21945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Add import static org.wpilib.units.Units.Degrees;. A real steering module gears down 25:1 between motor and wheel — this lesson pretends the sensor turns 1:1 with the wheel so it can focus on P control, not unit conversion. Lesson 7 pays that debt off for real.</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item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CONSTANTS.JAVA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calibration number, measured by hand</a:t>
            </a:r>
            <a:endParaRPr lang="en-US" sz="3000" dirty="0"/>
          </a:p>
        </p:txBody>
      </p:sp>
      <p:sp>
        <p:nvSpPr>
          <p:cNvPr id="6" name="Shape 3"/>
          <p:cNvSpPr/>
          <p:nvPr/>
        </p:nvSpPr>
        <p:spPr>
          <a:xfrm>
            <a:off x="640080" y="1600200"/>
            <a:ext cx="10881360" cy="2743200"/>
          </a:xfrm>
          <a:prstGeom prst="roundRect">
            <a:avLst>
              <a:gd name="adj" fmla="val 4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Constants.java</a:t>
            </a:r>
            <a:endParaRPr lang="en-US" sz="1500" dirty="0"/>
          </a:p>
        </p:txBody>
      </p:sp>
      <p:sp>
        <p:nvSpPr>
          <p:cNvPr id="11" name="Text 8"/>
          <p:cNvSpPr/>
          <p:nvPr/>
        </p:nvSpPr>
        <p:spPr>
          <a:xfrm>
            <a:off x="914400" y="2057400"/>
            <a:ext cx="10195560" cy="2084832"/>
          </a:xfrm>
          <a:prstGeom prst="rect">
            <a:avLst/>
          </a:prstGeom>
          <a:noFill/>
          <a:ln/>
        </p:spPr>
        <p:txBody>
          <a:bodyPr wrap="square" lIns="0" tIns="0" rIns="0" bIns="0" rtlCol="0" anchor="t"/>
          <a:lstStyle/>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public static final class DriveConstants {</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...kDriveMotorPort, kSteerMotorPort stay...</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int kCancoderPort = 3;   // CAN ID — change to yours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a:p>
            <a:pPr indent="0" marL="0">
              <a:lnSpc>
                <a:spcPct val="120000"/>
              </a:lnSpc>
              <a:buNone/>
            </a:pP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static final class SteerConstants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double kMagnetOffset = 0.0; // measure with Tuner X</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40080" y="4617720"/>
            <a:ext cx="10881360" cy="1783080"/>
          </a:xfrm>
          <a:prstGeom prst="roundRect">
            <a:avLst>
              <a:gd name="adj" fmla="val 5128"/>
            </a:avLst>
          </a:prstGeom>
          <a:solidFill>
            <a:srgbClr val="F3F6FA"/>
          </a:solidFill>
          <a:ln/>
        </p:spPr>
      </p:sp>
      <p:sp>
        <p:nvSpPr>
          <p:cNvPr id="13" name="Text 10"/>
          <p:cNvSpPr/>
          <p:nvPr/>
        </p:nvSpPr>
        <p:spPr>
          <a:xfrm>
            <a:off x="822960" y="4800600"/>
            <a:ext cx="10515600" cy="141732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Point the wheel straight forward by hand, read the CANcoder's raw position in Phoenix Tuner X, and store the negative of that as kMagnetOffset — the CANcoder then reports exactly 0 at true forward. SteerConstants gains kP later — this is its first job, not its last.</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7</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mpas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A BLIND SPOT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Relative sensors forget where "forward" is</a:t>
            </a:r>
            <a:endParaRPr lang="en-US" sz="3000" dirty="0"/>
          </a:p>
        </p:txBody>
      </p:sp>
      <p:sp>
        <p:nvSpPr>
          <p:cNvPr id="6" name="Shape 3"/>
          <p:cNvSpPr/>
          <p:nvPr/>
        </p:nvSpPr>
        <p:spPr>
          <a:xfrm>
            <a:off x="640080" y="1600200"/>
            <a:ext cx="5349240" cy="4251960"/>
          </a:xfrm>
          <a:prstGeom prst="roundRect">
            <a:avLst>
              <a:gd name="adj" fmla="val 2151"/>
            </a:avLst>
          </a:prstGeom>
          <a:solidFill>
            <a:srgbClr val="F3F6FA"/>
          </a:solidFill>
          <a:ln/>
        </p:spPr>
      </p:sp>
      <p:sp>
        <p:nvSpPr>
          <p:cNvPr id="7" name="Text 4"/>
          <p:cNvSpPr/>
          <p:nvPr/>
        </p:nvSpPr>
        <p:spPr>
          <a:xfrm>
            <a:off x="914400" y="1874520"/>
            <a:ext cx="4800600" cy="1228725"/>
          </a:xfrm>
          <a:prstGeom prst="rect">
            <a:avLst/>
          </a:prstGeom>
          <a:noFill/>
          <a:ln/>
        </p:spPr>
        <p:txBody>
          <a:bodyPr wrap="square" lIns="0" tIns="0" rIns="0" bIns="0" rtlCol="0" anchor="t"/>
          <a:lstStyle/>
          <a:p>
            <a:pPr indent="0" marL="0">
              <a:lnSpc>
                <a:spcPct val="120000"/>
              </a:lnSpc>
              <a:buNone/>
            </a:pPr>
            <a:r>
              <a:rPr lang="en-US" sz="2100" b="1" dirty="0">
                <a:solidFill>
                  <a:srgbClr val="13294B"/>
                </a:solidFill>
                <a:latin typeface="Cambria" pitchFamily="34" charset="0"/>
                <a:ea typeface="Cambria" pitchFamily="34" charset="-122"/>
                <a:cs typeface="Cambria" pitchFamily="34" charset="-120"/>
              </a:rPr>
              <a:t>The steering motor's own sensor counts rotations from wherever it booted — not from a fixed reference.</a:t>
            </a:r>
            <a:endParaRPr lang="en-US" sz="2100" dirty="0"/>
          </a:p>
        </p:txBody>
      </p:sp>
      <p:sp>
        <p:nvSpPr>
          <p:cNvPr id="8" name="Text 5"/>
          <p:cNvSpPr/>
          <p:nvPr/>
        </p:nvSpPr>
        <p:spPr>
          <a:xfrm>
            <a:off x="914400" y="3103245"/>
            <a:ext cx="4800600" cy="2474595"/>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Invisible on the bench. After a real match day of unplugging and replugging, there's no guarantee the wheel is anywhere near where it was last time.</a:t>
            </a:r>
            <a:endParaRPr lang="en-US" sz="2000" dirty="0"/>
          </a:p>
        </p:txBody>
      </p:sp>
      <p:sp>
        <p:nvSpPr>
          <p:cNvPr id="9" name="Shape 6"/>
          <p:cNvSpPr/>
          <p:nvPr/>
        </p:nvSpPr>
        <p:spPr>
          <a:xfrm>
            <a:off x="6172200" y="1600200"/>
            <a:ext cx="5349240" cy="4251960"/>
          </a:xfrm>
          <a:prstGeom prst="roundRect">
            <a:avLst>
              <a:gd name="adj" fmla="val 2151"/>
            </a:avLst>
          </a:prstGeom>
          <a:solidFill>
            <a:srgbClr val="0B1F3A"/>
          </a:solidFill>
          <a:ln/>
        </p:spPr>
      </p:sp>
      <p:sp>
        <p:nvSpPr>
          <p:cNvPr id="10" name="Text 7"/>
          <p:cNvSpPr/>
          <p:nvPr/>
        </p:nvSpPr>
        <p:spPr>
          <a:xfrm>
            <a:off x="6446520" y="1874520"/>
            <a:ext cx="4800600" cy="365760"/>
          </a:xfrm>
          <a:prstGeom prst="rect">
            <a:avLst/>
          </a:prstGeom>
          <a:noFill/>
          <a:ln/>
        </p:spPr>
        <p:txBody>
          <a:bodyPr wrap="square" lIns="0" tIns="0" rIns="0" bIns="0" rtlCol="0" anchor="ctr"/>
          <a:lstStyle/>
          <a:p>
            <a:pPr indent="0" marL="0">
              <a:buNone/>
            </a:pPr>
            <a:r>
              <a:rPr lang="en-US" sz="2000" b="1" spc="50" kern="0" dirty="0">
                <a:solidFill>
                  <a:srgbClr val="1B9AAA"/>
                </a:solidFill>
                <a:latin typeface="Calibri" pitchFamily="34" charset="0"/>
                <a:ea typeface="Calibri" pitchFamily="34" charset="-122"/>
                <a:cs typeface="Calibri" pitchFamily="34" charset="-120"/>
              </a:rPr>
              <a:t>THE FIX: A CANCODER</a:t>
            </a:r>
            <a:endParaRPr lang="en-US" sz="2000" dirty="0"/>
          </a:p>
        </p:txBody>
      </p:sp>
      <p:sp>
        <p:nvSpPr>
          <p:cNvPr id="11" name="Text 8"/>
          <p:cNvSpPr/>
          <p:nvPr/>
        </p:nvSpPr>
        <p:spPr>
          <a:xfrm>
            <a:off x="6446520" y="2331720"/>
            <a:ext cx="4800600" cy="1228725"/>
          </a:xfrm>
          <a:prstGeom prst="rect">
            <a:avLst/>
          </a:prstGeom>
          <a:noFill/>
          <a:ln/>
        </p:spPr>
        <p:txBody>
          <a:bodyPr wrap="square" lIns="0" tIns="0" rIns="0" bIns="0" rtlCol="0" anchor="t"/>
          <a:lstStyle/>
          <a:p>
            <a:pPr indent="0" marL="0">
              <a:lnSpc>
                <a:spcPct val="120000"/>
              </a:lnSpc>
              <a:buNone/>
            </a:pPr>
            <a:r>
              <a:rPr lang="en-US" sz="2100" b="1" dirty="0">
                <a:solidFill>
                  <a:srgbClr val="FFFFFF"/>
                </a:solidFill>
                <a:latin typeface="Cambria" pitchFamily="34" charset="0"/>
                <a:ea typeface="Cambria" pitchFamily="34" charset="-122"/>
                <a:cs typeface="Cambria" pitchFamily="34" charset="-120"/>
              </a:rPr>
              <a:t>A magnetic absolute encoder — the same true angle every time, power cycle or not.</a:t>
            </a:r>
            <a:endParaRPr lang="en-US" sz="2100" dirty="0"/>
          </a:p>
        </p:txBody>
      </p:sp>
      <p:sp>
        <p:nvSpPr>
          <p:cNvPr id="12" name="Text 9"/>
          <p:cNvSpPr/>
          <p:nvPr/>
        </p:nvSpPr>
        <p:spPr>
          <a:xfrm>
            <a:off x="6446520" y="3560445"/>
            <a:ext cx="4800600" cy="2017395"/>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Read it once at boot, and tell the steering motor's own sensor to start counting from there. That's priming.</a:t>
            </a:r>
            <a:endParaRPr lang="en-US" sz="2000" dirty="0"/>
          </a:p>
        </p:txBody>
      </p:sp>
      <p:sp>
        <p:nvSpPr>
          <p:cNvPr id="13"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14"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8</a:t>
            </a:r>
            <a:endParaRPr lang="en-US" sz="2000" dirty="0"/>
          </a:p>
        </p:txBody>
      </p:sp>
      <p:pic>
        <p:nvPicPr>
          <p:cNvPr id="15"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PRIMING, IN CODE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reading, right at the start</a:t>
            </a:r>
            <a:endParaRPr lang="en-US" sz="3000" dirty="0"/>
          </a:p>
        </p:txBody>
      </p:sp>
      <p:sp>
        <p:nvSpPr>
          <p:cNvPr id="6" name="Shape 3"/>
          <p:cNvSpPr/>
          <p:nvPr/>
        </p:nvSpPr>
        <p:spPr>
          <a:xfrm>
            <a:off x="640080" y="1371600"/>
            <a:ext cx="10881360" cy="4754880"/>
          </a:xfrm>
          <a:prstGeom prst="roundRect">
            <a:avLst>
              <a:gd name="adj" fmla="val 2308"/>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the CANcoder field, then fill in the constructor</a:t>
            </a:r>
            <a:endParaRPr lang="en-US" sz="1500" dirty="0"/>
          </a:p>
        </p:txBody>
      </p:sp>
      <p:sp>
        <p:nvSpPr>
          <p:cNvPr id="11" name="Text 8"/>
          <p:cNvSpPr/>
          <p:nvPr/>
        </p:nvSpPr>
        <p:spPr>
          <a:xfrm>
            <a:off x="914400" y="1828800"/>
            <a:ext cx="10195560" cy="4096512"/>
          </a:xfrm>
          <a:prstGeom prst="rect">
            <a:avLst/>
          </a:prstGeom>
          <a:noFill/>
          <a:ln/>
        </p:spPr>
        <p:txBody>
          <a:bodyPr wrap="square" lIns="0" tIns="0" rIns="0" bIns="0" rtlCol="0" anchor="t"/>
          <a:lstStyle/>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private final CANcoder m_steerEncoder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new CANcoder(Constants.DriveConstants.kCancoderPort, new CANBus(CANPort.CAN_S0));</a:t>
            </a:r>
            <a:endParaRPr lang="en-US" sz="1100" dirty="0"/>
          </a:p>
          <a:p>
            <a:pPr indent="0" marL="0">
              <a:lnSpc>
                <a:spcPct val="120000"/>
              </a:lnSpc>
              <a:buNone/>
            </a:pP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public DriveModule() {</a:t>
            </a: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Calibrate the CANcoder's zero to "wheel pointing forward"...</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CANcoderConfiguration cancoderConfig = new CANcoderConfiguration();</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cancoderConfig.MagnetSensor.MagnetOffset = SteerConstants.kMagnetOffset;</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m_steerEncoder.getConfigurator().apply(cancoderConfig);</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...then prime the steering motor's own sensor to match it, once.</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m_steerMotor.setPosition(m_steerEncoder.getAbsolutePosition().getValue().in(Rotations));</a:t>
            </a:r>
            <a:endParaRPr lang="en-US" sz="1100" dirty="0"/>
          </a:p>
          <a:p>
            <a:pPr indent="0" marL="0">
              <a:lnSpc>
                <a:spcPct val="120000"/>
              </a:lnSpc>
              <a:buNone/>
            </a:pP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Scheduler.getDefault().addPeriodic(this::logTelemetry);</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THE HEART OF THE LESSON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Measure, subtract, multiply, clamp, command</a:t>
            </a:r>
            <a:endParaRPr lang="en-US" sz="3000" dirty="0"/>
          </a:p>
        </p:txBody>
      </p:sp>
      <p:sp>
        <p:nvSpPr>
          <p:cNvPr id="6" name="Shape 3"/>
          <p:cNvSpPr/>
          <p:nvPr/>
        </p:nvSpPr>
        <p:spPr>
          <a:xfrm>
            <a:off x="640080" y="1371600"/>
            <a:ext cx="10881360" cy="4754880"/>
          </a:xfrm>
          <a:prstGeom prst="roundRect">
            <a:avLst>
              <a:gd name="adj" fmla="val 2308"/>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DriveModule, below your other command factories</a:t>
            </a:r>
            <a:endParaRPr lang="en-US" sz="1500" dirty="0"/>
          </a:p>
        </p:txBody>
      </p:sp>
      <p:sp>
        <p:nvSpPr>
          <p:cNvPr id="11" name="Text 8"/>
          <p:cNvSpPr/>
          <p:nvPr/>
        </p:nvSpPr>
        <p:spPr>
          <a:xfrm>
            <a:off x="914400" y="1828800"/>
            <a:ext cx="10195560" cy="409651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Command steerToAngle(double targetDegrees)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return runRepeatedly(() -&gt;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double measurement = getSteerAngleDegrees();   // where we are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double error = targetDegrees - measurement;    // how far off</a:t>
            </a:r>
            <a:endParaRPr lang="en-US" sz="1300" dirty="0"/>
          </a:p>
          <a:p>
            <a:pPr indent="0" marL="0">
              <a:lnSpc>
                <a:spcPct val="120000"/>
              </a:lnSpc>
              <a:buNone/>
            </a:pP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double output = SteerConstants.kP * error;     // push proportional</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output = clamp(output, -1.0, 1.0);              // never exceed full</a:t>
            </a:r>
            <a:endParaRPr lang="en-US" sz="1300" dirty="0"/>
          </a:p>
          <a:p>
            <a:pPr indent="0" marL="0">
              <a:lnSpc>
                <a:spcPct val="120000"/>
              </a:lnSpc>
              <a:buNone/>
            </a:pP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m_steerMotor.setThrottle(output);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.whenCanceled(() -&gt; m_steerMotor.setThrottle(0))</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.named("Steer To Angle");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10</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hartlin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4 · ONE TICK, WORKED OUT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Target 90°, currently at 20°</a:t>
            </a:r>
            <a:endParaRPr lang="en-US" sz="3000" dirty="0"/>
          </a:p>
        </p:txBody>
      </p:sp>
      <p:sp>
        <p:nvSpPr>
          <p:cNvPr id="6" name="Shape 3"/>
          <p:cNvSpPr/>
          <p:nvPr/>
        </p:nvSpPr>
        <p:spPr>
          <a:xfrm>
            <a:off x="640080" y="1755648"/>
            <a:ext cx="502920" cy="502920"/>
          </a:xfrm>
          <a:prstGeom prst="ellipse">
            <a:avLst/>
          </a:prstGeom>
          <a:solidFill>
            <a:srgbClr val="1B9AAA"/>
          </a:solidFill>
          <a:ln/>
        </p:spPr>
      </p:sp>
      <p:sp>
        <p:nvSpPr>
          <p:cNvPr id="7" name="Text 4"/>
          <p:cNvSpPr/>
          <p:nvPr/>
        </p:nvSpPr>
        <p:spPr>
          <a:xfrm>
            <a:off x="640080" y="17556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8249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Read the measurement</a:t>
            </a:r>
            <a:endParaRPr lang="en-US" sz="2000" dirty="0"/>
          </a:p>
        </p:txBody>
      </p:sp>
      <p:sp>
        <p:nvSpPr>
          <p:cNvPr id="9" name="Text 6"/>
          <p:cNvSpPr/>
          <p:nvPr/>
        </p:nvSpPr>
        <p:spPr>
          <a:xfrm>
            <a:off x="1371600" y="20665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measurement = 20°, error = 90 − 20 = 70°</a:t>
            </a:r>
            <a:endParaRPr lang="en-US" sz="2000" dirty="0"/>
          </a:p>
        </p:txBody>
      </p:sp>
      <p:sp>
        <p:nvSpPr>
          <p:cNvPr id="10" name="Shape 7"/>
          <p:cNvSpPr/>
          <p:nvPr/>
        </p:nvSpPr>
        <p:spPr>
          <a:xfrm>
            <a:off x="640080" y="2670048"/>
            <a:ext cx="502920" cy="502920"/>
          </a:xfrm>
          <a:prstGeom prst="ellipse">
            <a:avLst/>
          </a:prstGeom>
          <a:solidFill>
            <a:srgbClr val="1B9AAA"/>
          </a:solidFill>
          <a:ln/>
        </p:spPr>
      </p:sp>
      <p:sp>
        <p:nvSpPr>
          <p:cNvPr id="11" name="Text 8"/>
          <p:cNvSpPr/>
          <p:nvPr/>
        </p:nvSpPr>
        <p:spPr>
          <a:xfrm>
            <a:off x="640080" y="2670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59689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Compute the output</a:t>
            </a:r>
            <a:endParaRPr lang="en-US" sz="2000" dirty="0"/>
          </a:p>
        </p:txBody>
      </p:sp>
      <p:sp>
        <p:nvSpPr>
          <p:cNvPr id="13" name="Text 10"/>
          <p:cNvSpPr/>
          <p:nvPr/>
        </p:nvSpPr>
        <p:spPr>
          <a:xfrm>
            <a:off x="1371600" y="2980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output = kP × error = 0.0005 × 70 ≈ 0.035 (about 3.5% power)</a:t>
            </a:r>
            <a:endParaRPr lang="en-US" sz="2000" dirty="0"/>
          </a:p>
        </p:txBody>
      </p:sp>
      <p:sp>
        <p:nvSpPr>
          <p:cNvPr id="14" name="Shape 11"/>
          <p:cNvSpPr/>
          <p:nvPr/>
        </p:nvSpPr>
        <p:spPr>
          <a:xfrm>
            <a:off x="640080" y="3584448"/>
            <a:ext cx="502920" cy="502920"/>
          </a:xfrm>
          <a:prstGeom prst="ellipse">
            <a:avLst/>
          </a:prstGeom>
          <a:solidFill>
            <a:srgbClr val="1B9AAA"/>
          </a:solidFill>
          <a:ln/>
        </p:spPr>
      </p:sp>
      <p:sp>
        <p:nvSpPr>
          <p:cNvPr id="15" name="Text 12"/>
          <p:cNvSpPr/>
          <p:nvPr/>
        </p:nvSpPr>
        <p:spPr>
          <a:xfrm>
            <a:off x="640080" y="35844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51129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Error shrinks as it turns</a:t>
            </a:r>
            <a:endParaRPr lang="en-US" sz="2000" dirty="0"/>
          </a:p>
        </p:txBody>
      </p:sp>
      <p:sp>
        <p:nvSpPr>
          <p:cNvPr id="17" name="Text 14"/>
          <p:cNvSpPr/>
          <p:nvPr/>
        </p:nvSpPr>
        <p:spPr>
          <a:xfrm>
            <a:off x="1371600" y="38953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measurement rises toward 90°, so error — and output — shrink with it</a:t>
            </a:r>
            <a:endParaRPr lang="en-US" sz="2000" dirty="0"/>
          </a:p>
        </p:txBody>
      </p:sp>
      <p:sp>
        <p:nvSpPr>
          <p:cNvPr id="18" name="Shape 15"/>
          <p:cNvSpPr/>
          <p:nvPr/>
        </p:nvSpPr>
        <p:spPr>
          <a:xfrm>
            <a:off x="640080" y="4498848"/>
            <a:ext cx="502920" cy="502920"/>
          </a:xfrm>
          <a:prstGeom prst="ellipse">
            <a:avLst/>
          </a:prstGeom>
          <a:solidFill>
            <a:srgbClr val="1B9AAA"/>
          </a:solidFill>
          <a:ln/>
        </p:spPr>
      </p:sp>
      <p:sp>
        <p:nvSpPr>
          <p:cNvPr id="19" name="Text 16"/>
          <p:cNvSpPr/>
          <p:nvPr/>
        </p:nvSpPr>
        <p:spPr>
          <a:xfrm>
            <a:off x="640080" y="44988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42569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Ease in and hold</a:t>
            </a:r>
            <a:endParaRPr lang="en-US" sz="2000" dirty="0"/>
          </a:p>
        </p:txBody>
      </p:sp>
      <p:sp>
        <p:nvSpPr>
          <p:cNvPr id="21" name="Text 18"/>
          <p:cNvSpPr/>
          <p:nvPr/>
        </p:nvSpPr>
        <p:spPr>
          <a:xfrm>
            <a:off x="1371600" y="48097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Near 90°, error ≈ 0, output ≈ 0 — it settles and stays</a:t>
            </a:r>
            <a:endParaRPr lang="en-US" sz="2000" dirty="0"/>
          </a:p>
        </p:txBody>
      </p:sp>
      <p:sp>
        <p:nvSpPr>
          <p:cNvPr id="22" name="Text 19"/>
          <p:cNvSpPr/>
          <p:nvPr/>
        </p:nvSpPr>
        <p:spPr>
          <a:xfrm>
            <a:off x="640080" y="5394960"/>
            <a:ext cx="10881360" cy="1097280"/>
          </a:xfrm>
          <a:prstGeom prst="rect">
            <a:avLst/>
          </a:prstGeom>
          <a:noFill/>
          <a:ln/>
        </p:spPr>
        <p:txBody>
          <a:bodyPr wrap="square" lIns="0" tIns="0" rIns="0" bIns="0" rtlCol="0" anchor="t"/>
          <a:lstStyle/>
          <a:p>
            <a:pPr indent="0" marL="0">
              <a:lnSpc>
                <a:spcPct val="125000"/>
              </a:lnSpc>
              <a:buNone/>
            </a:pPr>
            <a:r>
              <a:rPr lang="en-US" sz="2000" i="1" dirty="0">
                <a:solidFill>
                  <a:srgbClr val="CADCE8"/>
                </a:solidFill>
                <a:latin typeface="Cambria" pitchFamily="34" charset="0"/>
                <a:ea typeface="Cambria" pitchFamily="34" charset="-122"/>
                <a:cs typeface="Cambria" pitchFamily="34" charset="-120"/>
              </a:rPr>
              <a:t>Overshoot past 90° and error goes negative, so output goes negative and the motor pushes back. The sign carries direction; the size carries how hard.</a:t>
            </a:r>
            <a:endParaRPr lang="en-US" sz="2000" dirty="0"/>
          </a:p>
        </p:txBody>
      </p:sp>
      <p:sp>
        <p:nvSpPr>
          <p:cNvPr id="23" name="Text 2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24" name="Text 2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11</a:t>
            </a:r>
            <a:endParaRPr lang="en-US" sz="2000" dirty="0"/>
          </a:p>
        </p:txBody>
      </p:sp>
      <p:pic>
        <p:nvPicPr>
          <p:cNvPr id="25"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A SAFETY CLAMP</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if / else if / else, one decision, three branches</a:t>
            </a:r>
            <a:endParaRPr lang="en-US" sz="3000" dirty="0"/>
          </a:p>
        </p:txBody>
      </p:sp>
      <p:sp>
        <p:nvSpPr>
          <p:cNvPr id="6" name="Shape 3"/>
          <p:cNvSpPr/>
          <p:nvPr/>
        </p:nvSpPr>
        <p:spPr>
          <a:xfrm>
            <a:off x="640080" y="1600200"/>
            <a:ext cx="10881360" cy="2880360"/>
          </a:xfrm>
          <a:prstGeom prst="roundRect">
            <a:avLst>
              <a:gd name="adj" fmla="val 381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DriveModule, right after steerToAngle</a:t>
            </a:r>
            <a:endParaRPr lang="en-US" sz="1500" dirty="0"/>
          </a:p>
        </p:txBody>
      </p:sp>
      <p:sp>
        <p:nvSpPr>
          <p:cNvPr id="11" name="Text 8"/>
          <p:cNvSpPr/>
          <p:nvPr/>
        </p:nvSpPr>
        <p:spPr>
          <a:xfrm>
            <a:off x="914400" y="2057400"/>
            <a:ext cx="10195560" cy="222199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private double clamp(double value, double min, double max)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if (value &gt; max)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return max;</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 else if (value &lt; min)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return min;</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 else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return value;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640080" y="4663440"/>
            <a:ext cx="10881360" cy="1691640"/>
          </a:xfrm>
          <a:prstGeom prst="roundRect">
            <a:avLst>
              <a:gd name="adj" fmla="val 5405"/>
            </a:avLst>
          </a:prstGeom>
          <a:solidFill>
            <a:srgbClr val="F3F6FA"/>
          </a:solidFill>
          <a:ln/>
        </p:spPr>
      </p:sp>
      <p:sp>
        <p:nvSpPr>
          <p:cNvPr id="13" name="Text 10"/>
          <p:cNvSpPr/>
          <p:nvPr/>
        </p:nvSpPr>
        <p:spPr>
          <a:xfrm>
            <a:off x="914400" y="4937760"/>
            <a:ext cx="10332720" cy="11430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Without it, a large error could ask for more power than the motor has. It's private, like applyDeadband was in Lesson 2 — internal plumbing, placed right below the method that uses it.</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12</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item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CONSTANTS.JAVA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kP: a number you'll adjust over and over</a:t>
            </a:r>
            <a:endParaRPr lang="en-US" sz="3000" dirty="0"/>
          </a:p>
        </p:txBody>
      </p:sp>
      <p:sp>
        <p:nvSpPr>
          <p:cNvPr id="6" name="Shape 3"/>
          <p:cNvSpPr/>
          <p:nvPr/>
        </p:nvSpPr>
        <p:spPr>
          <a:xfrm>
            <a:off x="640080" y="1600200"/>
            <a:ext cx="10881360" cy="1965960"/>
          </a:xfrm>
          <a:prstGeom prst="roundRect">
            <a:avLst>
              <a:gd name="adj" fmla="val 558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kP to SteerConstants in Constants.java</a:t>
            </a:r>
            <a:endParaRPr lang="en-US" sz="1500" dirty="0"/>
          </a:p>
        </p:txBody>
      </p:sp>
      <p:sp>
        <p:nvSpPr>
          <p:cNvPr id="11" name="Text 8"/>
          <p:cNvSpPr/>
          <p:nvPr/>
        </p:nvSpPr>
        <p:spPr>
          <a:xfrm>
            <a:off x="914400" y="2057400"/>
            <a:ext cx="10195560" cy="1307592"/>
          </a:xfrm>
          <a:prstGeom prst="rect">
            <a:avLst/>
          </a:prstGeom>
          <a:noFill/>
          <a:ln/>
        </p:spPr>
        <p:txBody>
          <a:bodyPr wrap="square" lIns="0" tIns="0" rIns="0" bIns="0" rtlCol="0" anchor="t"/>
          <a:lstStyle/>
          <a:p>
            <a:pPr indent="0" marL="0">
              <a:lnSpc>
                <a:spcPct val="120000"/>
              </a:lnSpc>
              <a:buNone/>
            </a:pPr>
            <a:r>
              <a:rPr lang="en-US" sz="1600" dirty="0">
                <a:solidFill>
                  <a:srgbClr val="FFD166"/>
                </a:solidFill>
                <a:latin typeface="Courier New" pitchFamily="34" charset="0"/>
                <a:ea typeface="Courier New" pitchFamily="34" charset="-122"/>
                <a:cs typeface="Courier New" pitchFamily="34" charset="-120"/>
              </a:rPr>
              <a:t>public static final class SteerConstants {</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  public static final double kMagnetOffset = 0.0; // from the previous section</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  public static final double kP = 0.0005;          // output per degree of error</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a:t>
            </a:r>
            <a:endParaRPr lang="en-US" sz="1600" dirty="0"/>
          </a:p>
        </p:txBody>
      </p:sp>
      <p:sp>
        <p:nvSpPr>
          <p:cNvPr id="12" name="Shape 9"/>
          <p:cNvSpPr/>
          <p:nvPr/>
        </p:nvSpPr>
        <p:spPr>
          <a:xfrm>
            <a:off x="640080" y="3794760"/>
            <a:ext cx="10881360" cy="2560320"/>
          </a:xfrm>
          <a:prstGeom prst="roundRect">
            <a:avLst>
              <a:gd name="adj" fmla="val 3571"/>
            </a:avLst>
          </a:prstGeom>
          <a:solidFill>
            <a:srgbClr val="F3F6FA"/>
          </a:solidFill>
          <a:ln/>
        </p:spPr>
      </p:sp>
      <p:sp>
        <p:nvSpPr>
          <p:cNvPr id="13" name="Text 10"/>
          <p:cNvSpPr/>
          <p:nvPr/>
        </p:nvSpPr>
        <p:spPr>
          <a:xfrm>
            <a:off x="822960" y="3977640"/>
            <a:ext cx="10515600" cy="21945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public static final reads as: anyone can see it, there's exactly one of it (no object needed — you write SteerConstants.kP, just like Math.abs), and it can never be reassigned. One named number, one home, every place that needs it points here.</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13</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amepa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MYTELEOP.JAVA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onTrue: schedule once, and walk away</a:t>
            </a:r>
            <a:endParaRPr lang="en-US" sz="3000" dirty="0"/>
          </a:p>
        </p:txBody>
      </p:sp>
      <p:sp>
        <p:nvSpPr>
          <p:cNvPr id="6" name="Shape 3"/>
          <p:cNvSpPr/>
          <p:nvPr/>
        </p:nvSpPr>
        <p:spPr>
          <a:xfrm>
            <a:off x="640080" y="1600200"/>
            <a:ext cx="10881360" cy="1874520"/>
          </a:xfrm>
          <a:prstGeom prst="roundRect">
            <a:avLst>
              <a:gd name="adj" fmla="val 585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MyTeleop's constructor, with the rest of the wiring</a:t>
            </a:r>
            <a:endParaRPr lang="en-US" sz="1500" dirty="0"/>
          </a:p>
        </p:txBody>
      </p:sp>
      <p:sp>
        <p:nvSpPr>
          <p:cNvPr id="11" name="Text 8"/>
          <p:cNvSpPr/>
          <p:nvPr/>
        </p:nvSpPr>
        <p:spPr>
          <a:xfrm>
            <a:off x="914400" y="2057400"/>
            <a:ext cx="10195560" cy="1216152"/>
          </a:xfrm>
          <a:prstGeom prst="rect">
            <a:avLst/>
          </a:prstGeom>
          <a:noFill/>
          <a:ln/>
        </p:spPr>
        <p:txBody>
          <a:bodyPr wrap="square" lIns="0" tIns="0" rIns="0" bIns="0" rtlCol="0" anchor="t"/>
          <a:lstStyle/>
          <a:p>
            <a:pPr indent="0" marL="0">
              <a:lnSpc>
                <a:spcPct val="120000"/>
              </a:lnSpc>
              <a:buNone/>
            </a:pPr>
            <a:r>
              <a:rPr lang="en-US" sz="1500" dirty="0">
                <a:solidFill>
                  <a:srgbClr val="7FA8C9"/>
                </a:solidFill>
                <a:latin typeface="Courier New" pitchFamily="34" charset="0"/>
                <a:ea typeface="Courier New" pitchFamily="34" charset="-122"/>
                <a:cs typeface="Courier New" pitchFamily="34" charset="-120"/>
              </a:rPr>
              <a:t>// Tap the left face button to steer to 90° and hold it there.</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robot.driverController.faceLeft().onTrue(robot.module.steerToAngle(90));</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robot.driverController.faceUp().onTrue(robot.module.steerToAngle(0));</a:t>
            </a:r>
            <a:endParaRPr lang="en-US" sz="1500" dirty="0"/>
          </a:p>
        </p:txBody>
      </p:sp>
      <p:sp>
        <p:nvSpPr>
          <p:cNvPr id="12" name="Shape 9"/>
          <p:cNvSpPr/>
          <p:nvPr/>
        </p:nvSpPr>
        <p:spPr>
          <a:xfrm>
            <a:off x="640080" y="3657600"/>
            <a:ext cx="10881360" cy="2560320"/>
          </a:xfrm>
          <a:prstGeom prst="roundRect">
            <a:avLst>
              <a:gd name="adj" fmla="val 3571"/>
            </a:avLst>
          </a:prstGeom>
          <a:solidFill>
            <a:srgbClr val="F3F6FA"/>
          </a:solidFill>
          <a:ln/>
        </p:spPr>
      </p:sp>
      <p:sp>
        <p:nvSpPr>
          <p:cNvPr id="13" name="Text 10"/>
          <p:cNvSpPr/>
          <p:nvPr/>
        </p:nvSpPr>
        <p:spPr>
          <a:xfrm>
            <a:off x="914400" y="393192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whileTrue held; onTrue fires once and lets go.</a:t>
            </a:r>
            <a:endParaRPr lang="en-US" sz="2200" dirty="0"/>
          </a:p>
        </p:txBody>
      </p:sp>
      <p:sp>
        <p:nvSpPr>
          <p:cNvPr id="14" name="Text 11"/>
          <p:cNvSpPr/>
          <p:nvPr/>
        </p:nvSpPr>
        <p:spPr>
          <a:xfrm>
            <a:off x="914400" y="4509770"/>
            <a:ext cx="10332720" cy="143383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Since steerToAngle never finishes on its own, one tap sends the module to 90° and holds it — no need to keep the button down. Tap the other button and the scheduler swaps commands, firing the old one's whenCanceled cleanup on the way out.</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14</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hartlin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DRIVEMODULE.JAVA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more line, so the plot shows something</a:t>
            </a:r>
            <a:endParaRPr lang="en-US" sz="3000" dirty="0"/>
          </a:p>
        </p:txBody>
      </p:sp>
      <p:sp>
        <p:nvSpPr>
          <p:cNvPr id="6" name="Shape 3"/>
          <p:cNvSpPr/>
          <p:nvPr/>
        </p:nvSpPr>
        <p:spPr>
          <a:xfrm>
            <a:off x="640080" y="1600200"/>
            <a:ext cx="10881360" cy="1965960"/>
          </a:xfrm>
          <a:prstGeom prst="roundRect">
            <a:avLst>
              <a:gd name="adj" fmla="val 558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DriveModule's logTelemetry()</a:t>
            </a:r>
            <a:endParaRPr lang="en-US" sz="1500" dirty="0"/>
          </a:p>
        </p:txBody>
      </p:sp>
      <p:sp>
        <p:nvSpPr>
          <p:cNvPr id="11" name="Text 8"/>
          <p:cNvSpPr/>
          <p:nvPr/>
        </p:nvSpPr>
        <p:spPr>
          <a:xfrm>
            <a:off x="914400" y="2057400"/>
            <a:ext cx="10195560" cy="1307592"/>
          </a:xfrm>
          <a:prstGeom prst="rect">
            <a:avLst/>
          </a:prstGeom>
          <a:noFill/>
          <a:ln/>
        </p:spPr>
        <p:txBody>
          <a:bodyPr wrap="square" lIns="0" tIns="0" rIns="0" bIns="0" rtlCol="0" anchor="t"/>
          <a:lstStyle/>
          <a:p>
            <a:pPr indent="0" marL="0">
              <a:lnSpc>
                <a:spcPct val="120000"/>
              </a:lnSpc>
              <a:buNone/>
            </a:pPr>
            <a:r>
              <a:rPr lang="en-US" sz="1500" dirty="0">
                <a:solidFill>
                  <a:srgbClr val="FFD166"/>
                </a:solidFill>
                <a:latin typeface="Courier New" pitchFamily="34" charset="0"/>
                <a:ea typeface="Courier New" pitchFamily="34" charset="-122"/>
                <a:cs typeface="Courier New" pitchFamily="34" charset="-120"/>
              </a:rPr>
              <a:t>private void logTelemetry() {</a:t>
            </a:r>
            <a:endParaRPr lang="en-US" sz="1500" dirty="0"/>
          </a:p>
          <a:p>
            <a:pPr indent="0" marL="0">
              <a:lnSpc>
                <a:spcPct val="120000"/>
              </a:lnSpc>
              <a:buNone/>
            </a:pPr>
            <a:r>
              <a:rPr lang="en-US" sz="1500" dirty="0">
                <a:solidFill>
                  <a:srgbClr val="7FA8C9"/>
                </a:solidFill>
                <a:latin typeface="Courier New" pitchFamily="34" charset="0"/>
                <a:ea typeface="Courier New" pitchFamily="34" charset="-122"/>
                <a:cs typeface="Courier New" pitchFamily="34" charset="-120"/>
              </a:rPr>
              <a:t>  // ...the drive position and velocity logs from Lesson 3 stay...</a:t>
            </a:r>
            <a:endParaRPr lang="en-US" sz="1500" dirty="0"/>
          </a:p>
          <a:p>
            <a:pPr indent="0" marL="0">
              <a:lnSpc>
                <a:spcPct val="120000"/>
              </a:lnSpc>
              <a:buNone/>
            </a:pP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Telemetry.log("DriveModule/SteerAngleDegrees", getSteerAngleDegrees());</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a:t>
            </a:r>
            <a:endParaRPr lang="en-US" sz="1500" dirty="0"/>
          </a:p>
        </p:txBody>
      </p:sp>
      <p:sp>
        <p:nvSpPr>
          <p:cNvPr id="12" name="Shape 9"/>
          <p:cNvSpPr/>
          <p:nvPr/>
        </p:nvSpPr>
        <p:spPr>
          <a:xfrm>
            <a:off x="640080" y="3794760"/>
            <a:ext cx="10881360" cy="2560320"/>
          </a:xfrm>
          <a:prstGeom prst="roundRect">
            <a:avLst>
              <a:gd name="adj" fmla="val 3571"/>
            </a:avLst>
          </a:prstGeom>
          <a:solidFill>
            <a:srgbClr val="F3F6FA"/>
          </a:solidFill>
          <a:ln/>
        </p:spPr>
      </p:sp>
      <p:sp>
        <p:nvSpPr>
          <p:cNvPr id="13" name="Text 10"/>
          <p:cNvSpPr/>
          <p:nvPr/>
        </p:nvSpPr>
        <p:spPr>
          <a:xfrm>
            <a:off x="822960" y="3977640"/>
            <a:ext cx="10515600" cy="21945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Same place the drive readings have been logging since Lesson 3 — one more line, same periodic callback, same naming convention. Without it, there's nothing on the AdvantageScope plot to watch kP tune against.</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15</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pla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5 · RUN IT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Tuning kP by watching the plot</a:t>
            </a:r>
            <a:endParaRPr lang="en-US" sz="3000" dirty="0"/>
          </a:p>
        </p:txBody>
      </p:sp>
      <p:sp>
        <p:nvSpPr>
          <p:cNvPr id="6" name="Shape 3"/>
          <p:cNvSpPr/>
          <p:nvPr/>
        </p:nvSpPr>
        <p:spPr>
          <a:xfrm>
            <a:off x="640080" y="1691640"/>
            <a:ext cx="10881360" cy="1097280"/>
          </a:xfrm>
          <a:prstGeom prst="roundRect">
            <a:avLst>
              <a:gd name="adj" fmla="val 8333"/>
            </a:avLst>
          </a:prstGeom>
          <a:solidFill>
            <a:srgbClr val="132A4C"/>
          </a:solidFill>
          <a:ln/>
        </p:spPr>
      </p:sp>
      <p:sp>
        <p:nvSpPr>
          <p:cNvPr id="7" name="Text 4"/>
          <p:cNvSpPr/>
          <p:nvPr/>
        </p:nvSpPr>
        <p:spPr>
          <a:xfrm>
            <a:off x="914400" y="1856232"/>
            <a:ext cx="3108960" cy="777240"/>
          </a:xfrm>
          <a:prstGeom prst="rect">
            <a:avLst/>
          </a:prstGeom>
          <a:noFill/>
          <a:ln/>
        </p:spPr>
        <p:txBody>
          <a:bodyPr wrap="square" lIns="0" tIns="0" rIns="0" bIns="0" rtlCol="0" anchor="ctr"/>
          <a:lstStyle/>
          <a:p>
            <a:pPr indent="0" marL="0">
              <a:buNone/>
            </a:pPr>
            <a:r>
              <a:rPr lang="en-US" sz="2200" b="1" dirty="0">
                <a:solidFill>
                  <a:srgbClr val="FF5010"/>
                </a:solidFill>
                <a:latin typeface="Cambria" pitchFamily="34" charset="0"/>
                <a:ea typeface="Cambria" pitchFamily="34" charset="-122"/>
                <a:cs typeface="Cambria" pitchFamily="34" charset="-120"/>
              </a:rPr>
              <a:t>kP too small</a:t>
            </a:r>
            <a:endParaRPr lang="en-US" sz="2200" dirty="0"/>
          </a:p>
        </p:txBody>
      </p:sp>
      <p:sp>
        <p:nvSpPr>
          <p:cNvPr id="8" name="Text 5"/>
          <p:cNvSpPr/>
          <p:nvPr/>
        </p:nvSpPr>
        <p:spPr>
          <a:xfrm>
            <a:off x="4206240" y="1856232"/>
            <a:ext cx="7040880" cy="777240"/>
          </a:xfrm>
          <a:prstGeom prst="rect">
            <a:avLst/>
          </a:prstGeom>
          <a:noFill/>
          <a:ln/>
        </p:spPr>
        <p:txBody>
          <a:bodyPr wrap="square" lIns="0" tIns="0" rIns="0" bIns="0" rtlCol="0" anchor="ctr"/>
          <a:lstStyle/>
          <a:p>
            <a:pPr indent="0" marL="0">
              <a:lnSpc>
                <a:spcPct val="120000"/>
              </a:lnSpc>
              <a:buNone/>
            </a:pPr>
            <a:r>
              <a:rPr lang="en-US" sz="2100" dirty="0">
                <a:solidFill>
                  <a:srgbClr val="D7E3F4"/>
                </a:solidFill>
                <a:latin typeface="Calibri" pitchFamily="34" charset="0"/>
                <a:ea typeface="Calibri" pitchFamily="34" charset="-122"/>
                <a:cs typeface="Calibri" pitchFamily="34" charset="-120"/>
              </a:rPr>
              <a:t>Crawls to 90° and takes forever (or never gets there).</a:t>
            </a:r>
            <a:endParaRPr lang="en-US" sz="2100" dirty="0"/>
          </a:p>
        </p:txBody>
      </p:sp>
      <p:sp>
        <p:nvSpPr>
          <p:cNvPr id="9" name="Shape 6"/>
          <p:cNvSpPr/>
          <p:nvPr/>
        </p:nvSpPr>
        <p:spPr>
          <a:xfrm>
            <a:off x="640080" y="2926080"/>
            <a:ext cx="10881360" cy="1097280"/>
          </a:xfrm>
          <a:prstGeom prst="roundRect">
            <a:avLst>
              <a:gd name="adj" fmla="val 8333"/>
            </a:avLst>
          </a:prstGeom>
          <a:solidFill>
            <a:srgbClr val="132A4C"/>
          </a:solidFill>
          <a:ln/>
        </p:spPr>
      </p:sp>
      <p:sp>
        <p:nvSpPr>
          <p:cNvPr id="10" name="Text 7"/>
          <p:cNvSpPr/>
          <p:nvPr/>
        </p:nvSpPr>
        <p:spPr>
          <a:xfrm>
            <a:off x="914400" y="3090672"/>
            <a:ext cx="3108960" cy="777240"/>
          </a:xfrm>
          <a:prstGeom prst="rect">
            <a:avLst/>
          </a:prstGeom>
          <a:noFill/>
          <a:ln/>
        </p:spPr>
        <p:txBody>
          <a:bodyPr wrap="square" lIns="0" tIns="0" rIns="0" bIns="0" rtlCol="0" anchor="ctr"/>
          <a:lstStyle/>
          <a:p>
            <a:pPr indent="0" marL="0">
              <a:buNone/>
            </a:pPr>
            <a:r>
              <a:rPr lang="en-US" sz="2200" b="1" dirty="0">
                <a:solidFill>
                  <a:srgbClr val="FF5010"/>
                </a:solidFill>
                <a:latin typeface="Cambria" pitchFamily="34" charset="0"/>
                <a:ea typeface="Cambria" pitchFamily="34" charset="-122"/>
                <a:cs typeface="Cambria" pitchFamily="34" charset="-120"/>
              </a:rPr>
              <a:t>kP too big</a:t>
            </a:r>
            <a:endParaRPr lang="en-US" sz="2200" dirty="0"/>
          </a:p>
        </p:txBody>
      </p:sp>
      <p:sp>
        <p:nvSpPr>
          <p:cNvPr id="11" name="Text 8"/>
          <p:cNvSpPr/>
          <p:nvPr/>
        </p:nvSpPr>
        <p:spPr>
          <a:xfrm>
            <a:off x="4206240" y="3090672"/>
            <a:ext cx="7040880" cy="777240"/>
          </a:xfrm>
          <a:prstGeom prst="rect">
            <a:avLst/>
          </a:prstGeom>
          <a:noFill/>
          <a:ln/>
        </p:spPr>
        <p:txBody>
          <a:bodyPr wrap="square" lIns="0" tIns="0" rIns="0" bIns="0" rtlCol="0" anchor="ctr"/>
          <a:lstStyle/>
          <a:p>
            <a:pPr indent="0" marL="0">
              <a:lnSpc>
                <a:spcPct val="120000"/>
              </a:lnSpc>
              <a:buNone/>
            </a:pPr>
            <a:r>
              <a:rPr lang="en-US" sz="2100" dirty="0">
                <a:solidFill>
                  <a:srgbClr val="D7E3F4"/>
                </a:solidFill>
                <a:latin typeface="Calibri" pitchFamily="34" charset="0"/>
                <a:ea typeface="Calibri" pitchFamily="34" charset="-122"/>
                <a:cs typeface="Calibri" pitchFamily="34" charset="-120"/>
              </a:rPr>
              <a:t>Overshoots and oscillates back and forth around 90°.</a:t>
            </a:r>
            <a:endParaRPr lang="en-US" sz="2100" dirty="0"/>
          </a:p>
        </p:txBody>
      </p:sp>
      <p:sp>
        <p:nvSpPr>
          <p:cNvPr id="12" name="Shape 9"/>
          <p:cNvSpPr/>
          <p:nvPr/>
        </p:nvSpPr>
        <p:spPr>
          <a:xfrm>
            <a:off x="640080" y="4160520"/>
            <a:ext cx="10881360" cy="1097280"/>
          </a:xfrm>
          <a:prstGeom prst="roundRect">
            <a:avLst>
              <a:gd name="adj" fmla="val 8333"/>
            </a:avLst>
          </a:prstGeom>
          <a:solidFill>
            <a:srgbClr val="132A4C"/>
          </a:solidFill>
          <a:ln/>
        </p:spPr>
      </p:sp>
      <p:sp>
        <p:nvSpPr>
          <p:cNvPr id="13" name="Text 10"/>
          <p:cNvSpPr/>
          <p:nvPr/>
        </p:nvSpPr>
        <p:spPr>
          <a:xfrm>
            <a:off x="914400" y="4325112"/>
            <a:ext cx="3108960" cy="777240"/>
          </a:xfrm>
          <a:prstGeom prst="rect">
            <a:avLst/>
          </a:prstGeom>
          <a:noFill/>
          <a:ln/>
        </p:spPr>
        <p:txBody>
          <a:bodyPr wrap="square" lIns="0" tIns="0" rIns="0" bIns="0" rtlCol="0" anchor="ctr"/>
          <a:lstStyle/>
          <a:p>
            <a:pPr indent="0" marL="0">
              <a:buNone/>
            </a:pPr>
            <a:r>
              <a:rPr lang="en-US" sz="2200" b="1" dirty="0">
                <a:solidFill>
                  <a:srgbClr val="FF5010"/>
                </a:solidFill>
                <a:latin typeface="Cambria" pitchFamily="34" charset="0"/>
                <a:ea typeface="Cambria" pitchFamily="34" charset="-122"/>
                <a:cs typeface="Cambria" pitchFamily="34" charset="-120"/>
              </a:rPr>
              <a:t>kP just right</a:t>
            </a:r>
            <a:endParaRPr lang="en-US" sz="2200" dirty="0"/>
          </a:p>
        </p:txBody>
      </p:sp>
      <p:sp>
        <p:nvSpPr>
          <p:cNvPr id="14" name="Text 11"/>
          <p:cNvSpPr/>
          <p:nvPr/>
        </p:nvSpPr>
        <p:spPr>
          <a:xfrm>
            <a:off x="4206240" y="4325112"/>
            <a:ext cx="7040880" cy="777240"/>
          </a:xfrm>
          <a:prstGeom prst="rect">
            <a:avLst/>
          </a:prstGeom>
          <a:noFill/>
          <a:ln/>
        </p:spPr>
        <p:txBody>
          <a:bodyPr wrap="square" lIns="0" tIns="0" rIns="0" bIns="0" rtlCol="0" anchor="ctr"/>
          <a:lstStyle/>
          <a:p>
            <a:pPr indent="0" marL="0">
              <a:lnSpc>
                <a:spcPct val="120000"/>
              </a:lnSpc>
              <a:buNone/>
            </a:pPr>
            <a:r>
              <a:rPr lang="en-US" sz="2100" dirty="0">
                <a:solidFill>
                  <a:srgbClr val="D7E3F4"/>
                </a:solidFill>
                <a:latin typeface="Calibri" pitchFamily="34" charset="0"/>
                <a:ea typeface="Calibri" pitchFamily="34" charset="-122"/>
                <a:cs typeface="Calibri" pitchFamily="34" charset="-120"/>
              </a:rPr>
              <a:t>Quick, smooth, settles near 90° and stays.</a:t>
            </a:r>
            <a:endParaRPr lang="en-US" sz="21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16</a:t>
            </a:r>
            <a:endParaRPr lang="en-US" sz="2000" dirty="0"/>
          </a:p>
        </p:txBody>
      </p:sp>
      <p:pic>
        <p:nvPicPr>
          <p:cNvPr id="17"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463040"/>
            <a:ext cx="5303520" cy="2286000"/>
          </a:xfrm>
          <a:prstGeom prst="roundRect">
            <a:avLst>
              <a:gd name="adj" fmla="val 4800"/>
            </a:avLst>
          </a:prstGeom>
          <a:solidFill>
            <a:srgbClr val="132A4C"/>
          </a:solidFill>
          <a:ln/>
        </p:spPr>
      </p:sp>
      <p:sp>
        <p:nvSpPr>
          <p:cNvPr id="7" name="Shape 4"/>
          <p:cNvSpPr/>
          <p:nvPr/>
        </p:nvSpPr>
        <p:spPr>
          <a:xfrm>
            <a:off x="960120" y="1691640"/>
            <a:ext cx="457200" cy="457200"/>
          </a:xfrm>
          <a:prstGeom prst="ellipse">
            <a:avLst/>
          </a:prstGeom>
          <a:solidFill>
            <a:srgbClr val="1B9AAA"/>
          </a:solidFill>
          <a:ln/>
        </p:spPr>
      </p:sp>
      <p:sp>
        <p:nvSpPr>
          <p:cNvPr id="8" name="Text 5"/>
          <p:cNvSpPr/>
          <p:nvPr/>
        </p:nvSpPr>
        <p:spPr>
          <a:xfrm>
            <a:off x="96012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Shortest path</a:t>
            </a:r>
            <a:endParaRPr lang="en-US" sz="2000" dirty="0"/>
          </a:p>
        </p:txBody>
      </p:sp>
      <p:sp>
        <p:nvSpPr>
          <p:cNvPr id="10" name="Shape 7"/>
          <p:cNvSpPr/>
          <p:nvPr/>
        </p:nvSpPr>
        <p:spPr>
          <a:xfrm>
            <a:off x="4206240" y="1773936"/>
            <a:ext cx="1417320" cy="292608"/>
          </a:xfrm>
          <a:prstGeom prst="roundRect">
            <a:avLst>
              <a:gd name="adj" fmla="val 18750"/>
            </a:avLst>
          </a:prstGeom>
          <a:solidFill>
            <a:srgbClr val="FF5010"/>
          </a:solidFill>
          <a:ln/>
        </p:spPr>
      </p:sp>
      <p:sp>
        <p:nvSpPr>
          <p:cNvPr id="11" name="Text 8"/>
          <p:cNvSpPr/>
          <p:nvPr/>
        </p:nvSpPr>
        <p:spPr>
          <a:xfrm>
            <a:off x="420624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Wrap error to -180°..180° with two while loops. Test 350° → 0°: it should move +10°.</a:t>
            </a:r>
            <a:endParaRPr lang="en-US" sz="2000" dirty="0"/>
          </a:p>
        </p:txBody>
      </p:sp>
      <p:sp>
        <p:nvSpPr>
          <p:cNvPr id="13" name="Shape 10"/>
          <p:cNvSpPr/>
          <p:nvPr/>
        </p:nvSpPr>
        <p:spPr>
          <a:xfrm>
            <a:off x="6217920" y="1463040"/>
            <a:ext cx="5303520" cy="2286000"/>
          </a:xfrm>
          <a:prstGeom prst="roundRect">
            <a:avLst>
              <a:gd name="adj" fmla="val 4800"/>
            </a:avLst>
          </a:prstGeom>
          <a:solidFill>
            <a:srgbClr val="132A4C"/>
          </a:solidFill>
          <a:ln/>
        </p:spPr>
      </p:sp>
      <p:sp>
        <p:nvSpPr>
          <p:cNvPr id="14" name="Shape 11"/>
          <p:cNvSpPr/>
          <p:nvPr/>
        </p:nvSpPr>
        <p:spPr>
          <a:xfrm>
            <a:off x="6537960" y="1691640"/>
            <a:ext cx="457200" cy="457200"/>
          </a:xfrm>
          <a:prstGeom prst="ellipse">
            <a:avLst/>
          </a:prstGeom>
          <a:solidFill>
            <a:srgbClr val="1B9AAA"/>
          </a:solidFill>
          <a:ln/>
        </p:spPr>
      </p:sp>
      <p:sp>
        <p:nvSpPr>
          <p:cNvPr id="15" name="Text 12"/>
          <p:cNvSpPr/>
          <p:nvPr/>
        </p:nvSpPr>
        <p:spPr>
          <a:xfrm>
            <a:off x="653796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Log the error</a:t>
            </a:r>
            <a:endParaRPr lang="en-US" sz="2000" dirty="0"/>
          </a:p>
        </p:txBody>
      </p:sp>
      <p:sp>
        <p:nvSpPr>
          <p:cNvPr id="17" name="Shape 14"/>
          <p:cNvSpPr/>
          <p:nvPr/>
        </p:nvSpPr>
        <p:spPr>
          <a:xfrm>
            <a:off x="9784080" y="1773936"/>
            <a:ext cx="1417320" cy="292608"/>
          </a:xfrm>
          <a:prstGeom prst="roundRect">
            <a:avLst>
              <a:gd name="adj" fmla="val 18750"/>
            </a:avLst>
          </a:prstGeom>
          <a:solidFill>
            <a:srgbClr val="FF5010"/>
          </a:solidFill>
          <a:ln/>
        </p:spPr>
      </p:sp>
      <p:sp>
        <p:nvSpPr>
          <p:cNvPr id="18" name="Text 15"/>
          <p:cNvSpPr/>
          <p:nvPr/>
        </p:nvSpPr>
        <p:spPr>
          <a:xfrm>
            <a:off x="978408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9" name="Text 16"/>
          <p:cNvSpPr/>
          <p:nvPr/>
        </p:nvSpPr>
        <p:spPr>
          <a:xfrm>
            <a:off x="653796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SteerErrorDegrees, right after error is computed. Plot it decaying toward zero.</a:t>
            </a:r>
            <a:endParaRPr lang="en-US" sz="2000" dirty="0"/>
          </a:p>
        </p:txBody>
      </p:sp>
      <p:sp>
        <p:nvSpPr>
          <p:cNvPr id="20" name="Shape 17"/>
          <p:cNvSpPr/>
          <p:nvPr/>
        </p:nvSpPr>
        <p:spPr>
          <a:xfrm>
            <a:off x="640080" y="4023360"/>
            <a:ext cx="5303520" cy="2286000"/>
          </a:xfrm>
          <a:prstGeom prst="roundRect">
            <a:avLst>
              <a:gd name="adj" fmla="val 4800"/>
            </a:avLst>
          </a:prstGeom>
          <a:solidFill>
            <a:srgbClr val="132A4C"/>
          </a:solidFill>
          <a:ln/>
        </p:spPr>
      </p:sp>
      <p:sp>
        <p:nvSpPr>
          <p:cNvPr id="21" name="Shape 18"/>
          <p:cNvSpPr/>
          <p:nvPr/>
        </p:nvSpPr>
        <p:spPr>
          <a:xfrm>
            <a:off x="960120" y="4251960"/>
            <a:ext cx="457200" cy="457200"/>
          </a:xfrm>
          <a:prstGeom prst="ellipse">
            <a:avLst/>
          </a:prstGeom>
          <a:solidFill>
            <a:srgbClr val="1B9AAA"/>
          </a:solidFill>
          <a:ln/>
        </p:spPr>
      </p:sp>
      <p:sp>
        <p:nvSpPr>
          <p:cNvPr id="22" name="Text 19"/>
          <p:cNvSpPr/>
          <p:nvPr/>
        </p:nvSpPr>
        <p:spPr>
          <a:xfrm>
            <a:off x="96012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3" name="Text 20"/>
          <p:cNvSpPr/>
          <p:nvPr/>
        </p:nvSpPr>
        <p:spPr>
          <a:xfrm>
            <a:off x="1600200" y="4251960"/>
            <a:ext cx="402336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Try kP = 0</a:t>
            </a:r>
            <a:endParaRPr lang="en-US" sz="2000" dirty="0"/>
          </a:p>
        </p:txBody>
      </p:sp>
      <p:sp>
        <p:nvSpPr>
          <p:cNvPr id="24" name="Text 21"/>
          <p:cNvSpPr/>
          <p:nvPr/>
        </p:nvSpPr>
        <p:spPr>
          <a:xfrm>
            <a:off x="96012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Then a negative kP. Predict first, then run it, and explain what you saw.</a:t>
            </a:r>
            <a:endParaRPr lang="en-US" sz="2000" dirty="0"/>
          </a:p>
        </p:txBody>
      </p:sp>
      <p:sp>
        <p:nvSpPr>
          <p:cNvPr id="25" name="Text 2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26" name="Text 2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17</a:t>
            </a:r>
            <a:endParaRPr lang="en-US" sz="2000" dirty="0"/>
          </a:p>
        </p:txBody>
      </p:sp>
      <p:pic>
        <p:nvPicPr>
          <p:cNvPr id="27"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most important idea in robotics</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setpoint − measurement = error, output = kP × error — the shrinking error eases you into the target, and its sign steers direction.</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Tune kP against a live plot: double it until it oscillates, then back off.</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Priming: read an absolute sensor once at boot, and tell a relative one's counter to match it.</a:t>
            </a:r>
            <a:endParaRPr lang="en-US" sz="20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6</a:t>
            </a:r>
            <a:endParaRPr lang="en-US" sz="2600" dirty="0"/>
          </a:p>
        </p:txBody>
      </p:sp>
      <p:sp>
        <p:nvSpPr>
          <p:cNvPr id="10" name="Text 7"/>
          <p:cNvSpPr/>
          <p:nvPr/>
        </p:nvSpPr>
        <p:spPr>
          <a:xfrm>
            <a:off x="7589520" y="2834640"/>
            <a:ext cx="3657600" cy="822960"/>
          </a:xfrm>
          <a:prstGeom prst="rect">
            <a:avLst/>
          </a:prstGeom>
          <a:noFill/>
          <a:ln/>
        </p:spPr>
        <p:txBody>
          <a:bodyPr wrap="square" lIns="0" tIns="0" rIns="0" bIns="0" rtlCol="0" anchor="t"/>
          <a:lstStyle/>
          <a:p>
            <a:pPr indent="0" marL="0">
              <a:lnSpc>
                <a:spcPct val="110000"/>
              </a:lnSpc>
              <a:buNone/>
            </a:pPr>
            <a:r>
              <a:rPr lang="en-US" sz="2200" b="1" dirty="0">
                <a:solidFill>
                  <a:srgbClr val="FFFFFF"/>
                </a:solidFill>
                <a:latin typeface="Cambria" pitchFamily="34" charset="0"/>
                <a:ea typeface="Cambria" pitchFamily="34" charset="-122"/>
                <a:cs typeface="Cambria" pitchFamily="34" charset="-120"/>
              </a:rPr>
              <a:t>Distance &amp; Commands</a:t>
            </a:r>
            <a:endParaRPr lang="en-US" sz="2200" dirty="0"/>
          </a:p>
        </p:txBody>
      </p:sp>
      <p:sp>
        <p:nvSpPr>
          <p:cNvPr id="11" name="Text 8"/>
          <p:cNvSpPr/>
          <p:nvPr/>
        </p:nvSpPr>
        <p:spPr>
          <a:xfrm>
            <a:off x="7589520" y="3749040"/>
            <a:ext cx="3657600" cy="128016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The same measure-subtract-multiply shape, pointed at a different sensor.</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STEERING P CONTROL</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18</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 — Steering with P Control</dc:title>
  <dc:subject>PptxGenJS Presentation</dc:subject>
  <dc:creator>Learn Java + Robot Programming</dc:creator>
  <cp:lastModifiedBy>Learn Java + Robot Programming</cp:lastModifiedBy>
  <cp:revision>1</cp:revision>
  <dcterms:created xsi:type="dcterms:W3CDTF">2026-09-23T22:31:44Z</dcterms:created>
  <dcterms:modified xsi:type="dcterms:W3CDTF">2026-09-23T22:31:44Z</dcterms:modified>
</cp:coreProperties>
</file>