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far the conversation with the motor has been one-way — you talk, it spins. This lesson makes it talk back: a TalonFX has a built-in encoder that reports position and velocity for free, and the theme of the whole lesson is asking instead of telling.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TalonFX's built-in encoder gives you position — how many rotations the motor has turned since boot — and velocity, how fast it's turning right now in rotations per second. You read these instead of setting them, which is the "questions vs. actions" split the rest of the lesson builds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chain left to right like a little assembly line. m_driveMotor.getPosition() doesn't return a plain number — it returns a signal object, Phoenix's wrapper that carries the value together with a timestamp. .getValue() reads the signal's current value, but that's a measurement that remembers its own unit, so it can't be silently misread as the wrong one. .in(Rotations) is where you say which unit you want it as. This is also a good moment to name a pattern already in use without a name: setThrottle(0.3) is an action — nothing comes back — while getPosition() is a question, and the answer comes back as a return value to catch in a variable. From this lesson on, question-methods start doing the heavy lifting.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code runs on the robot; you're looking at a laptop. Telemetry.log("some name", value) is the plumbing that gets a number from one to the other, live. This course holds a standard from day one: the name is the address. Every value goes under an organized name, one branch per mechanism, so a hundred values from now you can still find the one you want — and names carry their units too, PositionRotations rather than just Position, so nobody has to guess what a number means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Telemetry's values are live — visible while the robot runs, gone the instant it stops — unless something is also saving them. DataLogManager.start() does exactly that: start it once, and every value published anywhere gets mirrored into a .wpilog file automatically. It has to go at the very top of the Robot constructor, before anything else gets set up. Recording sim sessions might sound like overkill, but it isn't — a session you can scrub through afterward is how you answer "wait, what just happened?" without having to make it happen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want telemetry fresh always, not just while some command happens to be running — that means it belongs somewhere that always runs, on its own schedule, independent of whatever command is currently active. Scheduler.getDefault().addPeriodic(...) registers a callback that runs every tick, forever, for as long as the robot runs, no command required. this::logTelemetry is a method reference — shorthand for () -&gt; this.logTelemetry() — reads naturally out loud as "add a periodic task, this dot logTelemetry." The slash in the dashboard key isn't decoration; it builds a folder tree, and the organization rule for this whole course is that every value a mechanism logs starts with the mechanism's name and a slash. When this robot grows to four modules, a gyro, and an arm, that tree is what keeps a hundred values findable. Worth calling out the standing habit: log from a steady, always-running callback like this one, not from inside command bodies — commands come and go, this callback doesn't, so plots never go blank just because a command ended.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AdvantageScope ships in the WPILib installer, so it's already there — it plots live data, overlays signals, scrubs back through time, and opens .wpilog flight-recorder files. Don't be discouraged when the traces sit nearly flat even at full stick — in simulation the motor isn't actually turning yet, so there's nothing for the encoder to count. That's exactly what Lesson 4 fixes. What's built today is the pipe; next lesson gives it something real to carry. On a real robot these plots already work — spin the wheel by hand and watch position climb. And sim or real, DataLogManager has been saving every value to a .wpilog file this whole time; open one with File → Open Log(s) to scrub back through an entire session. This tool comes back constantly — tuning P control in Lesson 5, comparing commanded vs. actual speed, eventually watching the robot drive around a virtual field.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1's logRunningCommand() asked the scheduler a question every tick and read entry zero off the answer — it worked because every command built so far either parks or loops until canceled, so there's always something running whenever you ask. That guarantee won't last: later lessons build commands that finish on their own, and Lesson 8 ships one that can finish the instant it's scheduled, before a poll ever gets a chance to see it run — asking at just the wrong moment means reading past the end of an empty list, not a stale answer. The fix isn't a smarter poll, it's not polling at all: the scheduler announces every SchedulerEvent it fires — scheduled, completed, canceled, interrupted, and a few more — and addEventListener reacts the instant one happens. Another method reference here, the same shorthand as this::logTelemetry back in section 4, just pointing at a different method. The if line does two jobs at once: "event instanceof SchedulerEvent.Scheduled scheduled" asks whether this event is specifically a Scheduled event, and if so hands it back as a variable named scheduled, typed as that specific kind rather than the general SchedulerEvent — which is why the check has to come first, since only the specific kind has a .command() on it. The &amp;&amp; after it can use scheduled right away because Java only evaluates the rest of the line once the left side has already passed. scheduled.command().requires(module) matters because the same event stream fires for every mechanism on the robot, not just this one. Run it again and press the button: DriveModule/CurrentCommand still flips the same way as before — what changed is that it isn't asking anymore, it's told.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logRunningCommand() is gone, and with it the only thing robotPeriodic() needs to do every tick is the scheduler tick itself — the command log takes care of itself now, reacting to events instead of being asked. Run it again and press the button: DriveModule/CurrentCommand on the dashboard still flips between "DriveModule[IDLE]" and "Drive At Speed", exactly like before. What changed is how it knows — the old version asked, every tick, and got lucky every time because nothing could finish between one ask and the next; the new version can't get unlucky, because it isn't asking anymore, it's told, the instant something happens, no matter how briefly "happens" lasts. Worth naming as a callout: Scheduled isn't the only kind of SchedulerEvent — there's a Completed for when a command finishes on its own, Canceled and Interrupted for the other two ways a command's life can end, and a couple more besides. Only one piece of that vocabulary got used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Logging the commanded speed is a refinement of the always-running rule from section 4: a value that only exists inside a command — like the command's own output — gets logged right where it's computed, not from a periodic callback. On a real robot, overlaying CommandedOutput against VelocityRotPerSec shows how the motor lags the command — the seed of understanding control, which pays off starting in Lesson 5. getPositionRotations() is worth calling out as exposing a reading method alongside command factories — that's fine, readings are safe to share, unlike commands. Renaming a dashboard key is a hands-on demonstration that the slash really is a folder path and the name really is the address — the old entry goes stale and a new folder appears in the tree. The SchedulerEvent.Completed exercise previews the vocabulary callout: Scheduled isn't the only kind of 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naming discipline — Mechanism/Name — feels like overkill for two values; it stops being overkill around value twenty, and this course gets there sooner than it seems. The bigger shift is trading a poll for a listener: logRunningCommand() asked a question every tick and happened to always have an answer, but "happened to" isn't a guarantee. logCommandStart() doesn't ask at all — it registers once and reacts exactly when a SchedulerEvent.Scheduled actually occurs, unpacked with instanceof pattern matching. Same dashboard key, same string showing up, but nothing left that can come up empty. The plots look unimpressive while the sim motor stands still, but Lesson 4 turns the physics on, and these same plots come alive.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pic>
        <p:nvPicPr>
          <p:cNvPr id="2" name="Image 0" descr="/home/user/BasicRobotLessons/docs/presentations/v3/template/assets/logo/team5010-logo-onnavy.png">    </p:cNvPr>
          <p:cNvPicPr>
            <a:picLocks noChangeAspect="1"/>
          </p:cNvPicPr>
          <p:nvPr/>
        </p:nvPicPr>
        <p:blipFill>
          <a:blip r:embed="rId1"/>
          <a:stretch>
            <a:fillRect/>
          </a:stretch>
        </p:blipFill>
        <p:spPr>
          <a:xfrm>
            <a:off x="8351215" y="3834811"/>
            <a:ext cx="3291840" cy="2565989"/>
          </a:xfrm>
          <a:prstGeom prst="rect">
            <a:avLst/>
          </a:prstGeom>
        </p:spPr>
      </p:pic>
      <p:sp>
        <p:nvSpPr>
          <p:cNvPr id="3" name="Text 0"/>
          <p:cNvSpPr/>
          <p:nvPr/>
        </p:nvSpPr>
        <p:spPr>
          <a:xfrm>
            <a:off x="822960" y="1371600"/>
            <a:ext cx="9144000" cy="365760"/>
          </a:xfrm>
          <a:prstGeom prst="rect">
            <a:avLst/>
          </a:prstGeom>
          <a:noFill/>
          <a:ln/>
        </p:spPr>
        <p:txBody>
          <a:bodyPr wrap="square" lIns="0" tIns="0" rIns="0" bIns="0" rtlCol="0" anchor="ctr"/>
          <a:lstStyle/>
          <a:p>
            <a:pPr indent="0" marL="0">
              <a:buNone/>
            </a:pPr>
            <a:r>
              <a:rPr lang="en-US" sz="2000" b="1" spc="300" kern="0" dirty="0">
                <a:solidFill>
                  <a:srgbClr val="1B9AAA"/>
                </a:solidFill>
                <a:latin typeface="Calibri" pitchFamily="34" charset="0"/>
                <a:ea typeface="Calibri" pitchFamily="34" charset="-122"/>
                <a:cs typeface="Calibri" pitchFamily="34" charset="-120"/>
              </a:rPr>
              <a:t>LEARN JAVA + ROBOT PROGRAMMING</a:t>
            </a:r>
            <a:endParaRPr lang="en-US" sz="2000" dirty="0"/>
          </a:p>
        </p:txBody>
      </p:sp>
      <p:sp>
        <p:nvSpPr>
          <p:cNvPr id="4" name="Text 1"/>
          <p:cNvSpPr/>
          <p:nvPr/>
        </p:nvSpPr>
        <p:spPr>
          <a:xfrm>
            <a:off x="777240" y="1874520"/>
            <a:ext cx="7315200" cy="502920"/>
          </a:xfrm>
          <a:prstGeom prst="rect">
            <a:avLst/>
          </a:prstGeom>
          <a:noFill/>
          <a:ln/>
        </p:spPr>
        <p:txBody>
          <a:bodyPr wrap="square" lIns="0" tIns="0" rIns="0" bIns="0" rtlCol="0" anchor="ctr"/>
          <a:lstStyle/>
          <a:p>
            <a:pPr indent="0" marL="0">
              <a:buNone/>
            </a:pPr>
            <a:r>
              <a:rPr lang="en-US" sz="2200" b="1" spc="200" kern="0" dirty="0">
                <a:solidFill>
                  <a:srgbClr val="FF5010"/>
                </a:solidFill>
                <a:latin typeface="Calibri" pitchFamily="34" charset="0"/>
                <a:ea typeface="Calibri" pitchFamily="34" charset="-122"/>
                <a:cs typeface="Calibri" pitchFamily="34" charset="-120"/>
              </a:rPr>
              <a:t>LESSON 3</a:t>
            </a:r>
            <a:endParaRPr lang="en-US" sz="2200" dirty="0"/>
          </a:p>
        </p:txBody>
      </p:sp>
      <p:sp>
        <p:nvSpPr>
          <p:cNvPr id="5" name="Text 2"/>
          <p:cNvSpPr/>
          <p:nvPr/>
        </p:nvSpPr>
        <p:spPr>
          <a:xfrm>
            <a:off x="731520" y="2331720"/>
            <a:ext cx="10515600" cy="137160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Telemetry</a:t>
            </a:r>
            <a:endParaRPr lang="en-US" sz="6000" dirty="0"/>
          </a:p>
        </p:txBody>
      </p:sp>
      <p:sp>
        <p:nvSpPr>
          <p:cNvPr id="6" name="Text 3"/>
          <p:cNvSpPr/>
          <p:nvPr/>
        </p:nvSpPr>
        <p:spPr>
          <a:xfrm>
            <a:off x="777240" y="3611880"/>
            <a:ext cx="8686800" cy="640080"/>
          </a:xfrm>
          <a:prstGeom prst="rect">
            <a:avLst/>
          </a:prstGeom>
          <a:noFill/>
          <a:ln/>
        </p:spPr>
        <p:txBody>
          <a:bodyPr wrap="square" lIns="0" tIns="0" rIns="0" bIns="0" rtlCol="0" anchor="ctr"/>
          <a:lstStyle/>
          <a:p>
            <a:pPr indent="0" marL="0">
              <a:buNone/>
            </a:pPr>
            <a:r>
              <a:rPr lang="en-US" sz="2600" i="1" dirty="0">
                <a:solidFill>
                  <a:srgbClr val="CADCE8"/>
                </a:solidFill>
                <a:latin typeface="Cambria" pitchFamily="34" charset="0"/>
                <a:ea typeface="Cambria" pitchFamily="34" charset="-122"/>
                <a:cs typeface="Cambria" pitchFamily="34" charset="-120"/>
              </a:rPr>
              <a:t>Plot position and velocity, live</a:t>
            </a:r>
            <a:endParaRPr lang="en-US" sz="2600" dirty="0"/>
          </a:p>
        </p:txBody>
      </p:sp>
      <p:sp>
        <p:nvSpPr>
          <p:cNvPr id="7" name="Text 4"/>
          <p:cNvSpPr/>
          <p:nvPr/>
        </p:nvSpPr>
        <p:spPr>
          <a:xfrm>
            <a:off x="777240" y="6126480"/>
            <a:ext cx="9144000" cy="365760"/>
          </a:xfrm>
          <a:prstGeom prst="rect">
            <a:avLst/>
          </a:prstGeom>
          <a:noFill/>
          <a:ln/>
        </p:spPr>
        <p:txBody>
          <a:bodyPr wrap="square" lIns="0" tIns="0" rIns="0" bIns="0" rtlCol="0" anchor="ctr"/>
          <a:lstStyle/>
          <a:p>
            <a:pPr indent="0" marL="0">
              <a:buNone/>
            </a:pPr>
            <a:r>
              <a:rPr lang="en-US" sz="2000" spc="100" kern="0" dirty="0">
                <a:solidFill>
                  <a:srgbClr val="89A0BE"/>
                </a:solidFill>
                <a:latin typeface="Calibri" pitchFamily="34" charset="0"/>
                <a:ea typeface="Calibri" pitchFamily="34" charset="-122"/>
                <a:cs typeface="Calibri" pitchFamily="34" charset="-120"/>
              </a:rPr>
              <a:t>WPILib 2027 Alpha  ·  Commands V3</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bullseye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THE GOAL</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Make the motor talk back</a:t>
            </a:r>
            <a:endParaRPr lang="en-US" sz="3000" dirty="0"/>
          </a:p>
        </p:txBody>
      </p:sp>
      <p:sp>
        <p:nvSpPr>
          <p:cNvPr id="6" name="Shape 3"/>
          <p:cNvSpPr/>
          <p:nvPr/>
        </p:nvSpPr>
        <p:spPr>
          <a:xfrm>
            <a:off x="640080" y="1600200"/>
            <a:ext cx="10881360" cy="1280160"/>
          </a:xfrm>
          <a:prstGeom prst="roundRect">
            <a:avLst>
              <a:gd name="adj" fmla="val 7143"/>
            </a:avLst>
          </a:prstGeom>
          <a:solidFill>
            <a:srgbClr val="F3F6FA"/>
          </a:solidFill>
          <a:ln/>
        </p:spPr>
      </p:sp>
      <p:sp>
        <p:nvSpPr>
          <p:cNvPr id="7" name="Text 4"/>
          <p:cNvSpPr/>
          <p:nvPr/>
        </p:nvSpPr>
        <p:spPr>
          <a:xfrm>
            <a:off x="960120" y="1737360"/>
            <a:ext cx="10241280" cy="1005840"/>
          </a:xfrm>
          <a:prstGeom prst="rect">
            <a:avLst/>
          </a:prstGeom>
          <a:noFill/>
          <a:ln/>
        </p:spPr>
        <p:txBody>
          <a:bodyPr wrap="square" lIns="0" tIns="0" rIns="0" bIns="0" rtlCol="0" anchor="ctr"/>
          <a:lstStyle/>
          <a:p>
            <a:pPr indent="0" marL="0">
              <a:lnSpc>
                <a:spcPct val="125000"/>
              </a:lnSpc>
              <a:buNone/>
            </a:pPr>
            <a:r>
              <a:rPr lang="en-US" sz="2200" i="1" dirty="0">
                <a:solidFill>
                  <a:srgbClr val="13294B"/>
                </a:solidFill>
                <a:latin typeface="Cambria" pitchFamily="34" charset="0"/>
                <a:ea typeface="Cambria" pitchFamily="34" charset="-122"/>
                <a:cs typeface="Cambria" pitchFamily="34" charset="-120"/>
              </a:rPr>
              <a:t>Read the drive motor's built-in sensor, log its position and velocity, and watch them plotted live as you drive.</a:t>
            </a:r>
            <a:endParaRPr lang="en-US" sz="2200" dirty="0"/>
          </a:p>
        </p:txBody>
      </p:sp>
      <p:sp>
        <p:nvSpPr>
          <p:cNvPr id="8" name="Shape 5"/>
          <p:cNvSpPr/>
          <p:nvPr/>
        </p:nvSpPr>
        <p:spPr>
          <a:xfrm>
            <a:off x="640080" y="3108960"/>
            <a:ext cx="457200" cy="457200"/>
          </a:xfrm>
          <a:prstGeom prst="ellipse">
            <a:avLst/>
          </a:prstGeom>
          <a:solidFill>
            <a:srgbClr val="1B9AAA"/>
          </a:solidFill>
          <a:ln/>
        </p:spPr>
      </p:sp>
      <p:pic>
        <p:nvPicPr>
          <p:cNvPr id="9" name="Image 1" descr="/home/user/BasicRobotLessons/docs/presentations/v3/template/assets/icons/code_white.png">    </p:cNvPr>
          <p:cNvPicPr>
            <a:picLocks noChangeAspect="1"/>
          </p:cNvPicPr>
          <p:nvPr/>
        </p:nvPicPr>
        <p:blipFill>
          <a:blip r:embed="rId2"/>
          <a:stretch>
            <a:fillRect/>
          </a:stretch>
        </p:blipFill>
        <p:spPr>
          <a:xfrm>
            <a:off x="749808" y="3218688"/>
            <a:ext cx="237744" cy="237744"/>
          </a:xfrm>
          <a:prstGeom prst="rect">
            <a:avLst/>
          </a:prstGeom>
        </p:spPr>
      </p:pic>
      <p:sp>
        <p:nvSpPr>
          <p:cNvPr id="10" name="Text 6"/>
          <p:cNvSpPr/>
          <p:nvPr/>
        </p:nvSpPr>
        <p:spPr>
          <a:xfrm>
            <a:off x="1234440" y="3136392"/>
            <a:ext cx="4572000" cy="365760"/>
          </a:xfrm>
          <a:prstGeom prst="rect">
            <a:avLst/>
          </a:prstGeom>
          <a:noFill/>
          <a:ln/>
        </p:spPr>
        <p:txBody>
          <a:bodyPr wrap="square" lIns="0" tIns="0" rIns="0" bIns="0" rtlCol="0" anchor="ctr"/>
          <a:lstStyle/>
          <a:p>
            <a:pPr indent="0" marL="0">
              <a:buNone/>
            </a:pPr>
            <a:r>
              <a:rPr lang="en-US" sz="2000" b="1" spc="50" kern="0" dirty="0">
                <a:solidFill>
                  <a:srgbClr val="13294B"/>
                </a:solidFill>
                <a:latin typeface="Calibri" pitchFamily="34" charset="0"/>
                <a:ea typeface="Calibri" pitchFamily="34" charset="-122"/>
                <a:cs typeface="Calibri" pitchFamily="34" charset="-120"/>
              </a:rPr>
              <a:t>NEW JAVA CONCEPTS</a:t>
            </a:r>
            <a:endParaRPr lang="en-US" sz="2000" dirty="0"/>
          </a:p>
        </p:txBody>
      </p:sp>
      <p:sp>
        <p:nvSpPr>
          <p:cNvPr id="11" name="Text 7"/>
          <p:cNvSpPr/>
          <p:nvPr/>
        </p:nvSpPr>
        <p:spPr>
          <a:xfrm>
            <a:off x="685800" y="3675888"/>
            <a:ext cx="5257800" cy="2834640"/>
          </a:xfrm>
          <a:prstGeom prst="rect">
            <a:avLst/>
          </a:prstGeom>
          <a:noFill/>
          <a:ln/>
        </p:spPr>
        <p:txBody>
          <a:bodyPr wrap="square" lIns="0" tIns="0" rIns="0" bIns="0" rtlCol="0" anchor="t"/>
          <a:lstStyle/>
          <a:p>
            <a:pPr marL="342900" indent="-342900">
              <a:lnSpc>
                <a:spcPct val="110000"/>
              </a:lnSpc>
              <a:spcAft>
                <a:spcPts val="800"/>
              </a:spcAft>
              <a:buSzPct val="100000"/>
              <a:buChar char="•"/>
            </a:pPr>
            <a:r>
              <a:rPr lang="en-US" sz="2000" dirty="0">
                <a:solidFill>
                  <a:srgbClr val="13294B"/>
                </a:solidFill>
                <a:latin typeface="Calibri" pitchFamily="34" charset="0"/>
                <a:ea typeface="Calibri" pitchFamily="34" charset="-122"/>
                <a:cs typeface="Calibri" pitchFamily="34" charset="-120"/>
              </a:rPr>
              <a:t>Methods that return values you act on</a:t>
            </a:r>
            <a:endParaRPr lang="en-US" sz="2000" dirty="0"/>
          </a:p>
          <a:p>
            <a:pPr marL="342900" indent="-342900">
              <a:lnSpc>
                <a:spcPct val="110000"/>
              </a:lnSpc>
              <a:spcAft>
                <a:spcPts val="800"/>
              </a:spcAft>
              <a:buSzPct val="100000"/>
              <a:buChar char="•"/>
            </a:pPr>
            <a:r>
              <a:rPr lang="en-US" sz="2000" dirty="0">
                <a:solidFill>
                  <a:srgbClr val="13294B"/>
                </a:solidFill>
                <a:latin typeface="Calibri" pitchFamily="34" charset="0"/>
                <a:ea typeface="Calibri" pitchFamily="34" charset="-122"/>
                <a:cs typeface="Calibri" pitchFamily="34" charset="-120"/>
              </a:rPr>
              <a:t>Chaining calls</a:t>
            </a:r>
            <a:endParaRPr lang="en-US" sz="2000" dirty="0"/>
          </a:p>
          <a:p>
            <a:pPr marL="342900" indent="-342900">
              <a:lnSpc>
                <a:spcPct val="110000"/>
              </a:lnSpc>
              <a:spcAft>
                <a:spcPts val="800"/>
              </a:spcAft>
              <a:buSzPct val="100000"/>
              <a:buChar char="•"/>
            </a:pPr>
            <a:r>
              <a:rPr lang="en-US" sz="2000" dirty="0">
                <a:solidFill>
                  <a:srgbClr val="13294B"/>
                </a:solidFill>
                <a:latin typeface="Calibri" pitchFamily="34" charset="0"/>
                <a:ea typeface="Calibri" pitchFamily="34" charset="-122"/>
                <a:cs typeface="Calibri" pitchFamily="34" charset="-120"/>
              </a:rPr>
              <a:t>Method references (this::logTelemetry)</a:t>
            </a:r>
            <a:endParaRPr lang="en-US" sz="2000" dirty="0"/>
          </a:p>
          <a:p>
            <a:pPr marL="342900" indent="-342900">
              <a:lnSpc>
                <a:spcPct val="110000"/>
              </a:lnSpc>
              <a:spcAft>
                <a:spcPts val="800"/>
              </a:spcAft>
              <a:buSzPct val="100000"/>
              <a:buChar char="•"/>
            </a:pPr>
            <a:r>
              <a:rPr lang="en-US" sz="2000" dirty="0">
                <a:solidFill>
                  <a:srgbClr val="13294B"/>
                </a:solidFill>
                <a:latin typeface="Calibri" pitchFamily="34" charset="0"/>
                <a:ea typeface="Calibri" pitchFamily="34" charset="-122"/>
                <a:cs typeface="Calibri" pitchFamily="34" charset="-120"/>
              </a:rPr>
              <a:t>instanceof pattern matching</a:t>
            </a:r>
            <a:endParaRPr lang="en-US" sz="2000" dirty="0"/>
          </a:p>
        </p:txBody>
      </p:sp>
      <p:sp>
        <p:nvSpPr>
          <p:cNvPr id="12" name="Shape 8"/>
          <p:cNvSpPr/>
          <p:nvPr/>
        </p:nvSpPr>
        <p:spPr>
          <a:xfrm>
            <a:off x="6309360" y="3108960"/>
            <a:ext cx="457200" cy="457200"/>
          </a:xfrm>
          <a:prstGeom prst="ellipse">
            <a:avLst/>
          </a:prstGeom>
          <a:solidFill>
            <a:srgbClr val="FF5010"/>
          </a:solidFill>
          <a:ln/>
        </p:spPr>
      </p:sp>
      <p:pic>
        <p:nvPicPr>
          <p:cNvPr id="13" name="Image 2" descr="/home/user/BasicRobotLessons/docs/presentations/v3/template/assets/icons/chartline_white.png">    </p:cNvPr>
          <p:cNvPicPr>
            <a:picLocks noChangeAspect="1"/>
          </p:cNvPicPr>
          <p:nvPr/>
        </p:nvPicPr>
        <p:blipFill>
          <a:blip r:embed="rId3"/>
          <a:stretch>
            <a:fillRect/>
          </a:stretch>
        </p:blipFill>
        <p:spPr>
          <a:xfrm>
            <a:off x="6419088" y="3218688"/>
            <a:ext cx="237744" cy="237744"/>
          </a:xfrm>
          <a:prstGeom prst="rect">
            <a:avLst/>
          </a:prstGeom>
        </p:spPr>
      </p:pic>
      <p:sp>
        <p:nvSpPr>
          <p:cNvPr id="14" name="Text 9"/>
          <p:cNvSpPr/>
          <p:nvPr/>
        </p:nvSpPr>
        <p:spPr>
          <a:xfrm>
            <a:off x="6903720" y="3136392"/>
            <a:ext cx="4572000" cy="365760"/>
          </a:xfrm>
          <a:prstGeom prst="rect">
            <a:avLst/>
          </a:prstGeom>
          <a:noFill/>
          <a:ln/>
        </p:spPr>
        <p:txBody>
          <a:bodyPr wrap="square" lIns="0" tIns="0" rIns="0" bIns="0" rtlCol="0" anchor="ctr"/>
          <a:lstStyle/>
          <a:p>
            <a:pPr indent="0" marL="0">
              <a:buNone/>
            </a:pPr>
            <a:r>
              <a:rPr lang="en-US" sz="2000" b="1" spc="50" kern="0" dirty="0">
                <a:solidFill>
                  <a:srgbClr val="13294B"/>
                </a:solidFill>
                <a:latin typeface="Calibri" pitchFamily="34" charset="0"/>
                <a:ea typeface="Calibri" pitchFamily="34" charset="-122"/>
                <a:cs typeface="Calibri" pitchFamily="34" charset="-120"/>
              </a:rPr>
              <a:t>NEW ROBOT CONCEPTS</a:t>
            </a:r>
            <a:endParaRPr lang="en-US" sz="2000" dirty="0"/>
          </a:p>
        </p:txBody>
      </p:sp>
      <p:sp>
        <p:nvSpPr>
          <p:cNvPr id="15" name="Text 10"/>
          <p:cNvSpPr/>
          <p:nvPr/>
        </p:nvSpPr>
        <p:spPr>
          <a:xfrm>
            <a:off x="6355080" y="3675888"/>
            <a:ext cx="5257800" cy="2834640"/>
          </a:xfrm>
          <a:prstGeom prst="rect">
            <a:avLst/>
          </a:prstGeom>
          <a:noFill/>
          <a:ln/>
        </p:spPr>
        <p:txBody>
          <a:bodyPr wrap="square" lIns="0" tIns="0" rIns="0" bIns="0" rtlCol="0" anchor="t"/>
          <a:lstStyle/>
          <a:p>
            <a:pPr marL="342900" indent="-342900">
              <a:lnSpc>
                <a:spcPct val="110000"/>
              </a:lnSpc>
              <a:spcAft>
                <a:spcPts val="800"/>
              </a:spcAft>
              <a:buSzPct val="100000"/>
              <a:buChar char="•"/>
            </a:pPr>
            <a:r>
              <a:rPr lang="en-US" sz="2000" dirty="0">
                <a:solidFill>
                  <a:srgbClr val="13294B"/>
                </a:solidFill>
                <a:latin typeface="Calibri" pitchFamily="34" charset="0"/>
                <a:ea typeface="Calibri" pitchFamily="34" charset="-122"/>
                <a:cs typeface="Calibri" pitchFamily="34" charset="-120"/>
              </a:rPr>
              <a:t>The TalonFX integrated encoder</a:t>
            </a:r>
            <a:endParaRPr lang="en-US" sz="2000" dirty="0"/>
          </a:p>
          <a:p>
            <a:pPr marL="342900" indent="-342900">
              <a:lnSpc>
                <a:spcPct val="110000"/>
              </a:lnSpc>
              <a:spcAft>
                <a:spcPts val="800"/>
              </a:spcAft>
              <a:buSzPct val="100000"/>
              <a:buChar char="•"/>
            </a:pPr>
            <a:r>
              <a:rPr lang="en-US" sz="2000" dirty="0">
                <a:solidFill>
                  <a:srgbClr val="13294B"/>
                </a:solidFill>
                <a:latin typeface="Calibri" pitchFamily="34" charset="0"/>
                <a:ea typeface="Calibri" pitchFamily="34" charset="-122"/>
                <a:cs typeface="Calibri" pitchFamily="34" charset="-120"/>
              </a:rPr>
              <a:t>Logging with Telemetry</a:t>
            </a:r>
            <a:endParaRPr lang="en-US" sz="2000" dirty="0"/>
          </a:p>
          <a:p>
            <a:pPr marL="342900" indent="-342900">
              <a:lnSpc>
                <a:spcPct val="110000"/>
              </a:lnSpc>
              <a:spcAft>
                <a:spcPts val="800"/>
              </a:spcAft>
              <a:buSzPct val="100000"/>
              <a:buChar char="•"/>
            </a:pPr>
            <a:r>
              <a:rPr lang="en-US" sz="2000" dirty="0">
                <a:solidFill>
                  <a:srgbClr val="13294B"/>
                </a:solidFill>
                <a:latin typeface="Calibri" pitchFamily="34" charset="0"/>
                <a:ea typeface="Calibri" pitchFamily="34" charset="-122"/>
                <a:cs typeface="Calibri" pitchFamily="34" charset="-120"/>
              </a:rPr>
              <a:t>Plotting in AdvantageScope</a:t>
            </a:r>
            <a:endParaRPr lang="en-US" sz="2000" dirty="0"/>
          </a:p>
          <a:p>
            <a:pPr marL="342900" indent="-342900">
              <a:lnSpc>
                <a:spcPct val="110000"/>
              </a:lnSpc>
              <a:spcAft>
                <a:spcPts val="800"/>
              </a:spcAft>
              <a:buSzPct val="100000"/>
              <a:buChar char="•"/>
            </a:pPr>
            <a:r>
              <a:rPr lang="en-US" sz="2000" dirty="0">
                <a:solidFill>
                  <a:srgbClr val="13294B"/>
                </a:solidFill>
                <a:latin typeface="Calibri" pitchFamily="34" charset="0"/>
                <a:ea typeface="Calibri" pitchFamily="34" charset="-122"/>
                <a:cs typeface="Calibri" pitchFamily="34" charset="-120"/>
              </a:rPr>
              <a:t>Reacting to scheduler events, not polling</a:t>
            </a:r>
            <a:endParaRPr lang="en-US" sz="2000" dirty="0"/>
          </a:p>
        </p:txBody>
      </p:sp>
      <p:sp>
        <p:nvSpPr>
          <p:cNvPr id="16"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TELEMETRY</a:t>
            </a:r>
            <a:endParaRPr lang="en-US" sz="2000" dirty="0"/>
          </a:p>
        </p:txBody>
      </p:sp>
      <p:sp>
        <p:nvSpPr>
          <p:cNvPr id="17"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2</a:t>
            </a:r>
            <a:endParaRPr lang="en-US" sz="2000" dirty="0"/>
          </a:p>
        </p:txBody>
      </p:sp>
      <p:pic>
        <p:nvPicPr>
          <p:cNvPr id="18" name="Image 3" descr="/home/user/BasicRobotLessons/docs/presentations/v3/template/assets/logo/team5010-logo-onwhite.png">    </p:cNvPr>
          <p:cNvPicPr>
            <a:picLocks noChangeAspect="1"/>
          </p:cNvPicPr>
          <p:nvPr/>
        </p:nvPicPr>
        <p:blipFill>
          <a:blip r:embed="rId4"/>
          <a:stretch>
            <a:fillRect/>
          </a:stretch>
        </p:blipFill>
        <p:spPr>
          <a:xfrm>
            <a:off x="10957255" y="164592"/>
            <a:ext cx="777240" cy="60585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cog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1 · THE ENCODER</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Three dots, three method calls, one chain</a:t>
            </a:r>
            <a:endParaRPr lang="en-US" sz="3000" dirty="0"/>
          </a:p>
        </p:txBody>
      </p:sp>
      <p:sp>
        <p:nvSpPr>
          <p:cNvPr id="6" name="Shape 3"/>
          <p:cNvSpPr/>
          <p:nvPr/>
        </p:nvSpPr>
        <p:spPr>
          <a:xfrm>
            <a:off x="640080" y="1600200"/>
            <a:ext cx="10881360" cy="2011680"/>
          </a:xfrm>
          <a:prstGeom prst="roundRect">
            <a:avLst>
              <a:gd name="adj" fmla="val 5455"/>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746504"/>
            <a:ext cx="128016" cy="128016"/>
          </a:xfrm>
          <a:prstGeom prst="ellipse">
            <a:avLst/>
          </a:prstGeom>
          <a:solidFill>
            <a:srgbClr val="FF6B6B"/>
          </a:solidFill>
          <a:ln/>
        </p:spPr>
      </p:sp>
      <p:sp>
        <p:nvSpPr>
          <p:cNvPr id="8" name="Shape 5"/>
          <p:cNvSpPr/>
          <p:nvPr/>
        </p:nvSpPr>
        <p:spPr>
          <a:xfrm>
            <a:off x="11210544" y="1947672"/>
            <a:ext cx="128016" cy="128016"/>
          </a:xfrm>
          <a:prstGeom prst="ellipse">
            <a:avLst/>
          </a:prstGeom>
          <a:solidFill>
            <a:srgbClr val="FFD166"/>
          </a:solidFill>
          <a:ln/>
        </p:spPr>
      </p:sp>
      <p:sp>
        <p:nvSpPr>
          <p:cNvPr id="9" name="Shape 6"/>
          <p:cNvSpPr/>
          <p:nvPr/>
        </p:nvSpPr>
        <p:spPr>
          <a:xfrm>
            <a:off x="11210544" y="2148840"/>
            <a:ext cx="128016" cy="128016"/>
          </a:xfrm>
          <a:prstGeom prst="ellipse">
            <a:avLst/>
          </a:prstGeom>
          <a:solidFill>
            <a:srgbClr val="2EC4B6"/>
          </a:solidFill>
          <a:ln/>
        </p:spPr>
      </p:sp>
      <p:sp>
        <p:nvSpPr>
          <p:cNvPr id="10" name="Text 7"/>
          <p:cNvSpPr/>
          <p:nvPr/>
        </p:nvSpPr>
        <p:spPr>
          <a:xfrm>
            <a:off x="914400" y="1728216"/>
            <a:ext cx="10195560" cy="292608"/>
          </a:xfrm>
          <a:prstGeom prst="rect">
            <a:avLst/>
          </a:prstGeom>
          <a:noFill/>
          <a:ln/>
        </p:spPr>
        <p:txBody>
          <a:bodyPr wrap="square" lIns="0" tIns="0" rIns="0" bIns="0" rtlCol="0" anchor="ctr"/>
          <a:lstStyle/>
          <a:p>
            <a:pPr indent="0" marL="0">
              <a:buNone/>
            </a:pPr>
            <a:r>
              <a:rPr lang="en-US" sz="1500" i="1" dirty="0">
                <a:solidFill>
                  <a:srgbClr val="7FA8C9"/>
                </a:solidFill>
                <a:latin typeface="Calibri" pitchFamily="34" charset="0"/>
                <a:ea typeface="Calibri" pitchFamily="34" charset="-122"/>
                <a:cs typeface="Calibri" pitchFamily="34" charset="-120"/>
              </a:rPr>
              <a:t>Nothing to add yet — this is how you'll read them, in section 4</a:t>
            </a:r>
            <a:endParaRPr lang="en-US" sz="1500" dirty="0"/>
          </a:p>
        </p:txBody>
      </p:sp>
      <p:sp>
        <p:nvSpPr>
          <p:cNvPr id="11" name="Text 8"/>
          <p:cNvSpPr/>
          <p:nvPr/>
        </p:nvSpPr>
        <p:spPr>
          <a:xfrm>
            <a:off x="914400" y="2057400"/>
            <a:ext cx="10195560" cy="1353312"/>
          </a:xfrm>
          <a:prstGeom prst="rect">
            <a:avLst/>
          </a:prstGeom>
          <a:noFill/>
          <a:ln/>
        </p:spPr>
        <p:txBody>
          <a:bodyPr wrap="square" lIns="0" tIns="0" rIns="0" bIns="0" rtlCol="0" anchor="t"/>
          <a:lstStyle/>
          <a:p>
            <a:pPr indent="0" marL="0">
              <a:lnSpc>
                <a:spcPct val="120000"/>
              </a:lnSpc>
              <a:buNone/>
            </a:pPr>
            <a:r>
              <a:rPr lang="en-US" sz="1400" dirty="0">
                <a:solidFill>
                  <a:srgbClr val="9EF01A"/>
                </a:solidFill>
                <a:latin typeface="Courier New" pitchFamily="34" charset="0"/>
                <a:ea typeface="Courier New" pitchFamily="34" charset="-122"/>
                <a:cs typeface="Courier New" pitchFamily="34" charset="-120"/>
              </a:rPr>
              <a:t>double rotations = m_driveMotor.getPosition().getValue().in(Rotations);</a:t>
            </a:r>
            <a:endParaRPr lang="en-US" sz="1400" dirty="0"/>
          </a:p>
          <a:p>
            <a:pPr indent="0" marL="0">
              <a:lnSpc>
                <a:spcPct val="120000"/>
              </a:lnSpc>
              <a:buNone/>
            </a:pPr>
            <a:r>
              <a:rPr lang="en-US" sz="1400" dirty="0">
                <a:solidFill>
                  <a:srgbClr val="9EF01A"/>
                </a:solidFill>
                <a:latin typeface="Courier New" pitchFamily="34" charset="0"/>
                <a:ea typeface="Courier New" pitchFamily="34" charset="-122"/>
                <a:cs typeface="Courier New" pitchFamily="34" charset="-120"/>
              </a:rPr>
              <a:t>double rps       = m_driveMotor.getVelocity().getValue().in(RotationsPerSecond);</a:t>
            </a:r>
            <a:endParaRPr lang="en-US" sz="1400" dirty="0"/>
          </a:p>
        </p:txBody>
      </p:sp>
      <p:sp>
        <p:nvSpPr>
          <p:cNvPr id="12" name="Shape 9"/>
          <p:cNvSpPr/>
          <p:nvPr/>
        </p:nvSpPr>
        <p:spPr>
          <a:xfrm>
            <a:off x="640080" y="3749040"/>
            <a:ext cx="10881360" cy="2240280"/>
          </a:xfrm>
          <a:prstGeom prst="roundRect">
            <a:avLst>
              <a:gd name="adj" fmla="val 4082"/>
            </a:avLst>
          </a:prstGeom>
          <a:solidFill>
            <a:srgbClr val="F3F6FA"/>
          </a:solidFill>
          <a:ln/>
        </p:spPr>
      </p:sp>
      <p:sp>
        <p:nvSpPr>
          <p:cNvPr id="13" name="Text 10"/>
          <p:cNvSpPr/>
          <p:nvPr/>
        </p:nvSpPr>
        <p:spPr>
          <a:xfrm>
            <a:off x="914400" y="4023360"/>
            <a:ext cx="10332720" cy="577850"/>
          </a:xfrm>
          <a:prstGeom prst="rect">
            <a:avLst/>
          </a:prstGeom>
          <a:noFill/>
          <a:ln/>
        </p:spPr>
        <p:txBody>
          <a:bodyPr wrap="square" lIns="0" tIns="0" rIns="0" bIns="0" rtlCol="0" anchor="t"/>
          <a:lstStyle/>
          <a:p>
            <a:pPr indent="0" marL="0">
              <a:lnSpc>
                <a:spcPct val="120000"/>
              </a:lnSpc>
              <a:buNone/>
            </a:pPr>
            <a:r>
              <a:rPr lang="en-US" sz="2200" b="1" dirty="0">
                <a:solidFill>
                  <a:srgbClr val="13294B"/>
                </a:solidFill>
                <a:latin typeface="Cambria" pitchFamily="34" charset="0"/>
                <a:ea typeface="Cambria" pitchFamily="34" charset="-122"/>
                <a:cs typeface="Cambria" pitchFamily="34" charset="-120"/>
              </a:rPr>
              <a:t>getPosition() returns a signal object, not a plain number.</a:t>
            </a:r>
            <a:endParaRPr lang="en-US" sz="2200" dirty="0"/>
          </a:p>
        </p:txBody>
      </p:sp>
      <p:sp>
        <p:nvSpPr>
          <p:cNvPr id="14" name="Text 11"/>
          <p:cNvSpPr/>
          <p:nvPr/>
        </p:nvSpPr>
        <p:spPr>
          <a:xfrm>
            <a:off x="914400" y="4601210"/>
            <a:ext cx="10332720" cy="111379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.getValue() reads a measurement that remembers its own unit; .in(Rotations) says which unit you want it as. Whatever a method returns, you can call methods on it immediately — that's chaining.</a:t>
            </a:r>
            <a:endParaRPr lang="en-US" sz="2000" dirty="0"/>
          </a:p>
        </p:txBody>
      </p:sp>
      <p:sp>
        <p:nvSpPr>
          <p:cNvPr id="15" name="Text 12"/>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TELEMETRY</a:t>
            </a:r>
            <a:endParaRPr lang="en-US" sz="2000" dirty="0"/>
          </a:p>
        </p:txBody>
      </p:sp>
      <p:sp>
        <p:nvSpPr>
          <p:cNvPr id="16" name="Text 13"/>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3</a:t>
            </a:r>
            <a:endParaRPr lang="en-US" sz="2000" dirty="0"/>
          </a:p>
        </p:txBody>
      </p:sp>
      <p:pic>
        <p:nvPicPr>
          <p:cNvPr id="17"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broadcasttower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2 · TELEMETRY</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The name is the address</a:t>
            </a:r>
            <a:endParaRPr lang="en-US" sz="3000" dirty="0"/>
          </a:p>
        </p:txBody>
      </p:sp>
      <p:sp>
        <p:nvSpPr>
          <p:cNvPr id="6" name="Shape 3"/>
          <p:cNvSpPr/>
          <p:nvPr/>
        </p:nvSpPr>
        <p:spPr>
          <a:xfrm>
            <a:off x="640080" y="1600200"/>
            <a:ext cx="10881360" cy="1463040"/>
          </a:xfrm>
          <a:prstGeom prst="roundRect">
            <a:avLst>
              <a:gd name="adj" fmla="val 7500"/>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746504"/>
            <a:ext cx="128016" cy="128016"/>
          </a:xfrm>
          <a:prstGeom prst="ellipse">
            <a:avLst/>
          </a:prstGeom>
          <a:solidFill>
            <a:srgbClr val="FF6B6B"/>
          </a:solidFill>
          <a:ln/>
        </p:spPr>
      </p:sp>
      <p:sp>
        <p:nvSpPr>
          <p:cNvPr id="8" name="Shape 5"/>
          <p:cNvSpPr/>
          <p:nvPr/>
        </p:nvSpPr>
        <p:spPr>
          <a:xfrm>
            <a:off x="11210544" y="1947672"/>
            <a:ext cx="128016" cy="128016"/>
          </a:xfrm>
          <a:prstGeom prst="ellipse">
            <a:avLst/>
          </a:prstGeom>
          <a:solidFill>
            <a:srgbClr val="FFD166"/>
          </a:solidFill>
          <a:ln/>
        </p:spPr>
      </p:sp>
      <p:sp>
        <p:nvSpPr>
          <p:cNvPr id="9" name="Shape 6"/>
          <p:cNvSpPr/>
          <p:nvPr/>
        </p:nvSpPr>
        <p:spPr>
          <a:xfrm>
            <a:off x="11210544" y="2148840"/>
            <a:ext cx="128016" cy="128016"/>
          </a:xfrm>
          <a:prstGeom prst="ellipse">
            <a:avLst/>
          </a:prstGeom>
          <a:solidFill>
            <a:srgbClr val="2EC4B6"/>
          </a:solidFill>
          <a:ln/>
        </p:spPr>
      </p:sp>
      <p:sp>
        <p:nvSpPr>
          <p:cNvPr id="10" name="Text 7"/>
          <p:cNvSpPr/>
          <p:nvPr/>
        </p:nvSpPr>
        <p:spPr>
          <a:xfrm>
            <a:off x="914400" y="1728216"/>
            <a:ext cx="10195560" cy="292608"/>
          </a:xfrm>
          <a:prstGeom prst="rect">
            <a:avLst/>
          </a:prstGeom>
          <a:noFill/>
          <a:ln/>
        </p:spPr>
        <p:txBody>
          <a:bodyPr wrap="square" lIns="0" tIns="0" rIns="0" bIns="0" rtlCol="0" anchor="ctr"/>
          <a:lstStyle/>
          <a:p>
            <a:pPr indent="0" marL="0">
              <a:buNone/>
            </a:pPr>
            <a:r>
              <a:rPr lang="en-US" sz="1500" i="1" dirty="0">
                <a:solidFill>
                  <a:srgbClr val="7FA8C9"/>
                </a:solidFill>
                <a:latin typeface="Calibri" pitchFamily="34" charset="0"/>
                <a:ea typeface="Calibri" pitchFamily="34" charset="-122"/>
                <a:cs typeface="Calibri" pitchFamily="34" charset="-120"/>
              </a:rPr>
              <a:t>Nothing to add — just the general shape</a:t>
            </a:r>
            <a:endParaRPr lang="en-US" sz="1500" dirty="0"/>
          </a:p>
        </p:txBody>
      </p:sp>
      <p:sp>
        <p:nvSpPr>
          <p:cNvPr id="11" name="Text 8"/>
          <p:cNvSpPr/>
          <p:nvPr/>
        </p:nvSpPr>
        <p:spPr>
          <a:xfrm>
            <a:off x="914400" y="2057400"/>
            <a:ext cx="10195560" cy="804672"/>
          </a:xfrm>
          <a:prstGeom prst="rect">
            <a:avLst/>
          </a:prstGeom>
          <a:noFill/>
          <a:ln/>
        </p:spPr>
        <p:txBody>
          <a:bodyPr wrap="square" lIns="0" tIns="0" rIns="0" bIns="0" rtlCol="0" anchor="t"/>
          <a:lstStyle/>
          <a:p>
            <a:pPr indent="0" marL="0">
              <a:lnSpc>
                <a:spcPct val="120000"/>
              </a:lnSpc>
              <a:buNone/>
            </a:pPr>
            <a:r>
              <a:rPr lang="en-US" sz="1600" dirty="0">
                <a:solidFill>
                  <a:srgbClr val="9EF01A"/>
                </a:solidFill>
                <a:latin typeface="Courier New" pitchFamily="34" charset="0"/>
                <a:ea typeface="Courier New" pitchFamily="34" charset="-122"/>
                <a:cs typeface="Courier New" pitchFamily="34" charset="-120"/>
              </a:rPr>
              <a:t>Telemetry.log("DriveModule/PositionRotations", rotations);</a:t>
            </a:r>
            <a:endParaRPr lang="en-US" sz="1600" dirty="0"/>
          </a:p>
        </p:txBody>
      </p:sp>
      <p:sp>
        <p:nvSpPr>
          <p:cNvPr id="12" name="Shape 9"/>
          <p:cNvSpPr/>
          <p:nvPr/>
        </p:nvSpPr>
        <p:spPr>
          <a:xfrm>
            <a:off x="640080" y="3291840"/>
            <a:ext cx="10881360" cy="2880360"/>
          </a:xfrm>
          <a:prstGeom prst="roundRect">
            <a:avLst>
              <a:gd name="adj" fmla="val 3175"/>
            </a:avLst>
          </a:prstGeom>
          <a:solidFill>
            <a:srgbClr val="F3F6FA"/>
          </a:solidFill>
          <a:ln/>
        </p:spPr>
      </p:sp>
      <p:sp>
        <p:nvSpPr>
          <p:cNvPr id="13" name="Text 10"/>
          <p:cNvSpPr/>
          <p:nvPr/>
        </p:nvSpPr>
        <p:spPr>
          <a:xfrm>
            <a:off x="914400" y="3566160"/>
            <a:ext cx="10332720" cy="577850"/>
          </a:xfrm>
          <a:prstGeom prst="rect">
            <a:avLst/>
          </a:prstGeom>
          <a:noFill/>
          <a:ln/>
        </p:spPr>
        <p:txBody>
          <a:bodyPr wrap="square" lIns="0" tIns="0" rIns="0" bIns="0" rtlCol="0" anchor="t"/>
          <a:lstStyle/>
          <a:p>
            <a:pPr indent="0" marL="0">
              <a:lnSpc>
                <a:spcPct val="120000"/>
              </a:lnSpc>
              <a:buNone/>
            </a:pPr>
            <a:r>
              <a:rPr lang="en-US" sz="2200" b="1" dirty="0">
                <a:solidFill>
                  <a:srgbClr val="13294B"/>
                </a:solidFill>
                <a:latin typeface="Cambria" pitchFamily="34" charset="0"/>
                <a:ea typeface="Cambria" pitchFamily="34" charset="-122"/>
                <a:cs typeface="Cambria" pitchFamily="34" charset="-120"/>
              </a:rPr>
              <a:t>Every value goes under an organized name, one branch per mechanism.</a:t>
            </a:r>
            <a:endParaRPr lang="en-US" sz="2200" dirty="0"/>
          </a:p>
        </p:txBody>
      </p:sp>
      <p:sp>
        <p:nvSpPr>
          <p:cNvPr id="14" name="Text 11"/>
          <p:cNvSpPr/>
          <p:nvPr/>
        </p:nvSpPr>
        <p:spPr>
          <a:xfrm>
            <a:off x="914400" y="4144010"/>
            <a:ext cx="10332720" cy="175387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A hundred values from now, you can still find the one you want. Names carry their units too — PositionRotations, not Position — so nobody has to guess what a number means later.</a:t>
            </a:r>
            <a:endParaRPr lang="en-US" sz="2000" dirty="0"/>
          </a:p>
        </p:txBody>
      </p:sp>
      <p:sp>
        <p:nvSpPr>
          <p:cNvPr id="15" name="Text 12"/>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TELEMETRY</a:t>
            </a:r>
            <a:endParaRPr lang="en-US" sz="2000" dirty="0"/>
          </a:p>
        </p:txBody>
      </p:sp>
      <p:sp>
        <p:nvSpPr>
          <p:cNvPr id="16" name="Text 13"/>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4</a:t>
            </a:r>
            <a:endParaRPr lang="en-US" sz="2000" dirty="0"/>
          </a:p>
        </p:txBody>
      </p:sp>
      <p:pic>
        <p:nvPicPr>
          <p:cNvPr id="17"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flask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3 · ROBOT.JAVA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Every published value, saved automatically</a:t>
            </a:r>
            <a:endParaRPr lang="en-US" sz="3000" dirty="0"/>
          </a:p>
        </p:txBody>
      </p:sp>
      <p:sp>
        <p:nvSpPr>
          <p:cNvPr id="6" name="Shape 3"/>
          <p:cNvSpPr/>
          <p:nvPr/>
        </p:nvSpPr>
        <p:spPr>
          <a:xfrm>
            <a:off x="640080" y="1600200"/>
            <a:ext cx="10881360" cy="1645920"/>
          </a:xfrm>
          <a:prstGeom prst="roundRect">
            <a:avLst>
              <a:gd name="adj" fmla="val 6667"/>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746504"/>
            <a:ext cx="128016" cy="128016"/>
          </a:xfrm>
          <a:prstGeom prst="ellipse">
            <a:avLst/>
          </a:prstGeom>
          <a:solidFill>
            <a:srgbClr val="FF6B6B"/>
          </a:solidFill>
          <a:ln/>
        </p:spPr>
      </p:sp>
      <p:sp>
        <p:nvSpPr>
          <p:cNvPr id="8" name="Shape 5"/>
          <p:cNvSpPr/>
          <p:nvPr/>
        </p:nvSpPr>
        <p:spPr>
          <a:xfrm>
            <a:off x="11210544" y="1947672"/>
            <a:ext cx="128016" cy="128016"/>
          </a:xfrm>
          <a:prstGeom prst="ellipse">
            <a:avLst/>
          </a:prstGeom>
          <a:solidFill>
            <a:srgbClr val="FFD166"/>
          </a:solidFill>
          <a:ln/>
        </p:spPr>
      </p:sp>
      <p:sp>
        <p:nvSpPr>
          <p:cNvPr id="9" name="Shape 6"/>
          <p:cNvSpPr/>
          <p:nvPr/>
        </p:nvSpPr>
        <p:spPr>
          <a:xfrm>
            <a:off x="11210544" y="2148840"/>
            <a:ext cx="128016" cy="128016"/>
          </a:xfrm>
          <a:prstGeom prst="ellipse">
            <a:avLst/>
          </a:prstGeom>
          <a:solidFill>
            <a:srgbClr val="2EC4B6"/>
          </a:solidFill>
          <a:ln/>
        </p:spPr>
      </p:sp>
      <p:sp>
        <p:nvSpPr>
          <p:cNvPr id="10" name="Text 7"/>
          <p:cNvSpPr/>
          <p:nvPr/>
        </p:nvSpPr>
        <p:spPr>
          <a:xfrm>
            <a:off x="914400" y="172821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Edit Robot.java's constructor</a:t>
            </a:r>
            <a:endParaRPr lang="en-US" sz="1500" dirty="0"/>
          </a:p>
        </p:txBody>
      </p:sp>
      <p:sp>
        <p:nvSpPr>
          <p:cNvPr id="11" name="Text 8"/>
          <p:cNvSpPr/>
          <p:nvPr/>
        </p:nvSpPr>
        <p:spPr>
          <a:xfrm>
            <a:off x="914400" y="2057400"/>
            <a:ext cx="10195560" cy="987552"/>
          </a:xfrm>
          <a:prstGeom prst="rect">
            <a:avLst/>
          </a:prstGeom>
          <a:noFill/>
          <a:ln/>
        </p:spPr>
        <p:txBody>
          <a:bodyPr wrap="square" lIns="0" tIns="0" rIns="0" bIns="0" rtlCol="0" anchor="t"/>
          <a:lstStyle/>
          <a:p>
            <a:pPr indent="0" marL="0">
              <a:lnSpc>
                <a:spcPct val="120000"/>
              </a:lnSpc>
              <a:buNone/>
            </a:pPr>
            <a:r>
              <a:rPr lang="en-US" sz="1500" dirty="0">
                <a:solidFill>
                  <a:srgbClr val="FFD166"/>
                </a:solidFill>
                <a:latin typeface="Courier New" pitchFamily="34" charset="0"/>
                <a:ea typeface="Courier New" pitchFamily="34" charset="-122"/>
                <a:cs typeface="Courier New" pitchFamily="34" charset="-120"/>
              </a:rPr>
              <a:t>public Robot() {</a:t>
            </a:r>
            <a:endParaRPr lang="en-US" sz="1500" dirty="0"/>
          </a:p>
          <a:p>
            <a:pPr indent="0" marL="0">
              <a:lnSpc>
                <a:spcPct val="120000"/>
              </a:lnSpc>
              <a:buNone/>
            </a:pPr>
            <a:r>
              <a:rPr lang="en-US" sz="1500" dirty="0">
                <a:solidFill>
                  <a:srgbClr val="9EF01A"/>
                </a:solidFill>
                <a:latin typeface="Courier New" pitchFamily="34" charset="0"/>
                <a:ea typeface="Courier New" pitchFamily="34" charset="-122"/>
                <a:cs typeface="Courier New" pitchFamily="34" charset="-120"/>
              </a:rPr>
              <a:t>  DataLogManager.start(); // saves every published value to a .wpilog file</a:t>
            </a:r>
            <a:endParaRPr lang="en-US" sz="1500" dirty="0"/>
          </a:p>
          <a:p>
            <a:pPr indent="0" marL="0">
              <a:lnSpc>
                <a:spcPct val="120000"/>
              </a:lnSpc>
              <a:buNone/>
            </a:pPr>
            <a:r>
              <a:rPr lang="en-US" sz="1500" dirty="0">
                <a:solidFill>
                  <a:srgbClr val="D7E3F4"/>
                </a:solidFill>
                <a:latin typeface="Courier New" pitchFamily="34" charset="0"/>
                <a:ea typeface="Courier New" pitchFamily="34" charset="-122"/>
                <a:cs typeface="Courier New" pitchFamily="34" charset="-120"/>
              </a:rPr>
              <a:t>}</a:t>
            </a:r>
            <a:endParaRPr lang="en-US" sz="1500" dirty="0"/>
          </a:p>
        </p:txBody>
      </p:sp>
      <p:sp>
        <p:nvSpPr>
          <p:cNvPr id="12" name="Shape 9"/>
          <p:cNvSpPr/>
          <p:nvPr/>
        </p:nvSpPr>
        <p:spPr>
          <a:xfrm>
            <a:off x="640080" y="3566160"/>
            <a:ext cx="10881360" cy="2606040"/>
          </a:xfrm>
          <a:prstGeom prst="roundRect">
            <a:avLst>
              <a:gd name="adj" fmla="val 3509"/>
            </a:avLst>
          </a:prstGeom>
          <a:solidFill>
            <a:srgbClr val="F3F6FA"/>
          </a:solidFill>
          <a:ln/>
        </p:spPr>
      </p:sp>
      <p:sp>
        <p:nvSpPr>
          <p:cNvPr id="13" name="Text 10"/>
          <p:cNvSpPr/>
          <p:nvPr/>
        </p:nvSpPr>
        <p:spPr>
          <a:xfrm>
            <a:off x="914400" y="3840480"/>
            <a:ext cx="10332720" cy="927100"/>
          </a:xfrm>
          <a:prstGeom prst="rect">
            <a:avLst/>
          </a:prstGeom>
          <a:noFill/>
          <a:ln/>
        </p:spPr>
        <p:txBody>
          <a:bodyPr wrap="square" lIns="0" tIns="0" rIns="0" bIns="0" rtlCol="0" anchor="t"/>
          <a:lstStyle/>
          <a:p>
            <a:pPr indent="0" marL="0">
              <a:lnSpc>
                <a:spcPct val="120000"/>
              </a:lnSpc>
              <a:buNone/>
            </a:pPr>
            <a:r>
              <a:rPr lang="en-US" sz="2200" b="1" dirty="0">
                <a:solidFill>
                  <a:srgbClr val="13294B"/>
                </a:solidFill>
                <a:latin typeface="Cambria" pitchFamily="34" charset="0"/>
                <a:ea typeface="Cambria" pitchFamily="34" charset="-122"/>
                <a:cs typeface="Cambria" pitchFamily="34" charset="-120"/>
              </a:rPr>
              <a:t>The logger runs before anything else is set up — top of the constructor.</a:t>
            </a:r>
            <a:endParaRPr lang="en-US" sz="2200" dirty="0"/>
          </a:p>
        </p:txBody>
      </p:sp>
      <p:sp>
        <p:nvSpPr>
          <p:cNvPr id="14" name="Text 11"/>
          <p:cNvSpPr/>
          <p:nvPr/>
        </p:nvSpPr>
        <p:spPr>
          <a:xfrm>
            <a:off x="914400" y="4767580"/>
            <a:ext cx="10332720" cy="113030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On a real robot the file lands on SystemCore; in sim it lands in a logs/ folder in your project. A session you can scrub through later is how you answer "what just happened?" without making it happen again.</a:t>
            </a:r>
            <a:endParaRPr lang="en-US" sz="2000" dirty="0"/>
          </a:p>
        </p:txBody>
      </p:sp>
      <p:sp>
        <p:nvSpPr>
          <p:cNvPr id="15" name="Text 12"/>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TELEMETRY</a:t>
            </a:r>
            <a:endParaRPr lang="en-US" sz="2000" dirty="0"/>
          </a:p>
        </p:txBody>
      </p:sp>
      <p:sp>
        <p:nvSpPr>
          <p:cNvPr id="16" name="Text 13"/>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5</a:t>
            </a:r>
            <a:endParaRPr lang="en-US" sz="2000" dirty="0"/>
          </a:p>
        </p:txBody>
      </p:sp>
      <p:pic>
        <p:nvPicPr>
          <p:cNvPr id="17"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filecode_teal.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4 · DRIVEMODULE.JAVA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A standing callback, not a one-off poll</a:t>
            </a:r>
            <a:endParaRPr lang="en-US" sz="3000" dirty="0"/>
          </a:p>
        </p:txBody>
      </p:sp>
      <p:sp>
        <p:nvSpPr>
          <p:cNvPr id="6" name="Shape 3"/>
          <p:cNvSpPr/>
          <p:nvPr/>
        </p:nvSpPr>
        <p:spPr>
          <a:xfrm>
            <a:off x="640080" y="1600200"/>
            <a:ext cx="10881360" cy="3383280"/>
          </a:xfrm>
          <a:prstGeom prst="roundRect">
            <a:avLst>
              <a:gd name="adj" fmla="val 3243"/>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746504"/>
            <a:ext cx="128016" cy="128016"/>
          </a:xfrm>
          <a:prstGeom prst="ellipse">
            <a:avLst/>
          </a:prstGeom>
          <a:solidFill>
            <a:srgbClr val="FF6B6B"/>
          </a:solidFill>
          <a:ln/>
        </p:spPr>
      </p:sp>
      <p:sp>
        <p:nvSpPr>
          <p:cNvPr id="8" name="Shape 5"/>
          <p:cNvSpPr/>
          <p:nvPr/>
        </p:nvSpPr>
        <p:spPr>
          <a:xfrm>
            <a:off x="11210544" y="1947672"/>
            <a:ext cx="128016" cy="128016"/>
          </a:xfrm>
          <a:prstGeom prst="ellipse">
            <a:avLst/>
          </a:prstGeom>
          <a:solidFill>
            <a:srgbClr val="FFD166"/>
          </a:solidFill>
          <a:ln/>
        </p:spPr>
      </p:sp>
      <p:sp>
        <p:nvSpPr>
          <p:cNvPr id="9" name="Shape 6"/>
          <p:cNvSpPr/>
          <p:nvPr/>
        </p:nvSpPr>
        <p:spPr>
          <a:xfrm>
            <a:off x="11210544" y="2148840"/>
            <a:ext cx="128016" cy="128016"/>
          </a:xfrm>
          <a:prstGeom prst="ellipse">
            <a:avLst/>
          </a:prstGeom>
          <a:solidFill>
            <a:srgbClr val="2EC4B6"/>
          </a:solidFill>
          <a:ln/>
        </p:spPr>
      </p:sp>
      <p:sp>
        <p:nvSpPr>
          <p:cNvPr id="10" name="Text 7"/>
          <p:cNvSpPr/>
          <p:nvPr/>
        </p:nvSpPr>
        <p:spPr>
          <a:xfrm>
            <a:off x="914400" y="172821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Edit DriveModule's constructor</a:t>
            </a:r>
            <a:endParaRPr lang="en-US" sz="1500" dirty="0"/>
          </a:p>
        </p:txBody>
      </p:sp>
      <p:sp>
        <p:nvSpPr>
          <p:cNvPr id="11" name="Text 8"/>
          <p:cNvSpPr/>
          <p:nvPr/>
        </p:nvSpPr>
        <p:spPr>
          <a:xfrm>
            <a:off x="914400" y="2057400"/>
            <a:ext cx="10195560" cy="2724912"/>
          </a:xfrm>
          <a:prstGeom prst="rect">
            <a:avLst/>
          </a:prstGeom>
          <a:noFill/>
          <a:ln/>
        </p:spPr>
        <p:txBody>
          <a:bodyPr wrap="square" lIns="0" tIns="0" rIns="0" bIns="0" rtlCol="0" anchor="t"/>
          <a:lstStyle/>
          <a:p>
            <a:pPr indent="0" marL="0">
              <a:lnSpc>
                <a:spcPct val="120000"/>
              </a:lnSpc>
              <a:buNone/>
            </a:pPr>
            <a:r>
              <a:rPr lang="en-US" sz="1200" dirty="0">
                <a:solidFill>
                  <a:srgbClr val="FFD166"/>
                </a:solidFill>
                <a:latin typeface="Courier New" pitchFamily="34" charset="0"/>
                <a:ea typeface="Courier New" pitchFamily="34" charset="-122"/>
                <a:cs typeface="Courier New" pitchFamily="34" charset="-120"/>
              </a:rPr>
              <a:t>public DriveModule() {</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Scheduler.getDefault().addPeriodic(this::logTelemetry);</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a:t>
            </a:r>
            <a:endParaRPr lang="en-US" sz="1200" dirty="0"/>
          </a:p>
          <a:p>
            <a:pPr indent="0" marL="0">
              <a:lnSpc>
                <a:spcPct val="120000"/>
              </a:lnSpc>
              <a:buNone/>
            </a:pPr>
            <a:endParaRPr lang="en-US" sz="1200" dirty="0"/>
          </a:p>
          <a:p>
            <a:pPr indent="0" marL="0">
              <a:lnSpc>
                <a:spcPct val="120000"/>
              </a:lnSpc>
              <a:buNone/>
            </a:pPr>
            <a:r>
              <a:rPr lang="en-US" sz="1200" dirty="0">
                <a:solidFill>
                  <a:srgbClr val="FFD166"/>
                </a:solidFill>
                <a:latin typeface="Courier New" pitchFamily="34" charset="0"/>
                <a:ea typeface="Courier New" pitchFamily="34" charset="-122"/>
                <a:cs typeface="Courier New" pitchFamily="34" charset="-120"/>
              </a:rPr>
              <a:t>private void logTelemetry() {</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double rotations = m_driveMotor.getPosition().getValue().in(Rotations);</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double rps = m_driveMotor.getVelocity().getValue().in(RotationsPerSecond);</a:t>
            </a:r>
            <a:endParaRPr lang="en-US" sz="1200" dirty="0"/>
          </a:p>
          <a:p>
            <a:pPr indent="0" marL="0">
              <a:lnSpc>
                <a:spcPct val="120000"/>
              </a:lnSpc>
              <a:buNone/>
            </a:pP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Telemetry.log("DriveModule/PositionRotations", rotations);</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Telemetry.log("DriveModule/VelocityRotPerSec", rps);</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a:t>
            </a:r>
            <a:endParaRPr lang="en-US" sz="1200" dirty="0"/>
          </a:p>
        </p:txBody>
      </p:sp>
      <p:sp>
        <p:nvSpPr>
          <p:cNvPr id="12" name="Shape 9"/>
          <p:cNvSpPr/>
          <p:nvPr/>
        </p:nvSpPr>
        <p:spPr>
          <a:xfrm>
            <a:off x="640080" y="5166360"/>
            <a:ext cx="10881360" cy="1143000"/>
          </a:xfrm>
          <a:prstGeom prst="roundRect">
            <a:avLst>
              <a:gd name="adj" fmla="val 8000"/>
            </a:avLst>
          </a:prstGeom>
          <a:solidFill>
            <a:srgbClr val="F3F6FA"/>
          </a:solidFill>
          <a:ln/>
        </p:spPr>
      </p:sp>
      <p:sp>
        <p:nvSpPr>
          <p:cNvPr id="13" name="Text 10"/>
          <p:cNvSpPr/>
          <p:nvPr/>
        </p:nvSpPr>
        <p:spPr>
          <a:xfrm>
            <a:off x="822960" y="5349240"/>
            <a:ext cx="10515600" cy="77724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this::logTelemetry is a method reference — shorthand for () -&gt; this.logTelemetry(). addPeriodic runs it every tick, forever, with no command required.</a:t>
            </a:r>
            <a:endParaRPr lang="en-US" sz="2000" dirty="0"/>
          </a:p>
        </p:txBody>
      </p:sp>
      <p:sp>
        <p:nvSpPr>
          <p:cNvPr id="14"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TELEMETRY</a:t>
            </a:r>
            <a:endParaRPr lang="en-US" sz="2000" dirty="0"/>
          </a:p>
        </p:txBody>
      </p:sp>
      <p:sp>
        <p:nvSpPr>
          <p:cNvPr id="15"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6</a:t>
            </a:r>
            <a:endParaRPr lang="en-US" sz="2000" dirty="0"/>
          </a:p>
        </p:txBody>
      </p:sp>
      <p:pic>
        <p:nvPicPr>
          <p:cNvPr id="16"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chartline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5 · ADVANTAGESCOPE</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Watch it plotted, live</a:t>
            </a:r>
            <a:endParaRPr lang="en-US" sz="3000" dirty="0"/>
          </a:p>
        </p:txBody>
      </p:sp>
      <p:sp>
        <p:nvSpPr>
          <p:cNvPr id="6" name="Shape 3"/>
          <p:cNvSpPr/>
          <p:nvPr/>
        </p:nvSpPr>
        <p:spPr>
          <a:xfrm>
            <a:off x="640080" y="1618488"/>
            <a:ext cx="502920" cy="502920"/>
          </a:xfrm>
          <a:prstGeom prst="ellipse">
            <a:avLst/>
          </a:prstGeom>
          <a:solidFill>
            <a:srgbClr val="1B9AAA"/>
          </a:solidFill>
          <a:ln/>
        </p:spPr>
      </p:sp>
      <p:sp>
        <p:nvSpPr>
          <p:cNvPr id="7" name="Text 4"/>
          <p:cNvSpPr/>
          <p:nvPr/>
        </p:nvSpPr>
        <p:spPr>
          <a:xfrm>
            <a:off x="640080" y="161848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8" name="Text 5"/>
          <p:cNvSpPr/>
          <p:nvPr/>
        </p:nvSpPr>
        <p:spPr>
          <a:xfrm>
            <a:off x="1371600" y="1545336"/>
            <a:ext cx="9875520" cy="384048"/>
          </a:xfrm>
          <a:prstGeom prst="rect">
            <a:avLst/>
          </a:prstGeom>
          <a:noFill/>
          <a:ln/>
        </p:spPr>
        <p:txBody>
          <a:bodyPr wrap="square" lIns="0" tIns="0" rIns="0" bIns="0" rtlCol="0" anchor="ctr"/>
          <a:lstStyle/>
          <a:p>
            <a:pPr indent="0" marL="0">
              <a:buNone/>
            </a:pPr>
            <a:r>
              <a:rPr lang="en-US" sz="2000" b="1" dirty="0">
                <a:solidFill>
                  <a:srgbClr val="13294B"/>
                </a:solidFill>
                <a:latin typeface="Cambria" pitchFamily="34" charset="0"/>
                <a:ea typeface="Cambria" pitchFamily="34" charset="-122"/>
                <a:cs typeface="Cambria" pitchFamily="34" charset="-120"/>
              </a:rPr>
              <a:t>File → Connect to Simulator</a:t>
            </a:r>
            <a:endParaRPr lang="en-US" sz="2000" dirty="0"/>
          </a:p>
        </p:txBody>
      </p:sp>
      <p:sp>
        <p:nvSpPr>
          <p:cNvPr id="9" name="Text 6"/>
          <p:cNvSpPr/>
          <p:nvPr/>
        </p:nvSpPr>
        <p:spPr>
          <a:xfrm>
            <a:off x="1371600" y="192938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5B6B84"/>
                </a:solidFill>
                <a:latin typeface="Calibri" pitchFamily="34" charset="0"/>
                <a:ea typeface="Calibri" pitchFamily="34" charset="-122"/>
                <a:cs typeface="Calibri" pitchFamily="34" charset="-120"/>
              </a:rPr>
              <a:t>On a real robot it's Connect to Robot, with your team number.</a:t>
            </a:r>
            <a:endParaRPr lang="en-US" sz="2000" dirty="0"/>
          </a:p>
        </p:txBody>
      </p:sp>
      <p:sp>
        <p:nvSpPr>
          <p:cNvPr id="10" name="Shape 7"/>
          <p:cNvSpPr/>
          <p:nvPr/>
        </p:nvSpPr>
        <p:spPr>
          <a:xfrm>
            <a:off x="640080" y="2514600"/>
            <a:ext cx="502920" cy="502920"/>
          </a:xfrm>
          <a:prstGeom prst="ellipse">
            <a:avLst/>
          </a:prstGeom>
          <a:solidFill>
            <a:srgbClr val="1B9AAA"/>
          </a:solidFill>
          <a:ln/>
        </p:spPr>
      </p:sp>
      <p:sp>
        <p:nvSpPr>
          <p:cNvPr id="11" name="Text 8"/>
          <p:cNvSpPr/>
          <p:nvPr/>
        </p:nvSpPr>
        <p:spPr>
          <a:xfrm>
            <a:off x="640080" y="2514600"/>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2" name="Text 9"/>
          <p:cNvSpPr/>
          <p:nvPr/>
        </p:nvSpPr>
        <p:spPr>
          <a:xfrm>
            <a:off x="1371600" y="2441448"/>
            <a:ext cx="9875520" cy="384048"/>
          </a:xfrm>
          <a:prstGeom prst="rect">
            <a:avLst/>
          </a:prstGeom>
          <a:noFill/>
          <a:ln/>
        </p:spPr>
        <p:txBody>
          <a:bodyPr wrap="square" lIns="0" tIns="0" rIns="0" bIns="0" rtlCol="0" anchor="ctr"/>
          <a:lstStyle/>
          <a:p>
            <a:pPr indent="0" marL="0">
              <a:buNone/>
            </a:pPr>
            <a:r>
              <a:rPr lang="en-US" sz="2000" b="1" dirty="0">
                <a:solidFill>
                  <a:srgbClr val="13294B"/>
                </a:solidFill>
                <a:latin typeface="Cambria" pitchFamily="34" charset="0"/>
                <a:ea typeface="Cambria" pitchFamily="34" charset="-122"/>
                <a:cs typeface="Cambria" pitchFamily="34" charset="-120"/>
              </a:rPr>
              <a:t>NetworkTables → Telemetry → DriveModule</a:t>
            </a:r>
            <a:endParaRPr lang="en-US" sz="2000" dirty="0"/>
          </a:p>
        </p:txBody>
      </p:sp>
      <p:sp>
        <p:nvSpPr>
          <p:cNvPr id="13" name="Text 10"/>
          <p:cNvSpPr/>
          <p:nvPr/>
        </p:nvSpPr>
        <p:spPr>
          <a:xfrm>
            <a:off x="1371600" y="2825496"/>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5B6B84"/>
                </a:solidFill>
                <a:latin typeface="Calibri" pitchFamily="34" charset="0"/>
                <a:ea typeface="Calibri" pitchFamily="34" charset="-122"/>
                <a:cs typeface="Calibri" pitchFamily="34" charset="-120"/>
              </a:rPr>
              <a:t>Your folder tree, with both values ticking.</a:t>
            </a:r>
            <a:endParaRPr lang="en-US" sz="2000" dirty="0"/>
          </a:p>
        </p:txBody>
      </p:sp>
      <p:sp>
        <p:nvSpPr>
          <p:cNvPr id="14" name="Shape 11"/>
          <p:cNvSpPr/>
          <p:nvPr/>
        </p:nvSpPr>
        <p:spPr>
          <a:xfrm>
            <a:off x="640080" y="3410712"/>
            <a:ext cx="502920" cy="502920"/>
          </a:xfrm>
          <a:prstGeom prst="ellipse">
            <a:avLst/>
          </a:prstGeom>
          <a:solidFill>
            <a:srgbClr val="1B9AAA"/>
          </a:solidFill>
          <a:ln/>
        </p:spPr>
      </p:sp>
      <p:sp>
        <p:nvSpPr>
          <p:cNvPr id="15" name="Text 12"/>
          <p:cNvSpPr/>
          <p:nvPr/>
        </p:nvSpPr>
        <p:spPr>
          <a:xfrm>
            <a:off x="640080" y="3410712"/>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6" name="Text 13"/>
          <p:cNvSpPr/>
          <p:nvPr/>
        </p:nvSpPr>
        <p:spPr>
          <a:xfrm>
            <a:off x="1371600" y="3337560"/>
            <a:ext cx="9875520" cy="384048"/>
          </a:xfrm>
          <a:prstGeom prst="rect">
            <a:avLst/>
          </a:prstGeom>
          <a:noFill/>
          <a:ln/>
        </p:spPr>
        <p:txBody>
          <a:bodyPr wrap="square" lIns="0" tIns="0" rIns="0" bIns="0" rtlCol="0" anchor="ctr"/>
          <a:lstStyle/>
          <a:p>
            <a:pPr indent="0" marL="0">
              <a:buNone/>
            </a:pPr>
            <a:r>
              <a:rPr lang="en-US" sz="2000" b="1" dirty="0">
                <a:solidFill>
                  <a:srgbClr val="13294B"/>
                </a:solidFill>
                <a:latin typeface="Cambria" pitchFamily="34" charset="0"/>
                <a:ea typeface="Cambria" pitchFamily="34" charset="-122"/>
                <a:cs typeface="Cambria" pitchFamily="34" charset="-120"/>
              </a:rPr>
              <a:t>Drag VelocityRotPerSec onto the Line Graph tab</a:t>
            </a:r>
            <a:endParaRPr lang="en-US" sz="2000" dirty="0"/>
          </a:p>
        </p:txBody>
      </p:sp>
      <p:sp>
        <p:nvSpPr>
          <p:cNvPr id="17" name="Text 14"/>
          <p:cNvSpPr/>
          <p:nvPr/>
        </p:nvSpPr>
        <p:spPr>
          <a:xfrm>
            <a:off x="1371600" y="3721608"/>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5B6B84"/>
                </a:solidFill>
                <a:latin typeface="Calibri" pitchFamily="34" charset="0"/>
                <a:ea typeface="Calibri" pitchFamily="34" charset="-122"/>
                <a:cs typeface="Calibri" pitchFamily="34" charset="-120"/>
              </a:rPr>
              <a:t>A live plot appears.</a:t>
            </a:r>
            <a:endParaRPr lang="en-US" sz="2000" dirty="0"/>
          </a:p>
        </p:txBody>
      </p:sp>
      <p:sp>
        <p:nvSpPr>
          <p:cNvPr id="18" name="Shape 15"/>
          <p:cNvSpPr/>
          <p:nvPr/>
        </p:nvSpPr>
        <p:spPr>
          <a:xfrm>
            <a:off x="640080" y="4306824"/>
            <a:ext cx="502920" cy="502920"/>
          </a:xfrm>
          <a:prstGeom prst="ellipse">
            <a:avLst/>
          </a:prstGeom>
          <a:solidFill>
            <a:srgbClr val="1B9AAA"/>
          </a:solidFill>
          <a:ln/>
        </p:spPr>
      </p:sp>
      <p:sp>
        <p:nvSpPr>
          <p:cNvPr id="19" name="Text 16"/>
          <p:cNvSpPr/>
          <p:nvPr/>
        </p:nvSpPr>
        <p:spPr>
          <a:xfrm>
            <a:off x="640080" y="4306824"/>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0" name="Text 17"/>
          <p:cNvSpPr/>
          <p:nvPr/>
        </p:nvSpPr>
        <p:spPr>
          <a:xfrm>
            <a:off x="1371600" y="4233672"/>
            <a:ext cx="9875520" cy="384048"/>
          </a:xfrm>
          <a:prstGeom prst="rect">
            <a:avLst/>
          </a:prstGeom>
          <a:noFill/>
          <a:ln/>
        </p:spPr>
        <p:txBody>
          <a:bodyPr wrap="square" lIns="0" tIns="0" rIns="0" bIns="0" rtlCol="0" anchor="ctr"/>
          <a:lstStyle/>
          <a:p>
            <a:pPr indent="0" marL="0">
              <a:buNone/>
            </a:pPr>
            <a:r>
              <a:rPr lang="en-US" sz="2000" b="1" dirty="0">
                <a:solidFill>
                  <a:srgbClr val="13294B"/>
                </a:solidFill>
                <a:latin typeface="Cambria" pitchFamily="34" charset="0"/>
                <a:ea typeface="Cambria" pitchFamily="34" charset="-122"/>
                <a:cs typeface="Cambria" pitchFamily="34" charset="-120"/>
              </a:rPr>
              <a:t>Drag PositionRotations on too, right axis</a:t>
            </a:r>
            <a:endParaRPr lang="en-US" sz="2000" dirty="0"/>
          </a:p>
        </p:txBody>
      </p:sp>
      <p:sp>
        <p:nvSpPr>
          <p:cNvPr id="21" name="Text 18"/>
          <p:cNvSpPr/>
          <p:nvPr/>
        </p:nvSpPr>
        <p:spPr>
          <a:xfrm>
            <a:off x="1371600" y="4617720"/>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5B6B84"/>
                </a:solidFill>
                <a:latin typeface="Calibri" pitchFamily="34" charset="0"/>
                <a:ea typeface="Calibri" pitchFamily="34" charset="-122"/>
                <a:cs typeface="Calibri" pitchFamily="34" charset="-120"/>
              </a:rPr>
              <a:t>Two signals, one time axis.</a:t>
            </a:r>
            <a:endParaRPr lang="en-US" sz="2000" dirty="0"/>
          </a:p>
        </p:txBody>
      </p:sp>
      <p:sp>
        <p:nvSpPr>
          <p:cNvPr id="22" name="Shape 19"/>
          <p:cNvSpPr/>
          <p:nvPr/>
        </p:nvSpPr>
        <p:spPr>
          <a:xfrm>
            <a:off x="640080" y="5202936"/>
            <a:ext cx="502920" cy="502920"/>
          </a:xfrm>
          <a:prstGeom prst="ellipse">
            <a:avLst/>
          </a:prstGeom>
          <a:solidFill>
            <a:srgbClr val="1B9AAA"/>
          </a:solidFill>
          <a:ln/>
        </p:spPr>
      </p:sp>
      <p:sp>
        <p:nvSpPr>
          <p:cNvPr id="23" name="Text 20"/>
          <p:cNvSpPr/>
          <p:nvPr/>
        </p:nvSpPr>
        <p:spPr>
          <a:xfrm>
            <a:off x="640080" y="5202936"/>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5</a:t>
            </a:r>
            <a:endParaRPr lang="en-US" sz="2200" dirty="0"/>
          </a:p>
        </p:txBody>
      </p:sp>
      <p:sp>
        <p:nvSpPr>
          <p:cNvPr id="24" name="Text 21"/>
          <p:cNvSpPr/>
          <p:nvPr/>
        </p:nvSpPr>
        <p:spPr>
          <a:xfrm>
            <a:off x="1371600" y="5129784"/>
            <a:ext cx="9875520" cy="384048"/>
          </a:xfrm>
          <a:prstGeom prst="rect">
            <a:avLst/>
          </a:prstGeom>
          <a:noFill/>
          <a:ln/>
        </p:spPr>
        <p:txBody>
          <a:bodyPr wrap="square" lIns="0" tIns="0" rIns="0" bIns="0" rtlCol="0" anchor="ctr"/>
          <a:lstStyle/>
          <a:p>
            <a:pPr indent="0" marL="0">
              <a:buNone/>
            </a:pPr>
            <a:r>
              <a:rPr lang="en-US" sz="2000" b="1" dirty="0">
                <a:solidFill>
                  <a:srgbClr val="13294B"/>
                </a:solidFill>
                <a:latin typeface="Cambria" pitchFamily="34" charset="0"/>
                <a:ea typeface="Cambria" pitchFamily="34" charset="-122"/>
                <a:cs typeface="Cambria" pitchFamily="34" charset="-120"/>
              </a:rPr>
              <a:t>Drive, and watch</a:t>
            </a:r>
            <a:endParaRPr lang="en-US" sz="2000" dirty="0"/>
          </a:p>
        </p:txBody>
      </p:sp>
      <p:sp>
        <p:nvSpPr>
          <p:cNvPr id="25" name="Text 22"/>
          <p:cNvSpPr/>
          <p:nvPr/>
        </p:nvSpPr>
        <p:spPr>
          <a:xfrm>
            <a:off x="1371600" y="5513832"/>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5B6B84"/>
                </a:solidFill>
                <a:latin typeface="Calibri" pitchFamily="34" charset="0"/>
                <a:ea typeface="Calibri" pitchFamily="34" charset="-122"/>
                <a:cs typeface="Calibri" pitchFamily="34" charset="-120"/>
              </a:rPr>
              <a:t>The traces sit nearly flat — nothing's actually spinning yet. Lesson 4 fixes that.</a:t>
            </a:r>
            <a:endParaRPr lang="en-US" sz="2000" dirty="0"/>
          </a:p>
        </p:txBody>
      </p:sp>
      <p:sp>
        <p:nvSpPr>
          <p:cNvPr id="26" name="Text 23"/>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TELEMETRY</a:t>
            </a:r>
            <a:endParaRPr lang="en-US" sz="2000" dirty="0"/>
          </a:p>
        </p:txBody>
      </p:sp>
      <p:sp>
        <p:nvSpPr>
          <p:cNvPr id="27" name="Text 24"/>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7</a:t>
            </a:r>
            <a:endParaRPr lang="en-US" sz="2000" dirty="0"/>
          </a:p>
        </p:txBody>
      </p:sp>
      <p:pic>
        <p:nvPicPr>
          <p:cNvPr id="28"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lightbulb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6 · ROBOT.JAVA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Told, not asked</a:t>
            </a:r>
            <a:endParaRPr lang="en-US" sz="3000" dirty="0"/>
          </a:p>
        </p:txBody>
      </p:sp>
      <p:sp>
        <p:nvSpPr>
          <p:cNvPr id="6" name="Shape 3"/>
          <p:cNvSpPr/>
          <p:nvPr/>
        </p:nvSpPr>
        <p:spPr>
          <a:xfrm>
            <a:off x="640080" y="1371600"/>
            <a:ext cx="10881360" cy="1645920"/>
          </a:xfrm>
          <a:prstGeom prst="roundRect">
            <a:avLst>
              <a:gd name="adj" fmla="val 6667"/>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517904"/>
            <a:ext cx="128016" cy="128016"/>
          </a:xfrm>
          <a:prstGeom prst="ellipse">
            <a:avLst/>
          </a:prstGeom>
          <a:solidFill>
            <a:srgbClr val="FF6B6B"/>
          </a:solidFill>
          <a:ln/>
        </p:spPr>
      </p:sp>
      <p:sp>
        <p:nvSpPr>
          <p:cNvPr id="8" name="Shape 5"/>
          <p:cNvSpPr/>
          <p:nvPr/>
        </p:nvSpPr>
        <p:spPr>
          <a:xfrm>
            <a:off x="11210544" y="1719072"/>
            <a:ext cx="128016" cy="128016"/>
          </a:xfrm>
          <a:prstGeom prst="ellipse">
            <a:avLst/>
          </a:prstGeom>
          <a:solidFill>
            <a:srgbClr val="FFD166"/>
          </a:solidFill>
          <a:ln/>
        </p:spPr>
      </p:sp>
      <p:sp>
        <p:nvSpPr>
          <p:cNvPr id="9" name="Shape 6"/>
          <p:cNvSpPr/>
          <p:nvPr/>
        </p:nvSpPr>
        <p:spPr>
          <a:xfrm>
            <a:off x="11210544" y="1920240"/>
            <a:ext cx="128016" cy="128016"/>
          </a:xfrm>
          <a:prstGeom prst="ellipse">
            <a:avLst/>
          </a:prstGeom>
          <a:solidFill>
            <a:srgbClr val="2EC4B6"/>
          </a:solidFill>
          <a:ln/>
        </p:spPr>
      </p:sp>
      <p:sp>
        <p:nvSpPr>
          <p:cNvPr id="10" name="Text 7"/>
          <p:cNvSpPr/>
          <p:nvPr/>
        </p:nvSpPr>
        <p:spPr>
          <a:xfrm>
            <a:off x="914400" y="149961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Edit Robot's constructor — add the listener</a:t>
            </a:r>
            <a:endParaRPr lang="en-US" sz="1500" dirty="0"/>
          </a:p>
        </p:txBody>
      </p:sp>
      <p:sp>
        <p:nvSpPr>
          <p:cNvPr id="11" name="Text 8"/>
          <p:cNvSpPr/>
          <p:nvPr/>
        </p:nvSpPr>
        <p:spPr>
          <a:xfrm>
            <a:off x="914400" y="1828800"/>
            <a:ext cx="10195560" cy="987552"/>
          </a:xfrm>
          <a:prstGeom prst="rect">
            <a:avLst/>
          </a:prstGeom>
          <a:noFill/>
          <a:ln/>
        </p:spPr>
        <p:txBody>
          <a:bodyPr wrap="square" lIns="0" tIns="0" rIns="0" bIns="0" rtlCol="0" anchor="t"/>
          <a:lstStyle/>
          <a:p>
            <a:pPr indent="0" marL="0">
              <a:lnSpc>
                <a:spcPct val="120000"/>
              </a:lnSpc>
              <a:buNone/>
            </a:pPr>
            <a:r>
              <a:rPr lang="en-US" sz="1400" dirty="0">
                <a:solidFill>
                  <a:srgbClr val="FFD166"/>
                </a:solidFill>
                <a:latin typeface="Courier New" pitchFamily="34" charset="0"/>
                <a:ea typeface="Courier New" pitchFamily="34" charset="-122"/>
                <a:cs typeface="Courier New" pitchFamily="34" charset="-120"/>
              </a:rPr>
              <a:t>public Robot() {</a:t>
            </a:r>
            <a:endParaRPr lang="en-US" sz="1400" dirty="0"/>
          </a:p>
          <a:p>
            <a:pPr indent="0" marL="0">
              <a:lnSpc>
                <a:spcPct val="120000"/>
              </a:lnSpc>
              <a:buNone/>
            </a:pPr>
            <a:r>
              <a:rPr lang="en-US" sz="1400" dirty="0">
                <a:solidFill>
                  <a:srgbClr val="D7E3F4"/>
                </a:solidFill>
                <a:latin typeface="Courier New" pitchFamily="34" charset="0"/>
                <a:ea typeface="Courier New" pitchFamily="34" charset="-122"/>
                <a:cs typeface="Courier New" pitchFamily="34" charset="-120"/>
              </a:rPr>
              <a:t>  DataLogManager.start(); // saves every published value to a .wpilog file</a:t>
            </a:r>
            <a:endParaRPr lang="en-US" sz="1400" dirty="0"/>
          </a:p>
          <a:p>
            <a:pPr indent="0" marL="0">
              <a:lnSpc>
                <a:spcPct val="120000"/>
              </a:lnSpc>
              <a:buNone/>
            </a:pPr>
            <a:r>
              <a:rPr lang="en-US" sz="1400" dirty="0">
                <a:solidFill>
                  <a:srgbClr val="9EF01A"/>
                </a:solidFill>
                <a:latin typeface="Courier New" pitchFamily="34" charset="0"/>
                <a:ea typeface="Courier New" pitchFamily="34" charset="-122"/>
                <a:cs typeface="Courier New" pitchFamily="34" charset="-120"/>
              </a:rPr>
              <a:t>  Scheduler.getDefault().addEventListener(this::logCommandStart); // ← added</a:t>
            </a:r>
            <a:endParaRPr lang="en-US" sz="1400" dirty="0"/>
          </a:p>
          <a:p>
            <a:pPr indent="0" marL="0">
              <a:lnSpc>
                <a:spcPct val="120000"/>
              </a:lnSpc>
              <a:buNone/>
            </a:pPr>
            <a:r>
              <a:rPr lang="en-US" sz="1400" dirty="0">
                <a:solidFill>
                  <a:srgbClr val="D7E3F4"/>
                </a:solidFill>
                <a:latin typeface="Courier New" pitchFamily="34" charset="0"/>
                <a:ea typeface="Courier New" pitchFamily="34" charset="-122"/>
                <a:cs typeface="Courier New" pitchFamily="34" charset="-120"/>
              </a:rPr>
              <a:t>}</a:t>
            </a:r>
            <a:endParaRPr lang="en-US" sz="1400" dirty="0"/>
          </a:p>
        </p:txBody>
      </p:sp>
      <p:sp>
        <p:nvSpPr>
          <p:cNvPr id="12" name="Shape 9"/>
          <p:cNvSpPr/>
          <p:nvPr/>
        </p:nvSpPr>
        <p:spPr>
          <a:xfrm>
            <a:off x="640080" y="3154680"/>
            <a:ext cx="10881360" cy="2331720"/>
          </a:xfrm>
          <a:prstGeom prst="roundRect">
            <a:avLst>
              <a:gd name="adj" fmla="val 4706"/>
            </a:avLst>
          </a:prstGeom>
          <a:solidFill>
            <a:srgbClr val="0B1F3A"/>
          </a:solidFill>
          <a:ln/>
          <a:effectLst>
            <a:outerShdw sx="100000" sy="100000" kx="0" ky="0" algn="bl" rotWithShape="0" blurRad="101600" dist="38100" dir="5400000">
              <a:srgbClr val="0B1F3A">
                <a:alpha val="35000"/>
              </a:srgbClr>
            </a:outerShdw>
          </a:effectLst>
        </p:spPr>
      </p:sp>
      <p:sp>
        <p:nvSpPr>
          <p:cNvPr id="13" name="Shape 10"/>
          <p:cNvSpPr/>
          <p:nvPr/>
        </p:nvSpPr>
        <p:spPr>
          <a:xfrm>
            <a:off x="11210544" y="3300984"/>
            <a:ext cx="128016" cy="128016"/>
          </a:xfrm>
          <a:prstGeom prst="ellipse">
            <a:avLst/>
          </a:prstGeom>
          <a:solidFill>
            <a:srgbClr val="FF6B6B"/>
          </a:solidFill>
          <a:ln/>
        </p:spPr>
      </p:sp>
      <p:sp>
        <p:nvSpPr>
          <p:cNvPr id="14" name="Shape 11"/>
          <p:cNvSpPr/>
          <p:nvPr/>
        </p:nvSpPr>
        <p:spPr>
          <a:xfrm>
            <a:off x="11210544" y="3502152"/>
            <a:ext cx="128016" cy="128016"/>
          </a:xfrm>
          <a:prstGeom prst="ellipse">
            <a:avLst/>
          </a:prstGeom>
          <a:solidFill>
            <a:srgbClr val="FFD166"/>
          </a:solidFill>
          <a:ln/>
        </p:spPr>
      </p:sp>
      <p:sp>
        <p:nvSpPr>
          <p:cNvPr id="15" name="Shape 12"/>
          <p:cNvSpPr/>
          <p:nvPr/>
        </p:nvSpPr>
        <p:spPr>
          <a:xfrm>
            <a:off x="11210544" y="3703320"/>
            <a:ext cx="128016" cy="128016"/>
          </a:xfrm>
          <a:prstGeom prst="ellipse">
            <a:avLst/>
          </a:prstGeom>
          <a:solidFill>
            <a:srgbClr val="2EC4B6"/>
          </a:solidFill>
          <a:ln/>
        </p:spPr>
      </p:sp>
      <p:sp>
        <p:nvSpPr>
          <p:cNvPr id="16" name="Text 13"/>
          <p:cNvSpPr/>
          <p:nvPr/>
        </p:nvSpPr>
        <p:spPr>
          <a:xfrm>
            <a:off x="914400" y="328269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Replace logRunningCommand() with</a:t>
            </a:r>
            <a:endParaRPr lang="en-US" sz="1500" dirty="0"/>
          </a:p>
        </p:txBody>
      </p:sp>
      <p:sp>
        <p:nvSpPr>
          <p:cNvPr id="17" name="Text 14"/>
          <p:cNvSpPr/>
          <p:nvPr/>
        </p:nvSpPr>
        <p:spPr>
          <a:xfrm>
            <a:off x="914400" y="3611880"/>
            <a:ext cx="10195560" cy="1673352"/>
          </a:xfrm>
          <a:prstGeom prst="rect">
            <a:avLst/>
          </a:prstGeom>
          <a:noFill/>
          <a:ln/>
        </p:spPr>
        <p:txBody>
          <a:bodyPr wrap="square" lIns="0" tIns="0" rIns="0" bIns="0" rtlCol="0" anchor="t"/>
          <a:lstStyle/>
          <a:p>
            <a:pPr indent="0" marL="0">
              <a:lnSpc>
                <a:spcPct val="120000"/>
              </a:lnSpc>
              <a:buNone/>
            </a:pPr>
            <a:r>
              <a:rPr lang="en-US" sz="1200" dirty="0">
                <a:solidFill>
                  <a:srgbClr val="FFD166"/>
                </a:solidFill>
                <a:latin typeface="Courier New" pitchFamily="34" charset="0"/>
                <a:ea typeface="Courier New" pitchFamily="34" charset="-122"/>
                <a:cs typeface="Courier New" pitchFamily="34" charset="-120"/>
              </a:rPr>
              <a:t>private void logCommandStart(SchedulerEvent event) {</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if (event instanceof SchedulerEvent.Scheduled scheduled</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&amp;&amp; scheduled.command().requires(module)) {</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Telemetry.log("DriveModule/CurrentCommand", scheduled.command().name());</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a:t>
            </a:r>
            <a:endParaRPr lang="en-US" sz="1200" dirty="0"/>
          </a:p>
        </p:txBody>
      </p:sp>
      <p:sp>
        <p:nvSpPr>
          <p:cNvPr id="18" name="Shape 15"/>
          <p:cNvSpPr/>
          <p:nvPr/>
        </p:nvSpPr>
        <p:spPr>
          <a:xfrm>
            <a:off x="640080" y="5532120"/>
            <a:ext cx="10881360" cy="868680"/>
          </a:xfrm>
          <a:prstGeom prst="roundRect">
            <a:avLst>
              <a:gd name="adj" fmla="val 10526"/>
            </a:avLst>
          </a:prstGeom>
          <a:solidFill>
            <a:srgbClr val="F3F6FA"/>
          </a:solidFill>
          <a:ln/>
        </p:spPr>
      </p:sp>
      <p:sp>
        <p:nvSpPr>
          <p:cNvPr id="19" name="Text 16"/>
          <p:cNvSpPr/>
          <p:nvPr/>
        </p:nvSpPr>
        <p:spPr>
          <a:xfrm>
            <a:off x="777240" y="5669280"/>
            <a:ext cx="10607040" cy="594360"/>
          </a:xfrm>
          <a:prstGeom prst="rect">
            <a:avLst/>
          </a:prstGeom>
          <a:noFill/>
          <a:ln/>
        </p:spPr>
        <p:txBody>
          <a:bodyPr wrap="square" lIns="0" tIns="0" rIns="0" bIns="0" rtlCol="0" anchor="t"/>
          <a:lstStyle/>
          <a:p>
            <a:pPr indent="0" marL="0">
              <a:lnSpc>
                <a:spcPct val="125000"/>
              </a:lnSpc>
              <a:buNone/>
            </a:pPr>
            <a:r>
              <a:rPr lang="en-US" sz="1600" dirty="0">
                <a:solidFill>
                  <a:srgbClr val="13294B"/>
                </a:solidFill>
                <a:latin typeface="Calibri" pitchFamily="34" charset="0"/>
                <a:ea typeface="Calibri" pitchFamily="34" charset="-122"/>
                <a:cs typeface="Calibri" pitchFamily="34" charset="-120"/>
              </a:rPr>
              <a:t>Is this a Scheduled event? Type it as one, right there — that's pattern matching. The old version polled and got lucky every time; this one is told.</a:t>
            </a:r>
            <a:endParaRPr lang="en-US" sz="1600" dirty="0"/>
          </a:p>
        </p:txBody>
      </p:sp>
      <p:sp>
        <p:nvSpPr>
          <p:cNvPr id="20" name="Text 17"/>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TELEMETRY</a:t>
            </a:r>
            <a:endParaRPr lang="en-US" sz="2000" dirty="0"/>
          </a:p>
        </p:txBody>
      </p:sp>
      <p:sp>
        <p:nvSpPr>
          <p:cNvPr id="21" name="Text 18"/>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8</a:t>
            </a:r>
            <a:endParaRPr lang="en-US" sz="2000" dirty="0"/>
          </a:p>
        </p:txBody>
      </p:sp>
      <p:pic>
        <p:nvPicPr>
          <p:cNvPr id="22"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compressarrowsalt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6 CONTINUED · ROBOT.JAVA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The command log takes care of itself now</a:t>
            </a:r>
            <a:endParaRPr lang="en-US" sz="3000" dirty="0"/>
          </a:p>
        </p:txBody>
      </p:sp>
      <p:sp>
        <p:nvSpPr>
          <p:cNvPr id="6" name="Shape 3"/>
          <p:cNvSpPr/>
          <p:nvPr/>
        </p:nvSpPr>
        <p:spPr>
          <a:xfrm>
            <a:off x="640080" y="1600200"/>
            <a:ext cx="10881360" cy="2011680"/>
          </a:xfrm>
          <a:prstGeom prst="roundRect">
            <a:avLst>
              <a:gd name="adj" fmla="val 5455"/>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746504"/>
            <a:ext cx="128016" cy="128016"/>
          </a:xfrm>
          <a:prstGeom prst="ellipse">
            <a:avLst/>
          </a:prstGeom>
          <a:solidFill>
            <a:srgbClr val="FF6B6B"/>
          </a:solidFill>
          <a:ln/>
        </p:spPr>
      </p:sp>
      <p:sp>
        <p:nvSpPr>
          <p:cNvPr id="8" name="Shape 5"/>
          <p:cNvSpPr/>
          <p:nvPr/>
        </p:nvSpPr>
        <p:spPr>
          <a:xfrm>
            <a:off x="11210544" y="1947672"/>
            <a:ext cx="128016" cy="128016"/>
          </a:xfrm>
          <a:prstGeom prst="ellipse">
            <a:avLst/>
          </a:prstGeom>
          <a:solidFill>
            <a:srgbClr val="FFD166"/>
          </a:solidFill>
          <a:ln/>
        </p:spPr>
      </p:sp>
      <p:sp>
        <p:nvSpPr>
          <p:cNvPr id="9" name="Shape 6"/>
          <p:cNvSpPr/>
          <p:nvPr/>
        </p:nvSpPr>
        <p:spPr>
          <a:xfrm>
            <a:off x="11210544" y="2148840"/>
            <a:ext cx="128016" cy="128016"/>
          </a:xfrm>
          <a:prstGeom prst="ellipse">
            <a:avLst/>
          </a:prstGeom>
          <a:solidFill>
            <a:srgbClr val="2EC4B6"/>
          </a:solidFill>
          <a:ln/>
        </p:spPr>
      </p:sp>
      <p:sp>
        <p:nvSpPr>
          <p:cNvPr id="10" name="Text 7"/>
          <p:cNvSpPr/>
          <p:nvPr/>
        </p:nvSpPr>
        <p:spPr>
          <a:xfrm>
            <a:off x="914400" y="172821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Edit Robot's robotPeriodic(), dropping the call to the old method</a:t>
            </a:r>
            <a:endParaRPr lang="en-US" sz="1500" dirty="0"/>
          </a:p>
        </p:txBody>
      </p:sp>
      <p:sp>
        <p:nvSpPr>
          <p:cNvPr id="11" name="Text 8"/>
          <p:cNvSpPr/>
          <p:nvPr/>
        </p:nvSpPr>
        <p:spPr>
          <a:xfrm>
            <a:off x="914400" y="2057400"/>
            <a:ext cx="10195560" cy="1353312"/>
          </a:xfrm>
          <a:prstGeom prst="rect">
            <a:avLst/>
          </a:prstGeom>
          <a:noFill/>
          <a:ln/>
        </p:spPr>
        <p:txBody>
          <a:bodyPr wrap="square" lIns="0" tIns="0" rIns="0" bIns="0" rtlCol="0" anchor="t"/>
          <a:lstStyle/>
          <a:p>
            <a:pPr indent="0" marL="0">
              <a:lnSpc>
                <a:spcPct val="120000"/>
              </a:lnSpc>
              <a:buNone/>
            </a:pPr>
            <a:r>
              <a:rPr lang="en-US" sz="1700" dirty="0">
                <a:solidFill>
                  <a:srgbClr val="FFD166"/>
                </a:solidFill>
                <a:latin typeface="Courier New" pitchFamily="34" charset="0"/>
                <a:ea typeface="Courier New" pitchFamily="34" charset="-122"/>
                <a:cs typeface="Courier New" pitchFamily="34" charset="-120"/>
              </a:rPr>
              <a:t>@Override</a:t>
            </a:r>
            <a:endParaRPr lang="en-US" sz="1700" dirty="0"/>
          </a:p>
          <a:p>
            <a:pPr indent="0" marL="0">
              <a:lnSpc>
                <a:spcPct val="120000"/>
              </a:lnSpc>
              <a:buNone/>
            </a:pPr>
            <a:r>
              <a:rPr lang="en-US" sz="1700" dirty="0">
                <a:solidFill>
                  <a:srgbClr val="D7E3F4"/>
                </a:solidFill>
                <a:latin typeface="Courier New" pitchFamily="34" charset="0"/>
                <a:ea typeface="Courier New" pitchFamily="34" charset="-122"/>
                <a:cs typeface="Courier New" pitchFamily="34" charset="-120"/>
              </a:rPr>
              <a:t>public void robotPeriodic() {</a:t>
            </a:r>
            <a:endParaRPr lang="en-US" sz="1700" dirty="0"/>
          </a:p>
          <a:p>
            <a:pPr indent="0" marL="0">
              <a:lnSpc>
                <a:spcPct val="120000"/>
              </a:lnSpc>
              <a:buNone/>
            </a:pPr>
            <a:r>
              <a:rPr lang="en-US" sz="1700" dirty="0">
                <a:solidFill>
                  <a:srgbClr val="9EF01A"/>
                </a:solidFill>
                <a:latin typeface="Courier New" pitchFamily="34" charset="0"/>
                <a:ea typeface="Courier New" pitchFamily="34" charset="-122"/>
                <a:cs typeface="Courier New" pitchFamily="34" charset="-120"/>
              </a:rPr>
              <a:t>  Scheduler.getDefault().run();</a:t>
            </a:r>
            <a:endParaRPr lang="en-US" sz="1700" dirty="0"/>
          </a:p>
          <a:p>
            <a:pPr indent="0" marL="0">
              <a:lnSpc>
                <a:spcPct val="120000"/>
              </a:lnSpc>
              <a:buNone/>
            </a:pPr>
            <a:r>
              <a:rPr lang="en-US" sz="1700" dirty="0">
                <a:solidFill>
                  <a:srgbClr val="D7E3F4"/>
                </a:solidFill>
                <a:latin typeface="Courier New" pitchFamily="34" charset="0"/>
                <a:ea typeface="Courier New" pitchFamily="34" charset="-122"/>
                <a:cs typeface="Courier New" pitchFamily="34" charset="-120"/>
              </a:rPr>
              <a:t>}</a:t>
            </a:r>
            <a:endParaRPr lang="en-US" sz="1700" dirty="0"/>
          </a:p>
        </p:txBody>
      </p:sp>
      <p:sp>
        <p:nvSpPr>
          <p:cNvPr id="12" name="Shape 9"/>
          <p:cNvSpPr/>
          <p:nvPr/>
        </p:nvSpPr>
        <p:spPr>
          <a:xfrm>
            <a:off x="640080" y="3794760"/>
            <a:ext cx="10881360" cy="2514600"/>
          </a:xfrm>
          <a:prstGeom prst="roundRect">
            <a:avLst>
              <a:gd name="adj" fmla="val 3636"/>
            </a:avLst>
          </a:prstGeom>
          <a:solidFill>
            <a:srgbClr val="F3F6FA"/>
          </a:solidFill>
          <a:ln/>
        </p:spPr>
      </p:sp>
      <p:sp>
        <p:nvSpPr>
          <p:cNvPr id="13" name="Text 10"/>
          <p:cNvSpPr/>
          <p:nvPr/>
        </p:nvSpPr>
        <p:spPr>
          <a:xfrm>
            <a:off x="914400" y="4069080"/>
            <a:ext cx="10332720" cy="895350"/>
          </a:xfrm>
          <a:prstGeom prst="rect">
            <a:avLst/>
          </a:prstGeom>
          <a:noFill/>
          <a:ln/>
        </p:spPr>
        <p:txBody>
          <a:bodyPr wrap="square" lIns="0" tIns="0" rIns="0" bIns="0" rtlCol="0" anchor="t"/>
          <a:lstStyle/>
          <a:p>
            <a:pPr indent="0" marL="0">
              <a:lnSpc>
                <a:spcPct val="120000"/>
              </a:lnSpc>
              <a:buNone/>
            </a:pPr>
            <a:r>
              <a:rPr lang="en-US" sz="2100" b="1" dirty="0">
                <a:solidFill>
                  <a:srgbClr val="13294B"/>
                </a:solidFill>
                <a:latin typeface="Cambria" pitchFamily="34" charset="0"/>
                <a:ea typeface="Cambria" pitchFamily="34" charset="-122"/>
                <a:cs typeface="Cambria" pitchFamily="34" charset="-120"/>
              </a:rPr>
              <a:t>Ticking the scheduler is still the only thing that has to happen every tick.</a:t>
            </a:r>
            <a:endParaRPr lang="en-US" sz="2100" dirty="0"/>
          </a:p>
        </p:txBody>
      </p:sp>
      <p:sp>
        <p:nvSpPr>
          <p:cNvPr id="14" name="Text 11"/>
          <p:cNvSpPr/>
          <p:nvPr/>
        </p:nvSpPr>
        <p:spPr>
          <a:xfrm>
            <a:off x="914400" y="4964430"/>
            <a:ext cx="10332720" cy="107061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Remove the now-unused imports (java.util.List and org.wpilib.command3.Command — nothing here needs them anymore) and add org.wpilib.command3.SchedulerEvent. What changed is how Robot knows what's running, not what shows up on the dashboard.</a:t>
            </a:r>
            <a:endParaRPr lang="en-US" sz="2000" dirty="0"/>
          </a:p>
        </p:txBody>
      </p:sp>
      <p:sp>
        <p:nvSpPr>
          <p:cNvPr id="15" name="Text 12"/>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TELEMETRY</a:t>
            </a:r>
            <a:endParaRPr lang="en-US" sz="2000" dirty="0"/>
          </a:p>
        </p:txBody>
      </p:sp>
      <p:sp>
        <p:nvSpPr>
          <p:cNvPr id="16" name="Text 13"/>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9</a:t>
            </a:r>
            <a:endParaRPr lang="en-US" sz="2000" dirty="0"/>
          </a:p>
        </p:txBody>
      </p:sp>
      <p:pic>
        <p:nvPicPr>
          <p:cNvPr id="17"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clipboardcheck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BEFORE YOU MOVE ON</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Try it</a:t>
            </a:r>
            <a:endParaRPr lang="en-US" sz="3000" dirty="0"/>
          </a:p>
        </p:txBody>
      </p:sp>
      <p:sp>
        <p:nvSpPr>
          <p:cNvPr id="6" name="Shape 3"/>
          <p:cNvSpPr/>
          <p:nvPr/>
        </p:nvSpPr>
        <p:spPr>
          <a:xfrm>
            <a:off x="640080" y="1463040"/>
            <a:ext cx="5303520" cy="2286000"/>
          </a:xfrm>
          <a:prstGeom prst="roundRect">
            <a:avLst>
              <a:gd name="adj" fmla="val 4800"/>
            </a:avLst>
          </a:prstGeom>
          <a:solidFill>
            <a:srgbClr val="132A4C"/>
          </a:solidFill>
          <a:ln/>
        </p:spPr>
      </p:sp>
      <p:sp>
        <p:nvSpPr>
          <p:cNvPr id="7" name="Shape 4"/>
          <p:cNvSpPr/>
          <p:nvPr/>
        </p:nvSpPr>
        <p:spPr>
          <a:xfrm>
            <a:off x="960120" y="1691640"/>
            <a:ext cx="457200" cy="457200"/>
          </a:xfrm>
          <a:prstGeom prst="ellipse">
            <a:avLst/>
          </a:prstGeom>
          <a:solidFill>
            <a:srgbClr val="1B9AAA"/>
          </a:solidFill>
          <a:ln/>
        </p:spPr>
      </p:sp>
      <p:sp>
        <p:nvSpPr>
          <p:cNvPr id="8" name="Text 5"/>
          <p:cNvSpPr/>
          <p:nvPr/>
        </p:nvSpPr>
        <p:spPr>
          <a:xfrm>
            <a:off x="960120" y="1691640"/>
            <a:ext cx="4572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9" name="Text 6"/>
          <p:cNvSpPr/>
          <p:nvPr/>
        </p:nvSpPr>
        <p:spPr>
          <a:xfrm>
            <a:off x="1600200" y="1691640"/>
            <a:ext cx="2606040" cy="457200"/>
          </a:xfrm>
          <a:prstGeom prst="rect">
            <a:avLst/>
          </a:prstGeom>
          <a:noFill/>
          <a:ln/>
        </p:spPr>
        <p:txBody>
          <a:bodyPr wrap="square" lIns="0" tIns="0" rIns="0" bIns="0" rtlCol="0" anchor="ctr"/>
          <a:lstStyle/>
          <a:p>
            <a:pPr indent="0" marL="0">
              <a:lnSpc>
                <a:spcPct val="110000"/>
              </a:lnSpc>
              <a:buNone/>
            </a:pPr>
            <a:r>
              <a:rPr lang="en-US" sz="2000" b="1" dirty="0">
                <a:solidFill>
                  <a:srgbClr val="FFFFFF"/>
                </a:solidFill>
                <a:latin typeface="Cambria" pitchFamily="34" charset="0"/>
                <a:ea typeface="Cambria" pitchFamily="34" charset="-122"/>
                <a:cs typeface="Cambria" pitchFamily="34" charset="-120"/>
              </a:rPr>
              <a:t>Log the commanded speed</a:t>
            </a:r>
            <a:endParaRPr lang="en-US" sz="2000" dirty="0"/>
          </a:p>
        </p:txBody>
      </p:sp>
      <p:sp>
        <p:nvSpPr>
          <p:cNvPr id="10" name="Shape 7"/>
          <p:cNvSpPr/>
          <p:nvPr/>
        </p:nvSpPr>
        <p:spPr>
          <a:xfrm>
            <a:off x="4206240" y="1773936"/>
            <a:ext cx="1417320" cy="292608"/>
          </a:xfrm>
          <a:prstGeom prst="roundRect">
            <a:avLst>
              <a:gd name="adj" fmla="val 18750"/>
            </a:avLst>
          </a:prstGeom>
          <a:solidFill>
            <a:srgbClr val="FF5010"/>
          </a:solidFill>
          <a:ln/>
        </p:spPr>
      </p:sp>
      <p:sp>
        <p:nvSpPr>
          <p:cNvPr id="11" name="Text 8"/>
          <p:cNvSpPr/>
          <p:nvPr/>
        </p:nvSpPr>
        <p:spPr>
          <a:xfrm>
            <a:off x="4206240" y="1773936"/>
            <a:ext cx="1417320" cy="292608"/>
          </a:xfrm>
          <a:prstGeom prst="rect">
            <a:avLst/>
          </a:prstGeom>
          <a:noFill/>
          <a:ln/>
        </p:spPr>
        <p:txBody>
          <a:bodyPr wrap="square" lIns="0" tIns="0" rIns="0" bIns="0" rtlCol="0" anchor="ctr"/>
          <a:lstStyle/>
          <a:p>
            <a:pPr algn="ctr" indent="0" marL="0">
              <a:buNone/>
            </a:pPr>
            <a:r>
              <a:rPr lang="en-US" sz="1200" b="1" spc="50" kern="0" dirty="0">
                <a:solidFill>
                  <a:srgbClr val="0B1F3A"/>
                </a:solidFill>
                <a:latin typeface="Calibri" pitchFamily="34" charset="0"/>
                <a:ea typeface="Calibri" pitchFamily="34" charset="-122"/>
                <a:cs typeface="Calibri" pitchFamily="34" charset="-120"/>
              </a:rPr>
              <a:t>WRITE CODE</a:t>
            </a:r>
            <a:endParaRPr lang="en-US" sz="1200" dirty="0"/>
          </a:p>
        </p:txBody>
      </p:sp>
      <p:sp>
        <p:nvSpPr>
          <p:cNvPr id="12" name="Text 9"/>
          <p:cNvSpPr/>
          <p:nvPr/>
        </p:nvSpPr>
        <p:spPr>
          <a:xfrm>
            <a:off x="960120" y="2286000"/>
            <a:ext cx="4663440" cy="1188720"/>
          </a:xfrm>
          <a:prstGeom prst="rect">
            <a:avLst/>
          </a:prstGeom>
          <a:noFill/>
          <a:ln/>
        </p:spPr>
        <p:txBody>
          <a:bodyPr wrap="square" lIns="0" tIns="0" rIns="0" bIns="0" rtlCol="0" anchor="t"/>
          <a:lstStyle/>
          <a:p>
            <a:pPr indent="0" marL="0">
              <a:lnSpc>
                <a:spcPct val="125000"/>
              </a:lnSpc>
              <a:buNone/>
            </a:pPr>
            <a:r>
              <a:rPr lang="en-US" sz="2000" dirty="0">
                <a:solidFill>
                  <a:srgbClr val="CADCE8"/>
                </a:solidFill>
                <a:latin typeface="Calibri" pitchFamily="34" charset="0"/>
                <a:ea typeface="Calibri" pitchFamily="34" charset="-122"/>
                <a:cs typeface="Calibri" pitchFamily="34" charset="-120"/>
              </a:rPr>
              <a:t>Inside driveWithJoystick's loop, log CommandedOutput right where it's computed.</a:t>
            </a:r>
            <a:endParaRPr lang="en-US" sz="2000" dirty="0"/>
          </a:p>
        </p:txBody>
      </p:sp>
      <p:sp>
        <p:nvSpPr>
          <p:cNvPr id="13" name="Shape 10"/>
          <p:cNvSpPr/>
          <p:nvPr/>
        </p:nvSpPr>
        <p:spPr>
          <a:xfrm>
            <a:off x="6217920" y="1463040"/>
            <a:ext cx="5303520" cy="2286000"/>
          </a:xfrm>
          <a:prstGeom prst="roundRect">
            <a:avLst>
              <a:gd name="adj" fmla="val 4800"/>
            </a:avLst>
          </a:prstGeom>
          <a:solidFill>
            <a:srgbClr val="132A4C"/>
          </a:solidFill>
          <a:ln/>
        </p:spPr>
      </p:sp>
      <p:sp>
        <p:nvSpPr>
          <p:cNvPr id="14" name="Shape 11"/>
          <p:cNvSpPr/>
          <p:nvPr/>
        </p:nvSpPr>
        <p:spPr>
          <a:xfrm>
            <a:off x="6537960" y="1691640"/>
            <a:ext cx="457200" cy="457200"/>
          </a:xfrm>
          <a:prstGeom prst="ellipse">
            <a:avLst/>
          </a:prstGeom>
          <a:solidFill>
            <a:srgbClr val="1B9AAA"/>
          </a:solidFill>
          <a:ln/>
        </p:spPr>
      </p:sp>
      <p:sp>
        <p:nvSpPr>
          <p:cNvPr id="15" name="Text 12"/>
          <p:cNvSpPr/>
          <p:nvPr/>
        </p:nvSpPr>
        <p:spPr>
          <a:xfrm>
            <a:off x="6537960" y="1691640"/>
            <a:ext cx="4572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6" name="Text 13"/>
          <p:cNvSpPr/>
          <p:nvPr/>
        </p:nvSpPr>
        <p:spPr>
          <a:xfrm>
            <a:off x="7178040" y="1691640"/>
            <a:ext cx="2606040" cy="457200"/>
          </a:xfrm>
          <a:prstGeom prst="rect">
            <a:avLst/>
          </a:prstGeom>
          <a:noFill/>
          <a:ln/>
        </p:spPr>
        <p:txBody>
          <a:bodyPr wrap="square" lIns="0" tIns="0" rIns="0" bIns="0" rtlCol="0" anchor="ctr"/>
          <a:lstStyle/>
          <a:p>
            <a:pPr indent="0" marL="0">
              <a:lnSpc>
                <a:spcPct val="110000"/>
              </a:lnSpc>
              <a:buNone/>
            </a:pPr>
            <a:r>
              <a:rPr lang="en-US" sz="2000" b="1" dirty="0">
                <a:solidFill>
                  <a:srgbClr val="FFFFFF"/>
                </a:solidFill>
                <a:latin typeface="Cambria" pitchFamily="34" charset="0"/>
                <a:ea typeface="Cambria" pitchFamily="34" charset="-122"/>
                <a:cs typeface="Cambria" pitchFamily="34" charset="-120"/>
              </a:rPr>
              <a:t>Add getPositionRotations()</a:t>
            </a:r>
            <a:endParaRPr lang="en-US" sz="2000" dirty="0"/>
          </a:p>
        </p:txBody>
      </p:sp>
      <p:sp>
        <p:nvSpPr>
          <p:cNvPr id="17" name="Shape 14"/>
          <p:cNvSpPr/>
          <p:nvPr/>
        </p:nvSpPr>
        <p:spPr>
          <a:xfrm>
            <a:off x="9784080" y="1773936"/>
            <a:ext cx="1417320" cy="292608"/>
          </a:xfrm>
          <a:prstGeom prst="roundRect">
            <a:avLst>
              <a:gd name="adj" fmla="val 18750"/>
            </a:avLst>
          </a:prstGeom>
          <a:solidFill>
            <a:srgbClr val="FF5010"/>
          </a:solidFill>
          <a:ln/>
        </p:spPr>
      </p:sp>
      <p:sp>
        <p:nvSpPr>
          <p:cNvPr id="18" name="Text 15"/>
          <p:cNvSpPr/>
          <p:nvPr/>
        </p:nvSpPr>
        <p:spPr>
          <a:xfrm>
            <a:off x="9784080" y="1773936"/>
            <a:ext cx="1417320" cy="292608"/>
          </a:xfrm>
          <a:prstGeom prst="rect">
            <a:avLst/>
          </a:prstGeom>
          <a:noFill/>
          <a:ln/>
        </p:spPr>
        <p:txBody>
          <a:bodyPr wrap="square" lIns="0" tIns="0" rIns="0" bIns="0" rtlCol="0" anchor="ctr"/>
          <a:lstStyle/>
          <a:p>
            <a:pPr algn="ctr" indent="0" marL="0">
              <a:buNone/>
            </a:pPr>
            <a:r>
              <a:rPr lang="en-US" sz="1200" b="1" spc="50" kern="0" dirty="0">
                <a:solidFill>
                  <a:srgbClr val="0B1F3A"/>
                </a:solidFill>
                <a:latin typeface="Calibri" pitchFamily="34" charset="0"/>
                <a:ea typeface="Calibri" pitchFamily="34" charset="-122"/>
                <a:cs typeface="Calibri" pitchFamily="34" charset="-120"/>
              </a:rPr>
              <a:t>WRITE CODE</a:t>
            </a:r>
            <a:endParaRPr lang="en-US" sz="1200" dirty="0"/>
          </a:p>
        </p:txBody>
      </p:sp>
      <p:sp>
        <p:nvSpPr>
          <p:cNvPr id="19" name="Text 16"/>
          <p:cNvSpPr/>
          <p:nvPr/>
        </p:nvSpPr>
        <p:spPr>
          <a:xfrm>
            <a:off x="6537960" y="2286000"/>
            <a:ext cx="4663440" cy="1188720"/>
          </a:xfrm>
          <a:prstGeom prst="rect">
            <a:avLst/>
          </a:prstGeom>
          <a:noFill/>
          <a:ln/>
        </p:spPr>
        <p:txBody>
          <a:bodyPr wrap="square" lIns="0" tIns="0" rIns="0" bIns="0" rtlCol="0" anchor="t"/>
          <a:lstStyle/>
          <a:p>
            <a:pPr indent="0" marL="0">
              <a:lnSpc>
                <a:spcPct val="125000"/>
              </a:lnSpc>
              <a:buNone/>
            </a:pPr>
            <a:r>
              <a:rPr lang="en-US" sz="2000" dirty="0">
                <a:solidFill>
                  <a:srgbClr val="CADCE8"/>
                </a:solidFill>
                <a:latin typeface="Calibri" pitchFamily="34" charset="0"/>
                <a:ea typeface="Calibri" pitchFamily="34" charset="-122"/>
                <a:cs typeface="Calibri" pitchFamily="34" charset="-120"/>
              </a:rPr>
              <a:t>A reading method returning position as a double — safe to share, unlike a command.</a:t>
            </a:r>
            <a:endParaRPr lang="en-US" sz="2000" dirty="0"/>
          </a:p>
        </p:txBody>
      </p:sp>
      <p:sp>
        <p:nvSpPr>
          <p:cNvPr id="20" name="Shape 17"/>
          <p:cNvSpPr/>
          <p:nvPr/>
        </p:nvSpPr>
        <p:spPr>
          <a:xfrm>
            <a:off x="640080" y="4023360"/>
            <a:ext cx="5303520" cy="2286000"/>
          </a:xfrm>
          <a:prstGeom prst="roundRect">
            <a:avLst>
              <a:gd name="adj" fmla="val 4800"/>
            </a:avLst>
          </a:prstGeom>
          <a:solidFill>
            <a:srgbClr val="132A4C"/>
          </a:solidFill>
          <a:ln/>
        </p:spPr>
      </p:sp>
      <p:sp>
        <p:nvSpPr>
          <p:cNvPr id="21" name="Shape 18"/>
          <p:cNvSpPr/>
          <p:nvPr/>
        </p:nvSpPr>
        <p:spPr>
          <a:xfrm>
            <a:off x="960120" y="4251960"/>
            <a:ext cx="457200" cy="457200"/>
          </a:xfrm>
          <a:prstGeom prst="ellipse">
            <a:avLst/>
          </a:prstGeom>
          <a:solidFill>
            <a:srgbClr val="1B9AAA"/>
          </a:solidFill>
          <a:ln/>
        </p:spPr>
      </p:sp>
      <p:sp>
        <p:nvSpPr>
          <p:cNvPr id="22" name="Text 19"/>
          <p:cNvSpPr/>
          <p:nvPr/>
        </p:nvSpPr>
        <p:spPr>
          <a:xfrm>
            <a:off x="960120" y="4251960"/>
            <a:ext cx="4572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23" name="Text 20"/>
          <p:cNvSpPr/>
          <p:nvPr/>
        </p:nvSpPr>
        <p:spPr>
          <a:xfrm>
            <a:off x="1600200" y="4251960"/>
            <a:ext cx="4023360" cy="457200"/>
          </a:xfrm>
          <a:prstGeom prst="rect">
            <a:avLst/>
          </a:prstGeom>
          <a:noFill/>
          <a:ln/>
        </p:spPr>
        <p:txBody>
          <a:bodyPr wrap="square" lIns="0" tIns="0" rIns="0" bIns="0" rtlCol="0" anchor="ctr"/>
          <a:lstStyle/>
          <a:p>
            <a:pPr indent="0" marL="0">
              <a:lnSpc>
                <a:spcPct val="110000"/>
              </a:lnSpc>
              <a:buNone/>
            </a:pPr>
            <a:r>
              <a:rPr lang="en-US" sz="2000" b="1" dirty="0">
                <a:solidFill>
                  <a:srgbClr val="FFFFFF"/>
                </a:solidFill>
                <a:latin typeface="Cambria" pitchFamily="34" charset="0"/>
                <a:ea typeface="Cambria" pitchFamily="34" charset="-122"/>
                <a:cs typeface="Cambria" pitchFamily="34" charset="-120"/>
              </a:rPr>
              <a:t>Rename a dashboard key</a:t>
            </a:r>
            <a:endParaRPr lang="en-US" sz="2000" dirty="0"/>
          </a:p>
        </p:txBody>
      </p:sp>
      <p:sp>
        <p:nvSpPr>
          <p:cNvPr id="24" name="Text 21"/>
          <p:cNvSpPr/>
          <p:nvPr/>
        </p:nvSpPr>
        <p:spPr>
          <a:xfrm>
            <a:off x="960120" y="4846320"/>
            <a:ext cx="4663440" cy="1188720"/>
          </a:xfrm>
          <a:prstGeom prst="rect">
            <a:avLst/>
          </a:prstGeom>
          <a:noFill/>
          <a:ln/>
        </p:spPr>
        <p:txBody>
          <a:bodyPr wrap="square" lIns="0" tIns="0" rIns="0" bIns="0" rtlCol="0" anchor="t"/>
          <a:lstStyle/>
          <a:p>
            <a:pPr indent="0" marL="0">
              <a:lnSpc>
                <a:spcPct val="125000"/>
              </a:lnSpc>
              <a:buNone/>
            </a:pPr>
            <a:r>
              <a:rPr lang="en-US" sz="2000" dirty="0">
                <a:solidFill>
                  <a:srgbClr val="CADCE8"/>
                </a:solidFill>
                <a:latin typeface="Calibri" pitchFamily="34" charset="0"/>
                <a:ea typeface="Calibri" pitchFamily="34" charset="-122"/>
                <a:cs typeface="Calibri" pitchFamily="34" charset="-120"/>
              </a:rPr>
              <a:t>Swap "DriveModule/" for "Elevator/", rebuild, and watch a new folder appear in the tree.</a:t>
            </a:r>
            <a:endParaRPr lang="en-US" sz="2000" dirty="0"/>
          </a:p>
        </p:txBody>
      </p:sp>
      <p:sp>
        <p:nvSpPr>
          <p:cNvPr id="25" name="Shape 22"/>
          <p:cNvSpPr/>
          <p:nvPr/>
        </p:nvSpPr>
        <p:spPr>
          <a:xfrm>
            <a:off x="6217920" y="4023360"/>
            <a:ext cx="5303520" cy="2286000"/>
          </a:xfrm>
          <a:prstGeom prst="roundRect">
            <a:avLst>
              <a:gd name="adj" fmla="val 4800"/>
            </a:avLst>
          </a:prstGeom>
          <a:solidFill>
            <a:srgbClr val="132A4C"/>
          </a:solidFill>
          <a:ln/>
        </p:spPr>
      </p:sp>
      <p:sp>
        <p:nvSpPr>
          <p:cNvPr id="26" name="Shape 23"/>
          <p:cNvSpPr/>
          <p:nvPr/>
        </p:nvSpPr>
        <p:spPr>
          <a:xfrm>
            <a:off x="6537960" y="4251960"/>
            <a:ext cx="457200" cy="457200"/>
          </a:xfrm>
          <a:prstGeom prst="ellipse">
            <a:avLst/>
          </a:prstGeom>
          <a:solidFill>
            <a:srgbClr val="1B9AAA"/>
          </a:solidFill>
          <a:ln/>
        </p:spPr>
      </p:sp>
      <p:sp>
        <p:nvSpPr>
          <p:cNvPr id="27" name="Text 24"/>
          <p:cNvSpPr/>
          <p:nvPr/>
        </p:nvSpPr>
        <p:spPr>
          <a:xfrm>
            <a:off x="6537960" y="4251960"/>
            <a:ext cx="4572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8" name="Text 25"/>
          <p:cNvSpPr/>
          <p:nvPr/>
        </p:nvSpPr>
        <p:spPr>
          <a:xfrm>
            <a:off x="7178040" y="4251960"/>
            <a:ext cx="2606040" cy="457200"/>
          </a:xfrm>
          <a:prstGeom prst="rect">
            <a:avLst/>
          </a:prstGeom>
          <a:noFill/>
          <a:ln/>
        </p:spPr>
        <p:txBody>
          <a:bodyPr wrap="square" lIns="0" tIns="0" rIns="0" bIns="0" rtlCol="0" anchor="ctr"/>
          <a:lstStyle/>
          <a:p>
            <a:pPr indent="0" marL="0">
              <a:lnSpc>
                <a:spcPct val="110000"/>
              </a:lnSpc>
              <a:buNone/>
            </a:pPr>
            <a:r>
              <a:rPr lang="en-US" sz="2000" b="1" dirty="0">
                <a:solidFill>
                  <a:srgbClr val="FFFFFF"/>
                </a:solidFill>
                <a:latin typeface="Cambria" pitchFamily="34" charset="0"/>
                <a:ea typeface="Cambria" pitchFamily="34" charset="-122"/>
                <a:cs typeface="Cambria" pitchFamily="34" charset="-120"/>
              </a:rPr>
              <a:t>Log when a command completes</a:t>
            </a:r>
            <a:endParaRPr lang="en-US" sz="2000" dirty="0"/>
          </a:p>
        </p:txBody>
      </p:sp>
      <p:sp>
        <p:nvSpPr>
          <p:cNvPr id="29" name="Shape 26"/>
          <p:cNvSpPr/>
          <p:nvPr/>
        </p:nvSpPr>
        <p:spPr>
          <a:xfrm>
            <a:off x="9784080" y="4334256"/>
            <a:ext cx="1417320" cy="292608"/>
          </a:xfrm>
          <a:prstGeom prst="roundRect">
            <a:avLst>
              <a:gd name="adj" fmla="val 18750"/>
            </a:avLst>
          </a:prstGeom>
          <a:solidFill>
            <a:srgbClr val="FF5010"/>
          </a:solidFill>
          <a:ln/>
        </p:spPr>
      </p:sp>
      <p:sp>
        <p:nvSpPr>
          <p:cNvPr id="30" name="Text 27"/>
          <p:cNvSpPr/>
          <p:nvPr/>
        </p:nvSpPr>
        <p:spPr>
          <a:xfrm>
            <a:off x="9784080" y="4334256"/>
            <a:ext cx="1417320" cy="292608"/>
          </a:xfrm>
          <a:prstGeom prst="rect">
            <a:avLst/>
          </a:prstGeom>
          <a:noFill/>
          <a:ln/>
        </p:spPr>
        <p:txBody>
          <a:bodyPr wrap="square" lIns="0" tIns="0" rIns="0" bIns="0" rtlCol="0" anchor="ctr"/>
          <a:lstStyle/>
          <a:p>
            <a:pPr algn="ctr" indent="0" marL="0">
              <a:buNone/>
            </a:pPr>
            <a:r>
              <a:rPr lang="en-US" sz="1200" b="1" spc="50" kern="0" dirty="0">
                <a:solidFill>
                  <a:srgbClr val="0B1F3A"/>
                </a:solidFill>
                <a:latin typeface="Calibri" pitchFamily="34" charset="0"/>
                <a:ea typeface="Calibri" pitchFamily="34" charset="-122"/>
                <a:cs typeface="Calibri" pitchFamily="34" charset="-120"/>
              </a:rPr>
              <a:t>WRITE CODE</a:t>
            </a:r>
            <a:endParaRPr lang="en-US" sz="1200" dirty="0"/>
          </a:p>
        </p:txBody>
      </p:sp>
      <p:sp>
        <p:nvSpPr>
          <p:cNvPr id="31" name="Text 28"/>
          <p:cNvSpPr/>
          <p:nvPr/>
        </p:nvSpPr>
        <p:spPr>
          <a:xfrm>
            <a:off x="6537960" y="4846320"/>
            <a:ext cx="4663440" cy="1188720"/>
          </a:xfrm>
          <a:prstGeom prst="rect">
            <a:avLst/>
          </a:prstGeom>
          <a:noFill/>
          <a:ln/>
        </p:spPr>
        <p:txBody>
          <a:bodyPr wrap="square" lIns="0" tIns="0" rIns="0" bIns="0" rtlCol="0" anchor="t"/>
          <a:lstStyle/>
          <a:p>
            <a:pPr indent="0" marL="0">
              <a:lnSpc>
                <a:spcPct val="125000"/>
              </a:lnSpc>
              <a:buNone/>
            </a:pPr>
            <a:r>
              <a:rPr lang="en-US" sz="2000" dirty="0">
                <a:solidFill>
                  <a:srgbClr val="CADCE8"/>
                </a:solidFill>
                <a:latin typeface="Calibri" pitchFamily="34" charset="0"/>
                <a:ea typeface="Calibri" pitchFamily="34" charset="-122"/>
                <a:cs typeface="Calibri" pitchFamily="34" charset="-120"/>
              </a:rPr>
              <a:t>Handle SchedulerEvent.Completed and write LastCompletedCommand.</a:t>
            </a:r>
            <a:endParaRPr lang="en-US" sz="2000" dirty="0"/>
          </a:p>
        </p:txBody>
      </p:sp>
      <p:sp>
        <p:nvSpPr>
          <p:cNvPr id="32" name="Text 2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7A93B8"/>
                </a:solidFill>
                <a:latin typeface="Calibri" pitchFamily="34" charset="0"/>
                <a:ea typeface="Calibri" pitchFamily="34" charset="-122"/>
                <a:cs typeface="Calibri" pitchFamily="34" charset="-120"/>
              </a:rPr>
              <a:t>LEARN JAVA + ROBOT PROGRAMMING · TELEMETRY</a:t>
            </a:r>
            <a:endParaRPr lang="en-US" sz="2000" dirty="0"/>
          </a:p>
        </p:txBody>
      </p:sp>
      <p:sp>
        <p:nvSpPr>
          <p:cNvPr id="33" name="Text 3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7A93B8"/>
                </a:solidFill>
                <a:latin typeface="Calibri" pitchFamily="34" charset="0"/>
                <a:ea typeface="Calibri" pitchFamily="34" charset="-122"/>
                <a:cs typeface="Calibri" pitchFamily="34" charset="-120"/>
              </a:rPr>
              <a:t>10</a:t>
            </a:r>
            <a:endParaRPr lang="en-US" sz="2000" dirty="0"/>
          </a:p>
        </p:txBody>
      </p:sp>
      <p:pic>
        <p:nvPicPr>
          <p:cNvPr id="34" name="Image 1" descr="/home/user/BasicRobotLessons/docs/presentations/v3/template/assets/logo/team5010-logo-onnavy.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graduationcap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WHAT YOU LEARNED</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Asking instead of telling</a:t>
            </a:r>
            <a:endParaRPr lang="en-US" sz="3000" dirty="0"/>
          </a:p>
        </p:txBody>
      </p:sp>
      <p:sp>
        <p:nvSpPr>
          <p:cNvPr id="6" name="Text 3"/>
          <p:cNvSpPr/>
          <p:nvPr/>
        </p:nvSpPr>
        <p:spPr>
          <a:xfrm>
            <a:off x="640080" y="1600200"/>
            <a:ext cx="6309360" cy="4206240"/>
          </a:xfrm>
          <a:prstGeom prst="rect">
            <a:avLst/>
          </a:prstGeom>
          <a:noFill/>
          <a:ln/>
        </p:spPr>
        <p:txBody>
          <a:bodyPr wrap="square" lIns="0" tIns="0" rIns="0" bIns="0" rtlCol="0" anchor="t"/>
          <a:lstStyle/>
          <a:p>
            <a:pPr marL="342900" indent="-342900">
              <a:lnSpc>
                <a:spcPct val="115000"/>
              </a:lnSpc>
              <a:spcAft>
                <a:spcPts val="1000"/>
              </a:spcAft>
              <a:buSzPct val="100000"/>
              <a:buChar char="•"/>
            </a:pPr>
            <a:r>
              <a:rPr lang="en-US" sz="2000" dirty="0">
                <a:solidFill>
                  <a:srgbClr val="13294B"/>
                </a:solidFill>
                <a:latin typeface="Calibri" pitchFamily="34" charset="0"/>
                <a:ea typeface="Calibri" pitchFamily="34" charset="-122"/>
                <a:cs typeface="Calibri" pitchFamily="34" charset="-120"/>
              </a:rPr>
              <a:t>Methods split into actions (setThrottle) and questions (getPosition) — chain a question's return value straight into the next call.</a:t>
            </a:r>
            <a:endParaRPr lang="en-US" sz="2000" dirty="0"/>
          </a:p>
          <a:p>
            <a:pPr marL="342900" indent="-342900">
              <a:lnSpc>
                <a:spcPct val="115000"/>
              </a:lnSpc>
              <a:spcAft>
                <a:spcPts val="1000"/>
              </a:spcAft>
              <a:buSzPct val="100000"/>
              <a:buChar char="•"/>
            </a:pPr>
            <a:r>
              <a:rPr lang="en-US" sz="2000" dirty="0">
                <a:solidFill>
                  <a:srgbClr val="13294B"/>
                </a:solidFill>
                <a:latin typeface="Calibri" pitchFamily="34" charset="0"/>
                <a:ea typeface="Calibri" pitchFamily="34" charset="-122"/>
                <a:cs typeface="Calibri" pitchFamily="34" charset="-120"/>
              </a:rPr>
              <a:t>Telemetry.log("Mechanism/Name", value) with DataLogManager recording started, is this course's whole telemetry story.</a:t>
            </a:r>
            <a:endParaRPr lang="en-US" sz="2000" dirty="0"/>
          </a:p>
          <a:p>
            <a:pPr marL="342900" indent="-342900">
              <a:lnSpc>
                <a:spcPct val="115000"/>
              </a:lnSpc>
              <a:spcAft>
                <a:spcPts val="1000"/>
              </a:spcAft>
              <a:buSzPct val="100000"/>
              <a:buChar char="•"/>
            </a:pPr>
            <a:r>
              <a:rPr lang="en-US" sz="2000" dirty="0">
                <a:solidFill>
                  <a:srgbClr val="13294B"/>
                </a:solidFill>
                <a:latin typeface="Calibri" pitchFamily="34" charset="0"/>
                <a:ea typeface="Calibri" pitchFamily="34" charset="-122"/>
                <a:cs typeface="Calibri" pitchFamily="34" charset="-120"/>
              </a:rPr>
              <a:t>A listener reacting to a SchedulerEvent can't get unlucky the way a poll can — it's told the instant something happens.</a:t>
            </a:r>
            <a:endParaRPr lang="en-US" sz="2000" dirty="0"/>
          </a:p>
        </p:txBody>
      </p:sp>
      <p:sp>
        <p:nvSpPr>
          <p:cNvPr id="7" name="Shape 4"/>
          <p:cNvSpPr/>
          <p:nvPr/>
        </p:nvSpPr>
        <p:spPr>
          <a:xfrm>
            <a:off x="7269480" y="1600200"/>
            <a:ext cx="4297680" cy="4434840"/>
          </a:xfrm>
          <a:prstGeom prst="roundRect">
            <a:avLst>
              <a:gd name="adj" fmla="val 2553"/>
            </a:avLst>
          </a:prstGeom>
          <a:solidFill>
            <a:srgbClr val="0B1F3A"/>
          </a:solidFill>
          <a:ln/>
        </p:spPr>
      </p:sp>
      <p:sp>
        <p:nvSpPr>
          <p:cNvPr id="8" name="Text 5"/>
          <p:cNvSpPr/>
          <p:nvPr/>
        </p:nvSpPr>
        <p:spPr>
          <a:xfrm>
            <a:off x="7589520" y="1920240"/>
            <a:ext cx="3657600" cy="365760"/>
          </a:xfrm>
          <a:prstGeom prst="rect">
            <a:avLst/>
          </a:prstGeom>
          <a:noFill/>
          <a:ln/>
        </p:spPr>
        <p:txBody>
          <a:bodyPr wrap="square" lIns="0" tIns="0" rIns="0" bIns="0" rtlCol="0" anchor="ctr"/>
          <a:lstStyle/>
          <a:p>
            <a:pPr indent="0" marL="0">
              <a:buNone/>
            </a:pPr>
            <a:r>
              <a:rPr lang="en-US" sz="2000" b="1" spc="150" kern="0" dirty="0">
                <a:solidFill>
                  <a:srgbClr val="1B9AAA"/>
                </a:solidFill>
                <a:latin typeface="Calibri" pitchFamily="34" charset="0"/>
                <a:ea typeface="Calibri" pitchFamily="34" charset="-122"/>
                <a:cs typeface="Calibri" pitchFamily="34" charset="-120"/>
              </a:rPr>
              <a:t>NEXT</a:t>
            </a:r>
            <a:endParaRPr lang="en-US" sz="2000" dirty="0"/>
          </a:p>
        </p:txBody>
      </p:sp>
      <p:sp>
        <p:nvSpPr>
          <p:cNvPr id="9" name="Text 6"/>
          <p:cNvSpPr/>
          <p:nvPr/>
        </p:nvSpPr>
        <p:spPr>
          <a:xfrm>
            <a:off x="7589520" y="2331720"/>
            <a:ext cx="3657600" cy="502920"/>
          </a:xfrm>
          <a:prstGeom prst="rect">
            <a:avLst/>
          </a:prstGeom>
          <a:noFill/>
          <a:ln/>
        </p:spPr>
        <p:txBody>
          <a:bodyPr wrap="square" lIns="0" tIns="0" rIns="0" bIns="0" rtlCol="0" anchor="ctr"/>
          <a:lstStyle/>
          <a:p>
            <a:pPr indent="0" marL="0">
              <a:buNone/>
            </a:pPr>
            <a:r>
              <a:rPr lang="en-US" sz="2600" b="1" dirty="0">
                <a:solidFill>
                  <a:srgbClr val="FF5010"/>
                </a:solidFill>
                <a:latin typeface="Cambria" pitchFamily="34" charset="0"/>
                <a:ea typeface="Cambria" pitchFamily="34" charset="-122"/>
                <a:cs typeface="Cambria" pitchFamily="34" charset="-120"/>
              </a:rPr>
              <a:t>Lesson 4</a:t>
            </a:r>
            <a:endParaRPr lang="en-US" sz="2600" dirty="0"/>
          </a:p>
        </p:txBody>
      </p:sp>
      <p:sp>
        <p:nvSpPr>
          <p:cNvPr id="10" name="Text 7"/>
          <p:cNvSpPr/>
          <p:nvPr/>
        </p:nvSpPr>
        <p:spPr>
          <a:xfrm>
            <a:off x="7589520" y="2834640"/>
            <a:ext cx="3657600" cy="54864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Simulation</a:t>
            </a:r>
            <a:endParaRPr lang="en-US" sz="2200" dirty="0"/>
          </a:p>
        </p:txBody>
      </p:sp>
      <p:sp>
        <p:nvSpPr>
          <p:cNvPr id="11" name="Text 8"/>
          <p:cNvSpPr/>
          <p:nvPr/>
        </p:nvSpPr>
        <p:spPr>
          <a:xfrm>
            <a:off x="7589520" y="3474720"/>
            <a:ext cx="3657600" cy="1554480"/>
          </a:xfrm>
          <a:prstGeom prst="rect">
            <a:avLst/>
          </a:prstGeom>
          <a:noFill/>
          <a:ln/>
        </p:spPr>
        <p:txBody>
          <a:bodyPr wrap="square" lIns="0" tIns="0" rIns="0" bIns="0" rtlCol="0" anchor="t"/>
          <a:lstStyle/>
          <a:p>
            <a:pPr indent="0" marL="0">
              <a:lnSpc>
                <a:spcPct val="130000"/>
              </a:lnSpc>
              <a:buNone/>
            </a:pPr>
            <a:r>
              <a:rPr lang="en-US" sz="2000" i="1" dirty="0">
                <a:solidFill>
                  <a:srgbClr val="CADCE8"/>
                </a:solidFill>
                <a:latin typeface="Calibri" pitchFamily="34" charset="0"/>
                <a:ea typeface="Calibri" pitchFamily="34" charset="-122"/>
                <a:cs typeface="Calibri" pitchFamily="34" charset="-120"/>
              </a:rPr>
              <a:t>Give the simulated motor a physics model, so the plots actually respond.</a:t>
            </a:r>
            <a:endParaRPr lang="en-US" sz="2000" dirty="0"/>
          </a:p>
        </p:txBody>
      </p:sp>
      <p:sp>
        <p:nvSpPr>
          <p:cNvPr id="12" name="Shape 9"/>
          <p:cNvSpPr/>
          <p:nvPr/>
        </p:nvSpPr>
        <p:spPr>
          <a:xfrm>
            <a:off x="7589520" y="5120640"/>
            <a:ext cx="502920" cy="502920"/>
          </a:xfrm>
          <a:prstGeom prst="ellipse">
            <a:avLst/>
          </a:prstGeom>
          <a:solidFill>
            <a:srgbClr val="1B9AAA"/>
          </a:solidFill>
          <a:ln/>
        </p:spPr>
      </p:sp>
      <p:pic>
        <p:nvPicPr>
          <p:cNvPr id="13" name="Image 1" descr="/home/user/BasicRobotLessons/docs/presentations/v3/template/assets/icons/arrowright_white.png">    </p:cNvPr>
          <p:cNvPicPr>
            <a:picLocks noChangeAspect="1"/>
          </p:cNvPicPr>
          <p:nvPr/>
        </p:nvPicPr>
        <p:blipFill>
          <a:blip r:embed="rId2"/>
          <a:stretch>
            <a:fillRect/>
          </a:stretch>
        </p:blipFill>
        <p:spPr>
          <a:xfrm>
            <a:off x="7708392" y="5239512"/>
            <a:ext cx="265176" cy="265176"/>
          </a:xfrm>
          <a:prstGeom prst="rect">
            <a:avLst/>
          </a:prstGeom>
        </p:spPr>
      </p:pic>
      <p:sp>
        <p:nvSpPr>
          <p:cNvPr id="14" name="Text 10"/>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TELEMETRY</a:t>
            </a:r>
            <a:endParaRPr lang="en-US" sz="2000" dirty="0"/>
          </a:p>
        </p:txBody>
      </p:sp>
      <p:sp>
        <p:nvSpPr>
          <p:cNvPr id="15" name="Text 11"/>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11</a:t>
            </a:r>
            <a:endParaRPr lang="en-US" sz="2000" dirty="0"/>
          </a:p>
        </p:txBody>
      </p:sp>
      <p:pic>
        <p:nvPicPr>
          <p:cNvPr id="16" name="Image 2" descr="/home/user/BasicRobotLessons/docs/presentations/v3/template/assets/logo/team5010-logo-onwhite.png">    </p:cNvPr>
          <p:cNvPicPr>
            <a:picLocks noChangeAspect="1"/>
          </p:cNvPicPr>
          <p:nvPr/>
        </p:nvPicPr>
        <p:blipFill>
          <a:blip r:embed="rId3"/>
          <a:stretch>
            <a:fillRect/>
          </a:stretch>
        </p:blipFill>
        <p:spPr>
          <a:xfrm>
            <a:off x="10957255" y="164592"/>
            <a:ext cx="777240" cy="60585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3 — Telemetry</dc:title>
  <dc:subject>PptxGenJS Presentation</dc:subject>
  <dc:creator>Learn Java + Robot Programming</dc:creator>
  <cp:lastModifiedBy>Learn Java + Robot Programming</cp:lastModifiedBy>
  <cp:revision>1</cp:revision>
  <dcterms:created xsi:type="dcterms:W3CDTF">2026-09-23T22:31:43Z</dcterms:created>
  <dcterms:modified xsi:type="dcterms:W3CDTF">2026-09-23T22:31:43Z</dcterms:modified>
</cp:coreProperties>
</file>