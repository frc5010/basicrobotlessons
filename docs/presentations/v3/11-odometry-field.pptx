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the logs report a heading and each module's distance — useful scalars, but none of them alone says the robot is at (2.3 m, 1.1 m) facing 35 degrees. That's a pose, and this lesson builds the machinery that tracks one: combining wheel motion with gyro heading, the same dead-reckoning trick sailors used long before GPS.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SwerveDriveOdometry combines wheel motion (how far each wheel rolled and in which direction) with gyro heading, integrates the change every tick, and answers getPose() any time you ask. Knowing a pose unlocks field-relative visualizations, autos that say "drive to (5, 3)" instead of "drive forward 2 m," and — a future lesson — fusing odometry with camera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the logs tell you getHeadingDegrees() and each module's getDistanceMeters() — useful, but each is a scalar. Knowing a pose unlocks field-relative visualizations (watch the robot move on a field), auto routines that say "drive to (5, 3)" instead of "drive forward 2 m," and vision fusion, a future lesson's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Odometry needs a SwerveModulePosition per corner: the wheel's accumulated distance and its current steer angle. Both halves are question-methods already in hand — getDistanceMeters() and getSteerAngleDegrees() — this just bundles them. By now the pattern behind these little named types should be visible: WPILib bundles related numbers into one type so a signature can't be silently misread the way two bare doubles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Odometry needs the kinematics you built in Lesson 10, the current heading, and the initial wheel positions. The field goes below m_gyro because its construction reads all three — same ordering rule as always: dependencies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modulePositions() builds an array in a loop: new SwerveModulePosition[m_modules.length] allocates the empty slots, the loop fills each one, and the method hands back the finished array. Sizing it with m_modules.length instead of a literal 4 means one less place to fix if the module count ever changes. Reach for this shape any time a library wants an array whose contents change every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Odometry needs feeding every tick, same as everything else logTelemetry() already does. That's the whole loop: update(newHeading, newPositions) integrates the change since the last call and hands back the fresh pose — one call does both jobs, which is why you don't see a separate getPose() call right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logging discipline kept since Lesson 3 pays off in full. Drawing the robot on a field takes exactly one more Telemetry.log call, the same struct-value shape as the heading in Lesson 8. Pose2d is a structured value — and AdvantageScope knows how to draw a logged pose, not just plot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everything is wired right, driving forward moves the robot along +X, strafing slides it along +Y, and spinning rotates it — the coordinate convention memorized in Lesson 7, now visible as motion on a map. Take a 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AdvantageScope is the full-featured viewer, but sometimes you just want the field right inside the sim window — no second tool. WPILib's Field2d is a dashboard widget that does exactly that. Logging it is still a plain Telemetry.log(...) call, same as every number you've logged since Lesson 3 — but notice what you're handing it this time: not a number, a whole widget object, a thing dashboards know how to draw rather than just plot. Telemetry.log tells the two apart automatically from what you pass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move the robot on the widget first, then log it. Like every number you've logged, Telemetry.log sends whatever the widget holds at that moment — log it once in the constructor and the view would show the robot where it started, forever. So it goes where the numbers go: in the method that runs every tick. Now in SimGUI: menu NetworkTables → Telemetry → Field, and a top-down field pane opens right in the sim window, robot moving as you drive. Same pose, two viewers: Field2d for the quick glance while sim is already open, the logged Pose2d for AdvantageScope's field images, replays, and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resetPose at the top of an auto factory so odometry starts at a known place. Everything the auto reports from then on is anchored to that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Squint at it and you'll see three copies of Lesson 5 stacked up — one P controller for x, one for y, one for heading, each doing measure-subtract-multiply-clamp, with applyChassisSpeeds as the shared "command" step. kMaxSpeed is unpacked to a double once with .in(MetersPerSecond) before the lambda — same convert-once habit as the joystick bindings. The 1.5/3.0 gains are inlined because this is a sketch; if it graduates into a real robot they belong in Constants.java. The heading term needs no wrap helper — Rotation2d.minus already returns the shortest angle — and there's no MathUtil.clamp to reach for here either, that's still Drivetrain's own private clamp from Lesson 5. vx/vy are computed straight from field-frame position error, so they're field-relative speeds — the same shape driveFieldRelative builds from joystick input in Lesson 10, and fieldSpeeds.toRobotRelative(...) is the identical conversion, just fed by a P controller instead of a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is new, and it's worth being precise about what it does. Called on a builder stage — before .named(...) — it wraps the command so that, after each tick, the scheduler checks the condition and stops the command the moment it's true. It's not the same as a command finishing its own coroutine body naturally the way driveDistance's while loop does in Lesson 6 — under the hood, .until(...) ends the command by interrupting it, which means .whenCanceled(...) fires every time .until(...) stops it, reached-target or not. That's simpler than driveDistance's two separate cleanup paths back in Lesson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Resetting the pose at the start of teleop from a button is a small real edit — a binding calling robot.drivetrain.resetPose(new Pose2d()). Driving a square is a pure observation exercise: watch how far off the field view says you are after trying to return to the start — that accumulating error is drift, and it's why teams add vision. The Rotation2d wrap exercise asks students to log driveToPose's heading term and prove Rotation2d.minus always hands back the shortest turn, never the long way around — point the robot near -170°, target +170°, and the logged error should read about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Odometry closed the last gap between "the robot can move" and "the robot knows where it is." The Java pattern to keep is building an array in a loop — modulePositions() reused it three times over in this lesson alone. You also picked up .until(...), with a genuinely simpler cleanup story than Lesson 6's driveDistance needed. The robot is now complete, but the programming has one more act: control loops are still 50 Hz software P, log files can only be watched, and the pose you just built drifts. Lesson 12 moves control into the motor controllers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11</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Odometry &amp; Field View</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Track where the robot is, and watch it drive on a real field</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Know the robot's pose, and draw it on a field</a:t>
            </a:r>
            <a:endParaRPr lang="en-US" sz="3000" dirty="0"/>
          </a:p>
        </p:txBody>
      </p:sp>
      <p:sp>
        <p:nvSpPr>
          <p:cNvPr id="6" name="Shape 3"/>
          <p:cNvSpPr/>
          <p:nvPr/>
        </p:nvSpPr>
        <p:spPr>
          <a:xfrm>
            <a:off x="640080" y="1600200"/>
            <a:ext cx="10881360" cy="1417320"/>
          </a:xfrm>
          <a:prstGeom prst="roundRect">
            <a:avLst>
              <a:gd name="adj" fmla="val 6452"/>
            </a:avLst>
          </a:prstGeom>
          <a:solidFill>
            <a:srgbClr val="F3F6FA"/>
          </a:solidFill>
          <a:ln/>
        </p:spPr>
      </p:sp>
      <p:sp>
        <p:nvSpPr>
          <p:cNvPr id="7" name="Text 4"/>
          <p:cNvSpPr/>
          <p:nvPr/>
        </p:nvSpPr>
        <p:spPr>
          <a:xfrm>
            <a:off x="960120" y="1737360"/>
            <a:ext cx="10241280" cy="1143000"/>
          </a:xfrm>
          <a:prstGeom prst="rect">
            <a:avLst/>
          </a:prstGeom>
          <a:noFill/>
          <a:ln/>
        </p:spPr>
        <p:txBody>
          <a:bodyPr wrap="square" lIns="0" tIns="0" rIns="0" bIns="0" rtlCol="0" anchor="ctr"/>
          <a:lstStyle/>
          <a:p>
            <a:pPr indent="0" marL="0">
              <a:lnSpc>
                <a:spcPct val="120000"/>
              </a:lnSpc>
              <a:buNone/>
            </a:pPr>
            <a:r>
              <a:rPr lang="en-US" sz="2200" i="1" dirty="0">
                <a:solidFill>
                  <a:srgbClr val="13294B"/>
                </a:solidFill>
                <a:latin typeface="Cambria" pitchFamily="34" charset="0"/>
                <a:ea typeface="Cambria" pitchFamily="34" charset="-122"/>
                <a:cs typeface="Cambria" pitchFamily="34" charset="-120"/>
              </a:rPr>
              <a:t>Track the robot's pose — x, y, heading — by combining the gyro and how far each wheel has rolled. Then log it and watch the robot drive around a real field in AdvantageScope.</a:t>
            </a:r>
            <a:endParaRPr lang="en-US" sz="2200" dirty="0"/>
          </a:p>
        </p:txBody>
      </p:sp>
      <p:sp>
        <p:nvSpPr>
          <p:cNvPr id="8" name="Shape 5"/>
          <p:cNvSpPr/>
          <p:nvPr/>
        </p:nvSpPr>
        <p:spPr>
          <a:xfrm>
            <a:off x="640080" y="324612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355848"/>
            <a:ext cx="237744" cy="237744"/>
          </a:xfrm>
          <a:prstGeom prst="rect">
            <a:avLst/>
          </a:prstGeom>
        </p:spPr>
      </p:pic>
      <p:sp>
        <p:nvSpPr>
          <p:cNvPr id="10" name="Text 6"/>
          <p:cNvSpPr/>
          <p:nvPr/>
        </p:nvSpPr>
        <p:spPr>
          <a:xfrm>
            <a:off x="123444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13048"/>
            <a:ext cx="5257800" cy="265176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Small data-carrier types (SwerveModulePosition, Pose2d)</a:t>
            </a:r>
            <a:endParaRPr lang="en-US" sz="2000" dirty="0"/>
          </a:p>
          <a:p>
            <a:pPr marL="342900" indent="-342900">
              <a:lnSpc>
                <a:spcPct val="115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Building an array in a loop — the full pattern</a:t>
            </a:r>
            <a:endParaRPr lang="en-US" sz="2000" dirty="0"/>
          </a:p>
        </p:txBody>
      </p:sp>
      <p:sp>
        <p:nvSpPr>
          <p:cNvPr id="12" name="Shape 8"/>
          <p:cNvSpPr/>
          <p:nvPr/>
        </p:nvSpPr>
        <p:spPr>
          <a:xfrm>
            <a:off x="6309360" y="3246120"/>
            <a:ext cx="457200" cy="457200"/>
          </a:xfrm>
          <a:prstGeom prst="ellipse">
            <a:avLst/>
          </a:prstGeom>
          <a:solidFill>
            <a:srgbClr val="FF5010"/>
          </a:solidFill>
          <a:ln/>
        </p:spPr>
      </p:sp>
      <p:pic>
        <p:nvPicPr>
          <p:cNvPr id="13" name="Image 2" descr="/home/user/BasicRobotLessons/docs/presentations/v3/template/assets/icons/mapmarker_white.png">    </p:cNvPr>
          <p:cNvPicPr>
            <a:picLocks noChangeAspect="1"/>
          </p:cNvPicPr>
          <p:nvPr/>
        </p:nvPicPr>
        <p:blipFill>
          <a:blip r:embed="rId3"/>
          <a:stretch>
            <a:fillRect/>
          </a:stretch>
        </p:blipFill>
        <p:spPr>
          <a:xfrm>
            <a:off x="6419088" y="3355848"/>
            <a:ext cx="237744" cy="237744"/>
          </a:xfrm>
          <a:prstGeom prst="rect">
            <a:avLst/>
          </a:prstGeom>
        </p:spPr>
      </p:pic>
      <p:sp>
        <p:nvSpPr>
          <p:cNvPr id="14" name="Text 9"/>
          <p:cNvSpPr/>
          <p:nvPr/>
        </p:nvSpPr>
        <p:spPr>
          <a:xfrm>
            <a:off x="690372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13048"/>
            <a:ext cx="5257800" cy="26517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Odometry — dead-reckoning the pose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SwerveModulePosition and SwerveDriveOdometry</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Logging a Pose2d, and Field2d in SimGUI</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.until(...) — finish a command early</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mapmark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WHY ODOMETRY?</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Dead reckoning, sampled fifty times a second</a:t>
            </a:r>
            <a:endParaRPr lang="en-US" sz="3000" dirty="0"/>
          </a:p>
        </p:txBody>
      </p:sp>
      <p:sp>
        <p:nvSpPr>
          <p:cNvPr id="6" name="Shape 3"/>
          <p:cNvSpPr/>
          <p:nvPr/>
        </p:nvSpPr>
        <p:spPr>
          <a:xfrm>
            <a:off x="640080" y="1691640"/>
            <a:ext cx="10881360" cy="2743200"/>
          </a:xfrm>
          <a:prstGeom prst="roundRect">
            <a:avLst>
              <a:gd name="adj" fmla="val 4000"/>
            </a:avLst>
          </a:prstGeom>
          <a:solidFill>
            <a:srgbClr val="132A4C"/>
          </a:solidFill>
          <a:ln/>
        </p:spPr>
      </p:sp>
      <p:sp>
        <p:nvSpPr>
          <p:cNvPr id="7" name="Text 4"/>
          <p:cNvSpPr/>
          <p:nvPr/>
        </p:nvSpPr>
        <p:spPr>
          <a:xfrm>
            <a:off x="914400" y="1920240"/>
            <a:ext cx="10332720" cy="548640"/>
          </a:xfrm>
          <a:prstGeom prst="rect">
            <a:avLst/>
          </a:prstGeom>
          <a:noFill/>
          <a:ln/>
        </p:spPr>
        <p:txBody>
          <a:bodyPr wrap="square" lIns="0" tIns="0" rIns="0" bIns="0" rtlCol="0" anchor="ctr"/>
          <a:lstStyle/>
          <a:p>
            <a:pPr indent="0" marL="0">
              <a:buNone/>
            </a:pPr>
            <a:r>
              <a:rPr lang="en-US" sz="2400" b="1" dirty="0">
                <a:solidFill>
                  <a:srgbClr val="FF5010"/>
                </a:solidFill>
                <a:latin typeface="Cambria" pitchFamily="34" charset="0"/>
                <a:ea typeface="Cambria" pitchFamily="34" charset="-122"/>
                <a:cs typeface="Cambria" pitchFamily="34" charset="-120"/>
              </a:rPr>
              <a:t>Sailors called it dead reckoning.</a:t>
            </a:r>
            <a:endParaRPr lang="en-US" sz="2400" dirty="0"/>
          </a:p>
        </p:txBody>
      </p:sp>
      <p:sp>
        <p:nvSpPr>
          <p:cNvPr id="8" name="Text 5"/>
          <p:cNvSpPr/>
          <p:nvPr/>
        </p:nvSpPr>
        <p:spPr>
          <a:xfrm>
            <a:off x="914400" y="2560320"/>
            <a:ext cx="10332720" cy="1737360"/>
          </a:xfrm>
          <a:prstGeom prst="rect">
            <a:avLst/>
          </a:prstGeom>
          <a:noFill/>
          <a:ln/>
        </p:spPr>
        <p:txBody>
          <a:bodyPr wrap="square" lIns="0" tIns="0" rIns="0" bIns="0" rtlCol="0" anchor="t"/>
          <a:lstStyle/>
          <a:p>
            <a:pPr indent="0" marL="0">
              <a:lnSpc>
                <a:spcPct val="130000"/>
              </a:lnSpc>
              <a:buNone/>
            </a:pPr>
            <a:r>
              <a:rPr lang="en-US" sz="2100" dirty="0">
                <a:solidFill>
                  <a:srgbClr val="D7E3F4"/>
                </a:solidFill>
                <a:latin typeface="Calibri" pitchFamily="34" charset="0"/>
                <a:ea typeface="Calibri" pitchFamily="34" charset="-122"/>
                <a:cs typeface="Calibri" pitchFamily="34" charset="-120"/>
              </a:rPr>
              <a:t>No GPS, but if you know your heading and how far you've traveled each hour, you can plot your position on the chart. SwerveDriveOdometry combines wheel motion with gyro heading, integrates the change every tick, and answers getPose() any time you ask.</a:t>
            </a:r>
            <a:endParaRPr lang="en-US" sz="2100" dirty="0"/>
          </a:p>
        </p:txBody>
      </p:sp>
      <p:sp>
        <p:nvSpPr>
          <p:cNvPr id="9" name="Text 6"/>
          <p:cNvSpPr/>
          <p:nvPr/>
        </p:nvSpPr>
        <p:spPr>
          <a:xfrm>
            <a:off x="640080" y="47091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A scalar like getHeadingDegrees() can't tell you the robot is at (2.3 m, 1.1 m) facing 35° — that's a pose, and knowing it is what unlocks field views, "drive to (5, 3)" autos, and vision fusion.</a:t>
            </a:r>
            <a:endParaRPr lang="en-US" sz="2000" dirty="0"/>
          </a:p>
        </p:txBody>
      </p:sp>
      <p:sp>
        <p:nvSpPr>
          <p:cNvPr id="10" name="Text 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1" name="Text 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2"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Bundle distance and angle into one report</a:t>
            </a:r>
            <a:endParaRPr lang="en-US" sz="3000" dirty="0"/>
          </a:p>
        </p:txBody>
      </p:sp>
      <p:sp>
        <p:nvSpPr>
          <p:cNvPr id="6" name="Shape 3"/>
          <p:cNvSpPr/>
          <p:nvPr/>
        </p:nvSpPr>
        <p:spPr>
          <a:xfrm>
            <a:off x="640080" y="1600200"/>
            <a:ext cx="10881360" cy="2377440"/>
          </a:xfrm>
          <a:prstGeom prst="roundRect">
            <a:avLst>
              <a:gd name="adj" fmla="val 461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SwerveModule, with the other public methods</a:t>
            </a:r>
            <a:endParaRPr lang="en-US" sz="1500" dirty="0"/>
          </a:p>
        </p:txBody>
      </p:sp>
      <p:sp>
        <p:nvSpPr>
          <p:cNvPr id="11" name="Text 8"/>
          <p:cNvSpPr/>
          <p:nvPr/>
        </p:nvSpPr>
        <p:spPr>
          <a:xfrm>
            <a:off x="914400" y="2057400"/>
            <a:ext cx="10195560" cy="171907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How far this wheel has rolled and where it's pointing — for odometry. */</a:t>
            </a:r>
            <a:endParaRPr lang="en-US" sz="1500" dirty="0"/>
          </a:p>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public SwerveModulePosition getPosition()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return new SwerveModulePosition(</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getDistanceMeters(), Rotation2d.fromDegrees(getSteerAngleDegrees()));</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3840480"/>
            <a:ext cx="10881360" cy="2606040"/>
          </a:xfrm>
          <a:prstGeom prst="roundRect">
            <a:avLst>
              <a:gd name="adj" fmla="val 3509"/>
            </a:avLst>
          </a:prstGeom>
          <a:solidFill>
            <a:srgbClr val="F3F6FA"/>
          </a:solidFill>
          <a:ln/>
        </p:spPr>
      </p:sp>
      <p:sp>
        <p:nvSpPr>
          <p:cNvPr id="13" name="Text 10"/>
          <p:cNvSpPr/>
          <p:nvPr/>
        </p:nvSpPr>
        <p:spPr>
          <a:xfrm>
            <a:off x="914400" y="411480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A lightweight data carrier — no behavior, just two values riding together.</a:t>
            </a:r>
            <a:endParaRPr lang="en-US" sz="2200" dirty="0"/>
          </a:p>
        </p:txBody>
      </p:sp>
      <p:sp>
        <p:nvSpPr>
          <p:cNvPr id="14" name="Text 11"/>
          <p:cNvSpPr/>
          <p:nvPr/>
        </p:nvSpPr>
        <p:spPr>
          <a:xfrm>
            <a:off x="914400" y="5041900"/>
            <a:ext cx="10332720" cy="11303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You've now met the whole family: ChassisVelocities, SwerveModuleVelocity, and now SwerveModulePosition. A named type in a signature says meters and an angle, in that order — bare doubles say nothing and let you swap them silently.</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ass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Odometry needs everything above it to exist first</a:t>
            </a:r>
            <a:endParaRPr lang="en-US" sz="3000" dirty="0"/>
          </a:p>
        </p:txBody>
      </p:sp>
      <p:sp>
        <p:nvSpPr>
          <p:cNvPr id="6" name="Shape 3"/>
          <p:cNvSpPr/>
          <p:nvPr/>
        </p:nvSpPr>
        <p:spPr>
          <a:xfrm>
            <a:off x="640080" y="1600200"/>
            <a:ext cx="10881360" cy="2651760"/>
          </a:xfrm>
          <a:prstGeom prst="roundRect">
            <a:avLst>
              <a:gd name="adj" fmla="val 4138"/>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below m_gyro</a:t>
            </a:r>
            <a:endParaRPr lang="en-US" sz="1500" dirty="0"/>
          </a:p>
        </p:txBody>
      </p:sp>
      <p:sp>
        <p:nvSpPr>
          <p:cNvPr id="11" name="Text 8"/>
          <p:cNvSpPr/>
          <p:nvPr/>
        </p:nvSpPr>
        <p:spPr>
          <a:xfrm>
            <a:off x="914400" y="2057400"/>
            <a:ext cx="10195560" cy="199339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Odometry reads the kinematics, the gyro, and the modules' starting</a:t>
            </a:r>
            <a:endParaRPr lang="en-US" sz="1400" dirty="0"/>
          </a:p>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positions — everything above this line has to exist first.</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private final SwerveDriveOdometry m_odometry = new SwerveDriveOdometry(</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m_kinematics,</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Rotation2d.fromDegrees(getHeadingDegrees()),</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modulePositions());</a:t>
            </a:r>
            <a:endParaRPr lang="en-US" sz="1400" dirty="0"/>
          </a:p>
        </p:txBody>
      </p:sp>
      <p:sp>
        <p:nvSpPr>
          <p:cNvPr id="12" name="Shape 9"/>
          <p:cNvSpPr/>
          <p:nvPr/>
        </p:nvSpPr>
        <p:spPr>
          <a:xfrm>
            <a:off x="640080" y="4572000"/>
            <a:ext cx="10881360" cy="1828800"/>
          </a:xfrm>
          <a:prstGeom prst="roundRect">
            <a:avLst>
              <a:gd name="adj" fmla="val 5000"/>
            </a:avLst>
          </a:prstGeom>
          <a:solidFill>
            <a:srgbClr val="F3F6FA"/>
          </a:solidFill>
          <a:ln/>
        </p:spPr>
      </p:sp>
      <p:sp>
        <p:nvSpPr>
          <p:cNvPr id="13" name="Text 10"/>
          <p:cNvSpPr/>
          <p:nvPr/>
        </p:nvSpPr>
        <p:spPr>
          <a:xfrm>
            <a:off x="822960" y="4754880"/>
            <a:ext cx="10515600" cy="14630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modulePositions() doesn't exist yet — that's the next slide. Odometry needs the kinematics you built in Lesson 10, the current heading, and each module's starting position, so the field goes below m_gyro: dependencies first, same ordering rule as always.</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objectgrou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Building an array in a loop</a:t>
            </a:r>
            <a:endParaRPr lang="en-US" sz="3000" dirty="0"/>
          </a:p>
        </p:txBody>
      </p:sp>
      <p:sp>
        <p:nvSpPr>
          <p:cNvPr id="6" name="Shape 3"/>
          <p:cNvSpPr/>
          <p:nvPr/>
        </p:nvSpPr>
        <p:spPr>
          <a:xfrm>
            <a:off x="640080" y="1280160"/>
            <a:ext cx="10881360" cy="4114800"/>
          </a:xfrm>
          <a:prstGeom prst="roundRect">
            <a:avLst>
              <a:gd name="adj" fmla="val 266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 a private helper, and the public getter that uses it</a:t>
            </a:r>
            <a:endParaRPr lang="en-US" sz="1500" dirty="0"/>
          </a:p>
        </p:txBody>
      </p:sp>
      <p:sp>
        <p:nvSpPr>
          <p:cNvPr id="11" name="Text 8"/>
          <p:cNvSpPr/>
          <p:nvPr/>
        </p:nvSpPr>
        <p:spPr>
          <a:xfrm>
            <a:off x="914400" y="1737360"/>
            <a:ext cx="10195560" cy="3456432"/>
          </a:xfrm>
          <a:prstGeom prst="rect">
            <a:avLst/>
          </a:prstGeom>
          <a:noFill/>
          <a:ln/>
        </p:spPr>
        <p:txBody>
          <a:bodyPr wrap="square" lIns="0" tIns="0" rIns="0" bIns="0" rtlCol="0" anchor="t"/>
          <a:lstStyle/>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Snapshot the four modules' positions into one array — used by odometry.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private SwerveModulePosition[] modulePositions()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SwerveModulePosition[] positions = new SwerveModulePosition[m_modules.length];</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for (int i = 0; i &lt; m_modules.length; i++)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positions[i] = m_modules[i].getPosition();</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positions;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Where odometry currently believes the robot is.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Pose2d getPose()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m_odometry.getPose();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5486400"/>
            <a:ext cx="10881360" cy="868680"/>
          </a:xfrm>
          <a:prstGeom prst="roundRect">
            <a:avLst>
              <a:gd name="adj" fmla="val 10526"/>
            </a:avLst>
          </a:prstGeom>
          <a:solidFill>
            <a:srgbClr val="F3F6FA"/>
          </a:solidFill>
          <a:ln/>
        </p:spPr>
      </p:sp>
      <p:sp>
        <p:nvSpPr>
          <p:cNvPr id="13" name="Text 10"/>
          <p:cNvSpPr/>
          <p:nvPr/>
        </p:nvSpPr>
        <p:spPr>
          <a:xfrm>
            <a:off x="777240" y="5623560"/>
            <a:ext cx="10607040" cy="594360"/>
          </a:xfrm>
          <a:prstGeom prst="rect">
            <a:avLst/>
          </a:prstGeom>
          <a:noFill/>
          <a:ln/>
        </p:spPr>
        <p:txBody>
          <a:bodyPr wrap="square" lIns="0" tIns="0" rIns="0" bIns="0" rtlCol="0" anchor="t"/>
          <a:lstStyle/>
          <a:p>
            <a:pPr indent="0" marL="0">
              <a:lnSpc>
                <a:spcPct val="125000"/>
              </a:lnSpc>
              <a:buNone/>
            </a:pPr>
            <a:r>
              <a:rPr lang="en-US" sz="1600" dirty="0">
                <a:solidFill>
                  <a:srgbClr val="13294B"/>
                </a:solidFill>
                <a:latin typeface="Calibri" pitchFamily="34" charset="0"/>
                <a:ea typeface="Calibri" pitchFamily="34" charset="-122"/>
                <a:cs typeface="Calibri" pitchFamily="34" charset="-120"/>
              </a:rPr>
              <a:t>Allocate the slots, loop, fill, hand it off — the same shape as Lesson 7's logTelemetry(), reused because odometry needs a fresh snapshot more than once.</a:t>
            </a:r>
            <a:endParaRPr lang="en-US" sz="16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Feed odometry every tick</a:t>
            </a:r>
            <a:endParaRPr lang="en-US" sz="3000" dirty="0"/>
          </a:p>
        </p:txBody>
      </p:sp>
      <p:sp>
        <p:nvSpPr>
          <p:cNvPr id="6" name="Shape 3"/>
          <p:cNvSpPr/>
          <p:nvPr/>
        </p:nvSpPr>
        <p:spPr>
          <a:xfrm>
            <a:off x="640080" y="1600200"/>
            <a:ext cx="10881360" cy="2148840"/>
          </a:xfrm>
          <a:prstGeom prst="roundRect">
            <a:avLst>
              <a:gd name="adj" fmla="val 510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Drivetrain.logTelemetry(), after the heading log</a:t>
            </a:r>
            <a:endParaRPr lang="en-US" sz="1500" dirty="0"/>
          </a:p>
        </p:txBody>
      </p:sp>
      <p:sp>
        <p:nvSpPr>
          <p:cNvPr id="11" name="Text 8"/>
          <p:cNvSpPr/>
          <p:nvPr/>
        </p:nvSpPr>
        <p:spPr>
          <a:xfrm>
            <a:off x="914400" y="2057400"/>
            <a:ext cx="10195560" cy="1490472"/>
          </a:xfrm>
          <a:prstGeom prst="rect">
            <a:avLst/>
          </a:prstGeom>
          <a:noFill/>
          <a:ln/>
        </p:spPr>
        <p:txBody>
          <a:bodyPr wrap="square" lIns="0" tIns="0" rIns="0" bIns="0" rtlCol="0" anchor="t"/>
          <a:lstStyle/>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private void logTelemetry() {</a:t>
            </a:r>
            <a:endParaRPr lang="en-US" sz="1500" dirty="0"/>
          </a:p>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 ...distance and heading logs stay...</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Pose2d pose = m_odometry.update(</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Rotation2d.fromDegrees(getHeadingDegrees()), modulePositions());</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3931920"/>
            <a:ext cx="10881360" cy="2468880"/>
          </a:xfrm>
          <a:prstGeom prst="roundRect">
            <a:avLst>
              <a:gd name="adj" fmla="val 3704"/>
            </a:avLst>
          </a:prstGeom>
          <a:solidFill>
            <a:srgbClr val="F3F6FA"/>
          </a:solidFill>
          <a:ln/>
        </p:spPr>
      </p:sp>
      <p:sp>
        <p:nvSpPr>
          <p:cNvPr id="13" name="Text 10"/>
          <p:cNvSpPr/>
          <p:nvPr/>
        </p:nvSpPr>
        <p:spPr>
          <a:xfrm>
            <a:off x="914400" y="420624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There's no separate periodic() to hook here.</a:t>
            </a:r>
            <a:endParaRPr lang="en-US" sz="2200" dirty="0"/>
          </a:p>
        </p:txBody>
      </p:sp>
      <p:sp>
        <p:nvSpPr>
          <p:cNvPr id="14" name="Text 11"/>
          <p:cNvSpPr/>
          <p:nvPr/>
        </p:nvSpPr>
        <p:spPr>
          <a:xfrm>
            <a:off x="914400" y="4784090"/>
            <a:ext cx="10332720" cy="134239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Mechanism doesn't have one — that's exactly why logTelemetry() exists as a periodic callback in the first place. update(newHeading, newPositions) integrates the change since the last call AND hands back the fresh pose — one call does both jobs, which is why there's no separate getPose() call right here.</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roadcasttow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Log the pose, the same shape as every structured value</a:t>
            </a:r>
            <a:endParaRPr lang="en-US" sz="3000" dirty="0"/>
          </a:p>
        </p:txBody>
      </p:sp>
      <p:sp>
        <p:nvSpPr>
          <p:cNvPr id="6" name="Shape 3"/>
          <p:cNvSpPr/>
          <p:nvPr/>
        </p:nvSpPr>
        <p:spPr>
          <a:xfrm>
            <a:off x="640080" y="1600200"/>
            <a:ext cx="10881360" cy="1280160"/>
          </a:xfrm>
          <a:prstGeom prst="roundRect">
            <a:avLst>
              <a:gd name="adj" fmla="val 857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Drivetrain.logTelemetry(), right after the odometry update</a:t>
            </a:r>
            <a:endParaRPr lang="en-US" sz="1500" dirty="0"/>
          </a:p>
        </p:txBody>
      </p:sp>
      <p:sp>
        <p:nvSpPr>
          <p:cNvPr id="11" name="Text 8"/>
          <p:cNvSpPr/>
          <p:nvPr/>
        </p:nvSpPr>
        <p:spPr>
          <a:xfrm>
            <a:off x="914400" y="2057400"/>
            <a:ext cx="10195560" cy="621792"/>
          </a:xfrm>
          <a:prstGeom prst="rect">
            <a:avLst/>
          </a:prstGeom>
          <a:noFill/>
          <a:ln/>
        </p:spPr>
        <p:txBody>
          <a:bodyPr wrap="square" lIns="0" tIns="0" rIns="0" bIns="0" rtlCol="0" anchor="t"/>
          <a:lstStyle/>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Telemetry.log("Drivetrain/Pose", pose, Pose2d.struct);</a:t>
            </a:r>
            <a:endParaRPr lang="en-US" sz="1700" dirty="0"/>
          </a:p>
        </p:txBody>
      </p:sp>
      <p:sp>
        <p:nvSpPr>
          <p:cNvPr id="12" name="Shape 9"/>
          <p:cNvSpPr/>
          <p:nvPr/>
        </p:nvSpPr>
        <p:spPr>
          <a:xfrm>
            <a:off x="640080" y="3246120"/>
            <a:ext cx="10881360" cy="3108960"/>
          </a:xfrm>
          <a:prstGeom prst="roundRect">
            <a:avLst>
              <a:gd name="adj" fmla="val 2941"/>
            </a:avLst>
          </a:prstGeom>
          <a:solidFill>
            <a:srgbClr val="F3F6FA"/>
          </a:solidFill>
          <a:ln/>
        </p:spPr>
      </p:sp>
      <p:sp>
        <p:nvSpPr>
          <p:cNvPr id="13" name="Text 10"/>
          <p:cNvSpPr/>
          <p:nvPr/>
        </p:nvSpPr>
        <p:spPr>
          <a:xfrm>
            <a:off x="914400" y="352044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The same struct-value shape as the heading in Lesson 8.</a:t>
            </a:r>
            <a:endParaRPr lang="en-US" sz="2200" dirty="0"/>
          </a:p>
        </p:txBody>
      </p:sp>
      <p:sp>
        <p:nvSpPr>
          <p:cNvPr id="14" name="Text 11"/>
          <p:cNvSpPr/>
          <p:nvPr/>
        </p:nvSpPr>
        <p:spPr>
          <a:xfrm>
            <a:off x="914400" y="4098290"/>
            <a:ext cx="10332720" cy="198247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Pose2d is a structured value, like the module states from Lesson 7 — one more Telemetry.log call, a new topic name, no new field to build. AdvantageScope knows how to draw a logged pose, not just plot it.</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4 · WATCH IT IN ADVANTAGESCOPE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Driving in the sim officially looks like a game</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File → Connect to Simulator</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Run ./gradlew simulateJava first.</a:t>
            </a:r>
            <a:endParaRPr lang="en-US" sz="2000" dirty="0"/>
          </a:p>
        </p:txBody>
      </p:sp>
      <p:sp>
        <p:nvSpPr>
          <p:cNvPr id="10" name="Shape 7"/>
          <p:cNvSpPr/>
          <p:nvPr/>
        </p:nvSpPr>
        <p:spPr>
          <a:xfrm>
            <a:off x="640080" y="2670048"/>
            <a:ext cx="502920" cy="502920"/>
          </a:xfrm>
          <a:prstGeom prst="ellipse">
            <a:avLst/>
          </a:prstGeom>
          <a:solidFill>
            <a:srgbClr val="1B9AAA"/>
          </a:solidFill>
          <a:ln/>
        </p:spPr>
      </p:sp>
      <p:sp>
        <p:nvSpPr>
          <p:cNvPr id="11" name="Text 8"/>
          <p:cNvSpPr/>
          <p:nvPr/>
        </p:nvSpPr>
        <p:spPr>
          <a:xfrm>
            <a:off x="640080" y="2670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968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Add an 📐 Odometry tab, drag Telemetry/Drivetrain/Pose onto it</a:t>
            </a:r>
            <a:endParaRPr lang="en-US" sz="2000" dirty="0"/>
          </a:p>
        </p:txBody>
      </p:sp>
      <p:sp>
        <p:nvSpPr>
          <p:cNvPr id="13" name="Text 10"/>
          <p:cNvSpPr/>
          <p:nvPr/>
        </p:nvSpPr>
        <p:spPr>
          <a:xfrm>
            <a:off x="1371600" y="2980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From the sidebar tree.</a:t>
            </a:r>
            <a:endParaRPr lang="en-US" sz="2000" dirty="0"/>
          </a:p>
        </p:txBody>
      </p:sp>
      <p:sp>
        <p:nvSpPr>
          <p:cNvPr id="14" name="Shape 11"/>
          <p:cNvSpPr/>
          <p:nvPr/>
        </p:nvSpPr>
        <p:spPr>
          <a:xfrm>
            <a:off x="640080" y="3630168"/>
            <a:ext cx="502920" cy="502920"/>
          </a:xfrm>
          <a:prstGeom prst="ellipse">
            <a:avLst/>
          </a:prstGeom>
          <a:solidFill>
            <a:srgbClr val="1B9AAA"/>
          </a:solidFill>
          <a:ln/>
        </p:spPr>
      </p:sp>
      <p:sp>
        <p:nvSpPr>
          <p:cNvPr id="15" name="Text 12"/>
          <p:cNvSpPr/>
          <p:nvPr/>
        </p:nvSpPr>
        <p:spPr>
          <a:xfrm>
            <a:off x="640080" y="36301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55701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Pick a field image from the source dropdown</a:t>
            </a:r>
            <a:endParaRPr lang="en-US" sz="2000" dirty="0"/>
          </a:p>
        </p:txBody>
      </p:sp>
      <p:sp>
        <p:nvSpPr>
          <p:cNvPr id="17" name="Text 14"/>
          <p:cNvSpPr/>
          <p:nvPr/>
        </p:nvSpPr>
        <p:spPr>
          <a:xfrm>
            <a:off x="1371600" y="39410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The current game's field.</a:t>
            </a:r>
            <a:endParaRPr lang="en-US" sz="2000" dirty="0"/>
          </a:p>
        </p:txBody>
      </p:sp>
      <p:sp>
        <p:nvSpPr>
          <p:cNvPr id="18" name="Shape 15"/>
          <p:cNvSpPr/>
          <p:nvPr/>
        </p:nvSpPr>
        <p:spPr>
          <a:xfrm>
            <a:off x="640080" y="4590288"/>
            <a:ext cx="502920" cy="502920"/>
          </a:xfrm>
          <a:prstGeom prst="ellipse">
            <a:avLst/>
          </a:prstGeom>
          <a:solidFill>
            <a:srgbClr val="1B9AAA"/>
          </a:solidFill>
          <a:ln/>
        </p:spPr>
      </p:sp>
      <p:sp>
        <p:nvSpPr>
          <p:cNvPr id="19" name="Text 16"/>
          <p:cNvSpPr/>
          <p:nvPr/>
        </p:nvSpPr>
        <p:spPr>
          <a:xfrm>
            <a:off x="640080" y="45902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51713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Drive with the joysticks</a:t>
            </a:r>
            <a:endParaRPr lang="en-US" sz="2000" dirty="0"/>
          </a:p>
        </p:txBody>
      </p:sp>
      <p:sp>
        <p:nvSpPr>
          <p:cNvPr id="21" name="Text 18"/>
          <p:cNvSpPr/>
          <p:nvPr/>
        </p:nvSpPr>
        <p:spPr>
          <a:xfrm>
            <a:off x="1371600" y="49011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The little robot moves and rotates on the field.</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9</a:t>
            </a:r>
            <a:endParaRPr lang="en-US" sz="2000" dirty="0"/>
          </a:p>
        </p:txBody>
      </p:sp>
      <p:pic>
        <p:nvPicPr>
          <p:cNvPr id="2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thlarg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THE SAME VIEW INSIDE SIMGUI</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Field2d — a dashboard widget, not a value</a:t>
            </a:r>
            <a:endParaRPr lang="en-US" sz="3000" dirty="0"/>
          </a:p>
        </p:txBody>
      </p:sp>
      <p:sp>
        <p:nvSpPr>
          <p:cNvPr id="6" name="Shape 3"/>
          <p:cNvSpPr/>
          <p:nvPr/>
        </p:nvSpPr>
        <p:spPr>
          <a:xfrm>
            <a:off x="640080" y="1463040"/>
            <a:ext cx="10881360" cy="1051560"/>
          </a:xfrm>
          <a:prstGeom prst="roundRect">
            <a:avLst>
              <a:gd name="adj" fmla="val 1043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alongside the other fields</a:t>
            </a:r>
            <a:endParaRPr lang="en-US" sz="1500" dirty="0"/>
          </a:p>
        </p:txBody>
      </p:sp>
      <p:sp>
        <p:nvSpPr>
          <p:cNvPr id="11" name="Text 8"/>
          <p:cNvSpPr/>
          <p:nvPr/>
        </p:nvSpPr>
        <p:spPr>
          <a:xfrm>
            <a:off x="914400" y="1920240"/>
            <a:ext cx="10195560" cy="393192"/>
          </a:xfrm>
          <a:prstGeom prst="rect">
            <a:avLst/>
          </a:prstGeom>
          <a:noFill/>
          <a:ln/>
        </p:spPr>
        <p:txBody>
          <a:bodyPr wrap="square" lIns="0" tIns="0" rIns="0" bIns="0" rtlCol="0" anchor="t"/>
          <a:lstStyle/>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private final Field2d m_field = new Field2d();</a:t>
            </a:r>
            <a:endParaRPr lang="en-US" sz="1700" dirty="0"/>
          </a:p>
        </p:txBody>
      </p:sp>
      <p:sp>
        <p:nvSpPr>
          <p:cNvPr id="12" name="Shape 9"/>
          <p:cNvSpPr/>
          <p:nvPr/>
        </p:nvSpPr>
        <p:spPr>
          <a:xfrm>
            <a:off x="640080" y="2743200"/>
            <a:ext cx="10881360" cy="2194560"/>
          </a:xfrm>
          <a:prstGeom prst="roundRect">
            <a:avLst>
              <a:gd name="adj" fmla="val 4167"/>
            </a:avLst>
          </a:prstGeom>
          <a:solidFill>
            <a:srgbClr val="F3F6FA"/>
          </a:solidFill>
          <a:ln/>
        </p:spPr>
      </p:sp>
      <p:sp>
        <p:nvSpPr>
          <p:cNvPr id="13" name="Text 10"/>
          <p:cNvSpPr/>
          <p:nvPr/>
        </p:nvSpPr>
        <p:spPr>
          <a:xfrm>
            <a:off x="868680" y="2971800"/>
            <a:ext cx="10424160" cy="17373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You'll log it with a plain Telemetry.log(...) call, same as every number logged since Lesson 3 — but notice what's being handed over this time: not a number, a whole widget object, a thing dashboards know how to draw rather than just plot. Telemetry.log tells the two apart automatically from what you pass in.</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thlarg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Same pose, two viewers</a:t>
            </a:r>
            <a:endParaRPr lang="en-US" sz="3000" dirty="0"/>
          </a:p>
        </p:txBody>
      </p:sp>
      <p:sp>
        <p:nvSpPr>
          <p:cNvPr id="6" name="Shape 3"/>
          <p:cNvSpPr/>
          <p:nvPr/>
        </p:nvSpPr>
        <p:spPr>
          <a:xfrm>
            <a:off x="640080" y="160020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Drivetrain.logTelemetry(), right after the pose publish</a:t>
            </a:r>
            <a:endParaRPr lang="en-US" sz="1500" dirty="0"/>
          </a:p>
        </p:txBody>
      </p:sp>
      <p:sp>
        <p:nvSpPr>
          <p:cNvPr id="11" name="Text 8"/>
          <p:cNvSpPr/>
          <p:nvPr/>
        </p:nvSpPr>
        <p:spPr>
          <a:xfrm>
            <a:off x="914400" y="2057400"/>
            <a:ext cx="10195560" cy="804672"/>
          </a:xfrm>
          <a:prstGeom prst="rect">
            <a:avLst/>
          </a:prstGeom>
          <a:noFill/>
          <a:ln/>
        </p:spPr>
        <p:txBody>
          <a:bodyPr wrap="square" lIns="0" tIns="0" rIns="0" bIns="0" rtlCol="0" anchor="t"/>
          <a:lstStyle/>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m_field.setRobotPose(pose);</a:t>
            </a:r>
            <a:endParaRPr lang="en-US" sz="1700" dirty="0"/>
          </a:p>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Telemetry.log("Field", m_field);</a:t>
            </a:r>
            <a:endParaRPr lang="en-US" sz="1700" dirty="0"/>
          </a:p>
        </p:txBody>
      </p:sp>
      <p:sp>
        <p:nvSpPr>
          <p:cNvPr id="12" name="Shape 9"/>
          <p:cNvSpPr/>
          <p:nvPr/>
        </p:nvSpPr>
        <p:spPr>
          <a:xfrm>
            <a:off x="640080" y="3337560"/>
            <a:ext cx="10881360" cy="3017520"/>
          </a:xfrm>
          <a:prstGeom prst="roundRect">
            <a:avLst>
              <a:gd name="adj" fmla="val 3030"/>
            </a:avLst>
          </a:prstGeom>
          <a:solidFill>
            <a:srgbClr val="F3F6FA"/>
          </a:solidFill>
          <a:ln/>
        </p:spPr>
      </p:sp>
      <p:sp>
        <p:nvSpPr>
          <p:cNvPr id="13" name="Text 10"/>
          <p:cNvSpPr/>
          <p:nvPr/>
        </p:nvSpPr>
        <p:spPr>
          <a:xfrm>
            <a:off x="914400" y="36118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Move it, then log it — every tick, like every number.</a:t>
            </a:r>
            <a:endParaRPr lang="en-US" sz="2200" dirty="0"/>
          </a:p>
        </p:txBody>
      </p:sp>
      <p:sp>
        <p:nvSpPr>
          <p:cNvPr id="14" name="Text 11"/>
          <p:cNvSpPr/>
          <p:nvPr/>
        </p:nvSpPr>
        <p:spPr>
          <a:xfrm>
            <a:off x="914400" y="4189730"/>
            <a:ext cx="10332720" cy="18910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Telemetry.log sends what the widget holds at that moment; logged once in the constructor, the view would show the robot where it started, forever. In SimGUI, NetworkTables → Telemetry → Field opens a field pane right in the sim window; the logged Pose2d is still what AdvantageScope uses.</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mpressarrows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Autos usually start from a known place</a:t>
            </a:r>
            <a:endParaRPr lang="en-US" sz="3000" dirty="0"/>
          </a:p>
        </p:txBody>
      </p:sp>
      <p:sp>
        <p:nvSpPr>
          <p:cNvPr id="6" name="Shape 3"/>
          <p:cNvSpPr/>
          <p:nvPr/>
        </p:nvSpPr>
        <p:spPr>
          <a:xfrm>
            <a:off x="640080" y="1463040"/>
            <a:ext cx="1088136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a:t>
            </a:r>
            <a:endParaRPr lang="en-US" sz="1500" dirty="0"/>
          </a:p>
        </p:txBody>
      </p:sp>
      <p:sp>
        <p:nvSpPr>
          <p:cNvPr id="11" name="Text 8"/>
          <p:cNvSpPr/>
          <p:nvPr/>
        </p:nvSpPr>
        <p:spPr>
          <a:xfrm>
            <a:off x="914400" y="1920240"/>
            <a:ext cx="10195560" cy="153619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Tell odometry the robot is actually at 'pose' right now. */</a:t>
            </a:r>
            <a:endParaRPr lang="en-US" sz="1500" dirty="0"/>
          </a:p>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public void resetPose(Pose2d pose)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m_odometry.resetPosition(</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Rotation2d.fromDegrees(getHeadingDegrees()), modulePositions(), pose);</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3840480"/>
            <a:ext cx="10881360" cy="2560320"/>
          </a:xfrm>
          <a:prstGeom prst="roundRect">
            <a:avLst>
              <a:gd name="adj" fmla="val 3571"/>
            </a:avLst>
          </a:prstGeom>
          <a:solidFill>
            <a:srgbClr val="F3F6FA"/>
          </a:solidFill>
          <a:ln/>
        </p:spPr>
      </p:sp>
      <p:sp>
        <p:nvSpPr>
          <p:cNvPr id="13" name="Text 10"/>
          <p:cNvSpPr/>
          <p:nvPr/>
        </p:nvSpPr>
        <p:spPr>
          <a:xfrm>
            <a:off x="914400" y="4114800"/>
            <a:ext cx="10332720" cy="895350"/>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modulePositions()'s second job — build-in-a-loop paying rent twice in one lesson.</a:t>
            </a:r>
            <a:endParaRPr lang="en-US" sz="2100" dirty="0"/>
          </a:p>
        </p:txBody>
      </p:sp>
      <p:sp>
        <p:nvSpPr>
          <p:cNvPr id="14" name="Text 11"/>
          <p:cNvSpPr/>
          <p:nvPr/>
        </p:nvSpPr>
        <p:spPr>
          <a:xfrm>
            <a:off x="914400" y="5010150"/>
            <a:ext cx="10332720" cy="111633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Call resetPose at the top of an auto factory so odometry starts at, say, new Pose2d(2, 5, Rotation2d.fromDegrees(0)). Everything the auto reports from then on is anchored to that origin.</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alculato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Three P controllers stacked: x, y, heading</a:t>
            </a:r>
            <a:endParaRPr lang="en-US" sz="3000" dirty="0"/>
          </a:p>
        </p:txBody>
      </p:sp>
      <p:sp>
        <p:nvSpPr>
          <p:cNvPr id="6" name="Shape 3"/>
          <p:cNvSpPr/>
          <p:nvPr/>
        </p:nvSpPr>
        <p:spPr>
          <a:xfrm>
            <a:off x="640080" y="1280160"/>
            <a:ext cx="10881360" cy="4846320"/>
          </a:xfrm>
          <a:prstGeom prst="roundRect">
            <a:avLst>
              <a:gd name="adj" fmla="val 22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426464"/>
            <a:ext cx="128016" cy="128016"/>
          </a:xfrm>
          <a:prstGeom prst="ellipse">
            <a:avLst/>
          </a:prstGeom>
          <a:solidFill>
            <a:srgbClr val="FF6B6B"/>
          </a:solidFill>
          <a:ln/>
        </p:spPr>
      </p:sp>
      <p:sp>
        <p:nvSpPr>
          <p:cNvPr id="8" name="Shape 5"/>
          <p:cNvSpPr/>
          <p:nvPr/>
        </p:nvSpPr>
        <p:spPr>
          <a:xfrm>
            <a:off x="11210544" y="1627632"/>
            <a:ext cx="128016" cy="128016"/>
          </a:xfrm>
          <a:prstGeom prst="ellipse">
            <a:avLst/>
          </a:prstGeom>
          <a:solidFill>
            <a:srgbClr val="FFD166"/>
          </a:solidFill>
          <a:ln/>
        </p:spPr>
      </p:sp>
      <p:sp>
        <p:nvSpPr>
          <p:cNvPr id="9" name="Shape 6"/>
          <p:cNvSpPr/>
          <p:nvPr/>
        </p:nvSpPr>
        <p:spPr>
          <a:xfrm>
            <a:off x="11210544" y="1828800"/>
            <a:ext cx="128016" cy="128016"/>
          </a:xfrm>
          <a:prstGeom prst="ellipse">
            <a:avLst/>
          </a:prstGeom>
          <a:solidFill>
            <a:srgbClr val="2EC4B6"/>
          </a:solidFill>
          <a:ln/>
        </p:spPr>
      </p:sp>
      <p:sp>
        <p:nvSpPr>
          <p:cNvPr id="10" name="Text 7"/>
          <p:cNvSpPr/>
          <p:nvPr/>
        </p:nvSpPr>
        <p:spPr>
          <a:xfrm>
            <a:off x="914400" y="140817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a:t>
            </a:r>
            <a:endParaRPr lang="en-US" sz="1500" dirty="0"/>
          </a:p>
        </p:txBody>
      </p:sp>
      <p:sp>
        <p:nvSpPr>
          <p:cNvPr id="11" name="Text 8"/>
          <p:cNvSpPr/>
          <p:nvPr/>
        </p:nvSpPr>
        <p:spPr>
          <a:xfrm>
            <a:off x="914400" y="1737360"/>
            <a:ext cx="10195560" cy="418795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Drive straight toward 'target' using P control, field-relative. Finishes within 5 cm. */</a:t>
            </a:r>
            <a:endParaRPr lang="en-US" sz="1100" dirty="0"/>
          </a:p>
          <a:p>
            <a:pPr indent="0" marL="0">
              <a:lnSpc>
                <a:spcPct val="120000"/>
              </a:lnSpc>
              <a:buNone/>
            </a:pPr>
            <a:r>
              <a:rPr lang="en-US" sz="1100" dirty="0">
                <a:solidFill>
                  <a:srgbClr val="FFD166"/>
                </a:solidFill>
                <a:latin typeface="Courier New" pitchFamily="34" charset="0"/>
                <a:ea typeface="Courier New" pitchFamily="34" charset="-122"/>
                <a:cs typeface="Courier New" pitchFamily="34" charset="-120"/>
              </a:rPr>
              <a:t>public Command driveToPose(Pose2d target)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maxMps = DriveConstants.kMaxSpeed.in(MetersPerSecond); // convert once, reuse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return runRepeatedly(() -&gt; {</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Pose2d current = getPose();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dx = target.getX() - current.getX();</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double dy = target.getY() - current.getY();</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double vx = clamp(1.5 * dx, -maxMps, maxMps);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double vy = clamp(1.5 * dy, -maxMps, maxMps);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double omega = clamp(</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3.0 * target.getRotation().minus(current.getRotation()).getRadians(),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-Math.PI, Math.PI);</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ChassisVelocities fieldSpeeds = new ChassisVelocities(vx, vy, omega);</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applyChassisSpeeds(fieldSpeeds.toRobotRelative(current.getRotation()));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.whenCanceled(() -&gt; applyChassisSpeeds(new ChassisVelocities()))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.until(() -&gt; getPose().minus(target).getTranslation().getNorm() &lt; 0.05)</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.named("Drive To Pose");</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flagcheckere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6 · .UNTIL(...) IS NEW</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One cleanup path covers every way it can end</a:t>
            </a:r>
            <a:endParaRPr lang="en-US" sz="3000" dirty="0"/>
          </a:p>
        </p:txBody>
      </p:sp>
      <p:sp>
        <p:nvSpPr>
          <p:cNvPr id="6" name="Shape 3"/>
          <p:cNvSpPr/>
          <p:nvPr/>
        </p:nvSpPr>
        <p:spPr>
          <a:xfrm>
            <a:off x="640080" y="1691640"/>
            <a:ext cx="5349240" cy="4160520"/>
          </a:xfrm>
          <a:prstGeom prst="roundRect">
            <a:avLst>
              <a:gd name="adj" fmla="val 2637"/>
            </a:avLst>
          </a:prstGeom>
          <a:solidFill>
            <a:srgbClr val="132A4C"/>
          </a:solidFill>
          <a:ln/>
        </p:spPr>
      </p:sp>
      <p:sp>
        <p:nvSpPr>
          <p:cNvPr id="7" name="Text 4"/>
          <p:cNvSpPr/>
          <p:nvPr/>
        </p:nvSpPr>
        <p:spPr>
          <a:xfrm>
            <a:off x="914400" y="1920240"/>
            <a:ext cx="4800600" cy="777240"/>
          </a:xfrm>
          <a:prstGeom prst="rect">
            <a:avLst/>
          </a:prstGeom>
          <a:noFill/>
          <a:ln/>
        </p:spPr>
        <p:txBody>
          <a:bodyPr wrap="square" lIns="0" tIns="0" rIns="0" bIns="0" rtlCol="0" anchor="t"/>
          <a:lstStyle/>
          <a:p>
            <a:pPr indent="0" marL="0">
              <a:lnSpc>
                <a:spcPct val="120000"/>
              </a:lnSpc>
              <a:buNone/>
            </a:pPr>
            <a:r>
              <a:rPr lang="en-US" sz="2100" b="1" dirty="0">
                <a:solidFill>
                  <a:srgbClr val="FF5010"/>
                </a:solidFill>
                <a:latin typeface="Cambria" pitchFamily="34" charset="0"/>
                <a:ea typeface="Cambria" pitchFamily="34" charset="-122"/>
                <a:cs typeface="Cambria" pitchFamily="34" charset="-120"/>
              </a:rPr>
              <a:t>It ends the command by interrupting it.</a:t>
            </a:r>
            <a:endParaRPr lang="en-US" sz="2100" dirty="0"/>
          </a:p>
        </p:txBody>
      </p:sp>
      <p:sp>
        <p:nvSpPr>
          <p:cNvPr id="8" name="Text 5"/>
          <p:cNvSpPr/>
          <p:nvPr/>
        </p:nvSpPr>
        <p:spPr>
          <a:xfrm>
            <a:off x="914400" y="2743200"/>
            <a:ext cx="4800600" cy="2926080"/>
          </a:xfrm>
          <a:prstGeom prst="rect">
            <a:avLst/>
          </a:prstGeom>
          <a:noFill/>
          <a:ln/>
        </p:spPr>
        <p:txBody>
          <a:bodyPr wrap="square" lIns="0" tIns="0" rIns="0" bIns="0" rtlCol="0" anchor="t"/>
          <a:lstStyle/>
          <a:p>
            <a:pPr indent="0" marL="0">
              <a:lnSpc>
                <a:spcPct val="130000"/>
              </a:lnSpc>
              <a:buNone/>
            </a:pPr>
            <a:r>
              <a:rPr lang="en-US" sz="2000" dirty="0">
                <a:solidFill>
                  <a:srgbClr val="D7E3F4"/>
                </a:solidFill>
                <a:latin typeface="Calibri" pitchFamily="34" charset="0"/>
                <a:ea typeface="Calibri" pitchFamily="34" charset="-122"/>
                <a:cs typeface="Calibri" pitchFamily="34" charset="-120"/>
              </a:rPr>
              <a:t>After each tick, the scheduler checks the condition and stops the command the moment it's true — not the same as a coroutine body running out of lines the way driveDistance's while loop does in Lesson 6.</a:t>
            </a:r>
            <a:endParaRPr lang="en-US" sz="2000" dirty="0"/>
          </a:p>
        </p:txBody>
      </p:sp>
      <p:sp>
        <p:nvSpPr>
          <p:cNvPr id="9" name="Shape 6"/>
          <p:cNvSpPr/>
          <p:nvPr/>
        </p:nvSpPr>
        <p:spPr>
          <a:xfrm>
            <a:off x="6172200" y="1691640"/>
            <a:ext cx="5349240" cy="4160520"/>
          </a:xfrm>
          <a:prstGeom prst="roundRect">
            <a:avLst>
              <a:gd name="adj" fmla="val 2637"/>
            </a:avLst>
          </a:prstGeom>
          <a:solidFill>
            <a:srgbClr val="132A4C"/>
          </a:solidFill>
          <a:ln/>
        </p:spPr>
      </p:sp>
      <p:sp>
        <p:nvSpPr>
          <p:cNvPr id="10" name="Text 7"/>
          <p:cNvSpPr/>
          <p:nvPr/>
        </p:nvSpPr>
        <p:spPr>
          <a:xfrm>
            <a:off x="6446520" y="1920240"/>
            <a:ext cx="4800600" cy="777240"/>
          </a:xfrm>
          <a:prstGeom prst="rect">
            <a:avLst/>
          </a:prstGeom>
          <a:noFill/>
          <a:ln/>
        </p:spPr>
        <p:txBody>
          <a:bodyPr wrap="square" lIns="0" tIns="0" rIns="0" bIns="0" rtlCol="0" anchor="t"/>
          <a:lstStyle/>
          <a:p>
            <a:pPr indent="0" marL="0">
              <a:lnSpc>
                <a:spcPct val="120000"/>
              </a:lnSpc>
              <a:buNone/>
            </a:pPr>
            <a:r>
              <a:rPr lang="en-US" sz="2100" b="1" dirty="0">
                <a:solidFill>
                  <a:srgbClr val="FF5010"/>
                </a:solidFill>
                <a:latin typeface="Cambria" pitchFamily="34" charset="0"/>
                <a:ea typeface="Cambria" pitchFamily="34" charset="-122"/>
                <a:cs typeface="Cambria" pitchFamily="34" charset="-120"/>
              </a:rPr>
              <a:t>.whenCanceled(...) fires every time — reached target or not.</a:t>
            </a:r>
            <a:endParaRPr lang="en-US" sz="2100" dirty="0"/>
          </a:p>
        </p:txBody>
      </p:sp>
      <p:sp>
        <p:nvSpPr>
          <p:cNvPr id="11" name="Text 8"/>
          <p:cNvSpPr/>
          <p:nvPr/>
        </p:nvSpPr>
        <p:spPr>
          <a:xfrm>
            <a:off x="6446520" y="2743200"/>
            <a:ext cx="4800600" cy="2926080"/>
          </a:xfrm>
          <a:prstGeom prst="rect">
            <a:avLst/>
          </a:prstGeom>
          <a:noFill/>
          <a:ln/>
        </p:spPr>
        <p:txBody>
          <a:bodyPr wrap="square" lIns="0" tIns="0" rIns="0" bIns="0" rtlCol="0" anchor="t"/>
          <a:lstStyle/>
          <a:p>
            <a:pPr indent="0" marL="0">
              <a:lnSpc>
                <a:spcPct val="130000"/>
              </a:lnSpc>
              <a:buNone/>
            </a:pPr>
            <a:r>
              <a:rPr lang="en-US" sz="2000" dirty="0">
                <a:solidFill>
                  <a:srgbClr val="D7E3F4"/>
                </a:solidFill>
                <a:latin typeface="Calibri" pitchFamily="34" charset="0"/>
                <a:ea typeface="Calibri" pitchFamily="34" charset="-122"/>
                <a:cs typeface="Calibri" pitchFamily="34" charset="-120"/>
              </a:rPr>
              <a:t>Simpler than Lesson 6's two separate cleanup paths: one cleanup here covers both "got there" and "got interrupted," because as far as the scheduler's concerned, both endings are the same kind of ending.</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14</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Reset the pose from a button</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resetPose(new Pose2d()) and confirm the robot on the field jumps back to (0, 0, 0°).</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Drive a square, watch drift</a:t>
            </a:r>
            <a:endParaRPr lang="en-US" sz="2000" dirty="0"/>
          </a:p>
        </p:txBody>
      </p:sp>
      <p:sp>
        <p:nvSpPr>
          <p:cNvPr id="17" name="Text 14"/>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Forward, strafe, back, strafe, try to end exactly where you started. That accumulating error is why teams add vision.</a:t>
            </a:r>
            <a:endParaRPr lang="en-US" sz="2000" dirty="0"/>
          </a:p>
        </p:txBody>
      </p:sp>
      <p:sp>
        <p:nvSpPr>
          <p:cNvPr id="18" name="Shape 15"/>
          <p:cNvSpPr/>
          <p:nvPr/>
        </p:nvSpPr>
        <p:spPr>
          <a:xfrm>
            <a:off x="640080" y="4023360"/>
            <a:ext cx="5303520" cy="2286000"/>
          </a:xfrm>
          <a:prstGeom prst="roundRect">
            <a:avLst>
              <a:gd name="adj" fmla="val 4800"/>
            </a:avLst>
          </a:prstGeom>
          <a:solidFill>
            <a:srgbClr val="132A4C"/>
          </a:solidFill>
          <a:ln/>
        </p:spPr>
      </p:sp>
      <p:sp>
        <p:nvSpPr>
          <p:cNvPr id="19" name="Shape 16"/>
          <p:cNvSpPr/>
          <p:nvPr/>
        </p:nvSpPr>
        <p:spPr>
          <a:xfrm>
            <a:off x="960120" y="4251960"/>
            <a:ext cx="457200" cy="457200"/>
          </a:xfrm>
          <a:prstGeom prst="ellipse">
            <a:avLst/>
          </a:prstGeom>
          <a:solidFill>
            <a:srgbClr val="1B9AAA"/>
          </a:solidFill>
          <a:ln/>
        </p:spPr>
      </p:sp>
      <p:sp>
        <p:nvSpPr>
          <p:cNvPr id="20" name="Text 17"/>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8"/>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Watch Rotation2d do the wrap</a:t>
            </a:r>
            <a:endParaRPr lang="en-US" sz="2000" dirty="0"/>
          </a:p>
        </p:txBody>
      </p:sp>
      <p:sp>
        <p:nvSpPr>
          <p:cNvPr id="22" name="Shape 19"/>
          <p:cNvSpPr/>
          <p:nvPr/>
        </p:nvSpPr>
        <p:spPr>
          <a:xfrm>
            <a:off x="4206240" y="4334256"/>
            <a:ext cx="1417320" cy="292608"/>
          </a:xfrm>
          <a:prstGeom prst="roundRect">
            <a:avLst>
              <a:gd name="adj" fmla="val 18750"/>
            </a:avLst>
          </a:prstGeom>
          <a:solidFill>
            <a:srgbClr val="FF5010"/>
          </a:solidFill>
          <a:ln/>
        </p:spPr>
      </p:sp>
      <p:sp>
        <p:nvSpPr>
          <p:cNvPr id="23" name="Text 20"/>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4" name="Text 21"/>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Point near -170°, target +170°. The logged error should read about -20°, not +340° — minus always takes the short way.</a:t>
            </a:r>
            <a:endParaRPr lang="en-US" sz="2000" dirty="0"/>
          </a:p>
        </p:txBody>
      </p:sp>
      <p:sp>
        <p:nvSpPr>
          <p:cNvPr id="25" name="Text 2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26" name="Text 2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15</a:t>
            </a:r>
            <a:endParaRPr lang="en-US" sz="2000" dirty="0"/>
          </a:p>
        </p:txBody>
      </p:sp>
      <p:pic>
        <p:nvPicPr>
          <p:cNvPr id="27"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robot finally knows where it is</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SwerveModulePosition per corner, integrated by SwerveDriveOdometry into a running Pose2d.</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Building an array in a loop: allocate, fill, hand it off — modulePositions() reused it three times.</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The deeper pattern: everything in this course has been measure-subtract-multiply-clamp-command wearing different sensors.</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12</a:t>
            </a:r>
            <a:endParaRPr lang="en-US" sz="2600" dirty="0"/>
          </a:p>
        </p:txBody>
      </p:sp>
      <p:sp>
        <p:nvSpPr>
          <p:cNvPr id="10" name="Text 7"/>
          <p:cNvSpPr/>
          <p:nvPr/>
        </p:nvSpPr>
        <p:spPr>
          <a:xfrm>
            <a:off x="7589520" y="2834640"/>
            <a:ext cx="3657600" cy="822960"/>
          </a:xfrm>
          <a:prstGeom prst="rect">
            <a:avLst/>
          </a:prstGeom>
          <a:noFill/>
          <a:ln/>
        </p:spPr>
        <p:txBody>
          <a:bodyPr wrap="square" lIns="0" tIns="0" rIns="0" bIns="0" rtlCol="0" anchor="t"/>
          <a:lstStyle/>
          <a:p>
            <a:pPr indent="0" marL="0">
              <a:lnSpc>
                <a:spcPct val="110000"/>
              </a:lnSpc>
              <a:buNone/>
            </a:pPr>
            <a:r>
              <a:rPr lang="en-US" sz="2200" b="1" dirty="0">
                <a:solidFill>
                  <a:srgbClr val="FFFFFF"/>
                </a:solidFill>
                <a:latin typeface="Cambria" pitchFamily="34" charset="0"/>
                <a:ea typeface="Cambria" pitchFamily="34" charset="-122"/>
                <a:cs typeface="Cambria" pitchFamily="34" charset="-120"/>
              </a:rPr>
              <a:t>Model-Based Control</a:t>
            </a:r>
            <a:endParaRPr lang="en-US" sz="2200" dirty="0"/>
          </a:p>
        </p:txBody>
      </p:sp>
      <p:sp>
        <p:nvSpPr>
          <p:cNvPr id="11" name="Text 8"/>
          <p:cNvSpPr/>
          <p:nvPr/>
        </p:nvSpPr>
        <p:spPr>
          <a:xfrm>
            <a:off x="7589520" y="3749040"/>
            <a:ext cx="3657600" cy="128016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Move the control loops onto the motor controllers themselves.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ODOMETRY &amp; FIELD</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16</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 — Odometry &amp; Field View</dc:title>
  <dc:subject>PptxGenJS Presentation</dc:subject>
  <dc:creator>Learn Java + Robot Programming</dc:creator>
  <cp:lastModifiedBy>Learn Java + Robot Programming</cp:lastModifiedBy>
  <cp:revision>1</cp:revision>
  <dcterms:created xsi:type="dcterms:W3CDTF">2026-09-27T19:00:33Z</dcterms:created>
  <dcterms:modified xsi:type="dcterms:W3CDTF">2026-09-27T19:00:33Z</dcterms:modified>
</cp:coreProperties>
</file>