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drivetrain half of the course is done: the robot drives itself along drawn paths and knows where it is. Now it gets something to do when it arrives — a scoring elevator. It's built on the same IO-layer spine Lesson 13 gave the drivetrain, so most of the files will look familiar. What's new is the job: an elevator has to stay where you put it, against gravity, for as long as you ask. That changes how you control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small Java idea: measures like Distance can be compared to each other directly, so a clamp doesn't have to unpack them to doubles first. The robot ideas are the real load. Motion Magic is Phoenix generating a smooth trapezoidal move in firmware — a cruise speed and an acceleration, not just a target. The full feedforward model gives the controller a term for each physical effect: kG for gravity, kV for speed, kA for acceleration, with kP shrunk to a small trim. Elevator_Static tells the controller that gravity's pull doesn't change with height. The gains come from the Kraken X60's spec sheet, not from guessing. And you'll learn to tell apart three numbers every profiled mechanism has: the goal, the setpoint, and the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 qualitatively different job from steering, and it's worth understanding why the steering gains you already have — SteerConstants.kP = 40.0, back in Lesson 5 — won't do it alone. The next slide is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pure proportional controller holding the elevator up. Gravity constantly pulls the carriage down, so the motor constantly needs some voltage just to stand still. But the only way a P controller produces voltage is by first tolerating error. Ask it to hold with zero error, and it commands zero volts, and the carriage starts falling — which creates error — which makes it command voltage again. The system doesn't fail loudly. It finds a quiet compromise: a small, permanent gap, just large enough that kP times the gap happens to equal the holding voltage. That gap is easy to miss on a graph, because nothing looks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voltage, not accidental voltage, is the fix: instead of asking kP to back into the right voltage through tolerated error, compute what the mechanism actually needs and hand it over directly. kP's job shrinks to correcting whatever the model got wrong — a trim, not the whole controller. Every profiled mechanism in this course gets that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gain on the next three slides comes from one of these two numbers, walked through the gearbox. Free speed: 6000 RPM on 12 V is 100 rotations a second, so it takes 0.12 V to sustain each rotor rotation per second. Stall torque: 7.09 N·m on 12 V, so it takes 1.69 V for each N·m at the rotor. The walk is always the same shape: figure out what the mechanism — the drum — needs, convert that to what the rotor needs, then multiply by whichever factor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elevator's gear ratio is 12.0 — twelve rotor rotations per drum rotation — so sustaining one drum rotation per second means sustaining twelve rotor rotations per second. Multiply by the speed factor: 12 × 0.12 = 1.44. That's kElevatorKV. Phoenix's SensorToMechanismRatio makes the closed loop run in drum rotations, the same way DriveConstants.kDriveKV = 0.8 is volts per wheel rotation per second, not per rotor rotation. kG and kA, on the next two slides, take the same walk through the torque factor instead of the speed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carriage weighs kCarriageMass = 5 kg, so gravity pulls with 5 × 9.81 ≈ 49.05 N. That force acts at the drum's radius — kDrumRadius, 1 inch, 0.0254 m — so the drum needs 49.05 × 0.0254 ≈ 1.246 N·m just to stand still. Reflect that back through the gearbox to the rotor — dividing by the gear ratio this time, since the gearbox multiplies torque going the other way — and the rotor needs 1.246 / 12 ≈ 0.104 N·m. Multiply by the torque factor: 0.104 × 1.69 ≈ 0.18 V. That's kElevatorKG. Nothing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walk as kG, with one extra step at the front. kA is volts per drum rotation per second squared, so first turn that acceleration into meters: one drum rotation moves the carriage one drum circumference, 2π × 0.0254 ≈ 0.160 m, so speeding the drum up by one rotation per second, every second, speeds the carriage up by 0.160 m/s². Pushing 5 kg that hard takes 5 × 0.160 ≈ 0.798 N — F = m·a, the same way m·g gave kG its force. At the drum's radius that's 0.798 × 0.0254 ≈ 0.0203 N·m; through the gearbox, 0.0203 / 12 ≈ 0.00169 N·m at the rotor; times the torque factor, 0.00169 × 1.69 ≈ 0.003 V. That's kElevatorKA — the smallest of the three by far, because it only pays for how sharply the profile speeds up and slows down, not for holding still or cruising. It counts only the carriage's mass; a real elevator's motor and drum have spinning parts of their own that add a little more, which is one reason section 10 still checks it against a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ElevatorConstants goes inside Constants, alongside DriveConstants, SteerConstants and the rest. kGearRatio, kDrumRadius and kCarriageMass are the three facts the gain arithmetic used. kMinHeight and kMaxHeight are the travel range, which the Elevator will clamp every request to. kMaxVelocity and kMaxAcceleration are the mechanism's numbers — meters per second and meters per second squared of carriage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kElevatorKG and kElevatorKV are the two numbers worked out on the last two slides. kElevatorKA is the small one you'll confirm from a graph. kElevatorKP = 20.0 is the trim. The three presets are what the D-pad will ask for: stowed at 2 cm, mid at 0.75 m, high at 1.45 m. kTolerance is how close counts as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new static imports — Centimeters, Inches, Kilograms and MetersPerSecondPerSecond — plus the measure types Distance, Mass and LinearAcceleration, next to the AngularVelocity and LinearVelocity imports already there. Every new CAN device needs an ID nobody else has; 20 is just a number that's free on the course's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PositionVoltage, back in Lesson 5, snaps straight to a target angle — fine for steering, where the whole trip takes a fraction of a second. Ask an elevator to jump from stowed to full height the same way and you'd get a violent, all-or-nothing lurch. Motion Magic is Phoenix's answer: you hand the firmware a cruise velocity and an acceleration, and it generates a smooth trapezoidal profile on its own — ramp up, cruise, ramp down — recalculating it continuously as you change the goal. You still supply the same gains. MotionMagicConfigs wants drum rotations per second and per second squared, the same mechanism-side units the gains use, so section 6 converts kMaxVelocity and kMaxAcceleration from 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live in src/main/java/first/robot/subsystems, next to the drivetrain's files. If the shape looks familiar, it should: ModuleIO, ModuleIOTalonFX, ModuleIOSim and SwerveModule from Lesson 13 are the same four roles. The next slides fill them in, one file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as ModuleIO and GyroIO from Lesson 13 — a bundle of sensor readings, and default do-nothing methods so a REPLAY implementation needs zero code of its own. Look twice at setpointMeters before moving on: it's the third number, and the next slide is about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tempting to think a mechanism has only two numbers worth tracking — where you asked it to go, and where it is. There's a third: where the profile currently says it should be, mid-ramp. Plot position against the goal alone and you see a step next to a smooth curve, and you can't tell whether a gap is the profile still ramping up — which is supposed to happen — or the motor failing to keep up with a profile that's already there. Section 10 puts this number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imports are new to you: MotionMagicVoltage, the control request that asks for a profiled move, and GravityTypeValue, which tells the closed loop what shape gravity's pull has. Everything else you've imported before for the drive and steer motors.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m_motor is protected rather than private for the same reason ModuleIOTalonFX's motors are: the sim class will extend this one and reach in for the motor's sim state. SensorToMechanismRatio = kGearRatio makes every gain, and every position the motor reports, live in drum rotations instead of rotor rotations. Then the full feedforward set: kG with its gravity type, kV, kA, and kP last — the trim.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cruise velocity and acceleration go in as drum rotations, converted from the meters in Constants by metersToRotations — written on the next slide. updateInputs reads four things. Three you'd expect: height, velocity, applied volts. The fourth, getClosedLoopReference(), is the profile's own live setpoint straight from the firmware — the third number from two slides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drum rotation lifts the carriage by one drum circumference, 2π × radius — the same way one wheel rotation moves the robot one wheel circumference. setGoalHeightMeters converts the requested height and hands Motion Magic the position as a measure. The conversions are protected, not private, because the sim class reaches straight in and reuses them instead of redefining the same conversion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GravityTypeValue.Elevator_Static tells the closed loop that kG's contribution doesn't depend on where the carriage is — full weight, full holding voltage, at the bottom or the top. An arm's gravity load does change with angle, which is a different GravityTypeValue a later lesson introduces. SensorToMechanismRatio is the same trick ModuleIOTalonFX already uses for the drive and steer motors. And there's no getValueAsDouble() anywhere: every StatusSignal in this API gives you .getValue() and nothing shorter — for a Voltage or an Angle that means unpacking with .in(...), and for a bare Double like getClosedLoopReference()'s it just auto-unboxes.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Extending the real class means inheriting its motor and its configs — every gain you just set runs in the simulated firmware too. The physics model this time is WPILib's ElevatorSim: it already knows how to turn a voltage into a height and a velocity, and with simulateGravity on, a carriage that falls when nothing holds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takes the same facts the gain arithmetic used — one Kraken X60, the 12:1 gearbox, a 5 kg carriage, a 1-inch drum — plus the travel range and a starting height. Nothing here is tuned for the sim: if the model and the gains disagree, that's worth knowing. super() builds the motor and applies the real configs; then the constructor grabs the motor's sim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tick: tell the simulated motor what the battery is doing, hand the model whatever voltage the simulated firmware decided to apply, advance the physics 20 ms, then feed the result back as rotor position and velocity. The model speaks meters at the carriage; the motor's sim state wants rotor rotations, so the height goes through the drum (metersToRotations) and then the gearbox (× kGearRatio). updateInputs steps first and then reads exactly the way the real class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Elevator is the class every command talks to. Nothing outside it knows whether the motor behind it is real, simulated, or a log being replayed.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 switch is the same one Drivetrain has used since Lesson 13: real hardware, the simulated version, or an empty IO whose inputs come from the log. m_goal remembers the last height asked for — it starts stowed, where the sim model starts too. Mechanism doesn't hand you a periodic() hook of its own, so you ask the scheduler for one the same way Drivetrain already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periodic reads the IO into the bundle and logs all three of goal, setpoint and height, plus velocity and applied volts — everything section 10 will graph. goToHeight clamps the target to the travel range, hands it to the IO, and finishes once the carriage is within tolerance. It keeps holding after it finishes, because a Motion Magic request is a standing order to the firmware — more on that in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atGoal compares the measured height with the goal, inside kTolerance. getHeightMeters is a plain getter. clampToTravel keeps every request inside the travel range before it ever reaches the motor — the next slide is about how it compares two Distances without unpacking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WPILib's units library gives every measure type ordering through the Measure interface, so a typed clamp reads almost exactly like the double-based one Drivetrain already has. Every drive command you've written stops the robot on cancellation, because leaving a swerve module spinning is dangerous. An elevator command is the opposite case: the firmware keeps running a Motion Magic request until something replaces it. If goToHeight gets interrupted by a fresh call to itself — pressing a different D-pad direction — the new command's runRepeatedly immediately issues a new goal, and the old one's absence changes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field on Robot is built once, when the program starts, and every opmode gets the same Robot handed to its constructor — which is how the teleop opmode will reach the elevator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onTrue schedules the command once per press. Press a different direction mid-move and the new goToHeight takes over immediately — the carriage just gets a new standing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./gradlew simulateJava, enable Teleoperated, open AdvantageScope, expand NetworkTables → Telemetry → Elevator, tap the D-pad, and watch HeightMeters climb toward whichever preset you asked for and stay there. That "and stay there"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gain here was computed, not guessed — but "computed" still means "worth checking against what the robot actually does." Each curve answers a different question: the goal is a step (what you asked for), the setpoint is the smooth ramp Motion Magic generated (what the profile is asking for right now), and the height is what the carriage is actually doing. A gap between setpoint and height is the controller failing to keep up; a gap between goal and setpoint is the profile still ramping, which is supposed to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first, then kV, then kA, then kP last, as the smallest possible trim — each wrong gain has its own signature on the graph. A wrong kG is a fixed offset from the setpoint that never goes away on its own: small here, because 0.18 V is small. A wrong kV shows up only while moving — position lagging setpoint during the flat part of the profile, closing again as it decelerates. A wrong kA is the subtlest: a brief spike right at the ramp edges, vanishing at constant speed — easy to miss unless you're looking for it. With the model correct, the fully settled gap lands under a quarter of a millimeter; if you find yourself raising kP to chase more than that, the real bug is almost always in kG, kV or 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predict kV's effect before measuring it. A 1.0 m/s cruise is about 6.3 drum rotations a second, which costs 1.44 × 6.3 ≈ 9 V. With no kV, kP = 20 can only make 9 V out of about 0.45 rotations of error — some 7 cm. Measured moving the full travel range with kElevatorKV zeroed: about 9 cm of peak lag — the 7 cm, plus a little extra while the profile is still speeding up. With the model in place, the same move: 1.5 to 2 cm. Both numbers wander by several millimeters from run to run, so don't expect to match them to the millimeter. kP = 20 is doing real work either way; the difference is how much it's forced to do versus how much the model already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lesson runs safely in the simulator, where a wrong gain costs nothing. On a real elevator, a wrong kG means a carriage that drifts or jumps, and you want to find that out on a slow, short move, with hands ready, before you ask for the full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Give ElevatorConstants a kScoreLow between kStowed and kScoreMid, and bind it to a face button. 2: Temporarily set kElevatorKG to 0.0, command kScoreMid, let it settle, and compare HeightMeters against GoalMeters — you should see almost exactly the gap section 10 measured. Do this in the simulator only, and put 0.18 back when you're done. 3: Bind a spare button to elevator.goToHeight(Meters.of(3.0)) — well past kMaxHeight — and watch GoalMeters clamp to 1.5 instead of jumping to 3.0: clampToTravel doing its job before the request ever reaches the motor. 4: Try kMaxVelocity = 0.5 m/s and kMaxAcceleration = 1.0 m/s². The setpoint curve stretches out — same shape, twice the time — while the tracking of setpoint by height barely changes, since that's governed by kV, kA and kP, not by how fast the profile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elevator's job is different from anything you'd automated before: it has to stay, not just arrive. The fix wasn't a bigger kP. It was a term for each physical effect, with kP shrunk to what's left once the model has done its job. Motion Magic turned "go here" into a real trapezoidal profile, and handed you the setpoint — without it, a lagging elevator and a still-ramping one look identical on a graph. And the IO layer from Lesson 13 paid for itself again: three new IO files, but nothing about how Elevator is used differs from Drivetrain's shape. That repetition isn't an accident — it's the pattern this course keeps handing you because it keeps being the right one. Next: watching the elevator move as more than numbers on a graph — drawing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18</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Scoring Elevator</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Holding a position, not just reaching one</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  ·  Phoenix 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arrowsaltv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An elevator that holds its height</a:t>
            </a:r>
            <a:endParaRPr lang="en-US" sz="3000" dirty="0"/>
          </a:p>
        </p:txBody>
      </p:sp>
      <p:sp>
        <p:nvSpPr>
          <p:cNvPr id="6" name="Shape 3"/>
          <p:cNvSpPr/>
          <p:nvPr/>
        </p:nvSpPr>
        <p:spPr>
          <a:xfrm>
            <a:off x="640080" y="1463040"/>
            <a:ext cx="10881360" cy="1600200"/>
          </a:xfrm>
          <a:prstGeom prst="roundRect">
            <a:avLst>
              <a:gd name="adj" fmla="val 5714"/>
            </a:avLst>
          </a:prstGeom>
          <a:solidFill>
            <a:srgbClr val="F3F6FA"/>
          </a:solidFill>
          <a:ln/>
        </p:spPr>
      </p:sp>
      <p:sp>
        <p:nvSpPr>
          <p:cNvPr id="7" name="Text 4"/>
          <p:cNvSpPr/>
          <p:nvPr/>
        </p:nvSpPr>
        <p:spPr>
          <a:xfrm>
            <a:off x="960120" y="1581912"/>
            <a:ext cx="10241280" cy="1371600"/>
          </a:xfrm>
          <a:prstGeom prst="rect">
            <a:avLst/>
          </a:prstGeom>
          <a:noFill/>
          <a:ln/>
        </p:spPr>
        <p:txBody>
          <a:bodyPr wrap="square" lIns="0" tIns="0" rIns="0" bIns="0" rtlCol="0" anchor="ctr"/>
          <a:lstStyle/>
          <a:p>
            <a:pPr indent="0" marL="0">
              <a:lnSpc>
                <a:spcPct val="120000"/>
              </a:lnSpc>
              <a:buNone/>
            </a:pPr>
            <a:r>
              <a:rPr lang="en-US" sz="1800" i="1" dirty="0">
                <a:solidFill>
                  <a:srgbClr val="13294B"/>
                </a:solidFill>
                <a:latin typeface="Cambria" pitchFamily="34" charset="0"/>
                <a:ea typeface="Cambria" pitchFamily="34" charset="-122"/>
                <a:cs typeface="Cambria" pitchFamily="34" charset="-120"/>
              </a:rPr>
              <a:t>Build a scoring elevator on Lesson 13's IO-layer spine — driven by Phoenix's Motion Magic profile generator and a full feedforward model — and bind it to three preset heights on the D-pad.</a:t>
            </a:r>
            <a:endParaRPr lang="en-US" sz="1800" dirty="0"/>
          </a:p>
        </p:txBody>
      </p:sp>
      <p:sp>
        <p:nvSpPr>
          <p:cNvPr id="8" name="Shape 5"/>
          <p:cNvSpPr/>
          <p:nvPr/>
        </p:nvSpPr>
        <p:spPr>
          <a:xfrm>
            <a:off x="640080" y="324612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355848"/>
            <a:ext cx="237744" cy="237744"/>
          </a:xfrm>
          <a:prstGeom prst="rect">
            <a:avLst/>
          </a:prstGeom>
        </p:spPr>
      </p:pic>
      <p:sp>
        <p:nvSpPr>
          <p:cNvPr id="10" name="Text 6"/>
          <p:cNvSpPr/>
          <p:nvPr/>
        </p:nvSpPr>
        <p:spPr>
          <a:xfrm>
            <a:off x="123444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13048"/>
            <a:ext cx="525780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Comparing measures directly — Distance.gt(...) and .lt(...), for a hand-rolled clamp</a:t>
            </a:r>
            <a:endParaRPr lang="en-US" sz="1900" dirty="0"/>
          </a:p>
        </p:txBody>
      </p:sp>
      <p:sp>
        <p:nvSpPr>
          <p:cNvPr id="12" name="Shape 8"/>
          <p:cNvSpPr/>
          <p:nvPr/>
        </p:nvSpPr>
        <p:spPr>
          <a:xfrm>
            <a:off x="6309360" y="3246120"/>
            <a:ext cx="457200" cy="457200"/>
          </a:xfrm>
          <a:prstGeom prst="ellipse">
            <a:avLst/>
          </a:prstGeom>
          <a:solidFill>
            <a:srgbClr val="FF5010"/>
          </a:solidFill>
          <a:ln/>
        </p:spPr>
      </p:sp>
      <p:pic>
        <p:nvPicPr>
          <p:cNvPr id="13" name="Image 2" descr="/home/user/BasicRobotLessons/docs/presentations/v3/template/assets/icons/robot_white.png">    </p:cNvPr>
          <p:cNvPicPr>
            <a:picLocks noChangeAspect="1"/>
          </p:cNvPicPr>
          <p:nvPr/>
        </p:nvPicPr>
        <p:blipFill>
          <a:blip r:embed="rId3"/>
          <a:stretch>
            <a:fillRect/>
          </a:stretch>
        </p:blipFill>
        <p:spPr>
          <a:xfrm>
            <a:off x="6419088" y="3355848"/>
            <a:ext cx="237744" cy="237744"/>
          </a:xfrm>
          <a:prstGeom prst="rect">
            <a:avLst/>
          </a:prstGeom>
        </p:spPr>
      </p:pic>
      <p:sp>
        <p:nvSpPr>
          <p:cNvPr id="14" name="Text 9"/>
          <p:cNvSpPr/>
          <p:nvPr/>
        </p:nvSpPr>
        <p:spPr>
          <a:xfrm>
            <a:off x="690372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13048"/>
            <a:ext cx="525780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Motion Magic — profiles generated in firmware</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The full feedforward model: kG + kV + kA, with kP as a trim</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GravityTypeValue.Elevator_Static</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Gains computed from the motor's spec sheet</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Goal, setpoint, and position</a:t>
            </a:r>
            <a:endParaRPr lang="en-US" sz="19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arrowsaltv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A NEW KIND OF JOB</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Arriving is easy. Staying is the job.</a:t>
            </a:r>
            <a:endParaRPr lang="en-US" sz="3000" dirty="0"/>
          </a:p>
        </p:txBody>
      </p:sp>
      <p:sp>
        <p:nvSpPr>
          <p:cNvPr id="6" name="Shape 3"/>
          <p:cNvSpPr/>
          <p:nvPr/>
        </p:nvSpPr>
        <p:spPr>
          <a:xfrm>
            <a:off x="640080" y="1508760"/>
            <a:ext cx="10881360" cy="2194560"/>
          </a:xfrm>
          <a:prstGeom prst="roundRect">
            <a:avLst>
              <a:gd name="adj" fmla="val 4167"/>
            </a:avLst>
          </a:prstGeom>
          <a:solidFill>
            <a:srgbClr val="132A4C"/>
          </a:solidFill>
          <a:ln/>
        </p:spPr>
      </p:sp>
      <p:sp>
        <p:nvSpPr>
          <p:cNvPr id="7" name="Text 4"/>
          <p:cNvSpPr/>
          <p:nvPr/>
        </p:nvSpPr>
        <p:spPr>
          <a:xfrm>
            <a:off x="914400" y="1783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Every motor so far had one job at a time</a:t>
            </a:r>
            <a:endParaRPr lang="en-US" sz="2200" dirty="0"/>
          </a:p>
        </p:txBody>
      </p:sp>
      <p:sp>
        <p:nvSpPr>
          <p:cNvPr id="8" name="Text 5"/>
          <p:cNvSpPr/>
          <p:nvPr/>
        </p:nvSpPr>
        <p:spPr>
          <a:xfrm>
            <a:off x="914400" y="2360930"/>
            <a:ext cx="10332720" cy="106807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The drive motors spin at a speed. The steer motors hold an angle just long enough to steer through it. Nothing has had to stay anywhere once you stopped paying attention to it.</a:t>
            </a:r>
            <a:endParaRPr lang="en-US" sz="1900" dirty="0"/>
          </a:p>
        </p:txBody>
      </p:sp>
      <p:sp>
        <p:nvSpPr>
          <p:cNvPr id="9" name="Shape 6"/>
          <p:cNvSpPr/>
          <p:nvPr/>
        </p:nvSpPr>
        <p:spPr>
          <a:xfrm>
            <a:off x="640080" y="3931920"/>
            <a:ext cx="10881360" cy="2194560"/>
          </a:xfrm>
          <a:prstGeom prst="roundRect">
            <a:avLst>
              <a:gd name="adj" fmla="val 4167"/>
            </a:avLst>
          </a:prstGeom>
          <a:solidFill>
            <a:srgbClr val="132A4C"/>
          </a:solidFill>
          <a:ln/>
        </p:spPr>
      </p:sp>
      <p:sp>
        <p:nvSpPr>
          <p:cNvPr id="10" name="Text 7"/>
          <p:cNvSpPr/>
          <p:nvPr/>
        </p:nvSpPr>
        <p:spPr>
          <a:xfrm>
            <a:off x="914400" y="420624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An elevator has to stay where you put it</a:t>
            </a:r>
            <a:endParaRPr lang="en-US" sz="2200" dirty="0"/>
          </a:p>
        </p:txBody>
      </p:sp>
      <p:sp>
        <p:nvSpPr>
          <p:cNvPr id="11" name="Text 8"/>
          <p:cNvSpPr/>
          <p:nvPr/>
        </p:nvSpPr>
        <p:spPr>
          <a:xfrm>
            <a:off x="914400" y="4784090"/>
            <a:ext cx="10332720" cy="106807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Ask for the mid-score height and walk away: a minute later it has to still be there, fighting gravity the whole time with nothing but a motor and a closed loop.</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weigh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2 · WHY KP ALONE SAGS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P controller can only push by being wrong</a:t>
            </a:r>
            <a:endParaRPr lang="en-US" sz="3000" dirty="0"/>
          </a:p>
        </p:txBody>
      </p:sp>
      <p:sp>
        <p:nvSpPr>
          <p:cNvPr id="6" name="Shape 3"/>
          <p:cNvSpPr/>
          <p:nvPr/>
        </p:nvSpPr>
        <p:spPr>
          <a:xfrm>
            <a:off x="640080" y="1508760"/>
            <a:ext cx="10881360" cy="960120"/>
          </a:xfrm>
          <a:prstGeom prst="roundRect">
            <a:avLst>
              <a:gd name="adj" fmla="val 9524"/>
            </a:avLst>
          </a:prstGeom>
          <a:solidFill>
            <a:srgbClr val="132A4C"/>
          </a:solidFill>
          <a:ln/>
        </p:spPr>
      </p:sp>
      <p:sp>
        <p:nvSpPr>
          <p:cNvPr id="7" name="Text 4"/>
          <p:cNvSpPr/>
          <p:nvPr/>
        </p:nvSpPr>
        <p:spPr>
          <a:xfrm>
            <a:off x="914400" y="1645920"/>
            <a:ext cx="10332720" cy="685800"/>
          </a:xfrm>
          <a:prstGeom prst="rect">
            <a:avLst/>
          </a:prstGeom>
          <a:noFill/>
          <a:ln/>
        </p:spPr>
        <p:txBody>
          <a:bodyPr wrap="square" lIns="0" tIns="0" rIns="0" bIns="0" rtlCol="0" anchor="ctr"/>
          <a:lstStyle/>
          <a:p>
            <a:pPr algn="ctr" indent="0" marL="0">
              <a:buNone/>
            </a:pPr>
            <a:r>
              <a:rPr lang="en-US" sz="2800" b="1" dirty="0">
                <a:solidFill>
                  <a:srgbClr val="FF5010"/>
                </a:solidFill>
                <a:latin typeface="Courier New" pitchFamily="34" charset="0"/>
                <a:ea typeface="Courier New" pitchFamily="34" charset="-122"/>
                <a:cs typeface="Courier New" pitchFamily="34" charset="-120"/>
              </a:rPr>
              <a:t>voltage  =  kP × error</a:t>
            </a:r>
            <a:endParaRPr lang="en-US" sz="2800" dirty="0"/>
          </a:p>
        </p:txBody>
      </p:sp>
      <p:sp>
        <p:nvSpPr>
          <p:cNvPr id="8" name="Shape 5"/>
          <p:cNvSpPr/>
          <p:nvPr/>
        </p:nvSpPr>
        <p:spPr>
          <a:xfrm>
            <a:off x="640080" y="2697480"/>
            <a:ext cx="5303520" cy="3429000"/>
          </a:xfrm>
          <a:prstGeom prst="roundRect">
            <a:avLst>
              <a:gd name="adj" fmla="val 2667"/>
            </a:avLst>
          </a:prstGeom>
          <a:solidFill>
            <a:srgbClr val="132A4C"/>
          </a:solidFill>
          <a:ln/>
        </p:spPr>
      </p:sp>
      <p:sp>
        <p:nvSpPr>
          <p:cNvPr id="9" name="Text 6"/>
          <p:cNvSpPr/>
          <p:nvPr/>
        </p:nvSpPr>
        <p:spPr>
          <a:xfrm>
            <a:off x="914400" y="2971800"/>
            <a:ext cx="475488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No error, no volts</a:t>
            </a:r>
            <a:endParaRPr lang="en-US" sz="2200" dirty="0"/>
          </a:p>
        </p:txBody>
      </p:sp>
      <p:sp>
        <p:nvSpPr>
          <p:cNvPr id="10" name="Text 7"/>
          <p:cNvSpPr/>
          <p:nvPr/>
        </p:nvSpPr>
        <p:spPr>
          <a:xfrm>
            <a:off x="914400" y="3549650"/>
            <a:ext cx="4754880" cy="230251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Gravity needs some voltage just to stand still. Ask P to hold with zero error and it commands zero volts — so the carriage starts to fall, which makes error, which makes voltage.</a:t>
            </a:r>
            <a:endParaRPr lang="en-US" sz="1900" dirty="0"/>
          </a:p>
        </p:txBody>
      </p:sp>
      <p:sp>
        <p:nvSpPr>
          <p:cNvPr id="11" name="Shape 8"/>
          <p:cNvSpPr/>
          <p:nvPr/>
        </p:nvSpPr>
        <p:spPr>
          <a:xfrm>
            <a:off x="6217920" y="2697480"/>
            <a:ext cx="5303520" cy="3429000"/>
          </a:xfrm>
          <a:prstGeom prst="roundRect">
            <a:avLst>
              <a:gd name="adj" fmla="val 2667"/>
            </a:avLst>
          </a:prstGeom>
          <a:solidFill>
            <a:srgbClr val="132A4C"/>
          </a:solidFill>
          <a:ln/>
        </p:spPr>
      </p:sp>
      <p:sp>
        <p:nvSpPr>
          <p:cNvPr id="12" name="Text 9"/>
          <p:cNvSpPr/>
          <p:nvPr/>
        </p:nvSpPr>
        <p:spPr>
          <a:xfrm>
            <a:off x="6492240" y="2971800"/>
            <a:ext cx="475488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A quiet compromise</a:t>
            </a:r>
            <a:endParaRPr lang="en-US" sz="2200" dirty="0"/>
          </a:p>
        </p:txBody>
      </p:sp>
      <p:sp>
        <p:nvSpPr>
          <p:cNvPr id="13" name="Text 10"/>
          <p:cNvSpPr/>
          <p:nvPr/>
        </p:nvSpPr>
        <p:spPr>
          <a:xfrm>
            <a:off x="6492240" y="3549650"/>
            <a:ext cx="4754880" cy="230251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It settles a little low: just far enough that kP × gap equals the voltage gravity demands. It gets close, stops moving, and sits there. Nothing looks broken.</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4</a:t>
            </a:r>
            <a:endParaRPr lang="en-US" sz="2000" dirty="0"/>
          </a:p>
        </p:txBody>
      </p:sp>
      <p:pic>
        <p:nvPicPr>
          <p:cNvPr id="16"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MEASURED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Small, permanent, and not noise</a:t>
            </a:r>
            <a:endParaRPr lang="en-US" sz="3000" dirty="0"/>
          </a:p>
        </p:txBody>
      </p:sp>
      <p:sp>
        <p:nvSpPr>
          <p:cNvPr id="6" name="Shape 3"/>
          <p:cNvSpPr/>
          <p:nvPr/>
        </p:nvSpPr>
        <p:spPr>
          <a:xfrm>
            <a:off x="640080" y="1508760"/>
            <a:ext cx="4206240" cy="2743200"/>
          </a:xfrm>
          <a:prstGeom prst="roundRect">
            <a:avLst>
              <a:gd name="adj" fmla="val 4000"/>
            </a:avLst>
          </a:prstGeom>
          <a:solidFill>
            <a:srgbClr val="0B1F3A"/>
          </a:solidFill>
          <a:ln/>
        </p:spPr>
      </p:sp>
      <p:sp>
        <p:nvSpPr>
          <p:cNvPr id="7" name="Text 4"/>
          <p:cNvSpPr/>
          <p:nvPr/>
        </p:nvSpPr>
        <p:spPr>
          <a:xfrm>
            <a:off x="822960" y="1783080"/>
            <a:ext cx="3840480" cy="1188720"/>
          </a:xfrm>
          <a:prstGeom prst="rect">
            <a:avLst/>
          </a:prstGeom>
          <a:noFill/>
          <a:ln/>
        </p:spPr>
        <p:txBody>
          <a:bodyPr wrap="square" lIns="0" tIns="0" rIns="0" bIns="0" rtlCol="0" anchor="ctr"/>
          <a:lstStyle/>
          <a:p>
            <a:pPr algn="ctr" indent="0" marL="0">
              <a:buNone/>
            </a:pPr>
            <a:r>
              <a:rPr lang="en-US" sz="6000" b="1" dirty="0">
                <a:solidFill>
                  <a:srgbClr val="FF5010"/>
                </a:solidFill>
                <a:latin typeface="Cambria" pitchFamily="34" charset="0"/>
                <a:ea typeface="Cambria" pitchFamily="34" charset="-122"/>
                <a:cs typeface="Cambria" pitchFamily="34" charset="-120"/>
              </a:rPr>
              <a:t>1.6 mm</a:t>
            </a:r>
            <a:endParaRPr lang="en-US" sz="6000" dirty="0"/>
          </a:p>
        </p:txBody>
      </p:sp>
      <p:sp>
        <p:nvSpPr>
          <p:cNvPr id="8" name="Text 5"/>
          <p:cNvSpPr/>
          <p:nvPr/>
        </p:nvSpPr>
        <p:spPr>
          <a:xfrm>
            <a:off x="868680" y="3063240"/>
            <a:ext cx="3749040" cy="91440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low, for as long as the request stands</a:t>
            </a:r>
            <a:endParaRPr lang="en-US" sz="2000" dirty="0"/>
          </a:p>
        </p:txBody>
      </p:sp>
      <p:sp>
        <p:nvSpPr>
          <p:cNvPr id="9" name="Shape 6"/>
          <p:cNvSpPr/>
          <p:nvPr/>
        </p:nvSpPr>
        <p:spPr>
          <a:xfrm>
            <a:off x="5120640" y="1508760"/>
            <a:ext cx="6400800" cy="2743200"/>
          </a:xfrm>
          <a:prstGeom prst="roundRect">
            <a:avLst>
              <a:gd name="adj" fmla="val 3333"/>
            </a:avLst>
          </a:prstGeom>
          <a:solidFill>
            <a:srgbClr val="F3F6FA"/>
          </a:solidFill>
          <a:ln/>
        </p:spPr>
      </p:sp>
      <p:sp>
        <p:nvSpPr>
          <p:cNvPr id="10" name="Text 7"/>
          <p:cNvSpPr/>
          <p:nvPr/>
        </p:nvSpPr>
        <p:spPr>
          <a:xfrm>
            <a:off x="5394960" y="1783080"/>
            <a:ext cx="585216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kElevatorKG zeroed, holding kScoreMid</a:t>
            </a:r>
            <a:endParaRPr lang="en-US" sz="2200" dirty="0"/>
          </a:p>
        </p:txBody>
      </p:sp>
      <p:sp>
        <p:nvSpPr>
          <p:cNvPr id="11" name="Text 8"/>
          <p:cNvSpPr/>
          <p:nvPr/>
        </p:nvSpPr>
        <p:spPr>
          <a:xfrm>
            <a:off x="5394960" y="2360930"/>
            <a:ext cx="5852160" cy="161671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Measured on this course's own gains. A small number — but it isn't noise. It's kG's whole job, missing.</a:t>
            </a:r>
            <a:endParaRPr lang="en-US" sz="2000" dirty="0"/>
          </a:p>
        </p:txBody>
      </p:sp>
      <p:sp>
        <p:nvSpPr>
          <p:cNvPr id="12" name="Shape 9"/>
          <p:cNvSpPr/>
          <p:nvPr/>
        </p:nvSpPr>
        <p:spPr>
          <a:xfrm>
            <a:off x="640080" y="4526280"/>
            <a:ext cx="10881360" cy="1691640"/>
          </a:xfrm>
          <a:prstGeom prst="roundRect">
            <a:avLst>
              <a:gd name="adj" fmla="val 5405"/>
            </a:avLst>
          </a:prstGeom>
          <a:solidFill>
            <a:srgbClr val="F3F6FA"/>
          </a:solidFill>
          <a:ln/>
        </p:spPr>
      </p:sp>
      <p:sp>
        <p:nvSpPr>
          <p:cNvPr id="13" name="Text 10"/>
          <p:cNvSpPr/>
          <p:nvPr/>
        </p:nvSpPr>
        <p:spPr>
          <a:xfrm>
            <a:off x="914400" y="4663440"/>
            <a:ext cx="10332720" cy="1417320"/>
          </a:xfrm>
          <a:prstGeom prst="rect">
            <a:avLst/>
          </a:prstGeom>
          <a:noFill/>
          <a:ln/>
        </p:spPr>
        <p:txBody>
          <a:bodyPr wrap="square" lIns="0" tIns="0" rIns="0" bIns="0" rtlCol="0" anchor="ctr"/>
          <a:lstStyle/>
          <a:p>
            <a:pPr indent="0" marL="0">
              <a:lnSpc>
                <a:spcPct val="115000"/>
              </a:lnSpc>
              <a:buNone/>
            </a:pPr>
            <a:r>
              <a:rPr lang="en-US" sz="2200" dirty="0">
                <a:solidFill>
                  <a:srgbClr val="13294B"/>
                </a:solidFill>
                <a:latin typeface="Cambria" pitchFamily="34" charset="0"/>
                <a:ea typeface="Cambria" pitchFamily="34" charset="-122"/>
                <a:cs typeface="Cambria" pitchFamily="34" charset="-120"/>
              </a:rPr>
              <a:t>The fix: compute the voltage the mechanism needs and hand it over. </a:t>
            </a:r>
            <a:pPr indent="0" marL="0">
              <a:lnSpc>
                <a:spcPct val="115000"/>
              </a:lnSpc>
              <a:buNone/>
            </a:pPr>
            <a:r>
              <a:rPr lang="en-US" sz="2200" b="1" dirty="0">
                <a:solidFill>
                  <a:srgbClr val="FF5010"/>
                </a:solidFill>
                <a:latin typeface="Cambria" pitchFamily="34" charset="0"/>
                <a:ea typeface="Cambria" pitchFamily="34" charset="-122"/>
                <a:cs typeface="Cambria" pitchFamily="34" charset="-120"/>
              </a:rPr>
              <a:t>A term for each physical effect, with kP cleaning up after all of them.</a:t>
            </a:r>
            <a:endParaRPr lang="en-US" sz="22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tachomet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THE SPEC SHEET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Two Kraken X60 facts do almost all the work</a:t>
            </a:r>
            <a:endParaRPr lang="en-US" sz="3000" dirty="0"/>
          </a:p>
        </p:txBody>
      </p:sp>
      <p:sp>
        <p:nvSpPr>
          <p:cNvPr id="6" name="Shape 3"/>
          <p:cNvSpPr/>
          <p:nvPr/>
        </p:nvSpPr>
        <p:spPr>
          <a:xfrm>
            <a:off x="640080" y="1508760"/>
            <a:ext cx="5303520" cy="3017520"/>
          </a:xfrm>
          <a:prstGeom prst="roundRect">
            <a:avLst>
              <a:gd name="adj" fmla="val 3636"/>
            </a:avLst>
          </a:prstGeom>
          <a:solidFill>
            <a:srgbClr val="132A4C"/>
          </a:solidFill>
          <a:ln/>
        </p:spPr>
      </p:sp>
      <p:sp>
        <p:nvSpPr>
          <p:cNvPr id="7" name="Text 4"/>
          <p:cNvSpPr/>
          <p:nvPr/>
        </p:nvSpPr>
        <p:spPr>
          <a:xfrm>
            <a:off x="914400" y="1691640"/>
            <a:ext cx="475488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FREE SPEED</a:t>
            </a:r>
            <a:endParaRPr lang="en-US" sz="2000" dirty="0"/>
          </a:p>
        </p:txBody>
      </p:sp>
      <p:sp>
        <p:nvSpPr>
          <p:cNvPr id="8" name="Text 5"/>
          <p:cNvSpPr/>
          <p:nvPr/>
        </p:nvSpPr>
        <p:spPr>
          <a:xfrm>
            <a:off x="914400" y="2148840"/>
            <a:ext cx="475488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0.12 V</a:t>
            </a:r>
            <a:endParaRPr lang="en-US" sz="4800" dirty="0"/>
          </a:p>
        </p:txBody>
      </p:sp>
      <p:sp>
        <p:nvSpPr>
          <p:cNvPr id="9" name="Text 6"/>
          <p:cNvSpPr/>
          <p:nvPr/>
        </p:nvSpPr>
        <p:spPr>
          <a:xfrm>
            <a:off x="914400" y="3108960"/>
            <a:ext cx="4754880" cy="411480"/>
          </a:xfrm>
          <a:prstGeom prst="rect">
            <a:avLst/>
          </a:prstGeom>
          <a:noFill/>
          <a:ln/>
        </p:spPr>
        <p:txBody>
          <a:bodyPr wrap="square" lIns="0" tIns="0" rIns="0" bIns="0" rtlCol="0" anchor="ctr"/>
          <a:lstStyle/>
          <a:p>
            <a:pPr indent="0" marL="0">
              <a:buNone/>
            </a:pPr>
            <a:r>
              <a:rPr lang="en-US" sz="2000" b="1" dirty="0">
                <a:solidFill>
                  <a:srgbClr val="FF5010"/>
                </a:solidFill>
                <a:latin typeface="Calibri" pitchFamily="34" charset="0"/>
                <a:ea typeface="Calibri" pitchFamily="34" charset="-122"/>
                <a:cs typeface="Calibri" pitchFamily="34" charset="-120"/>
              </a:rPr>
              <a:t>per rotor rotation/sec</a:t>
            </a:r>
            <a:endParaRPr lang="en-US" sz="2000" dirty="0"/>
          </a:p>
        </p:txBody>
      </p:sp>
      <p:sp>
        <p:nvSpPr>
          <p:cNvPr id="10" name="Text 7"/>
          <p:cNvSpPr/>
          <p:nvPr/>
        </p:nvSpPr>
        <p:spPr>
          <a:xfrm>
            <a:off x="914400" y="3611880"/>
            <a:ext cx="4754880" cy="731520"/>
          </a:xfrm>
          <a:prstGeom prst="rect">
            <a:avLst/>
          </a:prstGeom>
          <a:noFill/>
          <a:ln/>
        </p:spPr>
        <p:txBody>
          <a:bodyPr wrap="square" lIns="0" tIns="0" rIns="0" bIns="0" rtlCol="0" anchor="t"/>
          <a:lstStyle/>
          <a:p>
            <a:pPr indent="0" marL="0">
              <a:buNone/>
            </a:pPr>
            <a:r>
              <a:rPr lang="en-US" sz="2000" dirty="0">
                <a:solidFill>
                  <a:srgbClr val="CADCE8"/>
                </a:solidFill>
                <a:latin typeface="Calibri" pitchFamily="34" charset="0"/>
                <a:ea typeface="Calibri" pitchFamily="34" charset="-122"/>
                <a:cs typeface="Calibri" pitchFamily="34" charset="-120"/>
              </a:rPr>
              <a:t>6000 RPM at 12 V = 100 rot/s, so 12 ÷ 100</a:t>
            </a:r>
            <a:endParaRPr lang="en-US" sz="2000" dirty="0"/>
          </a:p>
        </p:txBody>
      </p:sp>
      <p:sp>
        <p:nvSpPr>
          <p:cNvPr id="11" name="Shape 8"/>
          <p:cNvSpPr/>
          <p:nvPr/>
        </p:nvSpPr>
        <p:spPr>
          <a:xfrm>
            <a:off x="6217920" y="1508760"/>
            <a:ext cx="5303520" cy="3017520"/>
          </a:xfrm>
          <a:prstGeom prst="roundRect">
            <a:avLst>
              <a:gd name="adj" fmla="val 3636"/>
            </a:avLst>
          </a:prstGeom>
          <a:solidFill>
            <a:srgbClr val="132A4C"/>
          </a:solidFill>
          <a:ln/>
        </p:spPr>
      </p:sp>
      <p:sp>
        <p:nvSpPr>
          <p:cNvPr id="12" name="Text 9"/>
          <p:cNvSpPr/>
          <p:nvPr/>
        </p:nvSpPr>
        <p:spPr>
          <a:xfrm>
            <a:off x="6492240" y="1691640"/>
            <a:ext cx="475488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STALL TORQUE</a:t>
            </a:r>
            <a:endParaRPr lang="en-US" sz="2000" dirty="0"/>
          </a:p>
        </p:txBody>
      </p:sp>
      <p:sp>
        <p:nvSpPr>
          <p:cNvPr id="13" name="Text 10"/>
          <p:cNvSpPr/>
          <p:nvPr/>
        </p:nvSpPr>
        <p:spPr>
          <a:xfrm>
            <a:off x="6492240" y="2148840"/>
            <a:ext cx="475488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1.69 V</a:t>
            </a:r>
            <a:endParaRPr lang="en-US" sz="4800" dirty="0"/>
          </a:p>
        </p:txBody>
      </p:sp>
      <p:sp>
        <p:nvSpPr>
          <p:cNvPr id="14" name="Text 11"/>
          <p:cNvSpPr/>
          <p:nvPr/>
        </p:nvSpPr>
        <p:spPr>
          <a:xfrm>
            <a:off x="6492240" y="3108960"/>
            <a:ext cx="4754880" cy="411480"/>
          </a:xfrm>
          <a:prstGeom prst="rect">
            <a:avLst/>
          </a:prstGeom>
          <a:noFill/>
          <a:ln/>
        </p:spPr>
        <p:txBody>
          <a:bodyPr wrap="square" lIns="0" tIns="0" rIns="0" bIns="0" rtlCol="0" anchor="ctr"/>
          <a:lstStyle/>
          <a:p>
            <a:pPr indent="0" marL="0">
              <a:buNone/>
            </a:pPr>
            <a:r>
              <a:rPr lang="en-US" sz="2000" b="1" dirty="0">
                <a:solidFill>
                  <a:srgbClr val="FF5010"/>
                </a:solidFill>
                <a:latin typeface="Calibri" pitchFamily="34" charset="0"/>
                <a:ea typeface="Calibri" pitchFamily="34" charset="-122"/>
                <a:cs typeface="Calibri" pitchFamily="34" charset="-120"/>
              </a:rPr>
              <a:t>per N·m at the rotor</a:t>
            </a:r>
            <a:endParaRPr lang="en-US" sz="2000" dirty="0"/>
          </a:p>
        </p:txBody>
      </p:sp>
      <p:sp>
        <p:nvSpPr>
          <p:cNvPr id="15" name="Text 12"/>
          <p:cNvSpPr/>
          <p:nvPr/>
        </p:nvSpPr>
        <p:spPr>
          <a:xfrm>
            <a:off x="6492240" y="3611880"/>
            <a:ext cx="4754880" cy="731520"/>
          </a:xfrm>
          <a:prstGeom prst="rect">
            <a:avLst/>
          </a:prstGeom>
          <a:noFill/>
          <a:ln/>
        </p:spPr>
        <p:txBody>
          <a:bodyPr wrap="square" lIns="0" tIns="0" rIns="0" bIns="0" rtlCol="0" anchor="t"/>
          <a:lstStyle/>
          <a:p>
            <a:pPr indent="0" marL="0">
              <a:buNone/>
            </a:pPr>
            <a:r>
              <a:rPr lang="en-US" sz="2000" dirty="0">
                <a:solidFill>
                  <a:srgbClr val="CADCE8"/>
                </a:solidFill>
                <a:latin typeface="Calibri" pitchFamily="34" charset="0"/>
                <a:ea typeface="Calibri" pitchFamily="34" charset="-122"/>
                <a:cs typeface="Calibri" pitchFamily="34" charset="-120"/>
              </a:rPr>
              <a:t>7.09 N·m at 12 V, so 12 ÷ 7.09</a:t>
            </a:r>
            <a:endParaRPr lang="en-US" sz="2000" dirty="0"/>
          </a:p>
        </p:txBody>
      </p:sp>
      <p:sp>
        <p:nvSpPr>
          <p:cNvPr id="16" name="Shape 13"/>
          <p:cNvSpPr/>
          <p:nvPr/>
        </p:nvSpPr>
        <p:spPr>
          <a:xfrm>
            <a:off x="640080" y="4754880"/>
            <a:ext cx="10881360" cy="1417320"/>
          </a:xfrm>
          <a:prstGeom prst="roundRect">
            <a:avLst>
              <a:gd name="adj" fmla="val 6452"/>
            </a:avLst>
          </a:prstGeom>
          <a:solidFill>
            <a:srgbClr val="132A4C"/>
          </a:solidFill>
          <a:ln/>
        </p:spPr>
      </p:sp>
      <p:sp>
        <p:nvSpPr>
          <p:cNvPr id="17" name="Text 14"/>
          <p:cNvSpPr/>
          <p:nvPr/>
        </p:nvSpPr>
        <p:spPr>
          <a:xfrm>
            <a:off x="868680" y="4983480"/>
            <a:ext cx="1042416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Every gain walks the same path</a:t>
            </a:r>
            <a:endParaRPr lang="en-US" sz="2200" dirty="0"/>
          </a:p>
        </p:txBody>
      </p:sp>
      <p:sp>
        <p:nvSpPr>
          <p:cNvPr id="18" name="Text 15"/>
          <p:cNvSpPr/>
          <p:nvPr/>
        </p:nvSpPr>
        <p:spPr>
          <a:xfrm>
            <a:off x="868680" y="5561330"/>
            <a:ext cx="10424160" cy="38227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What the drum needs → what the rotor needs → × whichever factor applies.</a:t>
            </a:r>
            <a:endParaRPr lang="en-US" sz="2000" dirty="0"/>
          </a:p>
        </p:txBody>
      </p:sp>
      <p:sp>
        <p:nvSpPr>
          <p:cNvPr id="19" name="Text 16"/>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0" name="Text 17"/>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6</a:t>
            </a:r>
            <a:endParaRPr lang="en-US" sz="2000" dirty="0"/>
          </a:p>
        </p:txBody>
      </p:sp>
      <p:pic>
        <p:nvPicPr>
          <p:cNvPr id="21"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alculato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KV</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kV: the voltage a steady speed costs</a:t>
            </a:r>
            <a:endParaRPr lang="en-US" sz="3000" dirty="0"/>
          </a:p>
        </p:txBody>
      </p:sp>
      <p:sp>
        <p:nvSpPr>
          <p:cNvPr id="6" name="Shape 3"/>
          <p:cNvSpPr/>
          <p:nvPr/>
        </p:nvSpPr>
        <p:spPr>
          <a:xfrm>
            <a:off x="640080" y="1508760"/>
            <a:ext cx="3322320" cy="1920240"/>
          </a:xfrm>
          <a:prstGeom prst="roundRect">
            <a:avLst>
              <a:gd name="adj" fmla="val 4762"/>
            </a:avLst>
          </a:prstGeom>
          <a:solidFill>
            <a:srgbClr val="132A4C"/>
          </a:solidFill>
          <a:ln/>
        </p:spPr>
      </p:sp>
      <p:sp>
        <p:nvSpPr>
          <p:cNvPr id="7" name="Text 4"/>
          <p:cNvSpPr/>
          <p:nvPr/>
        </p:nvSpPr>
        <p:spPr>
          <a:xfrm>
            <a:off x="777240" y="1691640"/>
            <a:ext cx="304800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 rot/s</a:t>
            </a:r>
            <a:endParaRPr lang="en-US" sz="2800" dirty="0"/>
          </a:p>
        </p:txBody>
      </p:sp>
      <p:sp>
        <p:nvSpPr>
          <p:cNvPr id="8" name="Text 5"/>
          <p:cNvSpPr/>
          <p:nvPr/>
        </p:nvSpPr>
        <p:spPr>
          <a:xfrm>
            <a:off x="777240" y="2377440"/>
            <a:ext cx="3048000" cy="91440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at the drum</a:t>
            </a:r>
            <a:endParaRPr lang="en-US" sz="2000" dirty="0"/>
          </a:p>
        </p:txBody>
      </p:sp>
      <p:sp>
        <p:nvSpPr>
          <p:cNvPr id="9" name="Text 6"/>
          <p:cNvSpPr/>
          <p:nvPr/>
        </p:nvSpPr>
        <p:spPr>
          <a:xfrm>
            <a:off x="3962400" y="1691640"/>
            <a:ext cx="457200" cy="640080"/>
          </a:xfrm>
          <a:prstGeom prst="rect">
            <a:avLst/>
          </a:prstGeom>
          <a:noFill/>
          <a:ln/>
        </p:spPr>
        <p:txBody>
          <a:bodyPr wrap="square" lIns="0" tIns="0" rIns="0" bIns="0" rtlCol="0" anchor="ctr"/>
          <a:lstStyle/>
          <a:p>
            <a:pPr algn="ctr" indent="0" marL="0">
              <a:buNone/>
            </a:pPr>
            <a:r>
              <a:rPr lang="en-US" sz="2400" b="1" dirty="0">
                <a:solidFill>
                  <a:srgbClr val="1B9AAA"/>
                </a:solidFill>
                <a:latin typeface="Calibri" pitchFamily="34" charset="0"/>
                <a:ea typeface="Calibri" pitchFamily="34" charset="-122"/>
                <a:cs typeface="Calibri" pitchFamily="34" charset="-120"/>
              </a:rPr>
              <a:t>→</a:t>
            </a:r>
            <a:endParaRPr lang="en-US" sz="2400" dirty="0"/>
          </a:p>
        </p:txBody>
      </p:sp>
      <p:sp>
        <p:nvSpPr>
          <p:cNvPr id="10" name="Shape 7"/>
          <p:cNvSpPr/>
          <p:nvPr/>
        </p:nvSpPr>
        <p:spPr>
          <a:xfrm>
            <a:off x="4419600" y="1508760"/>
            <a:ext cx="3322320" cy="1920240"/>
          </a:xfrm>
          <a:prstGeom prst="roundRect">
            <a:avLst>
              <a:gd name="adj" fmla="val 4762"/>
            </a:avLst>
          </a:prstGeom>
          <a:solidFill>
            <a:srgbClr val="132A4C"/>
          </a:solidFill>
          <a:ln/>
        </p:spPr>
      </p:sp>
      <p:sp>
        <p:nvSpPr>
          <p:cNvPr id="11" name="Text 8"/>
          <p:cNvSpPr/>
          <p:nvPr/>
        </p:nvSpPr>
        <p:spPr>
          <a:xfrm>
            <a:off x="4556760" y="1691640"/>
            <a:ext cx="304800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12 rot/s</a:t>
            </a:r>
            <a:endParaRPr lang="en-US" sz="2800" dirty="0"/>
          </a:p>
        </p:txBody>
      </p:sp>
      <p:sp>
        <p:nvSpPr>
          <p:cNvPr id="12" name="Text 9"/>
          <p:cNvSpPr/>
          <p:nvPr/>
        </p:nvSpPr>
        <p:spPr>
          <a:xfrm>
            <a:off x="4556760" y="2377440"/>
            <a:ext cx="3048000" cy="91440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at the rotor — gear ratio 12</a:t>
            </a:r>
            <a:endParaRPr lang="en-US" sz="2000" dirty="0"/>
          </a:p>
        </p:txBody>
      </p:sp>
      <p:sp>
        <p:nvSpPr>
          <p:cNvPr id="13" name="Text 10"/>
          <p:cNvSpPr/>
          <p:nvPr/>
        </p:nvSpPr>
        <p:spPr>
          <a:xfrm>
            <a:off x="7741920" y="1691640"/>
            <a:ext cx="457200" cy="640080"/>
          </a:xfrm>
          <a:prstGeom prst="rect">
            <a:avLst/>
          </a:prstGeom>
          <a:noFill/>
          <a:ln/>
        </p:spPr>
        <p:txBody>
          <a:bodyPr wrap="square" lIns="0" tIns="0" rIns="0" bIns="0" rtlCol="0" anchor="ctr"/>
          <a:lstStyle/>
          <a:p>
            <a:pPr algn="ctr" indent="0" marL="0">
              <a:buNone/>
            </a:pPr>
            <a:r>
              <a:rPr lang="en-US" sz="2400" b="1" dirty="0">
                <a:solidFill>
                  <a:srgbClr val="1B9AAA"/>
                </a:solidFill>
                <a:latin typeface="Calibri" pitchFamily="34" charset="0"/>
                <a:ea typeface="Calibri" pitchFamily="34" charset="-122"/>
                <a:cs typeface="Calibri" pitchFamily="34" charset="-120"/>
              </a:rPr>
              <a:t>→</a:t>
            </a:r>
            <a:endParaRPr lang="en-US" sz="2400" dirty="0"/>
          </a:p>
        </p:txBody>
      </p:sp>
      <p:sp>
        <p:nvSpPr>
          <p:cNvPr id="14" name="Shape 11"/>
          <p:cNvSpPr/>
          <p:nvPr/>
        </p:nvSpPr>
        <p:spPr>
          <a:xfrm>
            <a:off x="8199120" y="1508760"/>
            <a:ext cx="3322320" cy="1920240"/>
          </a:xfrm>
          <a:prstGeom prst="roundRect">
            <a:avLst>
              <a:gd name="adj" fmla="val 4762"/>
            </a:avLst>
          </a:prstGeom>
          <a:solidFill>
            <a:srgbClr val="132A4C"/>
          </a:solidFill>
          <a:ln/>
        </p:spPr>
      </p:sp>
      <p:sp>
        <p:nvSpPr>
          <p:cNvPr id="15" name="Text 12"/>
          <p:cNvSpPr/>
          <p:nvPr/>
        </p:nvSpPr>
        <p:spPr>
          <a:xfrm>
            <a:off x="8336280" y="1691640"/>
            <a:ext cx="3048000" cy="640080"/>
          </a:xfrm>
          <a:prstGeom prst="rect">
            <a:avLst/>
          </a:prstGeom>
          <a:noFill/>
          <a:ln/>
        </p:spPr>
        <p:txBody>
          <a:bodyPr wrap="square" lIns="0" tIns="0" rIns="0" bIns="0" rtlCol="0" anchor="ctr"/>
          <a:lstStyle/>
          <a:p>
            <a:pPr algn="ctr" indent="0" marL="0">
              <a:buNone/>
            </a:pPr>
            <a:r>
              <a:rPr lang="en-US" sz="2800" b="1" dirty="0">
                <a:solidFill>
                  <a:srgbClr val="FF5010"/>
                </a:solidFill>
                <a:latin typeface="Cambria" pitchFamily="34" charset="0"/>
                <a:ea typeface="Cambria" pitchFamily="34" charset="-122"/>
                <a:cs typeface="Cambria" pitchFamily="34" charset="-120"/>
              </a:rPr>
              <a:t>1.44 V</a:t>
            </a:r>
            <a:endParaRPr lang="en-US" sz="2800" dirty="0"/>
          </a:p>
        </p:txBody>
      </p:sp>
      <p:sp>
        <p:nvSpPr>
          <p:cNvPr id="16" name="Text 13"/>
          <p:cNvSpPr/>
          <p:nvPr/>
        </p:nvSpPr>
        <p:spPr>
          <a:xfrm>
            <a:off x="8336280" y="2377440"/>
            <a:ext cx="3048000" cy="91440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12 × 0.12 = kElevatorKV</a:t>
            </a:r>
            <a:endParaRPr lang="en-US" sz="2000" dirty="0"/>
          </a:p>
        </p:txBody>
      </p:sp>
      <p:sp>
        <p:nvSpPr>
          <p:cNvPr id="17" name="Shape 14"/>
          <p:cNvSpPr/>
          <p:nvPr/>
        </p:nvSpPr>
        <p:spPr>
          <a:xfrm>
            <a:off x="640080" y="3657600"/>
            <a:ext cx="10881360" cy="1188720"/>
          </a:xfrm>
          <a:prstGeom prst="roundRect">
            <a:avLst>
              <a:gd name="adj" fmla="val 7692"/>
            </a:avLst>
          </a:prstGeom>
          <a:solidFill>
            <a:srgbClr val="132A4C"/>
          </a:solidFill>
          <a:ln/>
        </p:spPr>
      </p:sp>
      <p:sp>
        <p:nvSpPr>
          <p:cNvPr id="18" name="Text 15"/>
          <p:cNvSpPr/>
          <p:nvPr/>
        </p:nvSpPr>
        <p:spPr>
          <a:xfrm>
            <a:off x="868680" y="3886200"/>
            <a:ext cx="10424160" cy="73152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The closed loop runs in drum rotations, so kV, kA and kP all live on the drum side — like kDriveKV = 0.8 is per wheel rotation.</a:t>
            </a:r>
            <a:endParaRPr lang="en-US" sz="2000" dirty="0"/>
          </a:p>
        </p:txBody>
      </p:sp>
      <p:sp>
        <p:nvSpPr>
          <p:cNvPr id="19" name="Shape 16"/>
          <p:cNvSpPr/>
          <p:nvPr/>
        </p:nvSpPr>
        <p:spPr>
          <a:xfrm>
            <a:off x="640080" y="5029200"/>
            <a:ext cx="10881360" cy="1188720"/>
          </a:xfrm>
          <a:prstGeom prst="roundRect">
            <a:avLst>
              <a:gd name="adj" fmla="val 7692"/>
            </a:avLst>
          </a:prstGeom>
          <a:solidFill>
            <a:srgbClr val="132A4C"/>
          </a:solidFill>
          <a:ln/>
        </p:spPr>
      </p:sp>
      <p:sp>
        <p:nvSpPr>
          <p:cNvPr id="20" name="Text 17"/>
          <p:cNvSpPr/>
          <p:nvPr/>
        </p:nvSpPr>
        <p:spPr>
          <a:xfrm>
            <a:off x="868680" y="5257800"/>
            <a:ext cx="10424160" cy="73152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kG and kA walk the same path through the other factor: torque, at 1.69 V per N·m.</a:t>
            </a:r>
            <a:endParaRPr lang="en-US" sz="2000" dirty="0"/>
          </a:p>
        </p:txBody>
      </p:sp>
      <p:sp>
        <p:nvSpPr>
          <p:cNvPr id="21" name="Text 18"/>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2" name="Text 19"/>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7</a:t>
            </a:r>
            <a:endParaRPr lang="en-US" sz="2000" dirty="0"/>
          </a:p>
        </p:txBody>
      </p:sp>
      <p:pic>
        <p:nvPicPr>
          <p:cNvPr id="23"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weigh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KG</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kG: the voltage to hold still against gravity</a:t>
            </a:r>
            <a:endParaRPr lang="en-US" sz="3000" dirty="0"/>
          </a:p>
        </p:txBody>
      </p:sp>
      <p:sp>
        <p:nvSpPr>
          <p:cNvPr id="6" name="Shape 3"/>
          <p:cNvSpPr/>
          <p:nvPr/>
        </p:nvSpPr>
        <p:spPr>
          <a:xfrm>
            <a:off x="640080" y="1508760"/>
            <a:ext cx="2411730" cy="2286000"/>
          </a:xfrm>
          <a:prstGeom prst="roundRect">
            <a:avLst>
              <a:gd name="adj" fmla="val 4000"/>
            </a:avLst>
          </a:prstGeom>
          <a:solidFill>
            <a:srgbClr val="132A4C"/>
          </a:solidFill>
          <a:ln/>
        </p:spPr>
      </p:sp>
      <p:sp>
        <p:nvSpPr>
          <p:cNvPr id="7" name="Text 4"/>
          <p:cNvSpPr/>
          <p:nvPr/>
        </p:nvSpPr>
        <p:spPr>
          <a:xfrm>
            <a:off x="777240" y="1691640"/>
            <a:ext cx="213741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49.05 N</a:t>
            </a:r>
            <a:endParaRPr lang="en-US" sz="2800" dirty="0"/>
          </a:p>
        </p:txBody>
      </p:sp>
      <p:sp>
        <p:nvSpPr>
          <p:cNvPr id="8" name="Text 5"/>
          <p:cNvSpPr/>
          <p:nvPr/>
        </p:nvSpPr>
        <p:spPr>
          <a:xfrm>
            <a:off x="777240" y="2377440"/>
            <a:ext cx="2137410" cy="128016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5 kg × 9.81</a:t>
            </a:r>
            <a:endParaRPr lang="en-US" sz="2000" dirty="0"/>
          </a:p>
        </p:txBody>
      </p:sp>
      <p:sp>
        <p:nvSpPr>
          <p:cNvPr id="9" name="Text 6"/>
          <p:cNvSpPr/>
          <p:nvPr/>
        </p:nvSpPr>
        <p:spPr>
          <a:xfrm>
            <a:off x="3051810" y="1691640"/>
            <a:ext cx="411480" cy="640080"/>
          </a:xfrm>
          <a:prstGeom prst="rect">
            <a:avLst/>
          </a:prstGeom>
          <a:noFill/>
          <a:ln/>
        </p:spPr>
        <p:txBody>
          <a:bodyPr wrap="square" lIns="0" tIns="0" rIns="0" bIns="0" rtlCol="0" anchor="ctr"/>
          <a:lstStyle/>
          <a:p>
            <a:pPr algn="ctr" indent="0" marL="0">
              <a:buNone/>
            </a:pPr>
            <a:r>
              <a:rPr lang="en-US" sz="2400" b="1" dirty="0">
                <a:solidFill>
                  <a:srgbClr val="1B9AAA"/>
                </a:solidFill>
                <a:latin typeface="Calibri" pitchFamily="34" charset="0"/>
                <a:ea typeface="Calibri" pitchFamily="34" charset="-122"/>
                <a:cs typeface="Calibri" pitchFamily="34" charset="-120"/>
              </a:rPr>
              <a:t>→</a:t>
            </a:r>
            <a:endParaRPr lang="en-US" sz="2400" dirty="0"/>
          </a:p>
        </p:txBody>
      </p:sp>
      <p:sp>
        <p:nvSpPr>
          <p:cNvPr id="10" name="Shape 7"/>
          <p:cNvSpPr/>
          <p:nvPr/>
        </p:nvSpPr>
        <p:spPr>
          <a:xfrm>
            <a:off x="3463290" y="1508760"/>
            <a:ext cx="2411730" cy="2286000"/>
          </a:xfrm>
          <a:prstGeom prst="roundRect">
            <a:avLst>
              <a:gd name="adj" fmla="val 4000"/>
            </a:avLst>
          </a:prstGeom>
          <a:solidFill>
            <a:srgbClr val="132A4C"/>
          </a:solidFill>
          <a:ln/>
        </p:spPr>
      </p:sp>
      <p:sp>
        <p:nvSpPr>
          <p:cNvPr id="11" name="Text 8"/>
          <p:cNvSpPr/>
          <p:nvPr/>
        </p:nvSpPr>
        <p:spPr>
          <a:xfrm>
            <a:off x="3600450" y="1691640"/>
            <a:ext cx="213741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1.246 N·m</a:t>
            </a:r>
            <a:endParaRPr lang="en-US" sz="2800" dirty="0"/>
          </a:p>
        </p:txBody>
      </p:sp>
      <p:sp>
        <p:nvSpPr>
          <p:cNvPr id="12" name="Text 9"/>
          <p:cNvSpPr/>
          <p:nvPr/>
        </p:nvSpPr>
        <p:spPr>
          <a:xfrm>
            <a:off x="3600450" y="2377440"/>
            <a:ext cx="2137410" cy="128016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at the drum: × 0.0254 m radius</a:t>
            </a:r>
            <a:endParaRPr lang="en-US" sz="2000" dirty="0"/>
          </a:p>
        </p:txBody>
      </p:sp>
      <p:sp>
        <p:nvSpPr>
          <p:cNvPr id="13" name="Text 10"/>
          <p:cNvSpPr/>
          <p:nvPr/>
        </p:nvSpPr>
        <p:spPr>
          <a:xfrm>
            <a:off x="5875020" y="1691640"/>
            <a:ext cx="411480" cy="640080"/>
          </a:xfrm>
          <a:prstGeom prst="rect">
            <a:avLst/>
          </a:prstGeom>
          <a:noFill/>
          <a:ln/>
        </p:spPr>
        <p:txBody>
          <a:bodyPr wrap="square" lIns="0" tIns="0" rIns="0" bIns="0" rtlCol="0" anchor="ctr"/>
          <a:lstStyle/>
          <a:p>
            <a:pPr algn="ctr" indent="0" marL="0">
              <a:buNone/>
            </a:pPr>
            <a:r>
              <a:rPr lang="en-US" sz="2400" b="1" dirty="0">
                <a:solidFill>
                  <a:srgbClr val="1B9AAA"/>
                </a:solidFill>
                <a:latin typeface="Calibri" pitchFamily="34" charset="0"/>
                <a:ea typeface="Calibri" pitchFamily="34" charset="-122"/>
                <a:cs typeface="Calibri" pitchFamily="34" charset="-120"/>
              </a:rPr>
              <a:t>→</a:t>
            </a:r>
            <a:endParaRPr lang="en-US" sz="2400" dirty="0"/>
          </a:p>
        </p:txBody>
      </p:sp>
      <p:sp>
        <p:nvSpPr>
          <p:cNvPr id="14" name="Shape 11"/>
          <p:cNvSpPr/>
          <p:nvPr/>
        </p:nvSpPr>
        <p:spPr>
          <a:xfrm>
            <a:off x="6286500" y="1508760"/>
            <a:ext cx="2411730" cy="2286000"/>
          </a:xfrm>
          <a:prstGeom prst="roundRect">
            <a:avLst>
              <a:gd name="adj" fmla="val 4000"/>
            </a:avLst>
          </a:prstGeom>
          <a:solidFill>
            <a:srgbClr val="132A4C"/>
          </a:solidFill>
          <a:ln/>
        </p:spPr>
      </p:sp>
      <p:sp>
        <p:nvSpPr>
          <p:cNvPr id="15" name="Text 12"/>
          <p:cNvSpPr/>
          <p:nvPr/>
        </p:nvSpPr>
        <p:spPr>
          <a:xfrm>
            <a:off x="6423660" y="1691640"/>
            <a:ext cx="213741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0.104 N·m</a:t>
            </a:r>
            <a:endParaRPr lang="en-US" sz="2800" dirty="0"/>
          </a:p>
        </p:txBody>
      </p:sp>
      <p:sp>
        <p:nvSpPr>
          <p:cNvPr id="16" name="Text 13"/>
          <p:cNvSpPr/>
          <p:nvPr/>
        </p:nvSpPr>
        <p:spPr>
          <a:xfrm>
            <a:off x="6423660" y="2377440"/>
            <a:ext cx="2137410" cy="128016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at the rotor: ÷ 12</a:t>
            </a:r>
            <a:endParaRPr lang="en-US" sz="2000" dirty="0"/>
          </a:p>
        </p:txBody>
      </p:sp>
      <p:sp>
        <p:nvSpPr>
          <p:cNvPr id="17" name="Text 14"/>
          <p:cNvSpPr/>
          <p:nvPr/>
        </p:nvSpPr>
        <p:spPr>
          <a:xfrm>
            <a:off x="8698230" y="1691640"/>
            <a:ext cx="411480" cy="640080"/>
          </a:xfrm>
          <a:prstGeom prst="rect">
            <a:avLst/>
          </a:prstGeom>
          <a:noFill/>
          <a:ln/>
        </p:spPr>
        <p:txBody>
          <a:bodyPr wrap="square" lIns="0" tIns="0" rIns="0" bIns="0" rtlCol="0" anchor="ctr"/>
          <a:lstStyle/>
          <a:p>
            <a:pPr algn="ctr" indent="0" marL="0">
              <a:buNone/>
            </a:pPr>
            <a:r>
              <a:rPr lang="en-US" sz="2400" b="1" dirty="0">
                <a:solidFill>
                  <a:srgbClr val="1B9AAA"/>
                </a:solidFill>
                <a:latin typeface="Calibri" pitchFamily="34" charset="0"/>
                <a:ea typeface="Calibri" pitchFamily="34" charset="-122"/>
                <a:cs typeface="Calibri" pitchFamily="34" charset="-120"/>
              </a:rPr>
              <a:t>→</a:t>
            </a:r>
            <a:endParaRPr lang="en-US" sz="2400" dirty="0"/>
          </a:p>
        </p:txBody>
      </p:sp>
      <p:sp>
        <p:nvSpPr>
          <p:cNvPr id="18" name="Shape 15"/>
          <p:cNvSpPr/>
          <p:nvPr/>
        </p:nvSpPr>
        <p:spPr>
          <a:xfrm>
            <a:off x="9109710" y="1508760"/>
            <a:ext cx="2411730" cy="2286000"/>
          </a:xfrm>
          <a:prstGeom prst="roundRect">
            <a:avLst>
              <a:gd name="adj" fmla="val 4000"/>
            </a:avLst>
          </a:prstGeom>
          <a:solidFill>
            <a:srgbClr val="132A4C"/>
          </a:solidFill>
          <a:ln/>
        </p:spPr>
      </p:sp>
      <p:sp>
        <p:nvSpPr>
          <p:cNvPr id="19" name="Text 16"/>
          <p:cNvSpPr/>
          <p:nvPr/>
        </p:nvSpPr>
        <p:spPr>
          <a:xfrm>
            <a:off x="9246870" y="1691640"/>
            <a:ext cx="2137410" cy="640080"/>
          </a:xfrm>
          <a:prstGeom prst="rect">
            <a:avLst/>
          </a:prstGeom>
          <a:noFill/>
          <a:ln/>
        </p:spPr>
        <p:txBody>
          <a:bodyPr wrap="square" lIns="0" tIns="0" rIns="0" bIns="0" rtlCol="0" anchor="ctr"/>
          <a:lstStyle/>
          <a:p>
            <a:pPr algn="ctr" indent="0" marL="0">
              <a:buNone/>
            </a:pPr>
            <a:r>
              <a:rPr lang="en-US" sz="2800" b="1" dirty="0">
                <a:solidFill>
                  <a:srgbClr val="FF5010"/>
                </a:solidFill>
                <a:latin typeface="Cambria" pitchFamily="34" charset="0"/>
                <a:ea typeface="Cambria" pitchFamily="34" charset="-122"/>
                <a:cs typeface="Cambria" pitchFamily="34" charset="-120"/>
              </a:rPr>
              <a:t>0.18 V</a:t>
            </a:r>
            <a:endParaRPr lang="en-US" sz="2800" dirty="0"/>
          </a:p>
        </p:txBody>
      </p:sp>
      <p:sp>
        <p:nvSpPr>
          <p:cNvPr id="20" name="Text 17"/>
          <p:cNvSpPr/>
          <p:nvPr/>
        </p:nvSpPr>
        <p:spPr>
          <a:xfrm>
            <a:off x="9246870" y="2377440"/>
            <a:ext cx="2137410" cy="128016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 1.69 = kElevatorKG</a:t>
            </a:r>
            <a:endParaRPr lang="en-US" sz="2000" dirty="0"/>
          </a:p>
        </p:txBody>
      </p:sp>
      <p:sp>
        <p:nvSpPr>
          <p:cNvPr id="21" name="Shape 18"/>
          <p:cNvSpPr/>
          <p:nvPr/>
        </p:nvSpPr>
        <p:spPr>
          <a:xfrm>
            <a:off x="640080" y="4023360"/>
            <a:ext cx="10881360" cy="2103120"/>
          </a:xfrm>
          <a:prstGeom prst="roundRect">
            <a:avLst>
              <a:gd name="adj" fmla="val 4348"/>
            </a:avLst>
          </a:prstGeom>
          <a:solidFill>
            <a:srgbClr val="132A4C"/>
          </a:solidFill>
          <a:ln/>
        </p:spPr>
      </p:sp>
      <p:sp>
        <p:nvSpPr>
          <p:cNvPr id="22" name="Text 19"/>
          <p:cNvSpPr/>
          <p:nvPr/>
        </p:nvSpPr>
        <p:spPr>
          <a:xfrm>
            <a:off x="914400" y="42976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Divide by the gear ratio this time</a:t>
            </a:r>
            <a:endParaRPr lang="en-US" sz="2200" dirty="0"/>
          </a:p>
        </p:txBody>
      </p:sp>
      <p:sp>
        <p:nvSpPr>
          <p:cNvPr id="23" name="Text 20"/>
          <p:cNvSpPr/>
          <p:nvPr/>
        </p:nvSpPr>
        <p:spPr>
          <a:xfrm>
            <a:off x="914400" y="4875530"/>
            <a:ext cx="10332720" cy="97663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Speed goes up through the gearbox, so kV multiplied by 12. Torque goes the other way — the gearbox multiplies it for you — so the rotor needs 12 times less.</a:t>
            </a:r>
            <a:endParaRPr lang="en-US" sz="1900" dirty="0"/>
          </a:p>
        </p:txBody>
      </p:sp>
      <p:sp>
        <p:nvSpPr>
          <p:cNvPr id="24" name="Text 2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5" name="Text 2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8</a:t>
            </a:r>
            <a:endParaRPr lang="en-US" sz="2000" dirty="0"/>
          </a:p>
        </p:txBody>
      </p:sp>
      <p:pic>
        <p:nvPicPr>
          <p:cNvPr id="26"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alculato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KA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kA: the voltage a change of speed costs</a:t>
            </a:r>
            <a:endParaRPr lang="en-US" sz="3000" dirty="0"/>
          </a:p>
        </p:txBody>
      </p:sp>
      <p:sp>
        <p:nvSpPr>
          <p:cNvPr id="6" name="Shape 3"/>
          <p:cNvSpPr/>
          <p:nvPr/>
        </p:nvSpPr>
        <p:spPr>
          <a:xfrm>
            <a:off x="640080" y="1508760"/>
            <a:ext cx="2411730" cy="2286000"/>
          </a:xfrm>
          <a:prstGeom prst="roundRect">
            <a:avLst>
              <a:gd name="adj" fmla="val 4000"/>
            </a:avLst>
          </a:prstGeom>
          <a:solidFill>
            <a:srgbClr val="132A4C"/>
          </a:solidFill>
          <a:ln/>
        </p:spPr>
      </p:sp>
      <p:sp>
        <p:nvSpPr>
          <p:cNvPr id="7" name="Text 4"/>
          <p:cNvSpPr/>
          <p:nvPr/>
        </p:nvSpPr>
        <p:spPr>
          <a:xfrm>
            <a:off x="777240" y="1691640"/>
            <a:ext cx="213741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0.798 N</a:t>
            </a:r>
            <a:endParaRPr lang="en-US" sz="2400" dirty="0"/>
          </a:p>
        </p:txBody>
      </p:sp>
      <p:sp>
        <p:nvSpPr>
          <p:cNvPr id="8" name="Text 5"/>
          <p:cNvSpPr/>
          <p:nvPr/>
        </p:nvSpPr>
        <p:spPr>
          <a:xfrm>
            <a:off x="777240" y="2377440"/>
            <a:ext cx="2137410" cy="128016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5 kg × 0.160 m/s²</a:t>
            </a:r>
            <a:endParaRPr lang="en-US" sz="2000" dirty="0"/>
          </a:p>
        </p:txBody>
      </p:sp>
      <p:sp>
        <p:nvSpPr>
          <p:cNvPr id="9" name="Text 6"/>
          <p:cNvSpPr/>
          <p:nvPr/>
        </p:nvSpPr>
        <p:spPr>
          <a:xfrm>
            <a:off x="3051810" y="1691640"/>
            <a:ext cx="411480" cy="640080"/>
          </a:xfrm>
          <a:prstGeom prst="rect">
            <a:avLst/>
          </a:prstGeom>
          <a:noFill/>
          <a:ln/>
        </p:spPr>
        <p:txBody>
          <a:bodyPr wrap="square" lIns="0" tIns="0" rIns="0" bIns="0" rtlCol="0" anchor="ctr"/>
          <a:lstStyle/>
          <a:p>
            <a:pPr algn="ctr" indent="0" marL="0">
              <a:buNone/>
            </a:pPr>
            <a:r>
              <a:rPr lang="en-US" sz="2400" b="1" dirty="0">
                <a:solidFill>
                  <a:srgbClr val="1B9AAA"/>
                </a:solidFill>
                <a:latin typeface="Calibri" pitchFamily="34" charset="0"/>
                <a:ea typeface="Calibri" pitchFamily="34" charset="-122"/>
                <a:cs typeface="Calibri" pitchFamily="34" charset="-120"/>
              </a:rPr>
              <a:t>→</a:t>
            </a:r>
            <a:endParaRPr lang="en-US" sz="2400" dirty="0"/>
          </a:p>
        </p:txBody>
      </p:sp>
      <p:sp>
        <p:nvSpPr>
          <p:cNvPr id="10" name="Shape 7"/>
          <p:cNvSpPr/>
          <p:nvPr/>
        </p:nvSpPr>
        <p:spPr>
          <a:xfrm>
            <a:off x="3463290" y="1508760"/>
            <a:ext cx="2411730" cy="2286000"/>
          </a:xfrm>
          <a:prstGeom prst="roundRect">
            <a:avLst>
              <a:gd name="adj" fmla="val 4000"/>
            </a:avLst>
          </a:prstGeom>
          <a:solidFill>
            <a:srgbClr val="132A4C"/>
          </a:solidFill>
          <a:ln/>
        </p:spPr>
      </p:sp>
      <p:sp>
        <p:nvSpPr>
          <p:cNvPr id="11" name="Text 8"/>
          <p:cNvSpPr/>
          <p:nvPr/>
        </p:nvSpPr>
        <p:spPr>
          <a:xfrm>
            <a:off x="3600450" y="1691640"/>
            <a:ext cx="213741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0.0203 N·m</a:t>
            </a:r>
            <a:endParaRPr lang="en-US" sz="2400" dirty="0"/>
          </a:p>
        </p:txBody>
      </p:sp>
      <p:sp>
        <p:nvSpPr>
          <p:cNvPr id="12" name="Text 9"/>
          <p:cNvSpPr/>
          <p:nvPr/>
        </p:nvSpPr>
        <p:spPr>
          <a:xfrm>
            <a:off x="3600450" y="2377440"/>
            <a:ext cx="2137410" cy="128016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at the drum: × 0.0254 m radius</a:t>
            </a:r>
            <a:endParaRPr lang="en-US" sz="2000" dirty="0"/>
          </a:p>
        </p:txBody>
      </p:sp>
      <p:sp>
        <p:nvSpPr>
          <p:cNvPr id="13" name="Text 10"/>
          <p:cNvSpPr/>
          <p:nvPr/>
        </p:nvSpPr>
        <p:spPr>
          <a:xfrm>
            <a:off x="5875020" y="1691640"/>
            <a:ext cx="411480" cy="640080"/>
          </a:xfrm>
          <a:prstGeom prst="rect">
            <a:avLst/>
          </a:prstGeom>
          <a:noFill/>
          <a:ln/>
        </p:spPr>
        <p:txBody>
          <a:bodyPr wrap="square" lIns="0" tIns="0" rIns="0" bIns="0" rtlCol="0" anchor="ctr"/>
          <a:lstStyle/>
          <a:p>
            <a:pPr algn="ctr" indent="0" marL="0">
              <a:buNone/>
            </a:pPr>
            <a:r>
              <a:rPr lang="en-US" sz="2400" b="1" dirty="0">
                <a:solidFill>
                  <a:srgbClr val="1B9AAA"/>
                </a:solidFill>
                <a:latin typeface="Calibri" pitchFamily="34" charset="0"/>
                <a:ea typeface="Calibri" pitchFamily="34" charset="-122"/>
                <a:cs typeface="Calibri" pitchFamily="34" charset="-120"/>
              </a:rPr>
              <a:t>→</a:t>
            </a:r>
            <a:endParaRPr lang="en-US" sz="2400" dirty="0"/>
          </a:p>
        </p:txBody>
      </p:sp>
      <p:sp>
        <p:nvSpPr>
          <p:cNvPr id="14" name="Shape 11"/>
          <p:cNvSpPr/>
          <p:nvPr/>
        </p:nvSpPr>
        <p:spPr>
          <a:xfrm>
            <a:off x="6286500" y="1508760"/>
            <a:ext cx="2411730" cy="2286000"/>
          </a:xfrm>
          <a:prstGeom prst="roundRect">
            <a:avLst>
              <a:gd name="adj" fmla="val 4000"/>
            </a:avLst>
          </a:prstGeom>
          <a:solidFill>
            <a:srgbClr val="132A4C"/>
          </a:solidFill>
          <a:ln/>
        </p:spPr>
      </p:sp>
      <p:sp>
        <p:nvSpPr>
          <p:cNvPr id="15" name="Text 12"/>
          <p:cNvSpPr/>
          <p:nvPr/>
        </p:nvSpPr>
        <p:spPr>
          <a:xfrm>
            <a:off x="6423660" y="1691640"/>
            <a:ext cx="213741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0.00169 N·m</a:t>
            </a:r>
            <a:endParaRPr lang="en-US" sz="2400" dirty="0"/>
          </a:p>
        </p:txBody>
      </p:sp>
      <p:sp>
        <p:nvSpPr>
          <p:cNvPr id="16" name="Text 13"/>
          <p:cNvSpPr/>
          <p:nvPr/>
        </p:nvSpPr>
        <p:spPr>
          <a:xfrm>
            <a:off x="6423660" y="2377440"/>
            <a:ext cx="2137410" cy="128016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at the rotor: ÷ 12</a:t>
            </a:r>
            <a:endParaRPr lang="en-US" sz="2000" dirty="0"/>
          </a:p>
        </p:txBody>
      </p:sp>
      <p:sp>
        <p:nvSpPr>
          <p:cNvPr id="17" name="Text 14"/>
          <p:cNvSpPr/>
          <p:nvPr/>
        </p:nvSpPr>
        <p:spPr>
          <a:xfrm>
            <a:off x="8698230" y="1691640"/>
            <a:ext cx="411480" cy="640080"/>
          </a:xfrm>
          <a:prstGeom prst="rect">
            <a:avLst/>
          </a:prstGeom>
          <a:noFill/>
          <a:ln/>
        </p:spPr>
        <p:txBody>
          <a:bodyPr wrap="square" lIns="0" tIns="0" rIns="0" bIns="0" rtlCol="0" anchor="ctr"/>
          <a:lstStyle/>
          <a:p>
            <a:pPr algn="ctr" indent="0" marL="0">
              <a:buNone/>
            </a:pPr>
            <a:r>
              <a:rPr lang="en-US" sz="2400" b="1" dirty="0">
                <a:solidFill>
                  <a:srgbClr val="1B9AAA"/>
                </a:solidFill>
                <a:latin typeface="Calibri" pitchFamily="34" charset="0"/>
                <a:ea typeface="Calibri" pitchFamily="34" charset="-122"/>
                <a:cs typeface="Calibri" pitchFamily="34" charset="-120"/>
              </a:rPr>
              <a:t>→</a:t>
            </a:r>
            <a:endParaRPr lang="en-US" sz="2400" dirty="0"/>
          </a:p>
        </p:txBody>
      </p:sp>
      <p:sp>
        <p:nvSpPr>
          <p:cNvPr id="18" name="Shape 15"/>
          <p:cNvSpPr/>
          <p:nvPr/>
        </p:nvSpPr>
        <p:spPr>
          <a:xfrm>
            <a:off x="9109710" y="1508760"/>
            <a:ext cx="2411730" cy="2286000"/>
          </a:xfrm>
          <a:prstGeom prst="roundRect">
            <a:avLst>
              <a:gd name="adj" fmla="val 4000"/>
            </a:avLst>
          </a:prstGeom>
          <a:solidFill>
            <a:srgbClr val="132A4C"/>
          </a:solidFill>
          <a:ln/>
        </p:spPr>
      </p:sp>
      <p:sp>
        <p:nvSpPr>
          <p:cNvPr id="19" name="Text 16"/>
          <p:cNvSpPr/>
          <p:nvPr/>
        </p:nvSpPr>
        <p:spPr>
          <a:xfrm>
            <a:off x="9246870" y="1691640"/>
            <a:ext cx="2137410" cy="640080"/>
          </a:xfrm>
          <a:prstGeom prst="rect">
            <a:avLst/>
          </a:prstGeom>
          <a:noFill/>
          <a:ln/>
        </p:spPr>
        <p:txBody>
          <a:bodyPr wrap="square" lIns="0" tIns="0" rIns="0" bIns="0" rtlCol="0" anchor="ctr"/>
          <a:lstStyle/>
          <a:p>
            <a:pPr algn="ctr" indent="0" marL="0">
              <a:buNone/>
            </a:pPr>
            <a:r>
              <a:rPr lang="en-US" sz="2400" b="1" dirty="0">
                <a:solidFill>
                  <a:srgbClr val="FF5010"/>
                </a:solidFill>
                <a:latin typeface="Cambria" pitchFamily="34" charset="0"/>
                <a:ea typeface="Cambria" pitchFamily="34" charset="-122"/>
                <a:cs typeface="Cambria" pitchFamily="34" charset="-120"/>
              </a:rPr>
              <a:t>0.003 V</a:t>
            </a:r>
            <a:endParaRPr lang="en-US" sz="2400" dirty="0"/>
          </a:p>
        </p:txBody>
      </p:sp>
      <p:sp>
        <p:nvSpPr>
          <p:cNvPr id="20" name="Text 17"/>
          <p:cNvSpPr/>
          <p:nvPr/>
        </p:nvSpPr>
        <p:spPr>
          <a:xfrm>
            <a:off x="9246870" y="2377440"/>
            <a:ext cx="2137410" cy="1280160"/>
          </a:xfrm>
          <a:prstGeom prst="rect">
            <a:avLst/>
          </a:prstGeom>
          <a:noFill/>
          <a:ln/>
        </p:spPr>
        <p:txBody>
          <a:bodyPr wrap="square" lIns="0" tIns="0" rIns="0" bIns="0" rtlCol="0" anchor="t"/>
          <a:lstStyle/>
          <a:p>
            <a:pPr algn="ctr" indent="0" marL="0">
              <a:buNone/>
            </a:pPr>
            <a:r>
              <a:rPr lang="en-US" sz="2000" dirty="0">
                <a:solidFill>
                  <a:srgbClr val="CADCE8"/>
                </a:solidFill>
                <a:latin typeface="Calibri" pitchFamily="34" charset="0"/>
                <a:ea typeface="Calibri" pitchFamily="34" charset="-122"/>
                <a:cs typeface="Calibri" pitchFamily="34" charset="-120"/>
              </a:rPr>
              <a:t>× 1.69 = kElevatorKA</a:t>
            </a:r>
            <a:endParaRPr lang="en-US" sz="2000" dirty="0"/>
          </a:p>
        </p:txBody>
      </p:sp>
      <p:sp>
        <p:nvSpPr>
          <p:cNvPr id="21" name="Shape 18"/>
          <p:cNvSpPr/>
          <p:nvPr/>
        </p:nvSpPr>
        <p:spPr>
          <a:xfrm>
            <a:off x="640080" y="4023360"/>
            <a:ext cx="5303520" cy="2194560"/>
          </a:xfrm>
          <a:prstGeom prst="roundRect">
            <a:avLst>
              <a:gd name="adj" fmla="val 4167"/>
            </a:avLst>
          </a:prstGeom>
          <a:solidFill>
            <a:srgbClr val="132A4C"/>
          </a:solidFill>
          <a:ln/>
        </p:spPr>
      </p:sp>
      <p:sp>
        <p:nvSpPr>
          <p:cNvPr id="22" name="Text 19"/>
          <p:cNvSpPr/>
          <p:nvPr/>
        </p:nvSpPr>
        <p:spPr>
          <a:xfrm>
            <a:off x="868680" y="42519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Where 0.160 m/s² comes from</a:t>
            </a:r>
            <a:endParaRPr lang="en-US" sz="2200" dirty="0"/>
          </a:p>
        </p:txBody>
      </p:sp>
      <p:sp>
        <p:nvSpPr>
          <p:cNvPr id="23" name="Text 20"/>
          <p:cNvSpPr/>
          <p:nvPr/>
        </p:nvSpPr>
        <p:spPr>
          <a:xfrm>
            <a:off x="868680" y="4829810"/>
            <a:ext cx="4846320" cy="115951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One drum rotation is 2π × 0.0254 m of travel. Then F = m·a.</a:t>
            </a:r>
            <a:endParaRPr lang="en-US" sz="2000" dirty="0"/>
          </a:p>
        </p:txBody>
      </p:sp>
      <p:sp>
        <p:nvSpPr>
          <p:cNvPr id="24" name="Shape 21"/>
          <p:cNvSpPr/>
          <p:nvPr/>
        </p:nvSpPr>
        <p:spPr>
          <a:xfrm>
            <a:off x="6217920" y="4023360"/>
            <a:ext cx="5303520" cy="2194560"/>
          </a:xfrm>
          <a:prstGeom prst="roundRect">
            <a:avLst>
              <a:gd name="adj" fmla="val 4167"/>
            </a:avLst>
          </a:prstGeom>
          <a:solidFill>
            <a:srgbClr val="132A4C"/>
          </a:solidFill>
          <a:ln/>
        </p:spPr>
      </p:sp>
      <p:sp>
        <p:nvSpPr>
          <p:cNvPr id="25" name="Text 22"/>
          <p:cNvSpPr/>
          <p:nvPr/>
        </p:nvSpPr>
        <p:spPr>
          <a:xfrm>
            <a:off x="6446520" y="42519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Only the carriage's mass</a:t>
            </a:r>
            <a:endParaRPr lang="en-US" sz="2200" dirty="0"/>
          </a:p>
        </p:txBody>
      </p:sp>
      <p:sp>
        <p:nvSpPr>
          <p:cNvPr id="26" name="Text 23"/>
          <p:cNvSpPr/>
          <p:nvPr/>
        </p:nvSpPr>
        <p:spPr>
          <a:xfrm>
            <a:off x="6446520" y="4829810"/>
            <a:ext cx="4846320" cy="115951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A real elevator's motor and drum add a little. Section 10 checks it.</a:t>
            </a:r>
            <a:endParaRPr lang="en-US" sz="2000" dirty="0"/>
          </a:p>
        </p:txBody>
      </p:sp>
      <p:sp>
        <p:nvSpPr>
          <p:cNvPr id="27" name="Text 2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8" name="Text 2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9</a:t>
            </a:r>
            <a:endParaRPr lang="en-US" sz="2000" dirty="0"/>
          </a:p>
        </p:txBody>
      </p:sp>
      <p:pic>
        <p:nvPicPr>
          <p:cNvPr id="29"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ElevatorConstants: the hardware and its limits</a:t>
            </a:r>
            <a:endParaRPr lang="en-US" sz="3000" dirty="0"/>
          </a:p>
        </p:txBody>
      </p:sp>
      <p:sp>
        <p:nvSpPr>
          <p:cNvPr id="6" name="Shape 3"/>
          <p:cNvSpPr/>
          <p:nvPr/>
        </p:nvSpPr>
        <p:spPr>
          <a:xfrm>
            <a:off x="640080" y="1280160"/>
            <a:ext cx="10881360" cy="3520440"/>
          </a:xfrm>
          <a:prstGeom prst="roundRect">
            <a:avLst>
              <a:gd name="adj" fmla="val 311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Constants.java, as a new nested class after PathConstants — part 1</a:t>
            </a:r>
            <a:endParaRPr lang="en-US" sz="1500" dirty="0"/>
          </a:p>
        </p:txBody>
      </p:sp>
      <p:sp>
        <p:nvSpPr>
          <p:cNvPr id="11" name="Text 8"/>
          <p:cNvSpPr/>
          <p:nvPr/>
        </p:nvSpPr>
        <p:spPr>
          <a:xfrm>
            <a:off x="914400" y="1737360"/>
            <a:ext cx="10195560" cy="2862072"/>
          </a:xfrm>
          <a:prstGeom prst="rect">
            <a:avLst/>
          </a:prstGeom>
          <a:noFill/>
          <a:ln/>
        </p:spPr>
        <p:txBody>
          <a:bodyPr wrap="square" lIns="0" tIns="0" rIns="0" bIns="0" rtlCol="0" anchor="t"/>
          <a:lstStyle/>
          <a:p>
            <a:pPr indent="0" marL="0">
              <a:lnSpc>
                <a:spcPct val="120000"/>
              </a:lnSpc>
              <a:buNone/>
            </a:pPr>
            <a:r>
              <a:rPr lang="en-US" sz="1250" dirty="0">
                <a:solidFill>
                  <a:srgbClr val="FFD166"/>
                </a:solidFill>
                <a:latin typeface="Courier New" pitchFamily="34" charset="0"/>
                <a:ea typeface="Courier New" pitchFamily="34" charset="-122"/>
                <a:cs typeface="Courier New" pitchFamily="34" charset="-120"/>
              </a:rPr>
              <a:t>public static final class ElevatorConstants {</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public static final int kMotorPort = 20; // CAN ID — change to yours</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public static final double kGearRatio = 12.0; // motor rotations per drum rotation</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public static final Distance kDrumRadius = Inches.of(1.0);</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public static final Mass kCarriageMass = Kilograms.of(5.0); // carriage + anything riding on it</a:t>
            </a:r>
            <a:endParaRPr lang="en-US" sz="1250" dirty="0"/>
          </a:p>
          <a:p>
            <a:pPr indent="0" marL="0">
              <a:lnSpc>
                <a:spcPct val="120000"/>
              </a:lnSpc>
              <a:buNone/>
            </a:pP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public static final Distance kMinHeight = Meters.of(0.0);</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public static final Distance kMaxHeight = Meters.of(1.5);</a:t>
            </a:r>
            <a:endParaRPr lang="en-US" sz="1250" dirty="0"/>
          </a:p>
          <a:p>
            <a:pPr indent="0" marL="0">
              <a:lnSpc>
                <a:spcPct val="120000"/>
              </a:lnSpc>
              <a:buNone/>
            </a:pP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public static final LinearVelocity kMaxVelocity = MetersPerSecond.of(1.0);</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public static final LinearAcceleration kMaxAcceleration = MetersPerSecondPerSecond.of(2.0);</a:t>
            </a:r>
            <a:endParaRPr lang="en-US" sz="1250" dirty="0"/>
          </a:p>
        </p:txBody>
      </p:sp>
      <p:sp>
        <p:nvSpPr>
          <p:cNvPr id="12" name="Shape 9"/>
          <p:cNvSpPr/>
          <p:nvPr/>
        </p:nvSpPr>
        <p:spPr>
          <a:xfrm>
            <a:off x="640080" y="4983480"/>
            <a:ext cx="10881360" cy="1280160"/>
          </a:xfrm>
          <a:prstGeom prst="roundRect">
            <a:avLst>
              <a:gd name="adj" fmla="val 7143"/>
            </a:avLst>
          </a:prstGeom>
          <a:solidFill>
            <a:srgbClr val="F3F6FA"/>
          </a:solidFill>
          <a:ln/>
        </p:spPr>
      </p:sp>
      <p:sp>
        <p:nvSpPr>
          <p:cNvPr id="13" name="Text 10"/>
          <p:cNvSpPr/>
          <p:nvPr/>
        </p:nvSpPr>
        <p:spPr>
          <a:xfrm>
            <a:off x="868680" y="5212080"/>
            <a:ext cx="10424160" cy="8229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kMaxVelocity and kMaxAcceleration are the carriage's own numbers, in meters. Section 6 converts them into drum rotations for Motion Magic.</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four gains, the presets, the tolerance</a:t>
            </a:r>
            <a:endParaRPr lang="en-US" sz="3000" dirty="0"/>
          </a:p>
        </p:txBody>
      </p:sp>
      <p:sp>
        <p:nvSpPr>
          <p:cNvPr id="6" name="Shape 3"/>
          <p:cNvSpPr/>
          <p:nvPr/>
        </p:nvSpPr>
        <p:spPr>
          <a:xfrm>
            <a:off x="640080" y="1280160"/>
            <a:ext cx="10881360" cy="4069080"/>
          </a:xfrm>
          <a:prstGeom prst="roundRect">
            <a:avLst>
              <a:gd name="adj" fmla="val 269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ElevatorConstants — part 2, finishing the class</a:t>
            </a:r>
            <a:endParaRPr lang="en-US" sz="1500" dirty="0"/>
          </a:p>
        </p:txBody>
      </p:sp>
      <p:sp>
        <p:nvSpPr>
          <p:cNvPr id="11" name="Text 8"/>
          <p:cNvSpPr/>
          <p:nvPr/>
        </p:nvSpPr>
        <p:spPr>
          <a:xfrm>
            <a:off x="914400" y="1737360"/>
            <a:ext cx="10195560" cy="3410712"/>
          </a:xfrm>
          <a:prstGeom prst="rect">
            <a:avLst/>
          </a:prstGeom>
          <a:noFill/>
          <a:ln/>
        </p:spPr>
        <p:txBody>
          <a:bodyPr wrap="square" lIns="0" tIns="0" rIns="0" bIns="0" rtlCol="0" anchor="t"/>
          <a:lstStyle/>
          <a:p>
            <a:pPr indent="0" marL="0">
              <a:lnSpc>
                <a:spcPct val="120000"/>
              </a:lnSpc>
              <a:buNone/>
            </a:pPr>
            <a:r>
              <a:rPr lang="en-US" sz="1150" dirty="0">
                <a:solidFill>
                  <a:srgbClr val="7FA8C9"/>
                </a:solidFill>
                <a:latin typeface="Courier New" pitchFamily="34" charset="0"/>
                <a:ea typeface="Courier New" pitchFamily="34" charset="-122"/>
                <a:cs typeface="Courier New" pitchFamily="34" charset="-120"/>
              </a:rPr>
              <a:t>  // Feedforward + trim gains, computed from the Kraken X60 spec sheet — see the lesson's §3.</a:t>
            </a:r>
            <a:endParaRPr lang="en-US" sz="1150" dirty="0"/>
          </a:p>
          <a:p>
            <a:pPr indent="0" marL="0">
              <a:lnSpc>
                <a:spcPct val="120000"/>
              </a:lnSpc>
              <a:buNone/>
            </a:pPr>
            <a:r>
              <a:rPr lang="en-US" sz="1150" dirty="0">
                <a:solidFill>
                  <a:srgbClr val="7FA8C9"/>
                </a:solidFill>
                <a:latin typeface="Courier New" pitchFamily="34" charset="0"/>
                <a:ea typeface="Courier New" pitchFamily="34" charset="-122"/>
                <a:cs typeface="Courier New" pitchFamily="34" charset="-120"/>
              </a:rPr>
              <a:t>  // SensorToMechanismRatio makes the closed loop run in drum rotations, so</a:t>
            </a:r>
            <a:endParaRPr lang="en-US" sz="1150" dirty="0"/>
          </a:p>
          <a:p>
            <a:pPr indent="0" marL="0">
              <a:lnSpc>
                <a:spcPct val="120000"/>
              </a:lnSpc>
              <a:buNone/>
            </a:pPr>
            <a:r>
              <a:rPr lang="en-US" sz="1150" dirty="0">
                <a:solidFill>
                  <a:srgbClr val="7FA8C9"/>
                </a:solidFill>
                <a:latin typeface="Courier New" pitchFamily="34" charset="0"/>
                <a:ea typeface="Courier New" pitchFamily="34" charset="-122"/>
                <a:cs typeface="Courier New" pitchFamily="34" charset="-120"/>
              </a:rPr>
              <a:t>  // every gain below is drum-side (mechanism-side), not rotor-side.</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static final double kElevatorKG = 0.18; // volts to hold position against gravity</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static final double kElevatorKV = 1.44; // volts per drum rotation/sec</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static final double kElevatorKA = 0.003; // volts per drum rotation/sec^2</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static final double kElevatorKP = 20.0; // volts per drum rotation of error — the trim</a:t>
            </a:r>
            <a:endParaRPr lang="en-US" sz="1150" dirty="0"/>
          </a:p>
          <a:p>
            <a:pPr indent="0" marL="0">
              <a:lnSpc>
                <a:spcPct val="120000"/>
              </a:lnSpc>
              <a:buNone/>
            </a:pP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static final Distance kStowed = Meters.of(0.02);</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static final Distance kScoreMid = Meters.of(0.75);</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static final Distance kScoreHigh = Meters.of(1.45);</a:t>
            </a:r>
            <a:endParaRPr lang="en-US" sz="1150" dirty="0"/>
          </a:p>
          <a:p>
            <a:pPr indent="0" marL="0">
              <a:lnSpc>
                <a:spcPct val="120000"/>
              </a:lnSpc>
              <a:buNone/>
            </a:pP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static final Distance kTolerance = Centimeters.of(2);</a:t>
            </a:r>
            <a:endParaRPr lang="en-US" sz="1150" dirty="0"/>
          </a:p>
          <a:p>
            <a:pPr indent="0" marL="0">
              <a:lnSpc>
                <a:spcPct val="120000"/>
              </a:lnSpc>
              <a:buNone/>
            </a:pPr>
            <a:r>
              <a:rPr lang="en-US" sz="1150" dirty="0">
                <a:solidFill>
                  <a:srgbClr val="D7E3F4"/>
                </a:solidFill>
                <a:latin typeface="Courier New" pitchFamily="34" charset="0"/>
                <a:ea typeface="Courier New" pitchFamily="34" charset="-122"/>
                <a:cs typeface="Courier New" pitchFamily="34" charset="-120"/>
              </a:rPr>
              <a:t>}</a:t>
            </a:r>
            <a:endParaRPr lang="en-US" sz="1150" dirty="0"/>
          </a:p>
        </p:txBody>
      </p:sp>
      <p:sp>
        <p:nvSpPr>
          <p:cNvPr id="12" name="Shape 9"/>
          <p:cNvSpPr/>
          <p:nvPr/>
        </p:nvSpPr>
        <p:spPr>
          <a:xfrm>
            <a:off x="640080" y="5486400"/>
            <a:ext cx="10881360" cy="822960"/>
          </a:xfrm>
          <a:prstGeom prst="roundRect">
            <a:avLst>
              <a:gd name="adj" fmla="val 11111"/>
            </a:avLst>
          </a:prstGeom>
          <a:solidFill>
            <a:srgbClr val="F3F6FA"/>
          </a:solidFill>
          <a:ln/>
        </p:spPr>
      </p:sp>
      <p:sp>
        <p:nvSpPr>
          <p:cNvPr id="13" name="Text 10"/>
          <p:cNvSpPr/>
          <p:nvPr/>
        </p:nvSpPr>
        <p:spPr>
          <a:xfrm>
            <a:off x="777240" y="5623560"/>
            <a:ext cx="10607040" cy="5486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0.18, 1.44 and 0.003 are the numbers you just worked out; 20.0 is the trim.</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Four new units and three new measure types</a:t>
            </a:r>
            <a:endParaRPr lang="en-US" sz="3000" dirty="0"/>
          </a:p>
        </p:txBody>
      </p:sp>
      <p:sp>
        <p:nvSpPr>
          <p:cNvPr id="6" name="Shape 3"/>
          <p:cNvSpPr/>
          <p:nvPr/>
        </p:nvSpPr>
        <p:spPr>
          <a:xfrm>
            <a:off x="640080" y="1280160"/>
            <a:ext cx="10881360" cy="2560320"/>
          </a:xfrm>
          <a:prstGeom prst="roundRect">
            <a:avLst>
              <a:gd name="adj" fmla="val 428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Constants.java's imports, next to the ones already there</a:t>
            </a:r>
            <a:endParaRPr lang="en-US" sz="1500" dirty="0"/>
          </a:p>
        </p:txBody>
      </p:sp>
      <p:sp>
        <p:nvSpPr>
          <p:cNvPr id="11" name="Text 8"/>
          <p:cNvSpPr/>
          <p:nvPr/>
        </p:nvSpPr>
        <p:spPr>
          <a:xfrm>
            <a:off x="914400" y="1737360"/>
            <a:ext cx="10195560" cy="1901952"/>
          </a:xfrm>
          <a:prstGeom prst="rect">
            <a:avLst/>
          </a:prstGeom>
          <a:noFill/>
          <a:ln/>
        </p:spPr>
        <p:txBody>
          <a:bodyPr wrap="square" lIns="0" tIns="0" rIns="0" bIns="0" rtlCol="0" anchor="t"/>
          <a:lstStyle/>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static org.wpilib.units.Units.Centimeters;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static org.wpilib.units.Units.Inches;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static org.wpilib.units.Units.Kilograms;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static org.wpilib.units.Units.MetersPerSecondPerSecond;</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org.wpilib.units.measure.Distance;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org.wpilib.units.measure.LinearAcceleration;</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org.wpilib.units.measure.Mass;</a:t>
            </a:r>
            <a:endParaRPr lang="en-US" sz="1300" dirty="0"/>
          </a:p>
        </p:txBody>
      </p:sp>
      <p:sp>
        <p:nvSpPr>
          <p:cNvPr id="12" name="Shape 9"/>
          <p:cNvSpPr/>
          <p:nvPr/>
        </p:nvSpPr>
        <p:spPr>
          <a:xfrm>
            <a:off x="640080" y="4069080"/>
            <a:ext cx="10881360" cy="2148840"/>
          </a:xfrm>
          <a:prstGeom prst="roundRect">
            <a:avLst>
              <a:gd name="adj" fmla="val 4255"/>
            </a:avLst>
          </a:prstGeom>
          <a:solidFill>
            <a:srgbClr val="F3F6FA"/>
          </a:solidFill>
          <a:ln/>
        </p:spPr>
      </p:sp>
      <p:sp>
        <p:nvSpPr>
          <p:cNvPr id="13" name="Text 10"/>
          <p:cNvSpPr/>
          <p:nvPr/>
        </p:nvSpPr>
        <p:spPr>
          <a:xfrm>
            <a:off x="914400" y="43434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kMotorPort = 20 is a placeholder</a:t>
            </a:r>
            <a:endParaRPr lang="en-US" sz="2200" dirty="0"/>
          </a:p>
        </p:txBody>
      </p:sp>
      <p:sp>
        <p:nvSpPr>
          <p:cNvPr id="14" name="Text 11"/>
          <p:cNvSpPr/>
          <p:nvPr/>
        </p:nvSpPr>
        <p:spPr>
          <a:xfrm>
            <a:off x="914400" y="4921250"/>
            <a:ext cx="10332720" cy="102235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It steers clear of the drive and steer ports you've already claimed (1 through 12) and the CANcoder ports (9 through 12). Change it to whatever is free on your own robot.</a:t>
            </a:r>
            <a:endParaRPr lang="en-US" sz="19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4 · MOTION MAGIC</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Ramp up, cruise, ramp down — in firmware</a:t>
            </a:r>
            <a:endParaRPr lang="en-US" sz="3000" dirty="0"/>
          </a:p>
        </p:txBody>
      </p:sp>
      <p:sp>
        <p:nvSpPr>
          <p:cNvPr id="6" name="Shape 3"/>
          <p:cNvSpPr/>
          <p:nvPr/>
        </p:nvSpPr>
        <p:spPr>
          <a:xfrm>
            <a:off x="640080" y="1508760"/>
            <a:ext cx="5760720" cy="3291840"/>
          </a:xfrm>
          <a:prstGeom prst="roundRect">
            <a:avLst>
              <a:gd name="adj" fmla="val 3333"/>
            </a:avLst>
          </a:prstGeom>
          <a:solidFill>
            <a:srgbClr val="132A4C"/>
          </a:solidFill>
          <a:ln/>
        </p:spPr>
      </p:sp>
      <p:sp>
        <p:nvSpPr>
          <p:cNvPr id="7" name="Shape 4"/>
          <p:cNvSpPr/>
          <p:nvPr/>
        </p:nvSpPr>
        <p:spPr>
          <a:xfrm>
            <a:off x="1188720" y="4206240"/>
            <a:ext cx="4892040" cy="0"/>
          </a:xfrm>
          <a:prstGeom prst="line">
            <a:avLst/>
          </a:prstGeom>
          <a:noFill/>
          <a:ln w="19050">
            <a:solidFill>
              <a:srgbClr val="7A93B8"/>
            </a:solidFill>
            <a:prstDash val="solid"/>
          </a:ln>
        </p:spPr>
      </p:sp>
      <p:sp>
        <p:nvSpPr>
          <p:cNvPr id="8" name="Shape 5"/>
          <p:cNvSpPr/>
          <p:nvPr/>
        </p:nvSpPr>
        <p:spPr>
          <a:xfrm>
            <a:off x="1188720" y="2148840"/>
            <a:ext cx="0" cy="2057400"/>
          </a:xfrm>
          <a:prstGeom prst="line">
            <a:avLst/>
          </a:prstGeom>
          <a:noFill/>
          <a:ln w="19050">
            <a:solidFill>
              <a:srgbClr val="7A93B8"/>
            </a:solidFill>
            <a:prstDash val="solid"/>
          </a:ln>
        </p:spPr>
      </p:sp>
      <p:sp>
        <p:nvSpPr>
          <p:cNvPr id="9" name="Shape 6"/>
          <p:cNvSpPr/>
          <p:nvPr/>
        </p:nvSpPr>
        <p:spPr>
          <a:xfrm flipV="1">
            <a:off x="1188720" y="2331720"/>
            <a:ext cx="1371600" cy="1874520"/>
          </a:xfrm>
          <a:prstGeom prst="line">
            <a:avLst/>
          </a:prstGeom>
          <a:noFill/>
          <a:ln w="50800">
            <a:solidFill>
              <a:srgbClr val="1B9AAA"/>
            </a:solidFill>
            <a:prstDash val="solid"/>
          </a:ln>
        </p:spPr>
      </p:sp>
      <p:sp>
        <p:nvSpPr>
          <p:cNvPr id="10" name="Shape 7"/>
          <p:cNvSpPr/>
          <p:nvPr/>
        </p:nvSpPr>
        <p:spPr>
          <a:xfrm>
            <a:off x="2560320" y="2331720"/>
            <a:ext cx="1828800" cy="0"/>
          </a:xfrm>
          <a:prstGeom prst="line">
            <a:avLst/>
          </a:prstGeom>
          <a:noFill/>
          <a:ln w="50800">
            <a:solidFill>
              <a:srgbClr val="1B9AAA"/>
            </a:solidFill>
            <a:prstDash val="solid"/>
          </a:ln>
        </p:spPr>
      </p:sp>
      <p:sp>
        <p:nvSpPr>
          <p:cNvPr id="11" name="Shape 8"/>
          <p:cNvSpPr/>
          <p:nvPr/>
        </p:nvSpPr>
        <p:spPr>
          <a:xfrm>
            <a:off x="4389120" y="2331720"/>
            <a:ext cx="1371600" cy="1874520"/>
          </a:xfrm>
          <a:prstGeom prst="line">
            <a:avLst/>
          </a:prstGeom>
          <a:noFill/>
          <a:ln w="50800">
            <a:solidFill>
              <a:srgbClr val="1B9AAA"/>
            </a:solidFill>
            <a:prstDash val="solid"/>
          </a:ln>
        </p:spPr>
      </p:sp>
      <p:sp>
        <p:nvSpPr>
          <p:cNvPr id="12" name="Text 9"/>
          <p:cNvSpPr/>
          <p:nvPr/>
        </p:nvSpPr>
        <p:spPr>
          <a:xfrm>
            <a:off x="914400" y="1645920"/>
            <a:ext cx="5212080" cy="365760"/>
          </a:xfrm>
          <a:prstGeom prst="rect">
            <a:avLst/>
          </a:prstGeom>
          <a:noFill/>
          <a:ln/>
        </p:spPr>
        <p:txBody>
          <a:bodyPr wrap="square" lIns="0" tIns="0" rIns="0" bIns="0" rtlCol="0" anchor="ctr"/>
          <a:lstStyle/>
          <a:p>
            <a:pPr indent="0" marL="0">
              <a:buNone/>
            </a:pPr>
            <a:r>
              <a:rPr lang="en-US" sz="2000" dirty="0">
                <a:solidFill>
                  <a:srgbClr val="7A93B8"/>
                </a:solidFill>
                <a:latin typeface="Calibri" pitchFamily="34" charset="0"/>
                <a:ea typeface="Calibri" pitchFamily="34" charset="-122"/>
                <a:cs typeface="Calibri" pitchFamily="34" charset="-120"/>
              </a:rPr>
              <a:t>Carriage speed during one move</a:t>
            </a:r>
            <a:endParaRPr lang="en-US" sz="2000" dirty="0"/>
          </a:p>
        </p:txBody>
      </p:sp>
      <p:sp>
        <p:nvSpPr>
          <p:cNvPr id="13" name="Text 10"/>
          <p:cNvSpPr/>
          <p:nvPr/>
        </p:nvSpPr>
        <p:spPr>
          <a:xfrm>
            <a:off x="1188720" y="4297680"/>
            <a:ext cx="1371600" cy="365760"/>
          </a:xfrm>
          <a:prstGeom prst="rect">
            <a:avLst/>
          </a:prstGeom>
          <a:noFill/>
          <a:ln/>
        </p:spPr>
        <p:txBody>
          <a:bodyPr wrap="square" lIns="0" tIns="0" rIns="0" bIns="0" rtlCol="0" anchor="ctr"/>
          <a:lstStyle/>
          <a:p>
            <a:pPr algn="ctr" indent="0" marL="0">
              <a:buNone/>
            </a:pPr>
            <a:r>
              <a:rPr lang="en-US" sz="2000" dirty="0">
                <a:solidFill>
                  <a:srgbClr val="CADCE8"/>
                </a:solidFill>
                <a:latin typeface="Calibri" pitchFamily="34" charset="0"/>
                <a:ea typeface="Calibri" pitchFamily="34" charset="-122"/>
                <a:cs typeface="Calibri" pitchFamily="34" charset="-120"/>
              </a:rPr>
              <a:t>ramp up</a:t>
            </a:r>
            <a:endParaRPr lang="en-US" sz="2000" dirty="0"/>
          </a:p>
        </p:txBody>
      </p:sp>
      <p:sp>
        <p:nvSpPr>
          <p:cNvPr id="14" name="Text 11"/>
          <p:cNvSpPr/>
          <p:nvPr/>
        </p:nvSpPr>
        <p:spPr>
          <a:xfrm>
            <a:off x="2560320" y="4297680"/>
            <a:ext cx="1828800" cy="365760"/>
          </a:xfrm>
          <a:prstGeom prst="rect">
            <a:avLst/>
          </a:prstGeom>
          <a:noFill/>
          <a:ln/>
        </p:spPr>
        <p:txBody>
          <a:bodyPr wrap="square" lIns="0" tIns="0" rIns="0" bIns="0" rtlCol="0" anchor="ctr"/>
          <a:lstStyle/>
          <a:p>
            <a:pPr algn="ctr" indent="0" marL="0">
              <a:buNone/>
            </a:pPr>
            <a:r>
              <a:rPr lang="en-US" sz="2000" dirty="0">
                <a:solidFill>
                  <a:srgbClr val="CADCE8"/>
                </a:solidFill>
                <a:latin typeface="Calibri" pitchFamily="34" charset="0"/>
                <a:ea typeface="Calibri" pitchFamily="34" charset="-122"/>
                <a:cs typeface="Calibri" pitchFamily="34" charset="-120"/>
              </a:rPr>
              <a:t>cruise</a:t>
            </a:r>
            <a:endParaRPr lang="en-US" sz="2000" dirty="0"/>
          </a:p>
        </p:txBody>
      </p:sp>
      <p:sp>
        <p:nvSpPr>
          <p:cNvPr id="15" name="Text 12"/>
          <p:cNvSpPr/>
          <p:nvPr/>
        </p:nvSpPr>
        <p:spPr>
          <a:xfrm>
            <a:off x="4297680" y="4297680"/>
            <a:ext cx="1554480" cy="365760"/>
          </a:xfrm>
          <a:prstGeom prst="rect">
            <a:avLst/>
          </a:prstGeom>
          <a:noFill/>
          <a:ln/>
        </p:spPr>
        <p:txBody>
          <a:bodyPr wrap="square" lIns="0" tIns="0" rIns="0" bIns="0" rtlCol="0" anchor="ctr"/>
          <a:lstStyle/>
          <a:p>
            <a:pPr algn="ctr" indent="0" marL="0">
              <a:buNone/>
            </a:pPr>
            <a:r>
              <a:rPr lang="en-US" sz="2000" dirty="0">
                <a:solidFill>
                  <a:srgbClr val="CADCE8"/>
                </a:solidFill>
                <a:latin typeface="Calibri" pitchFamily="34" charset="0"/>
                <a:ea typeface="Calibri" pitchFamily="34" charset="-122"/>
                <a:cs typeface="Calibri" pitchFamily="34" charset="-120"/>
              </a:rPr>
              <a:t>ramp down</a:t>
            </a:r>
            <a:endParaRPr lang="en-US" sz="2000" dirty="0"/>
          </a:p>
        </p:txBody>
      </p:sp>
      <p:sp>
        <p:nvSpPr>
          <p:cNvPr id="16" name="Shape 13"/>
          <p:cNvSpPr/>
          <p:nvPr/>
        </p:nvSpPr>
        <p:spPr>
          <a:xfrm>
            <a:off x="6675120" y="1508760"/>
            <a:ext cx="4846320" cy="1554480"/>
          </a:xfrm>
          <a:prstGeom prst="roundRect">
            <a:avLst>
              <a:gd name="adj" fmla="val 5882"/>
            </a:avLst>
          </a:prstGeom>
          <a:solidFill>
            <a:srgbClr val="132A4C"/>
          </a:solidFill>
          <a:ln/>
        </p:spPr>
      </p:sp>
      <p:sp>
        <p:nvSpPr>
          <p:cNvPr id="17" name="Text 14"/>
          <p:cNvSpPr/>
          <p:nvPr/>
        </p:nvSpPr>
        <p:spPr>
          <a:xfrm>
            <a:off x="6903720" y="1737360"/>
            <a:ext cx="43891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PositionVoltage snaps</a:t>
            </a:r>
            <a:endParaRPr lang="en-US" sz="2200" dirty="0"/>
          </a:p>
        </p:txBody>
      </p:sp>
      <p:sp>
        <p:nvSpPr>
          <p:cNvPr id="18" name="Text 15"/>
          <p:cNvSpPr/>
          <p:nvPr/>
        </p:nvSpPr>
        <p:spPr>
          <a:xfrm>
            <a:off x="6903720" y="2315210"/>
            <a:ext cx="4389120" cy="51943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Full voltage, then a hard stop.</a:t>
            </a:r>
            <a:endParaRPr lang="en-US" sz="2000" dirty="0"/>
          </a:p>
        </p:txBody>
      </p:sp>
      <p:sp>
        <p:nvSpPr>
          <p:cNvPr id="19" name="Shape 16"/>
          <p:cNvSpPr/>
          <p:nvPr/>
        </p:nvSpPr>
        <p:spPr>
          <a:xfrm>
            <a:off x="6675120" y="3246120"/>
            <a:ext cx="4846320" cy="1554480"/>
          </a:xfrm>
          <a:prstGeom prst="roundRect">
            <a:avLst>
              <a:gd name="adj" fmla="val 5882"/>
            </a:avLst>
          </a:prstGeom>
          <a:solidFill>
            <a:srgbClr val="132A4C"/>
          </a:solidFill>
          <a:ln/>
        </p:spPr>
      </p:sp>
      <p:sp>
        <p:nvSpPr>
          <p:cNvPr id="20" name="Text 17"/>
          <p:cNvSpPr/>
          <p:nvPr/>
        </p:nvSpPr>
        <p:spPr>
          <a:xfrm>
            <a:off x="6903720" y="3474720"/>
            <a:ext cx="43891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Motion Magic profiles</a:t>
            </a:r>
            <a:endParaRPr lang="en-US" sz="2200" dirty="0"/>
          </a:p>
        </p:txBody>
      </p:sp>
      <p:sp>
        <p:nvSpPr>
          <p:cNvPr id="21" name="Text 18"/>
          <p:cNvSpPr/>
          <p:nvPr/>
        </p:nvSpPr>
        <p:spPr>
          <a:xfrm>
            <a:off x="6903720" y="4052570"/>
            <a:ext cx="4389120" cy="51943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Cruise speed + acceleration.</a:t>
            </a:r>
            <a:endParaRPr lang="en-US" sz="2000" dirty="0"/>
          </a:p>
        </p:txBody>
      </p:sp>
      <p:sp>
        <p:nvSpPr>
          <p:cNvPr id="22" name="Shape 19"/>
          <p:cNvSpPr/>
          <p:nvPr/>
        </p:nvSpPr>
        <p:spPr>
          <a:xfrm>
            <a:off x="640080" y="5029200"/>
            <a:ext cx="10881360" cy="1188720"/>
          </a:xfrm>
          <a:prstGeom prst="roundRect">
            <a:avLst>
              <a:gd name="adj" fmla="val 7692"/>
            </a:avLst>
          </a:prstGeom>
          <a:solidFill>
            <a:srgbClr val="132A4C"/>
          </a:solidFill>
          <a:ln/>
        </p:spPr>
      </p:sp>
      <p:sp>
        <p:nvSpPr>
          <p:cNvPr id="23" name="Text 20"/>
          <p:cNvSpPr/>
          <p:nvPr/>
        </p:nvSpPr>
        <p:spPr>
          <a:xfrm>
            <a:off x="868680" y="5257800"/>
            <a:ext cx="10424160" cy="73152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Same kG, kV, kA and kP — Motion Magic feeds the profile's own speed and position into that model, recalculating when the goal changes.</a:t>
            </a:r>
            <a:endParaRPr lang="en-US" sz="2000" dirty="0"/>
          </a:p>
        </p:txBody>
      </p:sp>
      <p:sp>
        <p:nvSpPr>
          <p:cNvPr id="24" name="Text 2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5" name="Text 2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13</a:t>
            </a:r>
            <a:endParaRPr lang="en-US" sz="2000" dirty="0"/>
          </a:p>
        </p:txBody>
      </p:sp>
      <p:pic>
        <p:nvPicPr>
          <p:cNvPr id="26"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olde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SECTIONS 5–8 · NEW FILES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Four new files, all in subsystems</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subsystems → New File: ElevatorIO.java</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contract: what the elevator senses, and what it can be told.</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subsystems → New File: ElevatorIOTalonFX.java</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real motor, behind the contract.</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subsystems → New File: ElevatorIOSim.java</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real class, plus a physics model underneath it.</a:t>
            </a:r>
            <a:endParaRPr lang="en-US" sz="2000" dirty="0"/>
          </a:p>
        </p:txBody>
      </p:sp>
      <p:sp>
        <p:nvSpPr>
          <p:cNvPr id="18" name="Shape 15"/>
          <p:cNvSpPr/>
          <p:nvPr/>
        </p:nvSpPr>
        <p:spPr>
          <a:xfrm>
            <a:off x="640080" y="4864608"/>
            <a:ext cx="502920" cy="502920"/>
          </a:xfrm>
          <a:prstGeom prst="ellipse">
            <a:avLst/>
          </a:prstGeom>
          <a:solidFill>
            <a:srgbClr val="1B9AAA"/>
          </a:solidFill>
          <a:ln/>
        </p:spPr>
      </p:sp>
      <p:sp>
        <p:nvSpPr>
          <p:cNvPr id="19" name="Text 16"/>
          <p:cNvSpPr/>
          <p:nvPr/>
        </p:nvSpPr>
        <p:spPr>
          <a:xfrm>
            <a:off x="640080" y="4864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91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subsystems → New File: Elevator.java</a:t>
            </a:r>
            <a:endParaRPr lang="en-US" sz="2000" dirty="0"/>
          </a:p>
        </p:txBody>
      </p:sp>
      <p:sp>
        <p:nvSpPr>
          <p:cNvPr id="21" name="Text 18"/>
          <p:cNvSpPr/>
          <p:nvPr/>
        </p:nvSpPr>
        <p:spPr>
          <a:xfrm>
            <a:off x="1371600" y="5175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mechanism your commands talk to.</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2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ELEVATORIO.JAVA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contract: four readings, two methods</a:t>
            </a:r>
            <a:endParaRPr lang="en-US" sz="3000" dirty="0"/>
          </a:p>
        </p:txBody>
      </p:sp>
      <p:sp>
        <p:nvSpPr>
          <p:cNvPr id="6" name="Shape 3"/>
          <p:cNvSpPr/>
          <p:nvPr/>
        </p:nvSpPr>
        <p:spPr>
          <a:xfrm>
            <a:off x="640080" y="1280160"/>
            <a:ext cx="10881360" cy="4434840"/>
          </a:xfrm>
          <a:prstGeom prst="roundRect">
            <a:avLst>
              <a:gd name="adj" fmla="val 247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subsystems/ElevatorIO.java — the whole file</a:t>
            </a:r>
            <a:endParaRPr lang="en-US" sz="1500" dirty="0"/>
          </a:p>
        </p:txBody>
      </p:sp>
      <p:sp>
        <p:nvSpPr>
          <p:cNvPr id="11" name="Text 8"/>
          <p:cNvSpPr/>
          <p:nvPr/>
        </p:nvSpPr>
        <p:spPr>
          <a:xfrm>
            <a:off x="914400" y="1737360"/>
            <a:ext cx="10195560" cy="3776472"/>
          </a:xfrm>
          <a:prstGeom prst="rect">
            <a:avLst/>
          </a:prstGeom>
          <a:noFill/>
          <a:ln/>
        </p:spPr>
        <p:txBody>
          <a:bodyPr wrap="square" lIns="0" tIns="0" rIns="0" bIns="0" rtlCol="0" anchor="t"/>
          <a:lstStyle/>
          <a:p>
            <a:pPr indent="0" marL="0">
              <a:lnSpc>
                <a:spcPct val="120000"/>
              </a:lnSpc>
              <a:buNone/>
            </a:pPr>
            <a:r>
              <a:rPr lang="en-US" sz="1150" dirty="0">
                <a:solidFill>
                  <a:srgbClr val="D7E3F4"/>
                </a:solidFill>
                <a:latin typeface="Courier New" pitchFamily="34" charset="0"/>
                <a:ea typeface="Courier New" pitchFamily="34" charset="-122"/>
                <a:cs typeface="Courier New" pitchFamily="34" charset="-120"/>
              </a:rPr>
              <a:t>package first.robot.subsystems;</a:t>
            </a:r>
            <a:endParaRPr lang="en-US" sz="1150" dirty="0"/>
          </a:p>
          <a:p>
            <a:pPr indent="0" marL="0">
              <a:lnSpc>
                <a:spcPct val="120000"/>
              </a:lnSpc>
              <a:buNone/>
            </a:pPr>
            <a:endParaRPr lang="en-US" sz="1150" dirty="0"/>
          </a:p>
          <a:p>
            <a:pPr indent="0" marL="0">
              <a:lnSpc>
                <a:spcPct val="120000"/>
              </a:lnSpc>
              <a:buNone/>
            </a:pPr>
            <a:r>
              <a:rPr lang="en-US" sz="1150" dirty="0">
                <a:solidFill>
                  <a:srgbClr val="FFD166"/>
                </a:solidFill>
                <a:latin typeface="Courier New" pitchFamily="34" charset="0"/>
                <a:ea typeface="Courier New" pitchFamily="34" charset="-122"/>
                <a:cs typeface="Courier New" pitchFamily="34" charset="-120"/>
              </a:rPr>
              <a:t>public interface ElevatorIO {</a:t>
            </a:r>
            <a:endParaRPr lang="en-US" sz="1150" dirty="0"/>
          </a:p>
          <a:p>
            <a:pPr indent="0" marL="0">
              <a:lnSpc>
                <a:spcPct val="120000"/>
              </a:lnSpc>
              <a:buNone/>
            </a:pPr>
            <a:r>
              <a:rPr lang="en-US" sz="1150" dirty="0">
                <a:solidFill>
                  <a:srgbClr val="FFD166"/>
                </a:solidFill>
                <a:latin typeface="Courier New" pitchFamily="34" charset="0"/>
                <a:ea typeface="Courier New" pitchFamily="34" charset="-122"/>
                <a:cs typeface="Courier New" pitchFamily="34" charset="-120"/>
              </a:rPr>
              <a:t>  public static class ElevatorIOInputs {</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double heightMeters = 0.0;</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double velocityMetersPerSec = 0.0;</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double appliedVolts = 0.0;</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double setpointMeters = 0.0; // the profile's instantaneous target, not the final goal</a:t>
            </a:r>
            <a:endParaRPr lang="en-US" sz="1150" dirty="0"/>
          </a:p>
          <a:p>
            <a:pPr indent="0" marL="0">
              <a:lnSpc>
                <a:spcPct val="120000"/>
              </a:lnSpc>
              <a:buNone/>
            </a:pPr>
            <a:r>
              <a:rPr lang="en-US" sz="1150" dirty="0">
                <a:solidFill>
                  <a:srgbClr val="D7E3F4"/>
                </a:solidFill>
                <a:latin typeface="Courier New" pitchFamily="34" charset="0"/>
                <a:ea typeface="Courier New" pitchFamily="34" charset="-122"/>
                <a:cs typeface="Courier New" pitchFamily="34" charset="-120"/>
              </a:rPr>
              <a:t>  }</a:t>
            </a:r>
            <a:endParaRPr lang="en-US" sz="1150" dirty="0"/>
          </a:p>
          <a:p>
            <a:pPr indent="0" marL="0">
              <a:lnSpc>
                <a:spcPct val="120000"/>
              </a:lnSpc>
              <a:buNone/>
            </a:pPr>
            <a:endParaRPr lang="en-US" sz="1150" dirty="0"/>
          </a:p>
          <a:p>
            <a:pPr indent="0" marL="0">
              <a:lnSpc>
                <a:spcPct val="120000"/>
              </a:lnSpc>
              <a:buNone/>
            </a:pPr>
            <a:r>
              <a:rPr lang="en-US" sz="1150" dirty="0">
                <a:solidFill>
                  <a:srgbClr val="7FA8C9"/>
                </a:solidFill>
                <a:latin typeface="Courier New" pitchFamily="34" charset="0"/>
                <a:ea typeface="Courier New" pitchFamily="34" charset="-122"/>
                <a:cs typeface="Courier New" pitchFamily="34" charset="-120"/>
              </a:rPr>
              <a:t>  /** Read every sensor into 'inputs'. Called once per tick, before anything else. */</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default void updateInputs(ElevatorIOInputs inputs) {}</a:t>
            </a:r>
            <a:endParaRPr lang="en-US" sz="1150" dirty="0"/>
          </a:p>
          <a:p>
            <a:pPr indent="0" marL="0">
              <a:lnSpc>
                <a:spcPct val="120000"/>
              </a:lnSpc>
              <a:buNone/>
            </a:pPr>
            <a:endParaRPr lang="en-US" sz="1150" dirty="0"/>
          </a:p>
          <a:p>
            <a:pPr indent="0" marL="0">
              <a:lnSpc>
                <a:spcPct val="120000"/>
              </a:lnSpc>
              <a:buNone/>
            </a:pPr>
            <a:r>
              <a:rPr lang="en-US" sz="1150" dirty="0">
                <a:solidFill>
                  <a:srgbClr val="7FA8C9"/>
                </a:solidFill>
                <a:latin typeface="Courier New" pitchFamily="34" charset="0"/>
                <a:ea typeface="Courier New" pitchFamily="34" charset="-122"/>
                <a:cs typeface="Courier New" pitchFamily="34" charset="-120"/>
              </a:rPr>
              <a:t>  /** Firmware Motion Magic position control, in meters of carriage height. */</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public default void setGoalHeightMeters(double meters) {}</a:t>
            </a:r>
            <a:endParaRPr lang="en-US" sz="1150" dirty="0"/>
          </a:p>
          <a:p>
            <a:pPr indent="0" marL="0">
              <a:lnSpc>
                <a:spcPct val="120000"/>
              </a:lnSpc>
              <a:buNone/>
            </a:pPr>
            <a:r>
              <a:rPr lang="en-US" sz="1150" dirty="0">
                <a:solidFill>
                  <a:srgbClr val="D7E3F4"/>
                </a:solidFill>
                <a:latin typeface="Courier New" pitchFamily="34" charset="0"/>
                <a:ea typeface="Courier New" pitchFamily="34" charset="-122"/>
                <a:cs typeface="Courier New" pitchFamily="34" charset="-120"/>
              </a:rPr>
              <a:t>}</a:t>
            </a:r>
            <a:endParaRPr lang="en-US" sz="1150" dirty="0"/>
          </a:p>
        </p:txBody>
      </p:sp>
      <p:sp>
        <p:nvSpPr>
          <p:cNvPr id="12" name="Shape 9"/>
          <p:cNvSpPr/>
          <p:nvPr/>
        </p:nvSpPr>
        <p:spPr>
          <a:xfrm>
            <a:off x="640080" y="5806440"/>
            <a:ext cx="10881360" cy="548640"/>
          </a:xfrm>
          <a:prstGeom prst="roundRect">
            <a:avLst>
              <a:gd name="adj" fmla="val 16667"/>
            </a:avLst>
          </a:prstGeom>
          <a:solidFill>
            <a:srgbClr val="F3F6FA"/>
          </a:solidFill>
          <a:ln/>
        </p:spPr>
      </p:sp>
      <p:sp>
        <p:nvSpPr>
          <p:cNvPr id="13" name="Text 10"/>
          <p:cNvSpPr/>
          <p:nvPr/>
        </p:nvSpPr>
        <p:spPr>
          <a:xfrm>
            <a:off x="731520" y="5897880"/>
            <a:ext cx="10698480" cy="3657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Default do-nothing methods: REPLAY needs no code of its own.</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THREE NUMBERS, NOT TWO</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Goal, setpoint, position</a:t>
            </a:r>
            <a:endParaRPr lang="en-US" sz="3000" dirty="0"/>
          </a:p>
        </p:txBody>
      </p:sp>
      <p:sp>
        <p:nvSpPr>
          <p:cNvPr id="6" name="Shape 3"/>
          <p:cNvSpPr/>
          <p:nvPr/>
        </p:nvSpPr>
        <p:spPr>
          <a:xfrm>
            <a:off x="640080" y="1508760"/>
            <a:ext cx="5760720" cy="3520440"/>
          </a:xfrm>
          <a:prstGeom prst="roundRect">
            <a:avLst>
              <a:gd name="adj" fmla="val 3117"/>
            </a:avLst>
          </a:prstGeom>
          <a:solidFill>
            <a:srgbClr val="132A4C"/>
          </a:solidFill>
          <a:ln/>
        </p:spPr>
      </p:sp>
      <p:sp>
        <p:nvSpPr>
          <p:cNvPr id="7" name="Shape 4"/>
          <p:cNvSpPr/>
          <p:nvPr/>
        </p:nvSpPr>
        <p:spPr>
          <a:xfrm>
            <a:off x="1097280" y="4480560"/>
            <a:ext cx="731520" cy="0"/>
          </a:xfrm>
          <a:prstGeom prst="line">
            <a:avLst/>
          </a:prstGeom>
          <a:noFill/>
          <a:ln w="38100">
            <a:solidFill>
              <a:srgbClr val="FF5010"/>
            </a:solidFill>
            <a:prstDash val="solid"/>
          </a:ln>
        </p:spPr>
      </p:sp>
      <p:sp>
        <p:nvSpPr>
          <p:cNvPr id="8" name="Shape 5"/>
          <p:cNvSpPr/>
          <p:nvPr/>
        </p:nvSpPr>
        <p:spPr>
          <a:xfrm>
            <a:off x="1828800" y="2194560"/>
            <a:ext cx="0" cy="2286000"/>
          </a:xfrm>
          <a:prstGeom prst="line">
            <a:avLst/>
          </a:prstGeom>
          <a:noFill/>
          <a:ln w="38100">
            <a:solidFill>
              <a:srgbClr val="FF5010"/>
            </a:solidFill>
            <a:prstDash val="solid"/>
          </a:ln>
        </p:spPr>
      </p:sp>
      <p:sp>
        <p:nvSpPr>
          <p:cNvPr id="9" name="Shape 6"/>
          <p:cNvSpPr/>
          <p:nvPr/>
        </p:nvSpPr>
        <p:spPr>
          <a:xfrm>
            <a:off x="1828800" y="2194560"/>
            <a:ext cx="4206240" cy="0"/>
          </a:xfrm>
          <a:prstGeom prst="line">
            <a:avLst/>
          </a:prstGeom>
          <a:noFill/>
          <a:ln w="38100">
            <a:solidFill>
              <a:srgbClr val="FF5010"/>
            </a:solidFill>
            <a:prstDash val="solid"/>
          </a:ln>
        </p:spPr>
      </p:sp>
      <p:sp>
        <p:nvSpPr>
          <p:cNvPr id="10" name="Shape 7"/>
          <p:cNvSpPr/>
          <p:nvPr/>
        </p:nvSpPr>
        <p:spPr>
          <a:xfrm flipV="1">
            <a:off x="1828800" y="2231136"/>
            <a:ext cx="2743200" cy="2212848"/>
          </a:xfrm>
          <a:prstGeom prst="line">
            <a:avLst/>
          </a:prstGeom>
          <a:noFill/>
          <a:ln w="50800">
            <a:solidFill>
              <a:srgbClr val="1B9AAA"/>
            </a:solidFill>
            <a:prstDash val="solid"/>
          </a:ln>
        </p:spPr>
      </p:sp>
      <p:sp>
        <p:nvSpPr>
          <p:cNvPr id="11" name="Shape 8"/>
          <p:cNvSpPr/>
          <p:nvPr/>
        </p:nvSpPr>
        <p:spPr>
          <a:xfrm>
            <a:off x="4572000" y="2231136"/>
            <a:ext cx="1463040" cy="0"/>
          </a:xfrm>
          <a:prstGeom prst="line">
            <a:avLst/>
          </a:prstGeom>
          <a:noFill/>
          <a:ln w="50800">
            <a:solidFill>
              <a:srgbClr val="1B9AAA"/>
            </a:solidFill>
            <a:prstDash val="solid"/>
          </a:ln>
        </p:spPr>
      </p:sp>
      <p:sp>
        <p:nvSpPr>
          <p:cNvPr id="12" name="Shape 9"/>
          <p:cNvSpPr/>
          <p:nvPr/>
        </p:nvSpPr>
        <p:spPr>
          <a:xfrm flipV="1">
            <a:off x="2240280" y="2304288"/>
            <a:ext cx="2651760" cy="2176272"/>
          </a:xfrm>
          <a:prstGeom prst="line">
            <a:avLst/>
          </a:prstGeom>
          <a:noFill/>
          <a:ln w="25400">
            <a:solidFill>
              <a:srgbClr val="FFFFFF"/>
            </a:solidFill>
            <a:prstDash val="solid"/>
          </a:ln>
        </p:spPr>
      </p:sp>
      <p:sp>
        <p:nvSpPr>
          <p:cNvPr id="13" name="Shape 10"/>
          <p:cNvSpPr/>
          <p:nvPr/>
        </p:nvSpPr>
        <p:spPr>
          <a:xfrm>
            <a:off x="4892040" y="2304288"/>
            <a:ext cx="1143000" cy="0"/>
          </a:xfrm>
          <a:prstGeom prst="line">
            <a:avLst/>
          </a:prstGeom>
          <a:noFill/>
          <a:ln w="25400">
            <a:solidFill>
              <a:srgbClr val="FFFFFF"/>
            </a:solidFill>
            <a:prstDash val="solid"/>
          </a:ln>
        </p:spPr>
      </p:sp>
      <p:sp>
        <p:nvSpPr>
          <p:cNvPr id="14" name="Shape 11"/>
          <p:cNvSpPr/>
          <p:nvPr/>
        </p:nvSpPr>
        <p:spPr>
          <a:xfrm>
            <a:off x="6675120" y="1508760"/>
            <a:ext cx="4846320" cy="1051560"/>
          </a:xfrm>
          <a:prstGeom prst="roundRect">
            <a:avLst>
              <a:gd name="adj" fmla="val 8696"/>
            </a:avLst>
          </a:prstGeom>
          <a:solidFill>
            <a:srgbClr val="132A4C"/>
          </a:solidFill>
          <a:ln/>
        </p:spPr>
      </p:sp>
      <p:sp>
        <p:nvSpPr>
          <p:cNvPr id="15" name="Text 12"/>
          <p:cNvSpPr/>
          <p:nvPr/>
        </p:nvSpPr>
        <p:spPr>
          <a:xfrm>
            <a:off x="6903720" y="1618488"/>
            <a:ext cx="4389120" cy="365760"/>
          </a:xfrm>
          <a:prstGeom prst="rect">
            <a:avLst/>
          </a:prstGeom>
          <a:noFill/>
          <a:ln/>
        </p:spPr>
        <p:txBody>
          <a:bodyPr wrap="square" lIns="0" tIns="0" rIns="0" bIns="0" rtlCol="0" anchor="ctr"/>
          <a:lstStyle/>
          <a:p>
            <a:pPr indent="0" marL="0">
              <a:buNone/>
            </a:pPr>
            <a:r>
              <a:rPr lang="en-US" sz="2000" b="1" spc="100" kern="0" dirty="0">
                <a:solidFill>
                  <a:srgbClr val="FF5010"/>
                </a:solidFill>
                <a:latin typeface="Calibri" pitchFamily="34" charset="0"/>
                <a:ea typeface="Calibri" pitchFamily="34" charset="-122"/>
                <a:cs typeface="Calibri" pitchFamily="34" charset="-120"/>
              </a:rPr>
              <a:t>GOAL</a:t>
            </a:r>
            <a:endParaRPr lang="en-US" sz="2000" dirty="0"/>
          </a:p>
        </p:txBody>
      </p:sp>
      <p:sp>
        <p:nvSpPr>
          <p:cNvPr id="16" name="Text 13"/>
          <p:cNvSpPr/>
          <p:nvPr/>
        </p:nvSpPr>
        <p:spPr>
          <a:xfrm>
            <a:off x="6903720" y="2011680"/>
            <a:ext cx="4480560" cy="411480"/>
          </a:xfrm>
          <a:prstGeom prst="rect">
            <a:avLst/>
          </a:prstGeom>
          <a:noFill/>
          <a:ln/>
        </p:spPr>
        <p:txBody>
          <a:bodyPr wrap="square" lIns="0" tIns="0" rIns="0" bIns="0" rtlCol="0" anchor="ctr"/>
          <a:lstStyle/>
          <a:p>
            <a:pPr indent="0" marL="0">
              <a:buNone/>
            </a:pPr>
            <a:r>
              <a:rPr lang="en-US" sz="2000" dirty="0">
                <a:solidFill>
                  <a:srgbClr val="D7E3F4"/>
                </a:solidFill>
                <a:latin typeface="Calibri" pitchFamily="34" charset="0"/>
                <a:ea typeface="Calibri" pitchFamily="34" charset="-122"/>
                <a:cs typeface="Calibri" pitchFamily="34" charset="-120"/>
              </a:rPr>
              <a:t>What you asked for. A step.</a:t>
            </a:r>
            <a:endParaRPr lang="en-US" sz="2000" dirty="0"/>
          </a:p>
        </p:txBody>
      </p:sp>
      <p:sp>
        <p:nvSpPr>
          <p:cNvPr id="17" name="Shape 14"/>
          <p:cNvSpPr/>
          <p:nvPr/>
        </p:nvSpPr>
        <p:spPr>
          <a:xfrm>
            <a:off x="6675120" y="2697480"/>
            <a:ext cx="4846320" cy="1051560"/>
          </a:xfrm>
          <a:prstGeom prst="roundRect">
            <a:avLst>
              <a:gd name="adj" fmla="val 8696"/>
            </a:avLst>
          </a:prstGeom>
          <a:solidFill>
            <a:srgbClr val="132A4C"/>
          </a:solidFill>
          <a:ln/>
        </p:spPr>
      </p:sp>
      <p:sp>
        <p:nvSpPr>
          <p:cNvPr id="18" name="Text 15"/>
          <p:cNvSpPr/>
          <p:nvPr/>
        </p:nvSpPr>
        <p:spPr>
          <a:xfrm>
            <a:off x="6903720" y="2807208"/>
            <a:ext cx="438912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SETPOINT</a:t>
            </a:r>
            <a:endParaRPr lang="en-US" sz="2000" dirty="0"/>
          </a:p>
        </p:txBody>
      </p:sp>
      <p:sp>
        <p:nvSpPr>
          <p:cNvPr id="19" name="Text 16"/>
          <p:cNvSpPr/>
          <p:nvPr/>
        </p:nvSpPr>
        <p:spPr>
          <a:xfrm>
            <a:off x="6903720" y="3200400"/>
            <a:ext cx="4480560" cy="411480"/>
          </a:xfrm>
          <a:prstGeom prst="rect">
            <a:avLst/>
          </a:prstGeom>
          <a:noFill/>
          <a:ln/>
        </p:spPr>
        <p:txBody>
          <a:bodyPr wrap="square" lIns="0" tIns="0" rIns="0" bIns="0" rtlCol="0" anchor="ctr"/>
          <a:lstStyle/>
          <a:p>
            <a:pPr indent="0" marL="0">
              <a:buNone/>
            </a:pPr>
            <a:r>
              <a:rPr lang="en-US" sz="2000" dirty="0">
                <a:solidFill>
                  <a:srgbClr val="D7E3F4"/>
                </a:solidFill>
                <a:latin typeface="Calibri" pitchFamily="34" charset="0"/>
                <a:ea typeface="Calibri" pitchFamily="34" charset="-122"/>
                <a:cs typeface="Calibri" pitchFamily="34" charset="-120"/>
              </a:rPr>
              <a:t>Where the profile is right now. A ramp.</a:t>
            </a:r>
            <a:endParaRPr lang="en-US" sz="2000" dirty="0"/>
          </a:p>
        </p:txBody>
      </p:sp>
      <p:sp>
        <p:nvSpPr>
          <p:cNvPr id="20" name="Shape 17"/>
          <p:cNvSpPr/>
          <p:nvPr/>
        </p:nvSpPr>
        <p:spPr>
          <a:xfrm>
            <a:off x="6675120" y="3886200"/>
            <a:ext cx="4846320" cy="1051560"/>
          </a:xfrm>
          <a:prstGeom prst="roundRect">
            <a:avLst>
              <a:gd name="adj" fmla="val 8696"/>
            </a:avLst>
          </a:prstGeom>
          <a:solidFill>
            <a:srgbClr val="132A4C"/>
          </a:solidFill>
          <a:ln/>
        </p:spPr>
      </p:sp>
      <p:sp>
        <p:nvSpPr>
          <p:cNvPr id="21" name="Text 18"/>
          <p:cNvSpPr/>
          <p:nvPr/>
        </p:nvSpPr>
        <p:spPr>
          <a:xfrm>
            <a:off x="6903720" y="3995928"/>
            <a:ext cx="4389120" cy="365760"/>
          </a:xfrm>
          <a:prstGeom prst="rect">
            <a:avLst/>
          </a:prstGeom>
          <a:noFill/>
          <a:ln/>
        </p:spPr>
        <p:txBody>
          <a:bodyPr wrap="square" lIns="0" tIns="0" rIns="0" bIns="0" rtlCol="0" anchor="ctr"/>
          <a:lstStyle/>
          <a:p>
            <a:pPr indent="0" marL="0">
              <a:buNone/>
            </a:pPr>
            <a:r>
              <a:rPr lang="en-US" sz="2000" b="1" spc="100" kern="0" dirty="0">
                <a:solidFill>
                  <a:srgbClr val="FFFFFF"/>
                </a:solidFill>
                <a:latin typeface="Calibri" pitchFamily="34" charset="0"/>
                <a:ea typeface="Calibri" pitchFamily="34" charset="-122"/>
                <a:cs typeface="Calibri" pitchFamily="34" charset="-120"/>
              </a:rPr>
              <a:t>POSITION</a:t>
            </a:r>
            <a:endParaRPr lang="en-US" sz="2000" dirty="0"/>
          </a:p>
        </p:txBody>
      </p:sp>
      <p:sp>
        <p:nvSpPr>
          <p:cNvPr id="22" name="Text 19"/>
          <p:cNvSpPr/>
          <p:nvPr/>
        </p:nvSpPr>
        <p:spPr>
          <a:xfrm>
            <a:off x="6903720" y="4389120"/>
            <a:ext cx="4480560" cy="411480"/>
          </a:xfrm>
          <a:prstGeom prst="rect">
            <a:avLst/>
          </a:prstGeom>
          <a:noFill/>
          <a:ln/>
        </p:spPr>
        <p:txBody>
          <a:bodyPr wrap="square" lIns="0" tIns="0" rIns="0" bIns="0" rtlCol="0" anchor="ctr"/>
          <a:lstStyle/>
          <a:p>
            <a:pPr indent="0" marL="0">
              <a:buNone/>
            </a:pPr>
            <a:r>
              <a:rPr lang="en-US" sz="2000" dirty="0">
                <a:solidFill>
                  <a:srgbClr val="D7E3F4"/>
                </a:solidFill>
                <a:latin typeface="Calibri" pitchFamily="34" charset="0"/>
                <a:ea typeface="Calibri" pitchFamily="34" charset="-122"/>
                <a:cs typeface="Calibri" pitchFamily="34" charset="-120"/>
              </a:rPr>
              <a:t>Where the carriage actually is.</a:t>
            </a:r>
            <a:endParaRPr lang="en-US" sz="2000" dirty="0"/>
          </a:p>
        </p:txBody>
      </p:sp>
      <p:sp>
        <p:nvSpPr>
          <p:cNvPr id="23" name="Shape 20"/>
          <p:cNvSpPr/>
          <p:nvPr/>
        </p:nvSpPr>
        <p:spPr>
          <a:xfrm>
            <a:off x="640080" y="5212080"/>
            <a:ext cx="10881360" cy="1051560"/>
          </a:xfrm>
          <a:prstGeom prst="roundRect">
            <a:avLst>
              <a:gd name="adj" fmla="val 8696"/>
            </a:avLst>
          </a:prstGeom>
          <a:solidFill>
            <a:srgbClr val="132A4C"/>
          </a:solidFill>
          <a:ln/>
        </p:spPr>
      </p:sp>
      <p:sp>
        <p:nvSpPr>
          <p:cNvPr id="24" name="Text 21"/>
          <p:cNvSpPr/>
          <p:nvPr/>
        </p:nvSpPr>
        <p:spPr>
          <a:xfrm>
            <a:off x="822960" y="5394960"/>
            <a:ext cx="10515600" cy="6858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Without the setpoint, a carriage that can't keep up and a profile still ramping look identical.</a:t>
            </a:r>
            <a:endParaRPr lang="en-US" sz="2000" dirty="0"/>
          </a:p>
        </p:txBody>
      </p:sp>
      <p:sp>
        <p:nvSpPr>
          <p:cNvPr id="25" name="Text 2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6" name="Text 2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16</a:t>
            </a:r>
            <a:endParaRPr lang="en-US" sz="2000" dirty="0"/>
          </a:p>
        </p:txBody>
      </p:sp>
      <p:pic>
        <p:nvPicPr>
          <p:cNvPr id="27"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icrochi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ELEVATORIOTALONFX.JAVA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real motor: package and imports</a:t>
            </a:r>
            <a:endParaRPr lang="en-US" sz="3000" dirty="0"/>
          </a:p>
        </p:txBody>
      </p:sp>
      <p:sp>
        <p:nvSpPr>
          <p:cNvPr id="6" name="Shape 3"/>
          <p:cNvSpPr/>
          <p:nvPr/>
        </p:nvSpPr>
        <p:spPr>
          <a:xfrm>
            <a:off x="640080" y="1280160"/>
            <a:ext cx="10881360" cy="4937760"/>
          </a:xfrm>
          <a:prstGeom prst="roundRect">
            <a:avLst>
              <a:gd name="adj" fmla="val 222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subsystems/ElevatorIOTalonFX.java — part 1</a:t>
            </a:r>
            <a:endParaRPr lang="en-US" sz="1500" dirty="0"/>
          </a:p>
        </p:txBody>
      </p:sp>
      <p:sp>
        <p:nvSpPr>
          <p:cNvPr id="11" name="Text 8"/>
          <p:cNvSpPr/>
          <p:nvPr/>
        </p:nvSpPr>
        <p:spPr>
          <a:xfrm>
            <a:off x="914400" y="1737360"/>
            <a:ext cx="10195560" cy="4279392"/>
          </a:xfrm>
          <a:prstGeom prst="rect">
            <a:avLst/>
          </a:prstGeom>
          <a:noFill/>
          <a:ln/>
        </p:spPr>
        <p:txBody>
          <a:bodyPr wrap="square" lIns="0" tIns="0" rIns="0" bIns="0" rtlCol="0" anchor="t"/>
          <a:lstStyle/>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package first.robot.subsystems;</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static org.wpilib.units.Units.Meters;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static org.wpilib.units.Units.MetersPerSecond;</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static org.wpilib.units.Units.MetersPerSecondPerSecond;</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static org.wpilib.units.Units.Rotations;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static org.wpilib.units.Units.RotationsPerSecond;</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static org.wpilib.units.Units.Volts;</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com.ctre.phoenix6.CANBus;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com.ctre.phoenix6.configs.TalonFXConfiguration;</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com.ctre.phoenix6.controls.MotionMagicVoltage;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com.ctre.phoenix6.hardware.TalonFX;</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com.ctre.phoenix6.signals.GravityTypeValue;</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org.wpilib.hardware.bus.CANPort;</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import first.robot.Constants.ElevatorConstants;</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icrochi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ELEVATORIOTALONFX.JAVA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Every gain goes into Slot0</a:t>
            </a:r>
            <a:endParaRPr lang="en-US" sz="3000" dirty="0"/>
          </a:p>
        </p:txBody>
      </p:sp>
      <p:sp>
        <p:nvSpPr>
          <p:cNvPr id="6" name="Shape 3"/>
          <p:cNvSpPr/>
          <p:nvPr/>
        </p:nvSpPr>
        <p:spPr>
          <a:xfrm>
            <a:off x="640080" y="1280160"/>
            <a:ext cx="10881360" cy="4572000"/>
          </a:xfrm>
          <a:prstGeom prst="roundRect">
            <a:avLst>
              <a:gd name="adj" fmla="val 24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ElevatorIOTalonFX — part 2: the class, its fields, the start of the constructor</a:t>
            </a:r>
            <a:endParaRPr lang="en-US" sz="1500" dirty="0"/>
          </a:p>
        </p:txBody>
      </p:sp>
      <p:sp>
        <p:nvSpPr>
          <p:cNvPr id="11" name="Text 8"/>
          <p:cNvSpPr/>
          <p:nvPr/>
        </p:nvSpPr>
        <p:spPr>
          <a:xfrm>
            <a:off x="914400" y="1737360"/>
            <a:ext cx="10195560" cy="391363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Real hardware: Motion Magic profiles the move, Slot0's full feedforward set holds it.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class ElevatorIOTalonFX implements ElevatorIO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protected final TalonFX m_motor;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private final MotionMagicVoltage m_request = new MotionMagicVoltage(0);</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ElevatorIOTalonFX()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m_motor = new TalonFX(ElevatorConstants.kMotorPort, new CANBus(CANPort.CAN_S0));</a:t>
            </a:r>
            <a:endParaRPr lang="en-US" sz="1200" dirty="0"/>
          </a:p>
          <a:p>
            <a:pPr indent="0" marL="0">
              <a:lnSpc>
                <a:spcPct val="120000"/>
              </a:lnSpc>
              <a:buNone/>
            </a:pP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TalonFXConfiguration config = new TalonFXConfiguration();</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config.Feedback.SensorToMechanismRatio = ElevatorConstants.kGearRatio;</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Full feedforward set — kP is the trim, not the whole story.</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config.Slot0.kG = ElevatorConstants.kElevatorKG;</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config.Slot0.GravityType = GravityTypeValue.Elevator_Static;</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config.Slot0.kV = ElevatorConstants.kElevatorKV;</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config.Slot0.kA = ElevatorConstants.kElevatorKA;</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config.Slot0.kP = ElevatorConstants.kElevatorKP;</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18</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icrochi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ELEVATORIOTALONFX.JAVA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Profile limits in, four readings out</a:t>
            </a:r>
            <a:endParaRPr lang="en-US" sz="3000" dirty="0"/>
          </a:p>
        </p:txBody>
      </p:sp>
      <p:sp>
        <p:nvSpPr>
          <p:cNvPr id="6" name="Shape 3"/>
          <p:cNvSpPr/>
          <p:nvPr/>
        </p:nvSpPr>
        <p:spPr>
          <a:xfrm>
            <a:off x="640080" y="1280160"/>
            <a:ext cx="10881360" cy="4572000"/>
          </a:xfrm>
          <a:prstGeom prst="roundRect">
            <a:avLst>
              <a:gd name="adj" fmla="val 24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ElevatorIOTalonFX — part 3: finishing the constructor, then updateInputs</a:t>
            </a:r>
            <a:endParaRPr lang="en-US" sz="1500" dirty="0"/>
          </a:p>
        </p:txBody>
      </p:sp>
      <p:sp>
        <p:nvSpPr>
          <p:cNvPr id="11" name="Text 8"/>
          <p:cNvSpPr/>
          <p:nvPr/>
        </p:nvSpPr>
        <p:spPr>
          <a:xfrm>
            <a:off x="914400" y="1737360"/>
            <a:ext cx="10195560" cy="3913632"/>
          </a:xfrm>
          <a:prstGeom prst="rect">
            <a:avLst/>
          </a:prstGeom>
          <a:noFill/>
          <a:ln/>
        </p:spPr>
        <p:txBody>
          <a:bodyPr wrap="square" lIns="0" tIns="0" rIns="0" bIns="0" rtlCol="0" anchor="t"/>
          <a:lstStyle/>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config.MotionMagic.MotionMagicCruiseVelocity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metersToRotations(ElevatorConstants.kMaxVelocity.in(MetersPerSecond));</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config.MotionMagic.MotionMagicAcceleration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metersToRotations(ElevatorConstants.kMaxAcceleration.in(MetersPerSecondPerSecond));</a:t>
            </a:r>
            <a:endParaRPr lang="en-US" sz="1200" dirty="0"/>
          </a:p>
          <a:p>
            <a:pPr indent="0" marL="0">
              <a:lnSpc>
                <a:spcPct val="120000"/>
              </a:lnSpc>
              <a:buNone/>
            </a:pP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m_motor.getConfigurator().apply(config);</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@Override</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void updateInputs(ElevatorIOInputs inputs)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inputs.heightMeters = rotationsToMeters(m_motor.getPosition().getValue().in(Rotations));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inputs.velocityMetersPerSec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rotationsToMeters(m_motor.getVelocity().getValue().in(RotationsPerSecond));</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inputs.appliedVolts = m_motor.getMotorVoltage().getValue().in(Volts);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inputs.setpointMeters = rotationsToMeters(m_motor.getClosedLoopReference().getValue());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19</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icrochi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ELEVATORIOTALONFX.JAVA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Meters in, drum rotations out</a:t>
            </a:r>
            <a:endParaRPr lang="en-US" sz="3000" dirty="0"/>
          </a:p>
        </p:txBody>
      </p:sp>
      <p:sp>
        <p:nvSpPr>
          <p:cNvPr id="6" name="Shape 3"/>
          <p:cNvSpPr/>
          <p:nvPr/>
        </p:nvSpPr>
        <p:spPr>
          <a:xfrm>
            <a:off x="640080" y="1280160"/>
            <a:ext cx="10881360" cy="4023360"/>
          </a:xfrm>
          <a:prstGeom prst="roundRect">
            <a:avLst>
              <a:gd name="adj" fmla="val 272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ElevatorIOTalonFX — part 4, finishing the file</a:t>
            </a:r>
            <a:endParaRPr lang="en-US" sz="1500" dirty="0"/>
          </a:p>
        </p:txBody>
      </p:sp>
      <p:sp>
        <p:nvSpPr>
          <p:cNvPr id="11" name="Text 8"/>
          <p:cNvSpPr/>
          <p:nvPr/>
        </p:nvSpPr>
        <p:spPr>
          <a:xfrm>
            <a:off x="914400" y="1737360"/>
            <a:ext cx="10195560" cy="336499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@Override</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void setGoalHeightMeters(double meters) {</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Phoenix speaks Units — hand it the position as a measure.</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m_motor.setControl(m_request.withPosition(Rotations.of(metersToRotations(meters))));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Drum rotations for a given carriage height — the drum's circumference does the conversion.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protected static double metersToRotations(double meters)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meters / (2 * Math.PI * ElevatorConstants.kDrumRadius.in(Meters));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protected static double rotationsToMeters(double rotations)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rotations * 2 * Math.PI * ElevatorConstants.kDrumRadius.in(Meters);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Shape 9"/>
          <p:cNvSpPr/>
          <p:nvPr/>
        </p:nvSpPr>
        <p:spPr>
          <a:xfrm>
            <a:off x="640080" y="5486400"/>
            <a:ext cx="10881360" cy="822960"/>
          </a:xfrm>
          <a:prstGeom prst="roundRect">
            <a:avLst>
              <a:gd name="adj" fmla="val 11111"/>
            </a:avLst>
          </a:prstGeom>
          <a:solidFill>
            <a:srgbClr val="F3F6FA"/>
          </a:solidFill>
          <a:ln/>
        </p:spPr>
      </p:sp>
      <p:sp>
        <p:nvSpPr>
          <p:cNvPr id="13" name="Text 10"/>
          <p:cNvSpPr/>
          <p:nvPr/>
        </p:nvSpPr>
        <p:spPr>
          <a:xfrm>
            <a:off x="777240" y="5623560"/>
            <a:ext cx="10607040" cy="5486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Both conversions are protected, so ElevatorIOSim can reuse them.</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20</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ightbulb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6 · READING THE CODE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Four lines worth pointing at</a:t>
            </a:r>
            <a:endParaRPr lang="en-US" sz="3000" dirty="0"/>
          </a:p>
        </p:txBody>
      </p:sp>
      <p:sp>
        <p:nvSpPr>
          <p:cNvPr id="6" name="Shape 3"/>
          <p:cNvSpPr/>
          <p:nvPr/>
        </p:nvSpPr>
        <p:spPr>
          <a:xfrm>
            <a:off x="640080" y="1508760"/>
            <a:ext cx="5303520" cy="2286000"/>
          </a:xfrm>
          <a:prstGeom prst="roundRect">
            <a:avLst>
              <a:gd name="adj" fmla="val 4000"/>
            </a:avLst>
          </a:prstGeom>
          <a:solidFill>
            <a:srgbClr val="132A4C"/>
          </a:solidFill>
          <a:ln/>
        </p:spPr>
      </p:sp>
      <p:sp>
        <p:nvSpPr>
          <p:cNvPr id="7" name="Text 4"/>
          <p:cNvSpPr/>
          <p:nvPr/>
        </p:nvSpPr>
        <p:spPr>
          <a:xfrm>
            <a:off x="868680" y="17373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Elevator_Static</a:t>
            </a:r>
            <a:endParaRPr lang="en-US" sz="2200" dirty="0"/>
          </a:p>
        </p:txBody>
      </p:sp>
      <p:sp>
        <p:nvSpPr>
          <p:cNvPr id="8" name="Text 5"/>
          <p:cNvSpPr/>
          <p:nvPr/>
        </p:nvSpPr>
        <p:spPr>
          <a:xfrm>
            <a:off x="868680" y="231521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Gravity's pull is the same at the bottom and the top, so kG is too. An arm's isn't.</a:t>
            </a:r>
            <a:endParaRPr lang="en-US" sz="2000" dirty="0"/>
          </a:p>
        </p:txBody>
      </p:sp>
      <p:sp>
        <p:nvSpPr>
          <p:cNvPr id="9" name="Shape 6"/>
          <p:cNvSpPr/>
          <p:nvPr/>
        </p:nvSpPr>
        <p:spPr>
          <a:xfrm>
            <a:off x="6217920" y="1508760"/>
            <a:ext cx="5303520" cy="2286000"/>
          </a:xfrm>
          <a:prstGeom prst="roundRect">
            <a:avLst>
              <a:gd name="adj" fmla="val 4000"/>
            </a:avLst>
          </a:prstGeom>
          <a:solidFill>
            <a:srgbClr val="132A4C"/>
          </a:solidFill>
          <a:ln/>
        </p:spPr>
      </p:sp>
      <p:sp>
        <p:nvSpPr>
          <p:cNvPr id="10" name="Text 7"/>
          <p:cNvSpPr/>
          <p:nvPr/>
        </p:nvSpPr>
        <p:spPr>
          <a:xfrm>
            <a:off x="6446520" y="17373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SensorToMechanismRatio</a:t>
            </a:r>
            <a:endParaRPr lang="en-US" sz="2200" dirty="0"/>
          </a:p>
        </p:txBody>
      </p:sp>
      <p:sp>
        <p:nvSpPr>
          <p:cNvPr id="11" name="Text 8"/>
          <p:cNvSpPr/>
          <p:nvPr/>
        </p:nvSpPr>
        <p:spPr>
          <a:xfrm>
            <a:off x="6446520" y="231521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Every gain and every reported position is in drum rotations, not rotor rotations.</a:t>
            </a:r>
            <a:endParaRPr lang="en-US" sz="2000" dirty="0"/>
          </a:p>
        </p:txBody>
      </p:sp>
      <p:sp>
        <p:nvSpPr>
          <p:cNvPr id="12" name="Shape 9"/>
          <p:cNvSpPr/>
          <p:nvPr/>
        </p:nvSpPr>
        <p:spPr>
          <a:xfrm>
            <a:off x="640080" y="3931920"/>
            <a:ext cx="5303520" cy="2286000"/>
          </a:xfrm>
          <a:prstGeom prst="roundRect">
            <a:avLst>
              <a:gd name="adj" fmla="val 4000"/>
            </a:avLst>
          </a:prstGeom>
          <a:solidFill>
            <a:srgbClr val="132A4C"/>
          </a:solidFill>
          <a:ln/>
        </p:spPr>
      </p:sp>
      <p:sp>
        <p:nvSpPr>
          <p:cNvPr id="13" name="Text 10"/>
          <p:cNvSpPr/>
          <p:nvPr/>
        </p:nvSpPr>
        <p:spPr>
          <a:xfrm>
            <a:off x="868680" y="416052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getClosedLoopReference()</a:t>
            </a:r>
            <a:endParaRPr lang="en-US" sz="2200" dirty="0"/>
          </a:p>
        </p:txBody>
      </p:sp>
      <p:sp>
        <p:nvSpPr>
          <p:cNvPr id="14" name="Text 11"/>
          <p:cNvSpPr/>
          <p:nvPr/>
        </p:nvSpPr>
        <p:spPr>
          <a:xfrm>
            <a:off x="868680" y="473837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The profile's live setpoint, straight from the firmware: the third number.</a:t>
            </a:r>
            <a:endParaRPr lang="en-US" sz="2000" dirty="0"/>
          </a:p>
        </p:txBody>
      </p:sp>
      <p:sp>
        <p:nvSpPr>
          <p:cNvPr id="15" name="Shape 12"/>
          <p:cNvSpPr/>
          <p:nvPr/>
        </p:nvSpPr>
        <p:spPr>
          <a:xfrm>
            <a:off x="6217920" y="3931920"/>
            <a:ext cx="5303520" cy="2286000"/>
          </a:xfrm>
          <a:prstGeom prst="roundRect">
            <a:avLst>
              <a:gd name="adj" fmla="val 4000"/>
            </a:avLst>
          </a:prstGeom>
          <a:solidFill>
            <a:srgbClr val="132A4C"/>
          </a:solidFill>
          <a:ln/>
        </p:spPr>
      </p:sp>
      <p:sp>
        <p:nvSpPr>
          <p:cNvPr id="16" name="Text 13"/>
          <p:cNvSpPr/>
          <p:nvPr/>
        </p:nvSpPr>
        <p:spPr>
          <a:xfrm>
            <a:off x="6446520" y="416052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.getValue(), nothing shorter</a:t>
            </a:r>
            <a:endParaRPr lang="en-US" sz="2200" dirty="0"/>
          </a:p>
        </p:txBody>
      </p:sp>
      <p:sp>
        <p:nvSpPr>
          <p:cNvPr id="17" name="Text 14"/>
          <p:cNvSpPr/>
          <p:nvPr/>
        </p:nvSpPr>
        <p:spPr>
          <a:xfrm>
            <a:off x="6446520" y="473837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A Voltage or an Angle unpacks with .in(...); a bare Double just auto-unboxes.</a:t>
            </a:r>
            <a:endParaRPr lang="en-US" sz="20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21</a:t>
            </a:r>
            <a:endParaRPr lang="en-US" sz="2000" dirty="0"/>
          </a:p>
        </p:txBody>
      </p:sp>
      <p:pic>
        <p:nvPicPr>
          <p:cNvPr id="20"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ELEVATORIOSIM.JAVA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simulated elevator: package and imports</a:t>
            </a:r>
            <a:endParaRPr lang="en-US" sz="3000" dirty="0"/>
          </a:p>
        </p:txBody>
      </p:sp>
      <p:sp>
        <p:nvSpPr>
          <p:cNvPr id="6" name="Shape 3"/>
          <p:cNvSpPr/>
          <p:nvPr/>
        </p:nvSpPr>
        <p:spPr>
          <a:xfrm>
            <a:off x="640080" y="1280160"/>
            <a:ext cx="10881360" cy="3703320"/>
          </a:xfrm>
          <a:prstGeom prst="roundRect">
            <a:avLst>
              <a:gd name="adj" fmla="val 296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subsystems/ElevatorIOSim.java — part 1</a:t>
            </a:r>
            <a:endParaRPr lang="en-US" sz="1500" dirty="0"/>
          </a:p>
        </p:txBody>
      </p:sp>
      <p:sp>
        <p:nvSpPr>
          <p:cNvPr id="11" name="Text 8"/>
          <p:cNvSpPr/>
          <p:nvPr/>
        </p:nvSpPr>
        <p:spPr>
          <a:xfrm>
            <a:off x="914400" y="1737360"/>
            <a:ext cx="10195560" cy="3044952"/>
          </a:xfrm>
          <a:prstGeom prst="rect">
            <a:avLst/>
          </a:prstGeom>
          <a:noFill/>
          <a:ln/>
        </p:spPr>
        <p:txBody>
          <a:bodyPr wrap="square" lIns="0" tIns="0" rIns="0" bIns="0" rtlCol="0" anchor="t"/>
          <a:lstStyle/>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package first.robot.subsystems;</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static org.wpilib.units.Units.Kilograms;</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static org.wpilib.units.Units.Meters;</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com.ctre.phoenix6.sim.TalonFXSimState;</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org.wpilib.math.system.DCMotor;</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org.wpilib.simulation.ElevatorSim;</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org.wpilib.system.RobotController;</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first.robot.Constants.ElevatorConstants;</a:t>
            </a:r>
            <a:endParaRPr lang="en-US" sz="1250" dirty="0"/>
          </a:p>
        </p:txBody>
      </p:sp>
      <p:sp>
        <p:nvSpPr>
          <p:cNvPr id="12" name="Shape 9"/>
          <p:cNvSpPr/>
          <p:nvPr/>
        </p:nvSpPr>
        <p:spPr>
          <a:xfrm>
            <a:off x="640080" y="5120640"/>
            <a:ext cx="10881360" cy="1188720"/>
          </a:xfrm>
          <a:prstGeom prst="roundRect">
            <a:avLst>
              <a:gd name="adj" fmla="val 7692"/>
            </a:avLst>
          </a:prstGeom>
          <a:solidFill>
            <a:srgbClr val="F3F6FA"/>
          </a:solidFill>
          <a:ln/>
        </p:spPr>
      </p:sp>
      <p:sp>
        <p:nvSpPr>
          <p:cNvPr id="13" name="Text 10"/>
          <p:cNvSpPr/>
          <p:nvPr/>
        </p:nvSpPr>
        <p:spPr>
          <a:xfrm>
            <a:off x="822960" y="5303520"/>
            <a:ext cx="10515600" cy="8229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Same pattern as ModuleIOSim: extend the real class, then feed a physics model into its motor every tick.</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ELEVATORIOSIM.JAVA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An ElevatorSim built from the same constants</a:t>
            </a:r>
            <a:endParaRPr lang="en-US" sz="3000" dirty="0"/>
          </a:p>
        </p:txBody>
      </p:sp>
      <p:sp>
        <p:nvSpPr>
          <p:cNvPr id="6" name="Shape 3"/>
          <p:cNvSpPr/>
          <p:nvPr/>
        </p:nvSpPr>
        <p:spPr>
          <a:xfrm>
            <a:off x="640080" y="1280160"/>
            <a:ext cx="10881360" cy="4846320"/>
          </a:xfrm>
          <a:prstGeom prst="roundRect">
            <a:avLst>
              <a:gd name="adj" fmla="val 226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ElevatorIOSim — part 2: the class, its physics model, the constructor</a:t>
            </a:r>
            <a:endParaRPr lang="en-US" sz="1500" dirty="0"/>
          </a:p>
        </p:txBody>
      </p:sp>
      <p:sp>
        <p:nvSpPr>
          <p:cNvPr id="11" name="Text 8"/>
          <p:cNvSpPr/>
          <p:nvPr/>
        </p:nvSpPr>
        <p:spPr>
          <a:xfrm>
            <a:off x="914400" y="1737360"/>
            <a:ext cx="10195560" cy="418795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Sim: the real TalonFX class, plus WPILib's ElevatorSim physics model underneath it.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class ElevatorIOSim extends ElevatorIOTalonFX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private final TalonFXSimState m_sim;</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private final ElevatorSim m_elevatorModel = new ElevatorSim(</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DCMotor.getKrakenX60(1),</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ElevatorConstants.kGearRatio,</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ElevatorConstants.kCarriageMass.in(Kilograms),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ElevatorConstants.kDrumRadius.in(Meters),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ElevatorConstants.kMinHeight.in(Meters),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ElevatorConstants.kMaxHeight.in(Meters),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true, // simulateGravity — an unpowered carriage falls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ElevatorConstants.kStowed.in(Meters));</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ElevatorIOSim()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super(); // build the motor and apply the real configs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m_sim = m_motor.getSimState();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23</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ELEVATORIOSIM.JAVA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Step the physics, then read it like the real class</a:t>
            </a:r>
            <a:endParaRPr lang="en-US" sz="3000" dirty="0"/>
          </a:p>
        </p:txBody>
      </p:sp>
      <p:sp>
        <p:nvSpPr>
          <p:cNvPr id="6" name="Shape 3"/>
          <p:cNvSpPr/>
          <p:nvPr/>
        </p:nvSpPr>
        <p:spPr>
          <a:xfrm>
            <a:off x="640080" y="1280160"/>
            <a:ext cx="10881360" cy="4937760"/>
          </a:xfrm>
          <a:prstGeom prst="roundRect">
            <a:avLst>
              <a:gd name="adj" fmla="val 222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ElevatorIOSim — part 3, finishing the file</a:t>
            </a:r>
            <a:endParaRPr lang="en-US" sz="1500" dirty="0"/>
          </a:p>
        </p:txBody>
      </p:sp>
      <p:sp>
        <p:nvSpPr>
          <p:cNvPr id="11" name="Text 8"/>
          <p:cNvSpPr/>
          <p:nvPr/>
        </p:nvSpPr>
        <p:spPr>
          <a:xfrm>
            <a:off x="914400" y="1737360"/>
            <a:ext cx="10195560" cy="427939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@Override</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void updateInputs(ElevatorIOInputs inputs)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stepSim(); // advance the physics one tick...</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super.updateInputs(inputs); // ...then read the sensor like the real class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One tick of pretend reality.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private void stepSim()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m_sim.setSupplyVoltage(RobotController.getBatteryVoltage());</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m_elevatorModel.setInputVoltage(m_sim.getMotorVoltage());</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m_elevatorModel.update(0.020);</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The model reports carriage motion in meters; convert back to rotor-side</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rotations through the drum and the gearbox, same as every module motor.</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m_sim.setRawRotorPosition(</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metersToRotations(m_elevatorModel.getPosition()) * ElevatorConstants.kGearRatio);</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m_sim.setRotorVelocity(</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metersToRotations(m_elevatorModel.getVelocity()) * ElevatorConstants.kGearRatio);</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24</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arrowsaltv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ELEVATOR.JAVA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mechanism: package and imports</a:t>
            </a:r>
            <a:endParaRPr lang="en-US" sz="3000" dirty="0"/>
          </a:p>
        </p:txBody>
      </p:sp>
      <p:sp>
        <p:nvSpPr>
          <p:cNvPr id="6" name="Shape 3"/>
          <p:cNvSpPr/>
          <p:nvPr/>
        </p:nvSpPr>
        <p:spPr>
          <a:xfrm>
            <a:off x="640080" y="1280160"/>
            <a:ext cx="10881360" cy="3703320"/>
          </a:xfrm>
          <a:prstGeom prst="roundRect">
            <a:avLst>
              <a:gd name="adj" fmla="val 296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subsystems/Elevator.java — part 1</a:t>
            </a:r>
            <a:endParaRPr lang="en-US" sz="1500" dirty="0"/>
          </a:p>
        </p:txBody>
      </p:sp>
      <p:sp>
        <p:nvSpPr>
          <p:cNvPr id="11" name="Text 8"/>
          <p:cNvSpPr/>
          <p:nvPr/>
        </p:nvSpPr>
        <p:spPr>
          <a:xfrm>
            <a:off x="914400" y="1737360"/>
            <a:ext cx="10195560" cy="3044952"/>
          </a:xfrm>
          <a:prstGeom prst="rect">
            <a:avLst/>
          </a:prstGeom>
          <a:noFill/>
          <a:ln/>
        </p:spPr>
        <p:txBody>
          <a:bodyPr wrap="square" lIns="0" tIns="0" rIns="0" bIns="0" rtlCol="0" anchor="t"/>
          <a:lstStyle/>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package first.robot.subsystems;</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static org.wpilib.units.Units.Meters;</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org.wpilib.command3.Command;</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org.wpilib.command3.Mechanism;</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org.wpilib.command3.Scheduler;</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org.wpilib.telemetry.Telemetry;</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org.wpilib.units.measure.Distance;</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first.robot.Constants;</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first.robot.Constants.ElevatorConstants;</a:t>
            </a:r>
            <a:endParaRPr lang="en-US" sz="1250" dirty="0"/>
          </a:p>
        </p:txBody>
      </p:sp>
      <p:sp>
        <p:nvSpPr>
          <p:cNvPr id="12" name="Shape 9"/>
          <p:cNvSpPr/>
          <p:nvPr/>
        </p:nvSpPr>
        <p:spPr>
          <a:xfrm>
            <a:off x="640080" y="5120640"/>
            <a:ext cx="10881360" cy="1188720"/>
          </a:xfrm>
          <a:prstGeom prst="roundRect">
            <a:avLst>
              <a:gd name="adj" fmla="val 7692"/>
            </a:avLst>
          </a:prstGeom>
          <a:solidFill>
            <a:srgbClr val="F3F6FA"/>
          </a:solidFill>
          <a:ln/>
        </p:spPr>
      </p:sp>
      <p:sp>
        <p:nvSpPr>
          <p:cNvPr id="13" name="Text 10"/>
          <p:cNvSpPr/>
          <p:nvPr/>
        </p:nvSpPr>
        <p:spPr>
          <a:xfrm>
            <a:off x="822960" y="5303520"/>
            <a:ext cx="10515600" cy="8229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Same shape as Drivetrain: a mode switch picks the IO once, and a periodic callback senses and logs.</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arrowsaltv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ELEVATOR.JAVA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IO, picked once, by mode</a:t>
            </a:r>
            <a:endParaRPr lang="en-US" sz="3000" dirty="0"/>
          </a:p>
        </p:txBody>
      </p:sp>
      <p:sp>
        <p:nvSpPr>
          <p:cNvPr id="6" name="Shape 3"/>
          <p:cNvSpPr/>
          <p:nvPr/>
        </p:nvSpPr>
        <p:spPr>
          <a:xfrm>
            <a:off x="640080" y="1280160"/>
            <a:ext cx="10881360" cy="3977640"/>
          </a:xfrm>
          <a:prstGeom prst="roundRect">
            <a:avLst>
              <a:gd name="adj" fmla="val 275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 — part 2: the class, its fields, the constructor</a:t>
            </a:r>
            <a:endParaRPr lang="en-US" sz="1500" dirty="0"/>
          </a:p>
        </p:txBody>
      </p:sp>
      <p:sp>
        <p:nvSpPr>
          <p:cNvPr id="11" name="Text 8"/>
          <p:cNvSpPr/>
          <p:nvPr/>
        </p:nvSpPr>
        <p:spPr>
          <a:xfrm>
            <a:off x="914400" y="1737360"/>
            <a:ext cx="10195560" cy="3319272"/>
          </a:xfrm>
          <a:prstGeom prst="rect">
            <a:avLst/>
          </a:prstGeom>
          <a:noFill/>
          <a:ln/>
        </p:spPr>
        <p:txBody>
          <a:bodyPr wrap="square" lIns="0" tIns="0" rIns="0" bIns="0" rtlCol="0" anchor="t"/>
          <a:lstStyle/>
          <a:p>
            <a:pPr indent="0" marL="0">
              <a:lnSpc>
                <a:spcPct val="120000"/>
              </a:lnSpc>
              <a:buNone/>
            </a:pPr>
            <a:r>
              <a:rPr lang="en-US" sz="1250" dirty="0">
                <a:solidFill>
                  <a:srgbClr val="7FA8C9"/>
                </a:solidFill>
                <a:latin typeface="Courier New" pitchFamily="34" charset="0"/>
                <a:ea typeface="Courier New" pitchFamily="34" charset="-122"/>
                <a:cs typeface="Courier New" pitchFamily="34" charset="-120"/>
              </a:rPr>
              <a:t>/** Scoring elevator: Motion Magic profiles the move, Slot0's feedforward model holds it there. */</a:t>
            </a:r>
            <a:endParaRPr lang="en-US" sz="1250" dirty="0"/>
          </a:p>
          <a:p>
            <a:pPr indent="0" marL="0">
              <a:lnSpc>
                <a:spcPct val="120000"/>
              </a:lnSpc>
              <a:buNone/>
            </a:pPr>
            <a:r>
              <a:rPr lang="en-US" sz="1250" dirty="0">
                <a:solidFill>
                  <a:srgbClr val="FFD166"/>
                </a:solidFill>
                <a:latin typeface="Courier New" pitchFamily="34" charset="0"/>
                <a:ea typeface="Courier New" pitchFamily="34" charset="-122"/>
                <a:cs typeface="Courier New" pitchFamily="34" charset="-120"/>
              </a:rPr>
              <a:t>public class Elevator implements Mechanism {</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private final ElevatorIO m_io = switch (Constants.kCurrentMode) {</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case REAL -&gt; new ElevatorIOTalonFX();</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case SIM -&gt; new ElevatorIOSim();</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case REPLAY -&gt; new ElevatorIO() {}; // inputs come from the log</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private final ElevatorIO.ElevatorIOInputs m_inputs = new ElevatorIO.ElevatorIOInputs();</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private Distance m_goal = ElevatorConstants.kStowed;</a:t>
            </a:r>
            <a:endParaRPr lang="en-US" sz="1250" dirty="0"/>
          </a:p>
          <a:p>
            <a:pPr indent="0" marL="0">
              <a:lnSpc>
                <a:spcPct val="120000"/>
              </a:lnSpc>
              <a:buNone/>
            </a:pPr>
            <a:endParaRPr lang="en-US" sz="1250" dirty="0"/>
          </a:p>
          <a:p>
            <a:pPr indent="0" marL="0">
              <a:lnSpc>
                <a:spcPct val="120000"/>
              </a:lnSpc>
              <a:buNone/>
            </a:pPr>
            <a:r>
              <a:rPr lang="en-US" sz="1250" dirty="0">
                <a:solidFill>
                  <a:srgbClr val="FFD166"/>
                </a:solidFill>
                <a:latin typeface="Courier New" pitchFamily="34" charset="0"/>
                <a:ea typeface="Courier New" pitchFamily="34" charset="-122"/>
                <a:cs typeface="Courier New" pitchFamily="34" charset="-120"/>
              </a:rPr>
              <a:t>  public Elevator() {</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Scheduler.getDefault().addPeriodic(this::periodic);</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  }</a:t>
            </a:r>
            <a:endParaRPr lang="en-US" sz="1250" dirty="0"/>
          </a:p>
        </p:txBody>
      </p:sp>
      <p:sp>
        <p:nvSpPr>
          <p:cNvPr id="12" name="Shape 9"/>
          <p:cNvSpPr/>
          <p:nvPr/>
        </p:nvSpPr>
        <p:spPr>
          <a:xfrm>
            <a:off x="640080" y="5440680"/>
            <a:ext cx="10881360" cy="868680"/>
          </a:xfrm>
          <a:prstGeom prst="roundRect">
            <a:avLst>
              <a:gd name="adj" fmla="val 10526"/>
            </a:avLst>
          </a:prstGeom>
          <a:solidFill>
            <a:srgbClr val="F3F6FA"/>
          </a:solidFill>
          <a:ln/>
        </p:spPr>
      </p:sp>
      <p:sp>
        <p:nvSpPr>
          <p:cNvPr id="13" name="Text 10"/>
          <p:cNvSpPr/>
          <p:nvPr/>
        </p:nvSpPr>
        <p:spPr>
          <a:xfrm>
            <a:off x="777240" y="5577840"/>
            <a:ext cx="10607040" cy="5943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Mechanism has no periodic() hook, so the constructor asks the scheduler for one.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arrowsaltv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ELEVATOR.JAVA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Log five numbers, command one height</a:t>
            </a:r>
            <a:endParaRPr lang="en-US" sz="3000" dirty="0"/>
          </a:p>
        </p:txBody>
      </p:sp>
      <p:sp>
        <p:nvSpPr>
          <p:cNvPr id="6" name="Shape 3"/>
          <p:cNvSpPr/>
          <p:nvPr/>
        </p:nvSpPr>
        <p:spPr>
          <a:xfrm>
            <a:off x="640080" y="1280160"/>
            <a:ext cx="10881360" cy="4937760"/>
          </a:xfrm>
          <a:prstGeom prst="roundRect">
            <a:avLst>
              <a:gd name="adj" fmla="val 222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 — part 3: periodic, then goToHeight</a:t>
            </a:r>
            <a:endParaRPr lang="en-US" sz="1500" dirty="0"/>
          </a:p>
        </p:txBody>
      </p:sp>
      <p:sp>
        <p:nvSpPr>
          <p:cNvPr id="11" name="Text 8"/>
          <p:cNvSpPr/>
          <p:nvPr/>
        </p:nvSpPr>
        <p:spPr>
          <a:xfrm>
            <a:off x="914400" y="1737360"/>
            <a:ext cx="10195560" cy="427939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One tick of sensing: read the hardware into the bundle and log it.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private void periodic()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m_io.updateInputs(m_inputs);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Telemetry.log("Elevator/HeightMeters", m_inputs.heightMeters);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Telemetry.log("Elevator/VelocityMetersPerSec", m_inputs.velocityMetersPerSec);</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Telemetry.log("Elevator/AppliedVolts", m_inputs.appliedVolts);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Telemetry.log("Elevator/SetpointMeters", m_inputs.setpointMeters);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Telemetry.log("Elevator/GoalMeters", m_goal.in(Meters));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Send the carriage to 'target', clamped to safe travel. Keeps holding once it arrives.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Command goToHeight(Distance target)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runRepeatedly(() -&gt;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m_goal = clampToTravel(target);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m_io.setGoalHeightMeters(m_goal.in(Meters));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.until(this::atGoal)</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.named("Go To Height");</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arrowsaltv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ELEVATOR.JAVA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Arrived, where, and never past the ends</a:t>
            </a:r>
            <a:endParaRPr lang="en-US" sz="3000" dirty="0"/>
          </a:p>
        </p:txBody>
      </p:sp>
      <p:sp>
        <p:nvSpPr>
          <p:cNvPr id="6" name="Shape 3"/>
          <p:cNvSpPr/>
          <p:nvPr/>
        </p:nvSpPr>
        <p:spPr>
          <a:xfrm>
            <a:off x="640080" y="1280160"/>
            <a:ext cx="10881360" cy="4937760"/>
          </a:xfrm>
          <a:prstGeom prst="roundRect">
            <a:avLst>
              <a:gd name="adj" fmla="val 222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Elevator — part 4, finishing the file</a:t>
            </a:r>
            <a:endParaRPr lang="en-US" sz="1500" dirty="0"/>
          </a:p>
        </p:txBody>
      </p:sp>
      <p:sp>
        <p:nvSpPr>
          <p:cNvPr id="11" name="Text 8"/>
          <p:cNvSpPr/>
          <p:nvPr/>
        </p:nvSpPr>
        <p:spPr>
          <a:xfrm>
            <a:off x="914400" y="1737360"/>
            <a:ext cx="10195560" cy="427939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boolean atGoal()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Math.abs(m_inputs.heightMeters - m_goal.in(Meters)) &lt; ElevatorConstants.kTolerance.in(Meters);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double getHeightMeters()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m_inputs.heightMeters;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Keeps 'target' inside [kMinHeight, kMaxHeight] — there's no MathUtil.clamp to reach for here.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private static Distance clampToTravel(Distance target)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if (target.gt(ElevatorConstants.kMaxHeight))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ElevatorConstants.kMaxHeight;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 else if (target.lt(ElevatorConstants.kMinHeight))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ElevatorConstants.kMinHeight;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 else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target;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28</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ightbulb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8 · TWO DESIGN CHOICES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typed clamp, and no stop on cancel</a:t>
            </a:r>
            <a:endParaRPr lang="en-US" sz="3000" dirty="0"/>
          </a:p>
        </p:txBody>
      </p:sp>
      <p:sp>
        <p:nvSpPr>
          <p:cNvPr id="6" name="Shape 3"/>
          <p:cNvSpPr/>
          <p:nvPr/>
        </p:nvSpPr>
        <p:spPr>
          <a:xfrm>
            <a:off x="640080" y="1508760"/>
            <a:ext cx="10881360" cy="2240280"/>
          </a:xfrm>
          <a:prstGeom prst="roundRect">
            <a:avLst>
              <a:gd name="adj" fmla="val 4082"/>
            </a:avLst>
          </a:prstGeom>
          <a:solidFill>
            <a:srgbClr val="132A4C"/>
          </a:solidFill>
          <a:ln/>
        </p:spPr>
      </p:sp>
      <p:sp>
        <p:nvSpPr>
          <p:cNvPr id="7" name="Text 4"/>
          <p:cNvSpPr/>
          <p:nvPr/>
        </p:nvSpPr>
        <p:spPr>
          <a:xfrm>
            <a:off x="914400" y="1783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Measures compare themselves</a:t>
            </a:r>
            <a:endParaRPr lang="en-US" sz="2200" dirty="0"/>
          </a:p>
        </p:txBody>
      </p:sp>
      <p:sp>
        <p:nvSpPr>
          <p:cNvPr id="8" name="Text 5"/>
          <p:cNvSpPr/>
          <p:nvPr/>
        </p:nvSpPr>
        <p:spPr>
          <a:xfrm>
            <a:off x="914400" y="2360930"/>
            <a:ext cx="10332720" cy="111379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Every measure type gets .gt, .lt, .gte and .lte for free, so the clamp reads like a double one — comparing Distances, never unpacking them.</a:t>
            </a:r>
            <a:endParaRPr lang="en-US" sz="2000" dirty="0"/>
          </a:p>
        </p:txBody>
      </p:sp>
      <p:sp>
        <p:nvSpPr>
          <p:cNvPr id="9" name="Shape 6"/>
          <p:cNvSpPr/>
          <p:nvPr/>
        </p:nvSpPr>
        <p:spPr>
          <a:xfrm>
            <a:off x="640080" y="3977640"/>
            <a:ext cx="10881360" cy="2240280"/>
          </a:xfrm>
          <a:prstGeom prst="roundRect">
            <a:avLst>
              <a:gd name="adj" fmla="val 4082"/>
            </a:avLst>
          </a:prstGeom>
          <a:solidFill>
            <a:srgbClr val="132A4C"/>
          </a:solidFill>
          <a:ln/>
        </p:spPr>
      </p:sp>
      <p:sp>
        <p:nvSpPr>
          <p:cNvPr id="10" name="Text 7"/>
          <p:cNvSpPr/>
          <p:nvPr/>
        </p:nvSpPr>
        <p:spPr>
          <a:xfrm>
            <a:off x="914400" y="42519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goToHeight never calls whenCanceled</a:t>
            </a:r>
            <a:endParaRPr lang="en-US" sz="2200" dirty="0"/>
          </a:p>
        </p:txBody>
      </p:sp>
      <p:sp>
        <p:nvSpPr>
          <p:cNvPr id="11" name="Text 8"/>
          <p:cNvSpPr/>
          <p:nvPr/>
        </p:nvSpPr>
        <p:spPr>
          <a:xfrm>
            <a:off x="914400" y="4829810"/>
            <a:ext cx="10332720" cy="111379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A Motion Magic request is a standing order: go here and stay. A new goToHeight issues its own goal at once, so the carriage is never uncommanded.</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29</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obo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elevator, built once</a:t>
            </a:r>
            <a:endParaRPr lang="en-US" sz="3000" dirty="0"/>
          </a:p>
        </p:txBody>
      </p:sp>
      <p:sp>
        <p:nvSpPr>
          <p:cNvPr id="6" name="Shape 3"/>
          <p:cNvSpPr/>
          <p:nvPr/>
        </p:nvSpPr>
        <p:spPr>
          <a:xfrm>
            <a:off x="640080" y="1280160"/>
            <a:ext cx="10881360" cy="1600200"/>
          </a:xfrm>
          <a:prstGeom prst="roundRect">
            <a:avLst>
              <a:gd name="adj" fmla="val 685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 below the pathBuilder field</a:t>
            </a:r>
            <a:endParaRPr lang="en-US" sz="1500" dirty="0"/>
          </a:p>
        </p:txBody>
      </p:sp>
      <p:sp>
        <p:nvSpPr>
          <p:cNvPr id="11" name="Text 8"/>
          <p:cNvSpPr/>
          <p:nvPr/>
        </p:nvSpPr>
        <p:spPr>
          <a:xfrm>
            <a:off x="914400" y="1737360"/>
            <a:ext cx="10195560" cy="941832"/>
          </a:xfrm>
          <a:prstGeom prst="rect">
            <a:avLst/>
          </a:prstGeom>
          <a:noFill/>
          <a:ln/>
        </p:spPr>
        <p:txBody>
          <a:bodyPr wrap="square" lIns="0" tIns="0" rIns="0" bIns="0" rtlCol="0" anchor="t"/>
          <a:lstStyle/>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final FollowPath.Builder pathBuilder = Autos.makePathBuilder(drivetrain, localizer);</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final Elevator elevator = new Elevator();</a:t>
            </a:r>
            <a:endParaRPr lang="en-US" sz="1300" dirty="0"/>
          </a:p>
        </p:txBody>
      </p:sp>
      <p:sp>
        <p:nvSpPr>
          <p:cNvPr id="12" name="Shape 9"/>
          <p:cNvSpPr/>
          <p:nvPr/>
        </p:nvSpPr>
        <p:spPr>
          <a:xfrm>
            <a:off x="640080" y="3063240"/>
            <a:ext cx="10881360" cy="1097280"/>
          </a:xfrm>
          <a:prstGeom prst="roundRect">
            <a:avLst>
              <a:gd name="adj" fmla="val 10000"/>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209544"/>
            <a:ext cx="128016" cy="128016"/>
          </a:xfrm>
          <a:prstGeom prst="ellipse">
            <a:avLst/>
          </a:prstGeom>
          <a:solidFill>
            <a:srgbClr val="FF6B6B"/>
          </a:solidFill>
          <a:ln/>
        </p:spPr>
      </p:sp>
      <p:sp>
        <p:nvSpPr>
          <p:cNvPr id="14" name="Shape 11"/>
          <p:cNvSpPr/>
          <p:nvPr/>
        </p:nvSpPr>
        <p:spPr>
          <a:xfrm>
            <a:off x="11210544" y="3410712"/>
            <a:ext cx="128016" cy="128016"/>
          </a:xfrm>
          <a:prstGeom prst="ellipse">
            <a:avLst/>
          </a:prstGeom>
          <a:solidFill>
            <a:srgbClr val="FFD166"/>
          </a:solidFill>
          <a:ln/>
        </p:spPr>
      </p:sp>
      <p:sp>
        <p:nvSpPr>
          <p:cNvPr id="15" name="Shape 12"/>
          <p:cNvSpPr/>
          <p:nvPr/>
        </p:nvSpPr>
        <p:spPr>
          <a:xfrm>
            <a:off x="11210544" y="3611880"/>
            <a:ext cx="128016" cy="128016"/>
          </a:xfrm>
          <a:prstGeom prst="ellipse">
            <a:avLst/>
          </a:prstGeom>
          <a:solidFill>
            <a:srgbClr val="2EC4B6"/>
          </a:solidFill>
          <a:ln/>
        </p:spPr>
      </p:sp>
      <p:sp>
        <p:nvSpPr>
          <p:cNvPr id="16" name="Text 13"/>
          <p:cNvSpPr/>
          <p:nvPr/>
        </p:nvSpPr>
        <p:spPr>
          <a:xfrm>
            <a:off x="914400" y="31912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Robot's imports</a:t>
            </a:r>
            <a:endParaRPr lang="en-US" sz="1500" dirty="0"/>
          </a:p>
        </p:txBody>
      </p:sp>
      <p:sp>
        <p:nvSpPr>
          <p:cNvPr id="17" name="Text 14"/>
          <p:cNvSpPr/>
          <p:nvPr/>
        </p:nvSpPr>
        <p:spPr>
          <a:xfrm>
            <a:off x="914400" y="3520440"/>
            <a:ext cx="10195560" cy="4389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first.robot.subsystems.Elevator;</a:t>
            </a:r>
            <a:endParaRPr lang="en-US" sz="1400" dirty="0"/>
          </a:p>
        </p:txBody>
      </p:sp>
      <p:sp>
        <p:nvSpPr>
          <p:cNvPr id="18" name="Shape 15"/>
          <p:cNvSpPr/>
          <p:nvPr/>
        </p:nvSpPr>
        <p:spPr>
          <a:xfrm>
            <a:off x="640080" y="4343400"/>
            <a:ext cx="10881360" cy="1188720"/>
          </a:xfrm>
          <a:prstGeom prst="roundRect">
            <a:avLst>
              <a:gd name="adj" fmla="val 7692"/>
            </a:avLst>
          </a:prstGeom>
          <a:solidFill>
            <a:srgbClr val="F3F6FA"/>
          </a:solidFill>
          <a:ln/>
        </p:spPr>
      </p:sp>
      <p:sp>
        <p:nvSpPr>
          <p:cNvPr id="19" name="Text 16"/>
          <p:cNvSpPr/>
          <p:nvPr/>
        </p:nvSpPr>
        <p:spPr>
          <a:xfrm>
            <a:off x="822960" y="4526280"/>
            <a:ext cx="10515600" cy="8229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Robot lives for the whole program, so the elevator lives there with the drivetrain. Every opmode reaches in through robot.elevator.</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30</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ROBOTTELEOP.JAVA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Three presets on the D-pad</a:t>
            </a:r>
            <a:endParaRPr lang="en-US" sz="3000" dirty="0"/>
          </a:p>
        </p:txBody>
      </p:sp>
      <p:sp>
        <p:nvSpPr>
          <p:cNvPr id="6" name="Shape 3"/>
          <p:cNvSpPr/>
          <p:nvPr/>
        </p:nvSpPr>
        <p:spPr>
          <a:xfrm>
            <a:off x="640080" y="1280160"/>
            <a:ext cx="10881360" cy="2377440"/>
          </a:xfrm>
          <a:prstGeom prst="roundRect">
            <a:avLst>
              <a:gd name="adj" fmla="val 461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RobotTeleop's constructor, after the heading bindings</a:t>
            </a:r>
            <a:endParaRPr lang="en-US" sz="1500" dirty="0"/>
          </a:p>
        </p:txBody>
      </p:sp>
      <p:sp>
        <p:nvSpPr>
          <p:cNvPr id="11" name="Text 8"/>
          <p:cNvSpPr/>
          <p:nvPr/>
        </p:nvSpPr>
        <p:spPr>
          <a:xfrm>
            <a:off x="914400" y="1737360"/>
            <a:ext cx="10195560" cy="1719072"/>
          </a:xfrm>
          <a:prstGeom prst="rect">
            <a:avLst/>
          </a:prstGeom>
          <a:noFill/>
          <a:ln/>
        </p:spPr>
        <p:txBody>
          <a:bodyPr wrap="square" lIns="0" tIns="0" rIns="0" bIns="0" rtlCol="0" anchor="t"/>
          <a:lstStyle/>
          <a:p>
            <a:pPr indent="0" marL="0">
              <a:lnSpc>
                <a:spcPct val="120000"/>
              </a:lnSpc>
              <a:buNone/>
            </a:pPr>
            <a:r>
              <a:rPr lang="en-US" sz="1150" dirty="0">
                <a:solidFill>
                  <a:srgbClr val="D7E3F4"/>
                </a:solidFill>
                <a:latin typeface="Courier New" pitchFamily="34" charset="0"/>
                <a:ea typeface="Courier New" pitchFamily="34" charset="-122"/>
                <a:cs typeface="Courier New" pitchFamily="34" charset="-120"/>
              </a:rPr>
              <a:t>    robot.driverController.faceDown().onTrue(robot.drivetrain.turnToHeading(90));</a:t>
            </a:r>
            <a:endParaRPr lang="en-US" sz="1150" dirty="0"/>
          </a:p>
          <a:p>
            <a:pPr indent="0" marL="0">
              <a:lnSpc>
                <a:spcPct val="120000"/>
              </a:lnSpc>
              <a:buNone/>
            </a:pPr>
            <a:r>
              <a:rPr lang="en-US" sz="1150" dirty="0">
                <a:solidFill>
                  <a:srgbClr val="D7E3F4"/>
                </a:solidFill>
                <a:latin typeface="Courier New" pitchFamily="34" charset="0"/>
                <a:ea typeface="Courier New" pitchFamily="34" charset="-122"/>
                <a:cs typeface="Courier New" pitchFamily="34" charset="-120"/>
              </a:rPr>
              <a:t>    robot.driverController.faceRight().onTrue(robot.drivetrain.turnToHeading(0));</a:t>
            </a:r>
            <a:endParaRPr lang="en-US" sz="1150" dirty="0"/>
          </a:p>
          <a:p>
            <a:pPr indent="0" marL="0">
              <a:lnSpc>
                <a:spcPct val="120000"/>
              </a:lnSpc>
              <a:buNone/>
            </a:pPr>
            <a:endParaRPr lang="en-US" sz="1150" dirty="0"/>
          </a:p>
          <a:p>
            <a:pPr indent="0" marL="0">
              <a:lnSpc>
                <a:spcPct val="120000"/>
              </a:lnSpc>
              <a:buNone/>
            </a:pPr>
            <a:r>
              <a:rPr lang="en-US" sz="1150" dirty="0">
                <a:solidFill>
                  <a:srgbClr val="7FA8C9"/>
                </a:solidFill>
                <a:latin typeface="Courier New" pitchFamily="34" charset="0"/>
                <a:ea typeface="Courier New" pitchFamily="34" charset="-122"/>
                <a:cs typeface="Courier New" pitchFamily="34" charset="-120"/>
              </a:rPr>
              <a:t>    // D-pad: send the elevator to one of its three preset heights.</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robot.driverController.dpadDown().onTrue(robot.elevator.goToHeight(ElevatorConstants.kStowed));</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robot.driverController.dpadRight().onTrue(robot.elevator.goToHeight(ElevatorConstants.kScoreMid));</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robot.driverController.dpadUp().onTrue(robot.elevator.goToHeight(ElevatorConstants.kScoreHigh));</a:t>
            </a:r>
            <a:endParaRPr lang="en-US" sz="1150" dirty="0"/>
          </a:p>
        </p:txBody>
      </p:sp>
      <p:sp>
        <p:nvSpPr>
          <p:cNvPr id="12" name="Shape 9"/>
          <p:cNvSpPr/>
          <p:nvPr/>
        </p:nvSpPr>
        <p:spPr>
          <a:xfrm>
            <a:off x="640080" y="3840480"/>
            <a:ext cx="10881360" cy="1097280"/>
          </a:xfrm>
          <a:prstGeom prst="roundRect">
            <a:avLst>
              <a:gd name="adj" fmla="val 10000"/>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986784"/>
            <a:ext cx="128016" cy="128016"/>
          </a:xfrm>
          <a:prstGeom prst="ellipse">
            <a:avLst/>
          </a:prstGeom>
          <a:solidFill>
            <a:srgbClr val="FF6B6B"/>
          </a:solidFill>
          <a:ln/>
        </p:spPr>
      </p:sp>
      <p:sp>
        <p:nvSpPr>
          <p:cNvPr id="14" name="Shape 11"/>
          <p:cNvSpPr/>
          <p:nvPr/>
        </p:nvSpPr>
        <p:spPr>
          <a:xfrm>
            <a:off x="11210544" y="4187952"/>
            <a:ext cx="128016" cy="128016"/>
          </a:xfrm>
          <a:prstGeom prst="ellipse">
            <a:avLst/>
          </a:prstGeom>
          <a:solidFill>
            <a:srgbClr val="FFD166"/>
          </a:solidFill>
          <a:ln/>
        </p:spPr>
      </p:sp>
      <p:sp>
        <p:nvSpPr>
          <p:cNvPr id="15" name="Shape 12"/>
          <p:cNvSpPr/>
          <p:nvPr/>
        </p:nvSpPr>
        <p:spPr>
          <a:xfrm>
            <a:off x="11210544" y="4389120"/>
            <a:ext cx="128016" cy="128016"/>
          </a:xfrm>
          <a:prstGeom prst="ellipse">
            <a:avLst/>
          </a:prstGeom>
          <a:solidFill>
            <a:srgbClr val="2EC4B6"/>
          </a:solidFill>
          <a:ln/>
        </p:spPr>
      </p:sp>
      <p:sp>
        <p:nvSpPr>
          <p:cNvPr id="16" name="Text 13"/>
          <p:cNvSpPr/>
          <p:nvPr/>
        </p:nvSpPr>
        <p:spPr>
          <a:xfrm>
            <a:off x="914400" y="39684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RobotTeleop's imports, next to DriveConstants</a:t>
            </a:r>
            <a:endParaRPr lang="en-US" sz="1500" dirty="0"/>
          </a:p>
        </p:txBody>
      </p:sp>
      <p:sp>
        <p:nvSpPr>
          <p:cNvPr id="17" name="Text 14"/>
          <p:cNvSpPr/>
          <p:nvPr/>
        </p:nvSpPr>
        <p:spPr>
          <a:xfrm>
            <a:off x="914400" y="4297680"/>
            <a:ext cx="10195560" cy="4389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first.robot.Constants.ElevatorConstants;</a:t>
            </a:r>
            <a:endParaRPr lang="en-US" sz="1400" dirty="0"/>
          </a:p>
        </p:txBody>
      </p:sp>
      <p:sp>
        <p:nvSpPr>
          <p:cNvPr id="18" name="Shape 15"/>
          <p:cNvSpPr/>
          <p:nvPr/>
        </p:nvSpPr>
        <p:spPr>
          <a:xfrm>
            <a:off x="640080" y="5120640"/>
            <a:ext cx="10881360" cy="1143000"/>
          </a:xfrm>
          <a:prstGeom prst="roundRect">
            <a:avLst>
              <a:gd name="adj" fmla="val 8000"/>
            </a:avLst>
          </a:prstGeom>
          <a:solidFill>
            <a:srgbClr val="F3F6FA"/>
          </a:solidFill>
          <a:ln/>
        </p:spPr>
      </p:sp>
      <p:sp>
        <p:nvSpPr>
          <p:cNvPr id="19" name="Text 16"/>
          <p:cNvSpPr/>
          <p:nvPr/>
        </p:nvSpPr>
        <p:spPr>
          <a:xfrm>
            <a:off x="822960" y="5303520"/>
            <a:ext cx="10515600" cy="7772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Down stows it, right is mid, up is high. A new press replaces the last request — no gap in between.</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31</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RUN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Tap the D-pad and watch it hold</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./gradlew simulateJava, then Teleoperated</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Enable it — the D-pad only works while teleop runs.</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AdvantageScope: NetworkTables → Telemetry → Elevator</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Connect to the simulator, as in Lesson 3.</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Tap D-pad up, right, then down</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High at 1.45 m, mid at 0.75 m, stowed at 0.02 m.</a:t>
            </a:r>
            <a:endParaRPr lang="en-US" sz="2000" dirty="0"/>
          </a:p>
        </p:txBody>
      </p:sp>
      <p:sp>
        <p:nvSpPr>
          <p:cNvPr id="18" name="Shape 15"/>
          <p:cNvSpPr/>
          <p:nvPr/>
        </p:nvSpPr>
        <p:spPr>
          <a:xfrm>
            <a:off x="640080" y="4864608"/>
            <a:ext cx="502920" cy="502920"/>
          </a:xfrm>
          <a:prstGeom prst="ellipse">
            <a:avLst/>
          </a:prstGeom>
          <a:solidFill>
            <a:srgbClr val="1B9AAA"/>
          </a:solidFill>
          <a:ln/>
        </p:spPr>
      </p:sp>
      <p:sp>
        <p:nvSpPr>
          <p:cNvPr id="19" name="Text 16"/>
          <p:cNvSpPr/>
          <p:nvPr/>
        </p:nvSpPr>
        <p:spPr>
          <a:xfrm>
            <a:off x="640080" y="4864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91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Watch HeightMeters climb — and stay</a:t>
            </a:r>
            <a:endParaRPr lang="en-US" sz="2000" dirty="0"/>
          </a:p>
        </p:txBody>
      </p:sp>
      <p:sp>
        <p:nvSpPr>
          <p:cNvPr id="21" name="Text 18"/>
          <p:cNvSpPr/>
          <p:nvPr/>
        </p:nvSpPr>
        <p:spPr>
          <a:xfrm>
            <a:off x="1371600" y="5175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It gets there, and it doesn't sag back down.</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32</a:t>
            </a:r>
            <a:endParaRPr lang="en-US" sz="2000" dirty="0"/>
          </a:p>
        </p:txBody>
      </p:sp>
      <p:pic>
        <p:nvPicPr>
          <p:cNvPr id="2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READING THE GAINS OFF A GRAPH</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Three curves on one graph</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AdvantageScope: open a Line Graph tab</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Connected to the simulator, as before.</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Drag GoalMeters, SetpointMeters, HeightMeters onto it</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All three from NetworkTables → Telemetry → Elevator.</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Press a preset and read the gaps</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goal steps; the setpoint ramps; the height follows.</a:t>
            </a:r>
            <a:endParaRPr lang="en-US" sz="2000" dirty="0"/>
          </a:p>
        </p:txBody>
      </p:sp>
      <p:sp>
        <p:nvSpPr>
          <p:cNvPr id="18" name="Shape 15"/>
          <p:cNvSpPr/>
          <p:nvPr/>
        </p:nvSpPr>
        <p:spPr>
          <a:xfrm>
            <a:off x="640080" y="4937760"/>
            <a:ext cx="10881360" cy="1325880"/>
          </a:xfrm>
          <a:prstGeom prst="roundRect">
            <a:avLst>
              <a:gd name="adj" fmla="val 6897"/>
            </a:avLst>
          </a:prstGeom>
          <a:solidFill>
            <a:srgbClr val="F3F6FA"/>
          </a:solidFill>
          <a:ln/>
        </p:spPr>
      </p:sp>
      <p:sp>
        <p:nvSpPr>
          <p:cNvPr id="19" name="Text 16"/>
          <p:cNvSpPr/>
          <p:nvPr/>
        </p:nvSpPr>
        <p:spPr>
          <a:xfrm>
            <a:off x="822960" y="5120640"/>
            <a:ext cx="1051560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Tune against the middle curve</a:t>
            </a:r>
            <a:endParaRPr lang="en-US" sz="2200" dirty="0"/>
          </a:p>
        </p:txBody>
      </p:sp>
      <p:sp>
        <p:nvSpPr>
          <p:cNvPr id="20" name="Text 17"/>
          <p:cNvSpPr/>
          <p:nvPr/>
        </p:nvSpPr>
        <p:spPr>
          <a:xfrm>
            <a:off x="822960" y="5698490"/>
            <a:ext cx="10515600" cy="3822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Setpoint vs height is the controller; goal vs setpoint, the profile.</a:t>
            </a:r>
            <a:endParaRPr lang="en-US" sz="2000" dirty="0"/>
          </a:p>
        </p:txBody>
      </p:sp>
      <p:sp>
        <p:nvSpPr>
          <p:cNvPr id="21" name="Text 18"/>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2" name="Text 19"/>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33</a:t>
            </a:r>
            <a:endParaRPr lang="en-US" sz="2000" dirty="0"/>
          </a:p>
        </p:txBody>
      </p:sp>
      <p:pic>
        <p:nvPicPr>
          <p:cNvPr id="23"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slide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10 · THE ORDER TO TUNE IN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Tune in the order the model was built</a:t>
            </a:r>
            <a:endParaRPr lang="en-US" sz="3000" dirty="0"/>
          </a:p>
        </p:txBody>
      </p:sp>
      <p:sp>
        <p:nvSpPr>
          <p:cNvPr id="6" name="Shape 3"/>
          <p:cNvSpPr/>
          <p:nvPr/>
        </p:nvSpPr>
        <p:spPr>
          <a:xfrm>
            <a:off x="640080" y="1508760"/>
            <a:ext cx="5303520" cy="2286000"/>
          </a:xfrm>
          <a:prstGeom prst="roundRect">
            <a:avLst>
              <a:gd name="adj" fmla="val 4000"/>
            </a:avLst>
          </a:prstGeom>
          <a:solidFill>
            <a:srgbClr val="132A4C"/>
          </a:solidFill>
          <a:ln/>
        </p:spPr>
      </p:sp>
      <p:sp>
        <p:nvSpPr>
          <p:cNvPr id="7" name="Text 4"/>
          <p:cNvSpPr/>
          <p:nvPr/>
        </p:nvSpPr>
        <p:spPr>
          <a:xfrm>
            <a:off x="868680" y="17373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1 · kG wrong</a:t>
            </a:r>
            <a:endParaRPr lang="en-US" sz="2200" dirty="0"/>
          </a:p>
        </p:txBody>
      </p:sp>
      <p:sp>
        <p:nvSpPr>
          <p:cNvPr id="8" name="Text 5"/>
          <p:cNvSpPr/>
          <p:nvPr/>
        </p:nvSpPr>
        <p:spPr>
          <a:xfrm>
            <a:off x="868680" y="231521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A steady offset even at rest. Zeroed: about 1.6 mm, forever.</a:t>
            </a:r>
            <a:endParaRPr lang="en-US" sz="2000" dirty="0"/>
          </a:p>
        </p:txBody>
      </p:sp>
      <p:sp>
        <p:nvSpPr>
          <p:cNvPr id="9" name="Shape 6"/>
          <p:cNvSpPr/>
          <p:nvPr/>
        </p:nvSpPr>
        <p:spPr>
          <a:xfrm>
            <a:off x="6217920" y="1508760"/>
            <a:ext cx="5303520" cy="2286000"/>
          </a:xfrm>
          <a:prstGeom prst="roundRect">
            <a:avLst>
              <a:gd name="adj" fmla="val 4000"/>
            </a:avLst>
          </a:prstGeom>
          <a:solidFill>
            <a:srgbClr val="132A4C"/>
          </a:solidFill>
          <a:ln/>
        </p:spPr>
      </p:sp>
      <p:sp>
        <p:nvSpPr>
          <p:cNvPr id="10" name="Text 7"/>
          <p:cNvSpPr/>
          <p:nvPr/>
        </p:nvSpPr>
        <p:spPr>
          <a:xfrm>
            <a:off x="6446520" y="17373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2 · kV wrong</a:t>
            </a:r>
            <a:endParaRPr lang="en-US" sz="2200" dirty="0"/>
          </a:p>
        </p:txBody>
      </p:sp>
      <p:sp>
        <p:nvSpPr>
          <p:cNvPr id="11" name="Text 8"/>
          <p:cNvSpPr/>
          <p:nvPr/>
        </p:nvSpPr>
        <p:spPr>
          <a:xfrm>
            <a:off x="6446520" y="231521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Lag only while moving: opens while cruising, closes as it slows.</a:t>
            </a:r>
            <a:endParaRPr lang="en-US" sz="2000" dirty="0"/>
          </a:p>
        </p:txBody>
      </p:sp>
      <p:sp>
        <p:nvSpPr>
          <p:cNvPr id="12" name="Shape 9"/>
          <p:cNvSpPr/>
          <p:nvPr/>
        </p:nvSpPr>
        <p:spPr>
          <a:xfrm>
            <a:off x="640080" y="3931920"/>
            <a:ext cx="5303520" cy="2286000"/>
          </a:xfrm>
          <a:prstGeom prst="roundRect">
            <a:avLst>
              <a:gd name="adj" fmla="val 4000"/>
            </a:avLst>
          </a:prstGeom>
          <a:solidFill>
            <a:srgbClr val="132A4C"/>
          </a:solidFill>
          <a:ln/>
        </p:spPr>
      </p:sp>
      <p:sp>
        <p:nvSpPr>
          <p:cNvPr id="13" name="Text 10"/>
          <p:cNvSpPr/>
          <p:nvPr/>
        </p:nvSpPr>
        <p:spPr>
          <a:xfrm>
            <a:off x="868680" y="416052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3 · kA wrong</a:t>
            </a:r>
            <a:endParaRPr lang="en-US" sz="2200" dirty="0"/>
          </a:p>
        </p:txBody>
      </p:sp>
      <p:sp>
        <p:nvSpPr>
          <p:cNvPr id="14" name="Text 11"/>
          <p:cNvSpPr/>
          <p:nvPr/>
        </p:nvSpPr>
        <p:spPr>
          <a:xfrm>
            <a:off x="868680" y="473837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Brief spikes at the start and end, where the profile accelerates hardest.</a:t>
            </a:r>
            <a:endParaRPr lang="en-US" sz="2000" dirty="0"/>
          </a:p>
        </p:txBody>
      </p:sp>
      <p:sp>
        <p:nvSpPr>
          <p:cNvPr id="15" name="Shape 12"/>
          <p:cNvSpPr/>
          <p:nvPr/>
        </p:nvSpPr>
        <p:spPr>
          <a:xfrm>
            <a:off x="6217920" y="3931920"/>
            <a:ext cx="5303520" cy="2286000"/>
          </a:xfrm>
          <a:prstGeom prst="roundRect">
            <a:avLst>
              <a:gd name="adj" fmla="val 4000"/>
            </a:avLst>
          </a:prstGeom>
          <a:solidFill>
            <a:srgbClr val="132A4C"/>
          </a:solidFill>
          <a:ln/>
        </p:spPr>
      </p:sp>
      <p:sp>
        <p:nvSpPr>
          <p:cNvPr id="16" name="Text 13"/>
          <p:cNvSpPr/>
          <p:nvPr/>
        </p:nvSpPr>
        <p:spPr>
          <a:xfrm>
            <a:off x="6446520" y="416052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4 · kP last</a:t>
            </a:r>
            <a:endParaRPr lang="en-US" sz="2200" dirty="0"/>
          </a:p>
        </p:txBody>
      </p:sp>
      <p:sp>
        <p:nvSpPr>
          <p:cNvPr id="17" name="Text 14"/>
          <p:cNvSpPr/>
          <p:nvPr/>
        </p:nvSpPr>
        <p:spPr>
          <a:xfrm>
            <a:off x="6446520" y="473837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Settled gap under ¼ mm. Chasing more? The bug is upstream.</a:t>
            </a:r>
            <a:endParaRPr lang="en-US" sz="20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34</a:t>
            </a:r>
            <a:endParaRPr lang="en-US" sz="2000" dirty="0"/>
          </a:p>
        </p:txBody>
      </p:sp>
      <p:pic>
        <p:nvPicPr>
          <p:cNvPr id="20"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alculato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10 · PREDICT, THEN MEASURE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kV saves kP from doing</a:t>
            </a:r>
            <a:endParaRPr lang="en-US" sz="3000" dirty="0"/>
          </a:p>
        </p:txBody>
      </p:sp>
      <p:sp>
        <p:nvSpPr>
          <p:cNvPr id="6" name="Shape 3"/>
          <p:cNvSpPr/>
          <p:nvPr/>
        </p:nvSpPr>
        <p:spPr>
          <a:xfrm>
            <a:off x="640080" y="1508760"/>
            <a:ext cx="5303520" cy="3291840"/>
          </a:xfrm>
          <a:prstGeom prst="roundRect">
            <a:avLst>
              <a:gd name="adj" fmla="val 3333"/>
            </a:avLst>
          </a:prstGeom>
          <a:solidFill>
            <a:srgbClr val="132A4C"/>
          </a:solidFill>
          <a:ln/>
        </p:spPr>
      </p:sp>
      <p:sp>
        <p:nvSpPr>
          <p:cNvPr id="7" name="Text 4"/>
          <p:cNvSpPr/>
          <p:nvPr/>
        </p:nvSpPr>
        <p:spPr>
          <a:xfrm>
            <a:off x="914400" y="1691640"/>
            <a:ext cx="475488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PREDICT, WITH NO kV</a:t>
            </a:r>
            <a:endParaRPr lang="en-US" sz="2000" dirty="0"/>
          </a:p>
        </p:txBody>
      </p:sp>
      <p:sp>
        <p:nvSpPr>
          <p:cNvPr id="8" name="Text 5"/>
          <p:cNvSpPr/>
          <p:nvPr/>
        </p:nvSpPr>
        <p:spPr>
          <a:xfrm>
            <a:off x="914400" y="2194560"/>
            <a:ext cx="219456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 9 V</a:t>
            </a:r>
            <a:endParaRPr lang="en-US" sz="3600" dirty="0"/>
          </a:p>
        </p:txBody>
      </p:sp>
      <p:sp>
        <p:nvSpPr>
          <p:cNvPr id="9" name="Text 6"/>
          <p:cNvSpPr/>
          <p:nvPr/>
        </p:nvSpPr>
        <p:spPr>
          <a:xfrm>
            <a:off x="3154680" y="2194560"/>
            <a:ext cx="2606040" cy="82296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to cruise: 1.44 × 6.3 drum rot/s</a:t>
            </a:r>
            <a:endParaRPr lang="en-US" sz="2000" dirty="0"/>
          </a:p>
        </p:txBody>
      </p:sp>
      <p:sp>
        <p:nvSpPr>
          <p:cNvPr id="10" name="Text 7"/>
          <p:cNvSpPr/>
          <p:nvPr/>
        </p:nvSpPr>
        <p:spPr>
          <a:xfrm>
            <a:off x="914400" y="3429000"/>
            <a:ext cx="219456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 7 cm</a:t>
            </a:r>
            <a:endParaRPr lang="en-US" sz="3600" dirty="0"/>
          </a:p>
        </p:txBody>
      </p:sp>
      <p:sp>
        <p:nvSpPr>
          <p:cNvPr id="11" name="Text 8"/>
          <p:cNvSpPr/>
          <p:nvPr/>
        </p:nvSpPr>
        <p:spPr>
          <a:xfrm>
            <a:off x="3154680" y="3429000"/>
            <a:ext cx="2606040" cy="82296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of lag for kP = 20 to make 9 V</a:t>
            </a:r>
            <a:endParaRPr lang="en-US" sz="2000" dirty="0"/>
          </a:p>
        </p:txBody>
      </p:sp>
      <p:sp>
        <p:nvSpPr>
          <p:cNvPr id="12" name="Shape 9"/>
          <p:cNvSpPr/>
          <p:nvPr/>
        </p:nvSpPr>
        <p:spPr>
          <a:xfrm>
            <a:off x="6217920" y="1508760"/>
            <a:ext cx="5303520" cy="3291840"/>
          </a:xfrm>
          <a:prstGeom prst="roundRect">
            <a:avLst>
              <a:gd name="adj" fmla="val 3333"/>
            </a:avLst>
          </a:prstGeom>
          <a:solidFill>
            <a:srgbClr val="132A4C"/>
          </a:solidFill>
          <a:ln/>
        </p:spPr>
      </p:sp>
      <p:sp>
        <p:nvSpPr>
          <p:cNvPr id="13" name="Text 10"/>
          <p:cNvSpPr/>
          <p:nvPr/>
        </p:nvSpPr>
        <p:spPr>
          <a:xfrm>
            <a:off x="6492240" y="1691640"/>
            <a:ext cx="475488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MEASURED, FULL TRAVEL</a:t>
            </a:r>
            <a:endParaRPr lang="en-US" sz="2000" dirty="0"/>
          </a:p>
        </p:txBody>
      </p:sp>
      <p:sp>
        <p:nvSpPr>
          <p:cNvPr id="14" name="Text 11"/>
          <p:cNvSpPr/>
          <p:nvPr/>
        </p:nvSpPr>
        <p:spPr>
          <a:xfrm>
            <a:off x="6492240" y="2194560"/>
            <a:ext cx="219456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 9 cm</a:t>
            </a:r>
            <a:endParaRPr lang="en-US" sz="3600" dirty="0"/>
          </a:p>
        </p:txBody>
      </p:sp>
      <p:sp>
        <p:nvSpPr>
          <p:cNvPr id="15" name="Text 12"/>
          <p:cNvSpPr/>
          <p:nvPr/>
        </p:nvSpPr>
        <p:spPr>
          <a:xfrm>
            <a:off x="8732520" y="2194560"/>
            <a:ext cx="2606040" cy="82296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peak lag, kElevatorKV zeroed</a:t>
            </a:r>
            <a:endParaRPr lang="en-US" sz="2000" dirty="0"/>
          </a:p>
        </p:txBody>
      </p:sp>
      <p:sp>
        <p:nvSpPr>
          <p:cNvPr id="16" name="Text 13"/>
          <p:cNvSpPr/>
          <p:nvPr/>
        </p:nvSpPr>
        <p:spPr>
          <a:xfrm>
            <a:off x="6492240" y="3429000"/>
            <a:ext cx="2194560" cy="822960"/>
          </a:xfrm>
          <a:prstGeom prst="rect">
            <a:avLst/>
          </a:prstGeom>
          <a:noFill/>
          <a:ln/>
        </p:spPr>
        <p:txBody>
          <a:bodyPr wrap="square" lIns="0" tIns="0" rIns="0" bIns="0" rtlCol="0" anchor="ctr"/>
          <a:lstStyle/>
          <a:p>
            <a:pPr indent="0" marL="0">
              <a:buNone/>
            </a:pPr>
            <a:r>
              <a:rPr lang="en-US" sz="3600" b="1" dirty="0">
                <a:solidFill>
                  <a:srgbClr val="FF5010"/>
                </a:solidFill>
                <a:latin typeface="Cambria" pitchFamily="34" charset="0"/>
                <a:ea typeface="Cambria" pitchFamily="34" charset="-122"/>
                <a:cs typeface="Cambria" pitchFamily="34" charset="-120"/>
              </a:rPr>
              <a:t>1.5–2 cm</a:t>
            </a:r>
            <a:endParaRPr lang="en-US" sz="3600" dirty="0"/>
          </a:p>
        </p:txBody>
      </p:sp>
      <p:sp>
        <p:nvSpPr>
          <p:cNvPr id="17" name="Text 14"/>
          <p:cNvSpPr/>
          <p:nvPr/>
        </p:nvSpPr>
        <p:spPr>
          <a:xfrm>
            <a:off x="8732520" y="3429000"/>
            <a:ext cx="2606040" cy="82296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peak lag, with the model</a:t>
            </a:r>
            <a:endParaRPr lang="en-US" sz="2000" dirty="0"/>
          </a:p>
        </p:txBody>
      </p:sp>
      <p:sp>
        <p:nvSpPr>
          <p:cNvPr id="18" name="Shape 15"/>
          <p:cNvSpPr/>
          <p:nvPr/>
        </p:nvSpPr>
        <p:spPr>
          <a:xfrm>
            <a:off x="640080" y="5029200"/>
            <a:ext cx="10881360" cy="1188720"/>
          </a:xfrm>
          <a:prstGeom prst="roundRect">
            <a:avLst>
              <a:gd name="adj" fmla="val 7692"/>
            </a:avLst>
          </a:prstGeom>
          <a:solidFill>
            <a:srgbClr val="132A4C"/>
          </a:solidFill>
          <a:ln/>
        </p:spPr>
      </p:sp>
      <p:sp>
        <p:nvSpPr>
          <p:cNvPr id="19" name="Text 16"/>
          <p:cNvSpPr/>
          <p:nvPr/>
        </p:nvSpPr>
        <p:spPr>
          <a:xfrm>
            <a:off x="868680" y="5257800"/>
            <a:ext cx="10424160" cy="73152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kP is working either way. The model decides how much work it's forced to do.</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35</a:t>
            </a:r>
            <a:endParaRPr lang="en-US" sz="2000" dirty="0"/>
          </a:p>
        </p:txBody>
      </p:sp>
      <p:pic>
        <p:nvPicPr>
          <p:cNvPr id="2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exclamationtriangl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ON REAL HARDWARE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Slow, short moves first</a:t>
            </a:r>
            <a:endParaRPr lang="en-US" sz="3000" dirty="0"/>
          </a:p>
        </p:txBody>
      </p:sp>
      <p:sp>
        <p:nvSpPr>
          <p:cNvPr id="6" name="Shape 3"/>
          <p:cNvSpPr/>
          <p:nvPr/>
        </p:nvSpPr>
        <p:spPr>
          <a:xfrm>
            <a:off x="640080" y="1508760"/>
            <a:ext cx="10881360" cy="2194560"/>
          </a:xfrm>
          <a:prstGeom prst="roundRect">
            <a:avLst>
              <a:gd name="adj" fmla="val 4167"/>
            </a:avLst>
          </a:prstGeom>
          <a:solidFill>
            <a:srgbClr val="F3F6FA"/>
          </a:solidFill>
          <a:ln/>
        </p:spPr>
      </p:sp>
      <p:sp>
        <p:nvSpPr>
          <p:cNvPr id="7" name="Text 4"/>
          <p:cNvSpPr/>
          <p:nvPr/>
        </p:nvSpPr>
        <p:spPr>
          <a:xfrm>
            <a:off x="914400" y="1783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Don't start with full-height moves</a:t>
            </a:r>
            <a:endParaRPr lang="en-US" sz="2200" dirty="0"/>
          </a:p>
        </p:txBody>
      </p:sp>
      <p:sp>
        <p:nvSpPr>
          <p:cNvPr id="8" name="Text 5"/>
          <p:cNvSpPr/>
          <p:nvPr/>
        </p:nvSpPr>
        <p:spPr>
          <a:xfrm>
            <a:off x="914400" y="2360930"/>
            <a:ext cx="10332720" cy="10680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Start with kScoreMid from a stop and watch it settle. Only then try a move across the full travel.</a:t>
            </a:r>
            <a:endParaRPr lang="en-US" sz="2000" dirty="0"/>
          </a:p>
        </p:txBody>
      </p:sp>
      <p:sp>
        <p:nvSpPr>
          <p:cNvPr id="9" name="Shape 6"/>
          <p:cNvSpPr/>
          <p:nvPr/>
        </p:nvSpPr>
        <p:spPr>
          <a:xfrm>
            <a:off x="640080" y="3931920"/>
            <a:ext cx="10881360" cy="2194560"/>
          </a:xfrm>
          <a:prstGeom prst="roundRect">
            <a:avLst>
              <a:gd name="adj" fmla="val 4167"/>
            </a:avLst>
          </a:prstGeom>
          <a:solidFill>
            <a:srgbClr val="F3F6FA"/>
          </a:solidFill>
          <a:ln/>
        </p:spPr>
      </p:sp>
      <p:sp>
        <p:nvSpPr>
          <p:cNvPr id="10" name="Text 7"/>
          <p:cNvSpPr/>
          <p:nvPr/>
        </p:nvSpPr>
        <p:spPr>
          <a:xfrm>
            <a:off x="914400" y="420624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 wrong kG shows up two ways</a:t>
            </a:r>
            <a:endParaRPr lang="en-US" sz="2200" dirty="0"/>
          </a:p>
        </p:txBody>
      </p:sp>
      <p:sp>
        <p:nvSpPr>
          <p:cNvPr id="11" name="Text 8"/>
          <p:cNvSpPr/>
          <p:nvPr/>
        </p:nvSpPr>
        <p:spPr>
          <a:xfrm>
            <a:off x="914400" y="4784090"/>
            <a:ext cx="10332720" cy="10680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carriage creeps down under its own weight, or overshoots the second you let go of manual control. Catch either one on a short move.</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508760"/>
            <a:ext cx="5303520" cy="2286000"/>
          </a:xfrm>
          <a:prstGeom prst="roundRect">
            <a:avLst>
              <a:gd name="adj" fmla="val 4800"/>
            </a:avLst>
          </a:prstGeom>
          <a:solidFill>
            <a:srgbClr val="132A4C"/>
          </a:solidFill>
          <a:ln/>
        </p:spPr>
      </p:sp>
      <p:sp>
        <p:nvSpPr>
          <p:cNvPr id="7" name="Shape 4"/>
          <p:cNvSpPr/>
          <p:nvPr/>
        </p:nvSpPr>
        <p:spPr>
          <a:xfrm>
            <a:off x="960120" y="1737360"/>
            <a:ext cx="457200" cy="457200"/>
          </a:xfrm>
          <a:prstGeom prst="ellipse">
            <a:avLst/>
          </a:prstGeom>
          <a:solidFill>
            <a:srgbClr val="1B9AAA"/>
          </a:solidFill>
          <a:ln/>
        </p:spPr>
      </p:sp>
      <p:sp>
        <p:nvSpPr>
          <p:cNvPr id="8" name="Text 5"/>
          <p:cNvSpPr/>
          <p:nvPr/>
        </p:nvSpPr>
        <p:spPr>
          <a:xfrm>
            <a:off x="96012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 fourth preset</a:t>
            </a:r>
            <a:endParaRPr lang="en-US" sz="2000" dirty="0"/>
          </a:p>
        </p:txBody>
      </p:sp>
      <p:sp>
        <p:nvSpPr>
          <p:cNvPr id="10" name="Shape 7"/>
          <p:cNvSpPr/>
          <p:nvPr/>
        </p:nvSpPr>
        <p:spPr>
          <a:xfrm>
            <a:off x="4206240" y="1819656"/>
            <a:ext cx="1417320" cy="292608"/>
          </a:xfrm>
          <a:prstGeom prst="roundRect">
            <a:avLst>
              <a:gd name="adj" fmla="val 18750"/>
            </a:avLst>
          </a:prstGeom>
          <a:solidFill>
            <a:srgbClr val="FF5010"/>
          </a:solidFill>
          <a:ln/>
        </p:spPr>
      </p:sp>
      <p:sp>
        <p:nvSpPr>
          <p:cNvPr id="11" name="Text 8"/>
          <p:cNvSpPr/>
          <p:nvPr/>
        </p:nvSpPr>
        <p:spPr>
          <a:xfrm>
            <a:off x="420624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3317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Add kScoreLow below kScoreMid; bind it to a face button.</a:t>
            </a:r>
            <a:endParaRPr lang="en-US" sz="2000" dirty="0"/>
          </a:p>
        </p:txBody>
      </p:sp>
      <p:sp>
        <p:nvSpPr>
          <p:cNvPr id="13" name="Shape 10"/>
          <p:cNvSpPr/>
          <p:nvPr/>
        </p:nvSpPr>
        <p:spPr>
          <a:xfrm>
            <a:off x="6217920" y="1508760"/>
            <a:ext cx="5303520" cy="2286000"/>
          </a:xfrm>
          <a:prstGeom prst="roundRect">
            <a:avLst>
              <a:gd name="adj" fmla="val 4800"/>
            </a:avLst>
          </a:prstGeom>
          <a:solidFill>
            <a:srgbClr val="132A4C"/>
          </a:solidFill>
          <a:ln/>
        </p:spPr>
      </p:sp>
      <p:sp>
        <p:nvSpPr>
          <p:cNvPr id="14" name="Shape 11"/>
          <p:cNvSpPr/>
          <p:nvPr/>
        </p:nvSpPr>
        <p:spPr>
          <a:xfrm>
            <a:off x="6537960" y="1737360"/>
            <a:ext cx="457200" cy="457200"/>
          </a:xfrm>
          <a:prstGeom prst="ellipse">
            <a:avLst/>
          </a:prstGeom>
          <a:solidFill>
            <a:srgbClr val="1B9AAA"/>
          </a:solidFill>
          <a:ln/>
        </p:spPr>
      </p:sp>
      <p:sp>
        <p:nvSpPr>
          <p:cNvPr id="15" name="Text 12"/>
          <p:cNvSpPr/>
          <p:nvPr/>
        </p:nvSpPr>
        <p:spPr>
          <a:xfrm>
            <a:off x="653796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Watch the sag</a:t>
            </a:r>
            <a:endParaRPr lang="en-US" sz="2000" dirty="0"/>
          </a:p>
        </p:txBody>
      </p:sp>
      <p:sp>
        <p:nvSpPr>
          <p:cNvPr id="17" name="Shape 14"/>
          <p:cNvSpPr/>
          <p:nvPr/>
        </p:nvSpPr>
        <p:spPr>
          <a:xfrm>
            <a:off x="9784080" y="1819656"/>
            <a:ext cx="1417320" cy="292608"/>
          </a:xfrm>
          <a:prstGeom prst="roundRect">
            <a:avLst>
              <a:gd name="adj" fmla="val 18750"/>
            </a:avLst>
          </a:prstGeom>
          <a:solidFill>
            <a:srgbClr val="FF5010"/>
          </a:solidFill>
          <a:ln/>
        </p:spPr>
      </p:sp>
      <p:sp>
        <p:nvSpPr>
          <p:cNvPr id="18" name="Text 15"/>
          <p:cNvSpPr/>
          <p:nvPr/>
        </p:nvSpPr>
        <p:spPr>
          <a:xfrm>
            <a:off x="978408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3317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kElevatorKG = 0.0 in sim, hold kScoreMid: find the 1.6 mm.</a:t>
            </a:r>
            <a:endParaRPr lang="en-US" sz="2000" dirty="0"/>
          </a:p>
        </p:txBody>
      </p:sp>
      <p:sp>
        <p:nvSpPr>
          <p:cNvPr id="20" name="Shape 17"/>
          <p:cNvSpPr/>
          <p:nvPr/>
        </p:nvSpPr>
        <p:spPr>
          <a:xfrm>
            <a:off x="640080" y="4069080"/>
            <a:ext cx="5303520" cy="2286000"/>
          </a:xfrm>
          <a:prstGeom prst="roundRect">
            <a:avLst>
              <a:gd name="adj" fmla="val 4800"/>
            </a:avLst>
          </a:prstGeom>
          <a:solidFill>
            <a:srgbClr val="132A4C"/>
          </a:solidFill>
          <a:ln/>
        </p:spPr>
      </p:sp>
      <p:sp>
        <p:nvSpPr>
          <p:cNvPr id="21" name="Shape 18"/>
          <p:cNvSpPr/>
          <p:nvPr/>
        </p:nvSpPr>
        <p:spPr>
          <a:xfrm>
            <a:off x="960120" y="4297680"/>
            <a:ext cx="457200" cy="457200"/>
          </a:xfrm>
          <a:prstGeom prst="ellipse">
            <a:avLst/>
          </a:prstGeom>
          <a:solidFill>
            <a:srgbClr val="1B9AAA"/>
          </a:solidFill>
          <a:ln/>
        </p:spPr>
      </p:sp>
      <p:sp>
        <p:nvSpPr>
          <p:cNvPr id="22" name="Text 19"/>
          <p:cNvSpPr/>
          <p:nvPr/>
        </p:nvSpPr>
        <p:spPr>
          <a:xfrm>
            <a:off x="960120" y="42976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9768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Ask for 3 meters</a:t>
            </a:r>
            <a:endParaRPr lang="en-US" sz="2000" dirty="0"/>
          </a:p>
        </p:txBody>
      </p:sp>
      <p:sp>
        <p:nvSpPr>
          <p:cNvPr id="24" name="Shape 21"/>
          <p:cNvSpPr/>
          <p:nvPr/>
        </p:nvSpPr>
        <p:spPr>
          <a:xfrm>
            <a:off x="4206240" y="4379976"/>
            <a:ext cx="1417320" cy="292608"/>
          </a:xfrm>
          <a:prstGeom prst="roundRect">
            <a:avLst>
              <a:gd name="adj" fmla="val 18750"/>
            </a:avLst>
          </a:prstGeom>
          <a:solidFill>
            <a:srgbClr val="FF5010"/>
          </a:solidFill>
          <a:ln/>
        </p:spPr>
      </p:sp>
      <p:sp>
        <p:nvSpPr>
          <p:cNvPr id="25" name="Text 22"/>
          <p:cNvSpPr/>
          <p:nvPr/>
        </p:nvSpPr>
        <p:spPr>
          <a:xfrm>
            <a:off x="4206240" y="437997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9204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Bind goToHeight(Meters.of(3.0)). GoalMeters reads 1.5.</a:t>
            </a:r>
            <a:endParaRPr lang="en-US" sz="2000" dirty="0"/>
          </a:p>
        </p:txBody>
      </p:sp>
      <p:sp>
        <p:nvSpPr>
          <p:cNvPr id="27" name="Shape 24"/>
          <p:cNvSpPr/>
          <p:nvPr/>
        </p:nvSpPr>
        <p:spPr>
          <a:xfrm>
            <a:off x="6217920" y="4069080"/>
            <a:ext cx="5303520" cy="2286000"/>
          </a:xfrm>
          <a:prstGeom prst="roundRect">
            <a:avLst>
              <a:gd name="adj" fmla="val 4800"/>
            </a:avLst>
          </a:prstGeom>
          <a:solidFill>
            <a:srgbClr val="132A4C"/>
          </a:solidFill>
          <a:ln/>
        </p:spPr>
      </p:sp>
      <p:sp>
        <p:nvSpPr>
          <p:cNvPr id="28" name="Shape 25"/>
          <p:cNvSpPr/>
          <p:nvPr/>
        </p:nvSpPr>
        <p:spPr>
          <a:xfrm>
            <a:off x="6537960" y="4297680"/>
            <a:ext cx="457200" cy="457200"/>
          </a:xfrm>
          <a:prstGeom prst="ellipse">
            <a:avLst/>
          </a:prstGeom>
          <a:solidFill>
            <a:srgbClr val="1B9AAA"/>
          </a:solidFill>
          <a:ln/>
        </p:spPr>
      </p:sp>
      <p:sp>
        <p:nvSpPr>
          <p:cNvPr id="29" name="Text 26"/>
          <p:cNvSpPr/>
          <p:nvPr/>
        </p:nvSpPr>
        <p:spPr>
          <a:xfrm>
            <a:off x="6537960" y="42976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30" name="Text 27"/>
          <p:cNvSpPr/>
          <p:nvPr/>
        </p:nvSpPr>
        <p:spPr>
          <a:xfrm>
            <a:off x="7178040" y="429768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Halve the limits</a:t>
            </a:r>
            <a:endParaRPr lang="en-US" sz="2000" dirty="0"/>
          </a:p>
        </p:txBody>
      </p:sp>
      <p:sp>
        <p:nvSpPr>
          <p:cNvPr id="31" name="Shape 28"/>
          <p:cNvSpPr/>
          <p:nvPr/>
        </p:nvSpPr>
        <p:spPr>
          <a:xfrm>
            <a:off x="9784080" y="4379976"/>
            <a:ext cx="1417320" cy="292608"/>
          </a:xfrm>
          <a:prstGeom prst="roundRect">
            <a:avLst>
              <a:gd name="adj" fmla="val 18750"/>
            </a:avLst>
          </a:prstGeom>
          <a:solidFill>
            <a:srgbClr val="FF5010"/>
          </a:solidFill>
          <a:ln/>
        </p:spPr>
      </p:sp>
      <p:sp>
        <p:nvSpPr>
          <p:cNvPr id="32" name="Text 29"/>
          <p:cNvSpPr/>
          <p:nvPr/>
        </p:nvSpPr>
        <p:spPr>
          <a:xfrm>
            <a:off x="9784080" y="437997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33" name="Text 30"/>
          <p:cNvSpPr/>
          <p:nvPr/>
        </p:nvSpPr>
        <p:spPr>
          <a:xfrm>
            <a:off x="6537960" y="489204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0.5 m/s and 1.0 m/s²: the setpoint stretches, tracking doesn't.</a:t>
            </a:r>
            <a:endParaRPr lang="en-US" sz="2000" dirty="0"/>
          </a:p>
        </p:txBody>
      </p:sp>
      <p:sp>
        <p:nvSpPr>
          <p:cNvPr id="34" name="Text 3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SCORING ELEVATOR</a:t>
            </a:r>
            <a:endParaRPr lang="en-US" sz="2000" dirty="0"/>
          </a:p>
        </p:txBody>
      </p:sp>
      <p:sp>
        <p:nvSpPr>
          <p:cNvPr id="35" name="Text 3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37</a:t>
            </a:r>
            <a:endParaRPr lang="en-US" sz="2000" dirty="0"/>
          </a:p>
        </p:txBody>
      </p:sp>
      <p:pic>
        <p:nvPicPr>
          <p:cNvPr id="36"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Staying put is a model, not a big kP</a:t>
            </a:r>
            <a:endParaRPr lang="en-US" sz="3000" dirty="0"/>
          </a:p>
        </p:txBody>
      </p:sp>
      <p:sp>
        <p:nvSpPr>
          <p:cNvPr id="6" name="Text 3"/>
          <p:cNvSpPr/>
          <p:nvPr/>
        </p:nvSpPr>
        <p:spPr>
          <a:xfrm>
            <a:off x="640080" y="1600200"/>
            <a:ext cx="6309360" cy="44348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A P controller can only push by being wrong, so kP alone holds an elevator a little low, forever.</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A term for each physical effect: kG for gravity, kV for speed, kA for changing speed, kP for what's left.</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kG, kV and kA all came straight off the Kraken X60's spec sheet, walked through the gearbox.</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Motion Magic profiles the move, and its setpoint is the third number: goal, setpoint, position.</a:t>
            </a:r>
            <a:endParaRPr lang="en-US" sz="18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19</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Drawing the Elevator</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Watch it move, instead of reading three numbers.</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SCORING ELEVATOR</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38</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18 — Scoring Elevator: Holding a Position, Not Just Reaching One</dc:title>
  <dc:subject>PptxGenJS Presentation</dc:subject>
  <dc:creator>Learn Java + Robot Programming</dc:creator>
  <cp:lastModifiedBy>Learn Java + Robot Programming</cp:lastModifiedBy>
  <cp:revision>1</cp:revision>
  <dcterms:created xsi:type="dcterms:W3CDTF">2026-10-16T16:52:29Z</dcterms:created>
  <dcterms:modified xsi:type="dcterms:W3CDTF">2026-10-16T16:52:29Z</dcterms:modified>
</cp:coreProperties>
</file>